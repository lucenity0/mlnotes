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1" r:id="rId3"/>
    <p:sldId id="267" r:id="rId4"/>
    <p:sldId id="258" r:id="rId5"/>
    <p:sldId id="263" r:id="rId6"/>
    <p:sldId id="264" r:id="rId7"/>
    <p:sldId id="261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906AA-C502-487B-B576-342FEA218C42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99E38-EFA6-499D-93AE-E315351A4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70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067A64-DF20-4611-A8D7-708AC458A04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052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3E4F3A-08CF-4184-9AB5-BAF50F88A5C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32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94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83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7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8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6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21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1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26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4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76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53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55BDF-C32A-4417-8C2C-9E5A7C023234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8C030-3957-4653-ABD1-0A1A2334D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06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K-Nearest </a:t>
            </a:r>
            <a:r>
              <a:rPr lang="en-IN" dirty="0" err="1" smtClean="0"/>
              <a:t>Neighbors</a:t>
            </a:r>
            <a:r>
              <a:rPr lang="en-IN" dirty="0" smtClean="0"/>
              <a:t> </a:t>
            </a:r>
            <a:r>
              <a:rPr lang="en-US" dirty="0" smtClean="0"/>
              <a:t>Algorithm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1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59341" y="577755"/>
            <a:ext cx="8280400" cy="533400"/>
          </a:xfrm>
        </p:spPr>
        <p:txBody>
          <a:bodyPr>
            <a:noAutofit/>
          </a:bodyPr>
          <a:lstStyle/>
          <a:p>
            <a:pPr algn="ctr"/>
            <a:r>
              <a:rPr lang="en-US" altLang="en-US" dirty="0" smtClean="0">
                <a:solidFill>
                  <a:srgbClr val="FF0000"/>
                </a:solidFill>
              </a:rPr>
              <a:t>Instance Based Classifiers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FF0000"/>
                </a:solidFill>
              </a:rPr>
              <a:t>Instance-based Classifiers</a:t>
            </a:r>
            <a:r>
              <a:rPr lang="en-US" altLang="en-US" dirty="0"/>
              <a:t> </a:t>
            </a:r>
            <a:r>
              <a:rPr lang="en-US" altLang="en-US" dirty="0" smtClean="0"/>
              <a:t>do not create a model but use training examples directly to classify unseen examples (“</a:t>
            </a:r>
            <a:r>
              <a:rPr lang="en-US" altLang="en-US" i="1" dirty="0" smtClean="0"/>
              <a:t>lazy</a:t>
            </a:r>
            <a:r>
              <a:rPr lang="en-US" altLang="en-US" dirty="0" smtClean="0"/>
              <a:t>” classifiers).</a:t>
            </a:r>
          </a:p>
          <a:p>
            <a:r>
              <a:rPr lang="en-US" altLang="en-US" dirty="0" smtClean="0">
                <a:solidFill>
                  <a:srgbClr val="FF0000"/>
                </a:solidFill>
              </a:rPr>
              <a:t>Examples</a:t>
            </a:r>
          </a:p>
          <a:p>
            <a:pPr lvl="1"/>
            <a:r>
              <a:rPr lang="en-US" altLang="en-US" sz="2800" b="1" dirty="0" smtClean="0"/>
              <a:t>Rote-learner</a:t>
            </a:r>
          </a:p>
          <a:p>
            <a:pPr lvl="2"/>
            <a:r>
              <a:rPr lang="en-US" altLang="en-US" sz="2800" dirty="0" smtClean="0"/>
              <a:t> Memorizes entire training data and performs classification only if attributes of record match one of the training examples exactly</a:t>
            </a:r>
          </a:p>
          <a:p>
            <a:pPr lvl="1"/>
            <a:r>
              <a:rPr lang="en-US" altLang="en-US" sz="2800" b="1" dirty="0" smtClean="0"/>
              <a:t>Nearest neighbor</a:t>
            </a:r>
          </a:p>
          <a:p>
            <a:pPr lvl="2"/>
            <a:r>
              <a:rPr lang="en-US" altLang="en-US" sz="2800" dirty="0" smtClean="0"/>
              <a:t> Uses k “closest” points (nearest neighbors) for performing classification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2240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13151" y="425285"/>
            <a:ext cx="8162925" cy="7620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solidFill>
                  <a:srgbClr val="FF0000"/>
                </a:solidFill>
              </a:rPr>
              <a:t>K-Nearest Neighbor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3200" dirty="0" smtClean="0"/>
              <a:t>All instances correspond to points in an n-dimensional Euclidean space</a:t>
            </a:r>
          </a:p>
          <a:p>
            <a:pPr algn="just"/>
            <a:r>
              <a:rPr lang="en-US" altLang="en-US" sz="3200" dirty="0" smtClean="0"/>
              <a:t>Classification is delayed till a new instance arrives</a:t>
            </a:r>
          </a:p>
          <a:p>
            <a:pPr algn="just"/>
            <a:r>
              <a:rPr lang="en-US" altLang="en-US" sz="3200" dirty="0" smtClean="0"/>
              <a:t>Classification done by comparing feature vectors of the different points</a:t>
            </a:r>
          </a:p>
          <a:p>
            <a:pPr algn="just"/>
            <a:r>
              <a:rPr lang="en-US" altLang="en-US" sz="3200" dirty="0" smtClean="0"/>
              <a:t>Target function may be discrete or real-valued</a:t>
            </a:r>
          </a:p>
        </p:txBody>
      </p:sp>
    </p:spTree>
    <p:extLst>
      <p:ext uri="{BB962C8B-B14F-4D97-AF65-F5344CB8AC3E}">
        <p14:creationId xmlns:p14="http://schemas.microsoft.com/office/powerpoint/2010/main" val="214861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altLang="en-US" b="1" dirty="0" err="1" smtClean="0">
                <a:solidFill>
                  <a:srgbClr val="FF0000"/>
                </a:solidFill>
              </a:rPr>
              <a:t>kNN</a:t>
            </a:r>
            <a:r>
              <a:rPr lang="en-US" altLang="en-US" b="1" dirty="0" smtClean="0">
                <a:solidFill>
                  <a:srgbClr val="FF0000"/>
                </a:solidFill>
              </a:rPr>
              <a:t>— k Nearest-Neighbor Classifiers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22628" y="1020170"/>
            <a:ext cx="6455390" cy="5585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Char char="l"/>
            </a:pPr>
            <a:r>
              <a:rPr lang="en-US" altLang="en-US" sz="2400" b="1" dirty="0">
                <a:latin typeface="+mn-lt"/>
              </a:rPr>
              <a:t>Requires three things</a:t>
            </a:r>
          </a:p>
          <a:p>
            <a:pPr lvl="1"/>
            <a:r>
              <a:rPr lang="en-US" altLang="en-US" sz="2400" dirty="0">
                <a:latin typeface="+mn-lt"/>
              </a:rPr>
              <a:t>The set of stored records</a:t>
            </a:r>
          </a:p>
          <a:p>
            <a:pPr lvl="1"/>
            <a:r>
              <a:rPr lang="en-US" altLang="en-US" sz="2400" dirty="0">
                <a:latin typeface="+mn-lt"/>
              </a:rPr>
              <a:t>Distance Metric to compute distance between records</a:t>
            </a:r>
          </a:p>
          <a:p>
            <a:pPr lvl="1"/>
            <a:r>
              <a:rPr lang="en-US" altLang="en-US" sz="2400" dirty="0">
                <a:latin typeface="+mn-lt"/>
              </a:rPr>
              <a:t>The value of </a:t>
            </a:r>
            <a:r>
              <a:rPr lang="en-US" altLang="en-US" sz="2400" i="1" dirty="0">
                <a:latin typeface="+mn-lt"/>
              </a:rPr>
              <a:t>k</a:t>
            </a:r>
            <a:r>
              <a:rPr lang="en-US" altLang="en-US" sz="2400" dirty="0">
                <a:latin typeface="+mn-lt"/>
              </a:rPr>
              <a:t>, the number of nearest neighbors to retrieve</a:t>
            </a:r>
          </a:p>
          <a:p>
            <a:pPr>
              <a:buFont typeface="Monotype Sorts" pitchFamily="2" charset="2"/>
              <a:buChar char="l"/>
            </a:pPr>
            <a:r>
              <a:rPr lang="en-US" altLang="en-US" sz="2400" b="1" dirty="0" smtClean="0">
                <a:latin typeface="+mn-lt"/>
              </a:rPr>
              <a:t>To </a:t>
            </a:r>
            <a:r>
              <a:rPr lang="en-US" altLang="en-US" sz="2400" b="1" dirty="0">
                <a:latin typeface="+mn-lt"/>
              </a:rPr>
              <a:t>classify an unknown record:</a:t>
            </a:r>
          </a:p>
          <a:p>
            <a:pPr lvl="1"/>
            <a:r>
              <a:rPr lang="en-US" altLang="en-US" sz="2400" dirty="0">
                <a:latin typeface="+mn-lt"/>
              </a:rPr>
              <a:t>Compute distance to other training records</a:t>
            </a:r>
          </a:p>
          <a:p>
            <a:pPr lvl="1"/>
            <a:r>
              <a:rPr lang="en-US" altLang="en-US" sz="2400" dirty="0">
                <a:latin typeface="+mn-lt"/>
              </a:rPr>
              <a:t>Identify </a:t>
            </a:r>
            <a:r>
              <a:rPr lang="en-US" altLang="en-US" sz="2400" i="1" dirty="0">
                <a:latin typeface="+mn-lt"/>
              </a:rPr>
              <a:t>k</a:t>
            </a:r>
            <a:r>
              <a:rPr lang="en-US" altLang="en-US" sz="2400" dirty="0">
                <a:latin typeface="+mn-lt"/>
              </a:rPr>
              <a:t> nearest neighbors </a:t>
            </a:r>
          </a:p>
          <a:p>
            <a:pPr lvl="1"/>
            <a:r>
              <a:rPr lang="en-US" altLang="en-US" sz="2400" dirty="0">
                <a:latin typeface="+mn-lt"/>
              </a:rPr>
              <a:t>Use class labels of nearest neighbors to determine the class label of unknown record (e.g., by taking majority vote)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642733"/>
              </p:ext>
            </p:extLst>
          </p:nvPr>
        </p:nvGraphicFramePr>
        <p:xfrm>
          <a:off x="684665" y="1306773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Visio" r:id="rId3" imgW="7007454" imgH="8108144" progId="Visio.Drawing.6">
                  <p:embed/>
                </p:oleObj>
              </mc:Choice>
              <mc:Fallback>
                <p:oleObj name="Visio" r:id="rId3" imgW="7007454" imgH="81081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65" y="1306773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896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/>
              <a:t>1-Nearest Neighbor</a:t>
            </a:r>
          </a:p>
        </p:txBody>
      </p:sp>
      <p:sp>
        <p:nvSpPr>
          <p:cNvPr id="131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One of the simplest of all machine learning classifiers</a:t>
            </a:r>
          </a:p>
          <a:p>
            <a:r>
              <a:rPr lang="en-US" altLang="en-US" sz="3200" dirty="0">
                <a:solidFill>
                  <a:srgbClr val="FF0000"/>
                </a:solidFill>
              </a:rPr>
              <a:t>Simple idea:</a:t>
            </a:r>
            <a:r>
              <a:rPr lang="en-US" altLang="en-US" sz="3200" dirty="0"/>
              <a:t>  </a:t>
            </a:r>
            <a:r>
              <a:rPr lang="en-US" altLang="en-US" sz="3200" dirty="0">
                <a:solidFill>
                  <a:srgbClr val="FF0000"/>
                </a:solidFill>
              </a:rPr>
              <a:t>label</a:t>
            </a:r>
            <a:r>
              <a:rPr lang="en-US" altLang="en-US" sz="3200" dirty="0"/>
              <a:t> a new point the </a:t>
            </a:r>
            <a:r>
              <a:rPr lang="en-US" altLang="en-US" sz="3200" dirty="0">
                <a:solidFill>
                  <a:srgbClr val="FF0000"/>
                </a:solidFill>
              </a:rPr>
              <a:t>same as the closest known </a:t>
            </a:r>
            <a:r>
              <a:rPr lang="en-US" altLang="en-US" sz="3200" dirty="0" smtClean="0">
                <a:solidFill>
                  <a:srgbClr val="FF0000"/>
                </a:solidFill>
              </a:rPr>
              <a:t>point 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1315844" name="Oval 4"/>
          <p:cNvSpPr>
            <a:spLocks noChangeArrowheads="1"/>
          </p:cNvSpPr>
          <p:nvPr/>
        </p:nvSpPr>
        <p:spPr bwMode="auto">
          <a:xfrm>
            <a:off x="48006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45" name="Oval 5"/>
          <p:cNvSpPr>
            <a:spLocks noChangeArrowheads="1"/>
          </p:cNvSpPr>
          <p:nvPr/>
        </p:nvSpPr>
        <p:spPr bwMode="auto">
          <a:xfrm>
            <a:off x="5181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46" name="Oval 6"/>
          <p:cNvSpPr>
            <a:spLocks noChangeArrowheads="1"/>
          </p:cNvSpPr>
          <p:nvPr/>
        </p:nvSpPr>
        <p:spPr bwMode="auto">
          <a:xfrm>
            <a:off x="61722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47" name="Oval 7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48" name="Oval 8"/>
          <p:cNvSpPr>
            <a:spLocks noChangeArrowheads="1"/>
          </p:cNvSpPr>
          <p:nvPr/>
        </p:nvSpPr>
        <p:spPr bwMode="auto">
          <a:xfrm>
            <a:off x="6858000" y="5181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49" name="Oval 9"/>
          <p:cNvSpPr>
            <a:spLocks noChangeArrowheads="1"/>
          </p:cNvSpPr>
          <p:nvPr/>
        </p:nvSpPr>
        <p:spPr bwMode="auto">
          <a:xfrm>
            <a:off x="5562600" y="4648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0" name="Oval 10"/>
          <p:cNvSpPr>
            <a:spLocks noChangeArrowheads="1"/>
          </p:cNvSpPr>
          <p:nvPr/>
        </p:nvSpPr>
        <p:spPr bwMode="auto">
          <a:xfrm>
            <a:off x="6248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1" name="Oval 11"/>
          <p:cNvSpPr>
            <a:spLocks noChangeArrowheads="1"/>
          </p:cNvSpPr>
          <p:nvPr/>
        </p:nvSpPr>
        <p:spPr bwMode="auto">
          <a:xfrm>
            <a:off x="5943600" y="4953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2" name="Text Box 12"/>
          <p:cNvSpPr txBox="1">
            <a:spLocks noChangeArrowheads="1"/>
          </p:cNvSpPr>
          <p:nvPr/>
        </p:nvSpPr>
        <p:spPr bwMode="auto">
          <a:xfrm>
            <a:off x="6537325" y="4306888"/>
            <a:ext cx="13901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red.</a:t>
            </a:r>
          </a:p>
        </p:txBody>
      </p:sp>
      <p:sp>
        <p:nvSpPr>
          <p:cNvPr id="1315853" name="Oval 13"/>
          <p:cNvSpPr>
            <a:spLocks noChangeArrowheads="1"/>
          </p:cNvSpPr>
          <p:nvPr/>
        </p:nvSpPr>
        <p:spPr bwMode="auto">
          <a:xfrm>
            <a:off x="5676900" y="46863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4" name="Oval 14"/>
          <p:cNvSpPr>
            <a:spLocks noChangeArrowheads="1"/>
          </p:cNvSpPr>
          <p:nvPr/>
        </p:nvSpPr>
        <p:spPr bwMode="auto">
          <a:xfrm>
            <a:off x="5715000" y="4724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5" name="Oval 15"/>
          <p:cNvSpPr>
            <a:spLocks noChangeArrowheads="1"/>
          </p:cNvSpPr>
          <p:nvPr/>
        </p:nvSpPr>
        <p:spPr bwMode="auto">
          <a:xfrm>
            <a:off x="5753100" y="47625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6" name="Oval 16"/>
          <p:cNvSpPr>
            <a:spLocks noChangeArrowheads="1"/>
          </p:cNvSpPr>
          <p:nvPr/>
        </p:nvSpPr>
        <p:spPr bwMode="auto">
          <a:xfrm>
            <a:off x="5791200" y="4800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7" name="Oval 17"/>
          <p:cNvSpPr>
            <a:spLocks noChangeArrowheads="1"/>
          </p:cNvSpPr>
          <p:nvPr/>
        </p:nvSpPr>
        <p:spPr bwMode="auto">
          <a:xfrm>
            <a:off x="5829300" y="48387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8" name="Oval 18"/>
          <p:cNvSpPr>
            <a:spLocks noChangeArrowheads="1"/>
          </p:cNvSpPr>
          <p:nvPr/>
        </p:nvSpPr>
        <p:spPr bwMode="auto">
          <a:xfrm>
            <a:off x="58674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59" name="Oval 19"/>
          <p:cNvSpPr>
            <a:spLocks noChangeArrowheads="1"/>
          </p:cNvSpPr>
          <p:nvPr/>
        </p:nvSpPr>
        <p:spPr bwMode="auto">
          <a:xfrm>
            <a:off x="5905500" y="49149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60" name="Oval 20"/>
          <p:cNvSpPr>
            <a:spLocks noChangeArrowheads="1"/>
          </p:cNvSpPr>
          <p:nvPr/>
        </p:nvSpPr>
        <p:spPr bwMode="auto">
          <a:xfrm>
            <a:off x="5943600" y="49530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5861" name="Line 21"/>
          <p:cNvSpPr>
            <a:spLocks noChangeShapeType="1"/>
          </p:cNvSpPr>
          <p:nvPr/>
        </p:nvSpPr>
        <p:spPr bwMode="auto">
          <a:xfrm flipV="1">
            <a:off x="6172200" y="4648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23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5851" grpId="0" animBg="1"/>
      <p:bldP spid="1315852" grpId="0"/>
      <p:bldP spid="1315853" grpId="0" animBg="1"/>
      <p:bldP spid="1315853" grpId="1" animBg="1"/>
      <p:bldP spid="1315854" grpId="0" animBg="1"/>
      <p:bldP spid="1315854" grpId="1" animBg="1"/>
      <p:bldP spid="1315855" grpId="0" animBg="1"/>
      <p:bldP spid="1315855" grpId="1" animBg="1"/>
      <p:bldP spid="1315856" grpId="0" animBg="1"/>
      <p:bldP spid="1315856" grpId="1" animBg="1"/>
      <p:bldP spid="1315857" grpId="0" animBg="1"/>
      <p:bldP spid="1315857" grpId="1" animBg="1"/>
      <p:bldP spid="1315858" grpId="0" animBg="1"/>
      <p:bldP spid="1315858" grpId="1" animBg="1"/>
      <p:bldP spid="1315859" grpId="0" animBg="1"/>
      <p:bldP spid="1315859" grpId="1" animBg="1"/>
      <p:bldP spid="1315860" grpId="0" animBg="1"/>
      <p:bldP spid="13158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22337"/>
          </a:xfrm>
        </p:spPr>
        <p:txBody>
          <a:bodyPr/>
          <a:lstStyle/>
          <a:p>
            <a:pPr algn="ctr"/>
            <a:r>
              <a:rPr lang="en-US" altLang="en-US" b="1" dirty="0"/>
              <a:t>k – Nearest Neighbor</a:t>
            </a:r>
          </a:p>
        </p:txBody>
      </p:sp>
      <p:sp>
        <p:nvSpPr>
          <p:cNvPr id="132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76374"/>
            <a:ext cx="10515600" cy="53260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Generalizes 1-NN to smooth away noise in the labels</a:t>
            </a:r>
          </a:p>
          <a:p>
            <a:r>
              <a:rPr lang="en-US" altLang="en-US" sz="3200" dirty="0"/>
              <a:t>A new point is now assigned </a:t>
            </a:r>
            <a:r>
              <a:rPr lang="en-US" altLang="en-US" sz="3200" dirty="0">
                <a:solidFill>
                  <a:srgbClr val="FF0000"/>
                </a:solidFill>
              </a:rPr>
              <a:t>the most frequent label of its </a:t>
            </a:r>
            <a:r>
              <a:rPr lang="en-US" altLang="en-US" sz="3200" i="1" dirty="0">
                <a:solidFill>
                  <a:srgbClr val="FF0000"/>
                </a:solidFill>
              </a:rPr>
              <a:t>k</a:t>
            </a:r>
            <a:r>
              <a:rPr lang="en-US" altLang="en-US" sz="3200" dirty="0">
                <a:solidFill>
                  <a:srgbClr val="FF0000"/>
                </a:solidFill>
              </a:rPr>
              <a:t> nearest neighbors</a:t>
            </a:r>
          </a:p>
        </p:txBody>
      </p:sp>
      <p:sp>
        <p:nvSpPr>
          <p:cNvPr id="1326084" name="Oval 4"/>
          <p:cNvSpPr>
            <a:spLocks noChangeArrowheads="1"/>
          </p:cNvSpPr>
          <p:nvPr/>
        </p:nvSpPr>
        <p:spPr bwMode="auto">
          <a:xfrm>
            <a:off x="22098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85" name="Oval 5"/>
          <p:cNvSpPr>
            <a:spLocks noChangeArrowheads="1"/>
          </p:cNvSpPr>
          <p:nvPr/>
        </p:nvSpPr>
        <p:spPr bwMode="auto">
          <a:xfrm>
            <a:off x="2590800" y="6096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86" name="Oval 6"/>
          <p:cNvSpPr>
            <a:spLocks noChangeArrowheads="1"/>
          </p:cNvSpPr>
          <p:nvPr/>
        </p:nvSpPr>
        <p:spPr bwMode="auto">
          <a:xfrm>
            <a:off x="35814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87" name="Oval 7"/>
          <p:cNvSpPr>
            <a:spLocks noChangeArrowheads="1"/>
          </p:cNvSpPr>
          <p:nvPr/>
        </p:nvSpPr>
        <p:spPr bwMode="auto">
          <a:xfrm>
            <a:off x="2133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88" name="Oval 8"/>
          <p:cNvSpPr>
            <a:spLocks noChangeArrowheads="1"/>
          </p:cNvSpPr>
          <p:nvPr/>
        </p:nvSpPr>
        <p:spPr bwMode="auto">
          <a:xfrm>
            <a:off x="3962400" y="5334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89" name="Oval 9"/>
          <p:cNvSpPr>
            <a:spLocks noChangeArrowheads="1"/>
          </p:cNvSpPr>
          <p:nvPr/>
        </p:nvSpPr>
        <p:spPr bwMode="auto">
          <a:xfrm>
            <a:off x="2971800" y="5029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0" name="Oval 10"/>
          <p:cNvSpPr>
            <a:spLocks noChangeArrowheads="1"/>
          </p:cNvSpPr>
          <p:nvPr/>
        </p:nvSpPr>
        <p:spPr bwMode="auto">
          <a:xfrm>
            <a:off x="3581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1" name="Text Box 11"/>
          <p:cNvSpPr txBox="1">
            <a:spLocks noChangeArrowheads="1"/>
          </p:cNvSpPr>
          <p:nvPr/>
        </p:nvSpPr>
        <p:spPr bwMode="auto">
          <a:xfrm>
            <a:off x="3946525" y="4687888"/>
            <a:ext cx="25763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latin typeface="Palatino" charset="0"/>
              </a:rPr>
              <a:t>Label it red, when k = 3</a:t>
            </a:r>
          </a:p>
        </p:txBody>
      </p:sp>
      <p:sp>
        <p:nvSpPr>
          <p:cNvPr id="1326092" name="Oval 12"/>
          <p:cNvSpPr>
            <a:spLocks noChangeArrowheads="1"/>
          </p:cNvSpPr>
          <p:nvPr/>
        </p:nvSpPr>
        <p:spPr bwMode="auto">
          <a:xfrm>
            <a:off x="3314700" y="53721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3" name="Line 13"/>
          <p:cNvSpPr>
            <a:spLocks noChangeShapeType="1"/>
          </p:cNvSpPr>
          <p:nvPr/>
        </p:nvSpPr>
        <p:spPr bwMode="auto">
          <a:xfrm flipV="1">
            <a:off x="3581400" y="5029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26094" name="Oval 14"/>
          <p:cNvSpPr>
            <a:spLocks noChangeArrowheads="1"/>
          </p:cNvSpPr>
          <p:nvPr/>
        </p:nvSpPr>
        <p:spPr bwMode="auto">
          <a:xfrm>
            <a:off x="2895600" y="49530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5" name="Oval 15"/>
          <p:cNvSpPr>
            <a:spLocks noChangeArrowheads="1"/>
          </p:cNvSpPr>
          <p:nvPr/>
        </p:nvSpPr>
        <p:spPr bwMode="auto">
          <a:xfrm>
            <a:off x="8093075" y="47609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6" name="Oval 16"/>
          <p:cNvSpPr>
            <a:spLocks noChangeArrowheads="1"/>
          </p:cNvSpPr>
          <p:nvPr/>
        </p:nvSpPr>
        <p:spPr bwMode="auto">
          <a:xfrm>
            <a:off x="8474075" y="6208713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7" name="Oval 17"/>
          <p:cNvSpPr>
            <a:spLocks noChangeArrowheads="1"/>
          </p:cNvSpPr>
          <p:nvPr/>
        </p:nvSpPr>
        <p:spPr bwMode="auto">
          <a:xfrm>
            <a:off x="9464675" y="44561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8" name="Oval 18"/>
          <p:cNvSpPr>
            <a:spLocks noChangeArrowheads="1"/>
          </p:cNvSpPr>
          <p:nvPr/>
        </p:nvSpPr>
        <p:spPr bwMode="auto">
          <a:xfrm>
            <a:off x="8016875" y="55229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099" name="Oval 19"/>
          <p:cNvSpPr>
            <a:spLocks noChangeArrowheads="1"/>
          </p:cNvSpPr>
          <p:nvPr/>
        </p:nvSpPr>
        <p:spPr bwMode="auto">
          <a:xfrm>
            <a:off x="9845675" y="5446713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100" name="Oval 20"/>
          <p:cNvSpPr>
            <a:spLocks noChangeArrowheads="1"/>
          </p:cNvSpPr>
          <p:nvPr/>
        </p:nvSpPr>
        <p:spPr bwMode="auto">
          <a:xfrm>
            <a:off x="8855075" y="5141913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101" name="Oval 21"/>
          <p:cNvSpPr>
            <a:spLocks noChangeArrowheads="1"/>
          </p:cNvSpPr>
          <p:nvPr/>
        </p:nvSpPr>
        <p:spPr bwMode="auto">
          <a:xfrm>
            <a:off x="9464675" y="59801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102" name="Text Box 22"/>
          <p:cNvSpPr txBox="1">
            <a:spLocks noChangeArrowheads="1"/>
          </p:cNvSpPr>
          <p:nvPr/>
        </p:nvSpPr>
        <p:spPr bwMode="auto">
          <a:xfrm>
            <a:off x="5276025" y="5935702"/>
            <a:ext cx="26789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latin typeface="Palatino" charset="0"/>
              </a:rPr>
              <a:t>Label it blue, when k = 7</a:t>
            </a:r>
          </a:p>
        </p:txBody>
      </p:sp>
      <p:sp>
        <p:nvSpPr>
          <p:cNvPr id="1326103" name="Oval 23"/>
          <p:cNvSpPr>
            <a:spLocks noChangeArrowheads="1"/>
          </p:cNvSpPr>
          <p:nvPr/>
        </p:nvSpPr>
        <p:spPr bwMode="auto">
          <a:xfrm>
            <a:off x="9197975" y="5484813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6104" name="Line 24"/>
          <p:cNvSpPr>
            <a:spLocks noChangeShapeType="1"/>
          </p:cNvSpPr>
          <p:nvPr/>
        </p:nvSpPr>
        <p:spPr bwMode="auto">
          <a:xfrm flipH="1">
            <a:off x="8001000" y="5638800"/>
            <a:ext cx="1143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26105" name="Oval 25"/>
          <p:cNvSpPr>
            <a:spLocks noChangeArrowheads="1"/>
          </p:cNvSpPr>
          <p:nvPr/>
        </p:nvSpPr>
        <p:spPr bwMode="auto">
          <a:xfrm>
            <a:off x="8108950" y="4395788"/>
            <a:ext cx="2406650" cy="2406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1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 smtClean="0">
                <a:solidFill>
                  <a:srgbClr val="FF0000"/>
                </a:solidFill>
              </a:rPr>
              <a:t>K-Nearest Neighbor Classification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Compute distance between two points </a:t>
            </a:r>
            <a:r>
              <a:rPr lang="en-US" altLang="en-US" b="1" dirty="0" smtClean="0">
                <a:solidFill>
                  <a:srgbClr val="FF0000"/>
                </a:solidFill>
              </a:rPr>
              <a:t>(Euclidean distance) </a:t>
            </a:r>
          </a:p>
          <a:p>
            <a:pPr lvl="1"/>
            <a:endParaRPr lang="en-US" altLang="en-US" dirty="0" smtClean="0"/>
          </a:p>
          <a:p>
            <a:pPr marL="457200" lvl="1" indent="0">
              <a:buNone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None/>
            </a:pPr>
            <a:endParaRPr lang="en-US" altLang="en-US" dirty="0" smtClean="0"/>
          </a:p>
          <a:p>
            <a:r>
              <a:rPr lang="en-US" altLang="en-US" b="1" dirty="0" smtClean="0"/>
              <a:t>Determine the class from nearest neighbor list</a:t>
            </a:r>
          </a:p>
          <a:p>
            <a:pPr lvl="1"/>
            <a:r>
              <a:rPr lang="en-US" altLang="en-US" sz="2800" dirty="0"/>
              <a:t>T</a:t>
            </a:r>
            <a:r>
              <a:rPr lang="en-US" altLang="en-US" sz="2800" dirty="0" smtClean="0"/>
              <a:t>ake the majority vote of class labels among the k-nearest neighbors</a:t>
            </a:r>
          </a:p>
          <a:p>
            <a:pPr lvl="1"/>
            <a:r>
              <a:rPr lang="en-US" altLang="en-US" sz="2800" dirty="0" smtClean="0"/>
              <a:t>Weigh the vote according to distance</a:t>
            </a:r>
          </a:p>
          <a:p>
            <a:pPr lvl="2"/>
            <a:r>
              <a:rPr lang="en-US" altLang="en-US" sz="2400" dirty="0" smtClean="0"/>
              <a:t> weight factor, w = 1/d</a:t>
            </a:r>
            <a:r>
              <a:rPr lang="en-US" altLang="en-US" sz="2400" baseline="30000" dirty="0" smtClean="0"/>
              <a:t>2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580243"/>
              </p:ext>
            </p:extLst>
          </p:nvPr>
        </p:nvGraphicFramePr>
        <p:xfrm>
          <a:off x="3497239" y="2661722"/>
          <a:ext cx="4281985" cy="72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3" imgW="2705100" imgH="457200" progId="Equation.3">
                  <p:embed/>
                </p:oleObj>
              </mc:Choice>
              <mc:Fallback>
                <p:oleObj name="Equation" r:id="rId3" imgW="2705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39" y="2661722"/>
                        <a:ext cx="4281985" cy="723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11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81287"/>
          </a:xfrm>
        </p:spPr>
        <p:txBody>
          <a:bodyPr/>
          <a:lstStyle/>
          <a:p>
            <a:pPr algn="ctr"/>
            <a:r>
              <a:rPr lang="en-US" altLang="en-US" b="1" dirty="0" smtClean="0">
                <a:solidFill>
                  <a:srgbClr val="FF0000"/>
                </a:solidFill>
              </a:rPr>
              <a:t>K-Nearest Neighbor Classification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02544"/>
            <a:ext cx="10515600" cy="4616118"/>
          </a:xfrm>
        </p:spPr>
        <p:txBody>
          <a:bodyPr/>
          <a:lstStyle/>
          <a:p>
            <a:r>
              <a:rPr lang="en-US" altLang="en-US" b="1" dirty="0" smtClean="0"/>
              <a:t>Choosing the value of k</a:t>
            </a:r>
          </a:p>
          <a:p>
            <a:pPr lvl="1"/>
            <a:r>
              <a:rPr lang="en-US" altLang="en-US" sz="2800" dirty="0"/>
              <a:t>If k is too small, sensitive to noise points</a:t>
            </a:r>
          </a:p>
          <a:p>
            <a:pPr lvl="1"/>
            <a:r>
              <a:rPr lang="en-US" altLang="en-US" sz="2800" dirty="0"/>
              <a:t>If k is too large, neighborhood may include points from other classes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934584"/>
              </p:ext>
            </p:extLst>
          </p:nvPr>
        </p:nvGraphicFramePr>
        <p:xfrm>
          <a:off x="3475631" y="3264682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Visio" r:id="rId3" imgW="6582512" imgH="5298053" progId="Visio.Drawing.6">
                  <p:embed/>
                </p:oleObj>
              </mc:Choice>
              <mc:Fallback>
                <p:oleObj name="Visio" r:id="rId3" imgW="6582512" imgH="529805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631" y="3264682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414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solidFill>
                  <a:srgbClr val="FF0000"/>
                </a:solidFill>
              </a:rPr>
              <a:t>K-Nearest </a:t>
            </a:r>
            <a:r>
              <a:rPr lang="en-US" altLang="en-US" b="1" dirty="0">
                <a:solidFill>
                  <a:srgbClr val="FF0000"/>
                </a:solidFill>
              </a:rPr>
              <a:t>Neighbor </a:t>
            </a:r>
            <a:r>
              <a:rPr lang="en-US" altLang="en-US" b="1" dirty="0" smtClean="0">
                <a:solidFill>
                  <a:srgbClr val="FF0000"/>
                </a:solidFill>
              </a:rPr>
              <a:t>Classification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Step #1 -</a:t>
            </a:r>
            <a:r>
              <a:rPr lang="en-US" dirty="0"/>
              <a:t> Assign a value to </a:t>
            </a:r>
            <a:r>
              <a:rPr lang="en-US" b="1" dirty="0"/>
              <a:t>K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Step #2 -</a:t>
            </a:r>
            <a:r>
              <a:rPr lang="en-US" dirty="0">
                <a:solidFill>
                  <a:srgbClr val="FF0000"/>
                </a:solidFill>
              </a:rPr>
              <a:t> Calculate the distance </a:t>
            </a:r>
            <a:r>
              <a:rPr lang="en-US" dirty="0"/>
              <a:t>between the new data entry and all other existing data </a:t>
            </a:r>
            <a:r>
              <a:rPr lang="en-US" dirty="0" smtClean="0"/>
              <a:t>entries. </a:t>
            </a:r>
            <a:r>
              <a:rPr lang="en-US" b="1" dirty="0" smtClean="0"/>
              <a:t>Arrange </a:t>
            </a:r>
            <a:r>
              <a:rPr lang="en-US" b="1" dirty="0"/>
              <a:t>them in ascending order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Step #3 -</a:t>
            </a:r>
            <a:r>
              <a:rPr lang="en-US" dirty="0"/>
              <a:t> Find the </a:t>
            </a:r>
            <a:r>
              <a:rPr lang="en-US" b="1" dirty="0"/>
              <a:t>K</a:t>
            </a:r>
            <a:r>
              <a:rPr lang="en-US" dirty="0"/>
              <a:t> nearest neighbors to the new entry based on the calculated distances.</a:t>
            </a:r>
          </a:p>
          <a:p>
            <a:pPr fontAlgn="base"/>
            <a:r>
              <a:rPr lang="en-US" b="1" dirty="0"/>
              <a:t>Step #4 -</a:t>
            </a:r>
            <a:r>
              <a:rPr lang="en-US" dirty="0"/>
              <a:t> Assign the new data entry to the majority class in the nearest neighbors.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11" y="371107"/>
            <a:ext cx="3842342" cy="57135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5448841" y="773887"/>
            <a:ext cx="47604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let's assume the value of K is 5.</a:t>
            </a:r>
            <a:endParaRPr lang="en-IN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92" y="1885809"/>
            <a:ext cx="4277721" cy="18376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1738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7922" y="551681"/>
            <a:ext cx="108090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</a:t>
            </a:r>
            <a:r>
              <a:rPr lang="en-US" sz="2800" dirty="0" smtClean="0"/>
              <a:t>o </a:t>
            </a:r>
            <a:r>
              <a:rPr lang="en-US" sz="2800" dirty="0"/>
              <a:t>calculate the distance from the new entry to other entries in the data set using the Euclidean distance formula.</a:t>
            </a:r>
            <a:endParaRPr lang="en-IN" sz="2800" dirty="0"/>
          </a:p>
        </p:txBody>
      </p:sp>
      <p:sp>
        <p:nvSpPr>
          <p:cNvPr id="5" name="Rectangle 4"/>
          <p:cNvSpPr/>
          <p:nvPr/>
        </p:nvSpPr>
        <p:spPr>
          <a:xfrm>
            <a:off x="3835021" y="2415653"/>
            <a:ext cx="3739486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3600" dirty="0"/>
              <a:t>√(X₂-X₁)²+(Y₂-Y₁)²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3642" y="3616362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Where:</a:t>
            </a:r>
          </a:p>
          <a:p>
            <a:endParaRPr lang="en-US" sz="2000" dirty="0"/>
          </a:p>
          <a:p>
            <a:r>
              <a:rPr lang="en-US" sz="2800" dirty="0"/>
              <a:t>X₂ = New entry's brightness (20).</a:t>
            </a:r>
          </a:p>
          <a:p>
            <a:r>
              <a:rPr lang="en-US" sz="2800" dirty="0"/>
              <a:t>X₁= Existing entry's brightness.</a:t>
            </a:r>
          </a:p>
          <a:p>
            <a:r>
              <a:rPr lang="en-US" sz="2800" dirty="0"/>
              <a:t>Y₂ = New entry's saturation (35).</a:t>
            </a:r>
          </a:p>
          <a:p>
            <a:r>
              <a:rPr lang="en-US" sz="2800" dirty="0"/>
              <a:t>Y₁ = Existing entry's saturation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16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1" y="499603"/>
            <a:ext cx="3865199" cy="57368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078" y="3941225"/>
            <a:ext cx="3600450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34" y="697011"/>
            <a:ext cx="2517628" cy="905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778" y="1755640"/>
            <a:ext cx="3367051" cy="14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64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2530" cy="57152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86484" y="87332"/>
            <a:ext cx="61687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</a:t>
            </a:r>
            <a:r>
              <a:rPr lang="en-US" sz="2400" dirty="0" smtClean="0"/>
              <a:t>e </a:t>
            </a:r>
            <a:r>
              <a:rPr lang="en-US" sz="2400" dirty="0"/>
              <a:t>chose 5 as the value of K, we'll only consider the first five rows.</a:t>
            </a:r>
            <a:endParaRPr lang="en-I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462" y="1079221"/>
            <a:ext cx="4743619" cy="40464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81851" y="528659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dirty="0" smtClean="0"/>
              <a:t>The </a:t>
            </a:r>
            <a:r>
              <a:rPr lang="en-US" sz="2400" b="1" dirty="0"/>
              <a:t>majority class within the 5 nearest neighbors to the new entry is Red</a:t>
            </a:r>
            <a:r>
              <a:rPr lang="en-US" sz="2400" dirty="0"/>
              <a:t>. Therefore, we'll classify the </a:t>
            </a:r>
            <a:r>
              <a:rPr lang="en-US" sz="2400" dirty="0">
                <a:solidFill>
                  <a:srgbClr val="FF0000"/>
                </a:solidFill>
              </a:rPr>
              <a:t>new entry as Red.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66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58" y="255983"/>
            <a:ext cx="8596668" cy="660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5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91" y="0"/>
            <a:ext cx="9844472" cy="67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91" y="109182"/>
            <a:ext cx="6971982" cy="47060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8866" y="5063026"/>
            <a:ext cx="105906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Now, we need to apply the majority voting technique to decide the resulting label fro the new example. Here the 1st and 2nd nearest neighbors have target label 1 and the 3rd nearest neighbor has target label 0. Target label 1 has the majority. Hence the new example is classified as 1, That is the diabetic patient has Sugar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49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KNN Regression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 In KNN regression, we predict the value of a dependent variable for a data point based on the average or mean of the target values of its K nearest neighbors in the training data. </a:t>
            </a:r>
            <a:endParaRPr lang="en-US" sz="3200" dirty="0" smtClean="0"/>
          </a:p>
          <a:p>
            <a:pPr algn="just"/>
            <a:r>
              <a:rPr lang="en-US" sz="3200" dirty="0" smtClean="0"/>
              <a:t>The </a:t>
            </a:r>
            <a:r>
              <a:rPr lang="en-US" sz="3200" dirty="0"/>
              <a:t>value of K is a user-defined </a:t>
            </a:r>
            <a:r>
              <a:rPr lang="en-US" sz="3200" dirty="0" err="1"/>
              <a:t>hyperparameter</a:t>
            </a:r>
            <a:r>
              <a:rPr lang="en-US" sz="3200" dirty="0"/>
              <a:t>. It determines the number of nearest neighbors used to make the prediction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7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39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KNN Regression Algorithm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5594"/>
            <a:ext cx="10515600" cy="492136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Choose a value for K</a:t>
            </a:r>
            <a:r>
              <a:rPr lang="en-US" dirty="0"/>
              <a:t>: We first choose a value for K. This determines the number of nearest neighbors used to make the prediction.</a:t>
            </a:r>
          </a:p>
          <a:p>
            <a:pPr algn="just"/>
            <a:r>
              <a:rPr lang="en-US" b="1" dirty="0"/>
              <a:t>Calculate the distance</a:t>
            </a:r>
            <a:r>
              <a:rPr lang="en-US" dirty="0"/>
              <a:t>: After choosing K, we calculate the distance between each data point in the training set and the target data point for which a prediction is being made. For this, we can use a variety of distance metrics, including Euclidean distance, Manhattan distance, or </a:t>
            </a:r>
            <a:r>
              <a:rPr lang="en-US" dirty="0" err="1"/>
              <a:t>Minkowski</a:t>
            </a:r>
            <a:r>
              <a:rPr lang="en-US" dirty="0"/>
              <a:t> distance.</a:t>
            </a:r>
          </a:p>
          <a:p>
            <a:pPr algn="just"/>
            <a:r>
              <a:rPr lang="en-US" b="1" dirty="0"/>
              <a:t>Find the K nearest neighbors</a:t>
            </a:r>
            <a:r>
              <a:rPr lang="en-US" dirty="0"/>
              <a:t>: After calculating the distance between the existing data points and the new data point, we identify K nearest neighbors by selecting the K data points nearest to the new data point.</a:t>
            </a:r>
          </a:p>
          <a:p>
            <a:pPr algn="just"/>
            <a:r>
              <a:rPr lang="en-US" b="1" dirty="0"/>
              <a:t>Calculate the prediction</a:t>
            </a:r>
            <a:r>
              <a:rPr lang="en-US" dirty="0"/>
              <a:t>: After finding the neighbors, we calculate the value of the dependent variable for the new data point. For this, we take the </a:t>
            </a:r>
            <a:r>
              <a:rPr lang="en-US" b="1" dirty="0">
                <a:solidFill>
                  <a:srgbClr val="FF0000"/>
                </a:solidFill>
              </a:rPr>
              <a:t>average of the target values of the K nearest neighbors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41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7" y="0"/>
            <a:ext cx="7615450" cy="66635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65577" y="1419368"/>
            <a:ext cx="373948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dataset contains the length and weight of metal rods along with their cost. </a:t>
            </a:r>
            <a:endParaRPr lang="en-US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Now</a:t>
            </a:r>
            <a:r>
              <a:rPr lang="en-US" sz="2400" dirty="0"/>
              <a:t>, suppose that we want to calculate the cost for a rod with a length of 7 and a weight of 8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60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051" y="174366"/>
            <a:ext cx="7342496" cy="644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5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3900" y="267099"/>
            <a:ext cx="10836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Calibri "/>
              </a:rPr>
              <a:t>Find </a:t>
            </a:r>
            <a:r>
              <a:rPr lang="en-US" sz="2400" dirty="0">
                <a:latin typeface="Calibri "/>
              </a:rPr>
              <a:t>the three closest points in the dataset. For this, we will sort the points according to their distances from (7, 8).</a:t>
            </a:r>
            <a:endParaRPr lang="en-IN" sz="2400" dirty="0">
              <a:latin typeface="Calibri 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00" y="1098096"/>
            <a:ext cx="6388522" cy="57599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05767" y="1595935"/>
            <a:ext cx="472212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you can observe that the three points closest to  (7, 8) are (7, 9), (5, 8), and (9, 7). These points have costs of 33, 30, and 32.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To calculate the cost of a rod with length 7 and weight 8, we can take the average of the above costs. Hence, the cost for (7, 8) will be 31.67.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1981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830</Words>
  <Application>Microsoft Office PowerPoint</Application>
  <PresentationFormat>Widescreen</PresentationFormat>
  <Paragraphs>77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</vt:lpstr>
      <vt:lpstr>Calibri Light</vt:lpstr>
      <vt:lpstr>Monotype Sorts</vt:lpstr>
      <vt:lpstr>Palatino</vt:lpstr>
      <vt:lpstr>Wingdings</vt:lpstr>
      <vt:lpstr>Office Theme</vt:lpstr>
      <vt:lpstr>Visio</vt:lpstr>
      <vt:lpstr>Equation</vt:lpstr>
      <vt:lpstr>K-Nearest Neighbors Algorithm</vt:lpstr>
      <vt:lpstr>Instance Based Classifiers</vt:lpstr>
      <vt:lpstr>K-Nearest Neighbor</vt:lpstr>
      <vt:lpstr>kNN— k Nearest-Neighbor Classifiers</vt:lpstr>
      <vt:lpstr>1-Nearest Neighbor</vt:lpstr>
      <vt:lpstr>k – Nearest Neighbor</vt:lpstr>
      <vt:lpstr>K-Nearest Neighbor Classification</vt:lpstr>
      <vt:lpstr>K-Nearest Neighbor Classification</vt:lpstr>
      <vt:lpstr>K-Nearest Neighbor Classification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KNN Regression</vt:lpstr>
      <vt:lpstr>KNN Regression Algorithm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BMS</dc:creator>
  <cp:lastModifiedBy>BMS</cp:lastModifiedBy>
  <cp:revision>18</cp:revision>
  <dcterms:created xsi:type="dcterms:W3CDTF">2025-03-17T09:45:52Z</dcterms:created>
  <dcterms:modified xsi:type="dcterms:W3CDTF">2025-03-21T06:36:21Z</dcterms:modified>
</cp:coreProperties>
</file>