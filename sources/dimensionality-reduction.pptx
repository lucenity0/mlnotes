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57" r:id="rId5"/>
    <p:sldId id="258" r:id="rId6"/>
    <p:sldId id="259" r:id="rId7"/>
    <p:sldId id="262" r:id="rId8"/>
    <p:sldId id="264" r:id="rId9"/>
    <p:sldId id="266" r:id="rId10"/>
    <p:sldId id="268" r:id="rId11"/>
    <p:sldId id="267" r:id="rId12"/>
    <p:sldId id="269" r:id="rId13"/>
    <p:sldId id="270" r:id="rId14"/>
    <p:sldId id="271" r:id="rId15"/>
    <p:sldId id="272" r:id="rId16"/>
    <p:sldId id="273" r:id="rId17"/>
    <p:sldId id="290" r:id="rId18"/>
    <p:sldId id="275" r:id="rId19"/>
    <p:sldId id="276" r:id="rId20"/>
    <p:sldId id="277" r:id="rId21"/>
    <p:sldId id="278" r:id="rId22"/>
    <p:sldId id="291" r:id="rId23"/>
    <p:sldId id="279" r:id="rId24"/>
    <p:sldId id="281" r:id="rId25"/>
    <p:sldId id="292" r:id="rId26"/>
    <p:sldId id="293" r:id="rId27"/>
    <p:sldId id="294" r:id="rId28"/>
    <p:sldId id="295" r:id="rId29"/>
    <p:sldId id="296" r:id="rId30"/>
    <p:sldId id="289" r:id="rId31"/>
    <p:sldId id="297" r:id="rId32"/>
    <p:sldId id="298" r:id="rId33"/>
    <p:sldId id="27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A12A-B581-3DA9-24D2-FE8EBF3B40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3258CF-47D3-2CC4-961E-1BFAAE9C4F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1287E6-89D8-49A4-5BA7-754F065B232F}"/>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5" name="Footer Placeholder 4">
            <a:extLst>
              <a:ext uri="{FF2B5EF4-FFF2-40B4-BE49-F238E27FC236}">
                <a16:creationId xmlns:a16="http://schemas.microsoft.com/office/drawing/2014/main" id="{4E3F8EBD-1EEB-53FA-5BF8-4554EFD1C4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E16D2F-08E7-AE53-625C-BB5C0A67B340}"/>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1912703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3C1A-4142-1D4D-A5EA-CC6A9E8E40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D66679-F8BB-8396-D9F9-40B6A3ACFA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30477F-300B-FA8A-B7DA-851A600E127A}"/>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5" name="Footer Placeholder 4">
            <a:extLst>
              <a:ext uri="{FF2B5EF4-FFF2-40B4-BE49-F238E27FC236}">
                <a16:creationId xmlns:a16="http://schemas.microsoft.com/office/drawing/2014/main" id="{6B1F10D2-768C-EC02-9836-8C0E5E266C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95588-0388-3793-0148-25E41A1DF256}"/>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1520878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BFD28-47E9-D56C-5297-1D16B6E463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09B2D6-DEA3-B6F1-8F21-A48F277BAF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0821C3-6DFD-14B4-C77D-9F29BD91AC32}"/>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5" name="Footer Placeholder 4">
            <a:extLst>
              <a:ext uri="{FF2B5EF4-FFF2-40B4-BE49-F238E27FC236}">
                <a16:creationId xmlns:a16="http://schemas.microsoft.com/office/drawing/2014/main" id="{07680113-65D6-4EBD-B608-7DD49DB2D6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FF6DB7-7E12-BF94-169F-321AEDC9371D}"/>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27237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9B987-C423-95BD-6737-76BE97F235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097808-3CA9-8AA3-C247-4FA7E250DD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FA91D8-CB51-9B84-487B-7A5939D65B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96A9F94-AC98-E842-1589-ECD0AA26F795}"/>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6" name="Footer Placeholder 5">
            <a:extLst>
              <a:ext uri="{FF2B5EF4-FFF2-40B4-BE49-F238E27FC236}">
                <a16:creationId xmlns:a16="http://schemas.microsoft.com/office/drawing/2014/main" id="{A7DD2560-A24E-DF25-27FD-51F48BFD93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32E1D1-FC7D-1C29-21BB-CAEE69641C1D}"/>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3244261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B1BD6-4813-3B84-515C-BCE247548C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88653D-7445-EB2B-621D-43337327A2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FFDEA0-D133-78B1-08E2-E83F56F70D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34FFBE-C56E-BFCE-4F97-1F807CCEDB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DF0593-4A84-A0E4-5EDE-0A57DD31BB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570B48-724A-F769-D969-A4542275B884}"/>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8" name="Footer Placeholder 7">
            <a:extLst>
              <a:ext uri="{FF2B5EF4-FFF2-40B4-BE49-F238E27FC236}">
                <a16:creationId xmlns:a16="http://schemas.microsoft.com/office/drawing/2014/main" id="{63589053-D128-9F65-7220-3D2EAF4344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19152B8-6B55-E089-7884-7DE02B8B1D7D}"/>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2098512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EE92E-A3E7-92F6-FC19-BC601568A7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1CE2DE-DEFF-F315-3810-E6FDB5896DA9}"/>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4" name="Footer Placeholder 3">
            <a:extLst>
              <a:ext uri="{FF2B5EF4-FFF2-40B4-BE49-F238E27FC236}">
                <a16:creationId xmlns:a16="http://schemas.microsoft.com/office/drawing/2014/main" id="{C502ADC4-642D-CFD0-3285-1A1D7DE40A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B67EDA-934F-B884-E458-88C724A7E8C6}"/>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388515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CEAB12-2E6D-7222-8739-99E69542B45E}"/>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3" name="Footer Placeholder 2">
            <a:extLst>
              <a:ext uri="{FF2B5EF4-FFF2-40B4-BE49-F238E27FC236}">
                <a16:creationId xmlns:a16="http://schemas.microsoft.com/office/drawing/2014/main" id="{68BCEFF2-0598-AE2E-2E30-A41B5AAD91E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A7B279-F971-C1DF-752B-49B0CBD81A58}"/>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2563354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BB35-6BE5-D115-49CA-E96FFDDF60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4B879A-CCE9-58A7-F177-84800119D3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2398FB-BC53-F7C0-DD27-121CBDF691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B6CCD6-5F29-B834-993B-0D988BFE939F}"/>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6" name="Footer Placeholder 5">
            <a:extLst>
              <a:ext uri="{FF2B5EF4-FFF2-40B4-BE49-F238E27FC236}">
                <a16:creationId xmlns:a16="http://schemas.microsoft.com/office/drawing/2014/main" id="{403A0A30-75D3-AC4C-83C7-D95D29FA4C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BEC094-D124-CE8F-AEB4-F6E33056CA97}"/>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225666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39AFA-FBBA-F444-F801-48789F7912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8460B6-D5C8-94C0-9E74-4864582333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875297-8AE6-5A8C-FD0A-1F35E9B33E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A7354D-C136-5C2A-3E11-6E8CFE81CA25}"/>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6" name="Footer Placeholder 5">
            <a:extLst>
              <a:ext uri="{FF2B5EF4-FFF2-40B4-BE49-F238E27FC236}">
                <a16:creationId xmlns:a16="http://schemas.microsoft.com/office/drawing/2014/main" id="{8C71732A-C537-9908-98C6-D8E559A73F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6F445D-DECB-627B-D5E3-A292137611E1}"/>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3961553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C8CB3-4A29-EE70-C637-78499CE939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9C76BC-036C-0D3D-06D6-D427D87045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B01FF3-2CDB-A406-DD7A-C5AEE26DBFD1}"/>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5" name="Footer Placeholder 4">
            <a:extLst>
              <a:ext uri="{FF2B5EF4-FFF2-40B4-BE49-F238E27FC236}">
                <a16:creationId xmlns:a16="http://schemas.microsoft.com/office/drawing/2014/main" id="{08489199-B510-8CE0-0D9D-1B6F53E56B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F52D9-EBE9-BC63-B208-E8F914341EDB}"/>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2290173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345A5A-DF10-6829-8415-0594097244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92A7DF-EABB-8B74-9DA2-D410F57F00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80BCCC-4810-B3CC-44CF-BB789867674A}"/>
              </a:ext>
            </a:extLst>
          </p:cNvPr>
          <p:cNvSpPr>
            <a:spLocks noGrp="1"/>
          </p:cNvSpPr>
          <p:nvPr>
            <p:ph type="dt" sz="half" idx="10"/>
          </p:nvPr>
        </p:nvSpPr>
        <p:spPr/>
        <p:txBody>
          <a:bodyPr/>
          <a:lstStyle/>
          <a:p>
            <a:fld id="{F4B15468-E9DD-489B-8298-3A69E5762CE0}" type="datetimeFigureOut">
              <a:rPr lang="en-IN" smtClean="0"/>
              <a:t>23-03-2026</a:t>
            </a:fld>
            <a:endParaRPr lang="en-IN"/>
          </a:p>
        </p:txBody>
      </p:sp>
      <p:sp>
        <p:nvSpPr>
          <p:cNvPr id="5" name="Footer Placeholder 4">
            <a:extLst>
              <a:ext uri="{FF2B5EF4-FFF2-40B4-BE49-F238E27FC236}">
                <a16:creationId xmlns:a16="http://schemas.microsoft.com/office/drawing/2014/main" id="{21C2A5D7-8492-E18B-7E11-6734F58B08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DAF5AA-87A2-525D-5427-9C390DB6E1DA}"/>
              </a:ext>
            </a:extLst>
          </p:cNvPr>
          <p:cNvSpPr>
            <a:spLocks noGrp="1"/>
          </p:cNvSpPr>
          <p:nvPr>
            <p:ph type="sldNum" sz="quarter" idx="12"/>
          </p:nvPr>
        </p:nvSpPr>
        <p:spPr/>
        <p:txBody>
          <a:bodyPr/>
          <a:lstStyle/>
          <a:p>
            <a:fld id="{8D1CB5B9-F8DC-4117-9712-CC130B03D324}" type="slidenum">
              <a:rPr lang="en-IN" smtClean="0"/>
              <a:t>‹#›</a:t>
            </a:fld>
            <a:endParaRPr lang="en-IN"/>
          </a:p>
        </p:txBody>
      </p:sp>
    </p:spTree>
    <p:extLst>
      <p:ext uri="{BB962C8B-B14F-4D97-AF65-F5344CB8AC3E}">
        <p14:creationId xmlns:p14="http://schemas.microsoft.com/office/powerpoint/2010/main" val="747779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ED5517-202A-C3BC-CEF1-B328BB31F8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14BC42-574D-821B-375F-A504EC4DC5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8A11EA-79B2-E299-586C-D89BE79779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B15468-E9DD-489B-8298-3A69E5762CE0}" type="datetimeFigureOut">
              <a:rPr lang="en-IN" smtClean="0"/>
              <a:t>23-03-2026</a:t>
            </a:fld>
            <a:endParaRPr lang="en-IN"/>
          </a:p>
        </p:txBody>
      </p:sp>
      <p:sp>
        <p:nvSpPr>
          <p:cNvPr id="5" name="Footer Placeholder 4">
            <a:extLst>
              <a:ext uri="{FF2B5EF4-FFF2-40B4-BE49-F238E27FC236}">
                <a16:creationId xmlns:a16="http://schemas.microsoft.com/office/drawing/2014/main" id="{6F90CFDC-DD2B-4A37-7366-1C7131FA03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782CB85-4618-9432-E44B-717035893C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1CB5B9-F8DC-4117-9712-CC130B03D324}" type="slidenum">
              <a:rPr lang="en-IN" smtClean="0"/>
              <a:t>‹#›</a:t>
            </a:fld>
            <a:endParaRPr lang="en-IN"/>
          </a:p>
        </p:txBody>
      </p:sp>
    </p:spTree>
    <p:extLst>
      <p:ext uri="{BB962C8B-B14F-4D97-AF65-F5344CB8AC3E}">
        <p14:creationId xmlns:p14="http://schemas.microsoft.com/office/powerpoint/2010/main" val="196600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youtube.com/watch?v=ne6vnKoTHw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86A05-A859-D8A5-27D5-FCE4D3615175}"/>
              </a:ext>
            </a:extLst>
          </p:cNvPr>
          <p:cNvSpPr>
            <a:spLocks noGrp="1"/>
          </p:cNvSpPr>
          <p:nvPr>
            <p:ph type="ctrTitle"/>
          </p:nvPr>
        </p:nvSpPr>
        <p:spPr/>
        <p:txBody>
          <a:bodyPr/>
          <a:lstStyle/>
          <a:p>
            <a:r>
              <a:rPr lang="en-IN" b="1" dirty="0">
                <a:solidFill>
                  <a:srgbClr val="C00000"/>
                </a:solidFill>
              </a:rPr>
              <a:t>Dimensionality Reduction</a:t>
            </a:r>
          </a:p>
        </p:txBody>
      </p:sp>
    </p:spTree>
    <p:extLst>
      <p:ext uri="{BB962C8B-B14F-4D97-AF65-F5344CB8AC3E}">
        <p14:creationId xmlns:p14="http://schemas.microsoft.com/office/powerpoint/2010/main" val="638030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C3B0E-2BFE-33E6-27DF-55A0FE8BEF5A}"/>
              </a:ext>
            </a:extLst>
          </p:cNvPr>
          <p:cNvSpPr>
            <a:spLocks noGrp="1"/>
          </p:cNvSpPr>
          <p:nvPr>
            <p:ph type="title"/>
          </p:nvPr>
        </p:nvSpPr>
        <p:spPr/>
        <p:txBody>
          <a:bodyPr/>
          <a:lstStyle/>
          <a:p>
            <a:r>
              <a:rPr lang="en-US" b="1" dirty="0">
                <a:solidFill>
                  <a:srgbClr val="C00000"/>
                </a:solidFill>
                <a:latin typeface="Open Sans" panose="020B0606030504020204" pitchFamily="34" charset="0"/>
              </a:rPr>
              <a:t>Machine Learning –Bottlenecks </a:t>
            </a:r>
            <a:endParaRPr lang="en-IN" b="1" dirty="0">
              <a:solidFill>
                <a:srgbClr val="C00000"/>
              </a:solidFill>
              <a:latin typeface="Open Sans" panose="020B0606030504020204" pitchFamily="34" charset="0"/>
            </a:endParaRPr>
          </a:p>
        </p:txBody>
      </p:sp>
      <p:sp>
        <p:nvSpPr>
          <p:cNvPr id="3" name="Content Placeholder 2">
            <a:extLst>
              <a:ext uri="{FF2B5EF4-FFF2-40B4-BE49-F238E27FC236}">
                <a16:creationId xmlns:a16="http://schemas.microsoft.com/office/drawing/2014/main" id="{F6DEF6EE-3A37-DD32-E5F3-0E388DE8E60A}"/>
              </a:ext>
            </a:extLst>
          </p:cNvPr>
          <p:cNvSpPr>
            <a:spLocks noGrp="1"/>
          </p:cNvSpPr>
          <p:nvPr>
            <p:ph idx="1"/>
          </p:nvPr>
        </p:nvSpPr>
        <p:spPr/>
        <p:txBody>
          <a:bodyPr/>
          <a:lstStyle/>
          <a:p>
            <a:pPr algn="just"/>
            <a:r>
              <a:rPr lang="en-US" b="0" i="0" dirty="0">
                <a:effectLst/>
              </a:rPr>
              <a:t>With the availability of high-performance CPUs and GPUs, it is pretty much possible to solve every regression, classification, clustering, and other related problems using machine learning and deep learning models. </a:t>
            </a:r>
          </a:p>
          <a:p>
            <a:pPr algn="just"/>
            <a:r>
              <a:rPr lang="en-US" b="0" i="0" dirty="0">
                <a:effectLst/>
              </a:rPr>
              <a:t>However, there are still various portions that cause performance bottlenecks while developing such models. </a:t>
            </a:r>
          </a:p>
          <a:p>
            <a:pPr algn="just"/>
            <a:r>
              <a:rPr lang="en-US" b="0" i="0" dirty="0">
                <a:effectLst/>
              </a:rPr>
              <a:t>A large number of features in the dataset are one of the major factors that affect both the training time as well as the accuracy of machine learning models</a:t>
            </a:r>
            <a:r>
              <a:rPr lang="en-US" b="0" i="0" dirty="0">
                <a:solidFill>
                  <a:srgbClr val="111111"/>
                </a:solidFill>
                <a:effectLst/>
                <a:latin typeface="Inter"/>
              </a:rPr>
              <a:t>.</a:t>
            </a:r>
            <a:endParaRPr lang="en-IN" dirty="0">
              <a:latin typeface="Inter"/>
            </a:endParaRPr>
          </a:p>
        </p:txBody>
      </p:sp>
    </p:spTree>
    <p:extLst>
      <p:ext uri="{BB962C8B-B14F-4D97-AF65-F5344CB8AC3E}">
        <p14:creationId xmlns:p14="http://schemas.microsoft.com/office/powerpoint/2010/main" val="4080275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31D5A-BD9E-357A-4D2D-2090989E25D5}"/>
              </a:ext>
            </a:extLst>
          </p:cNvPr>
          <p:cNvSpPr>
            <a:spLocks noGrp="1"/>
          </p:cNvSpPr>
          <p:nvPr>
            <p:ph type="title"/>
          </p:nvPr>
        </p:nvSpPr>
        <p:spPr/>
        <p:txBody>
          <a:bodyPr/>
          <a:lstStyle/>
          <a:p>
            <a:r>
              <a:rPr lang="en-IN" b="1" i="0" dirty="0">
                <a:solidFill>
                  <a:srgbClr val="C00000"/>
                </a:solidFill>
                <a:effectLst/>
                <a:latin typeface="Open Sans" panose="020B0606030504020204" pitchFamily="34" charset="0"/>
              </a:rPr>
              <a:t>The Curse of Dimensionality</a:t>
            </a:r>
            <a:br>
              <a:rPr lang="en-IN" b="1" i="0" dirty="0">
                <a:solidFill>
                  <a:srgbClr val="111111"/>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99F5680E-EE76-C43E-308B-D26533B7F44A}"/>
              </a:ext>
            </a:extLst>
          </p:cNvPr>
          <p:cNvSpPr>
            <a:spLocks noGrp="1"/>
          </p:cNvSpPr>
          <p:nvPr>
            <p:ph idx="1"/>
          </p:nvPr>
        </p:nvSpPr>
        <p:spPr/>
        <p:txBody>
          <a:bodyPr>
            <a:normAutofit/>
          </a:bodyPr>
          <a:lstStyle/>
          <a:p>
            <a:pPr algn="just"/>
            <a:r>
              <a:rPr lang="en-US" sz="3200" b="0" i="0" dirty="0">
                <a:effectLst/>
              </a:rPr>
              <a:t>In machine learning, “dimensionality” simply refers to the number of features (i.e. input variables) in your dataset.</a:t>
            </a:r>
          </a:p>
          <a:p>
            <a:pPr algn="just"/>
            <a:r>
              <a:rPr lang="en-US" sz="3200" b="0" i="0" dirty="0">
                <a:effectLst/>
              </a:rPr>
              <a:t>While the performance of any machine learning model increases if we add additional features/dimensions, at some point a further insertion leads to performance degradation that is when the number of features is very large commensurate with the number of observations in your dataset, several linear algorithms strive hard to train efficient models. This is called the “</a:t>
            </a:r>
            <a:r>
              <a:rPr lang="en-US" sz="3200" b="1" i="0" dirty="0">
                <a:effectLst/>
              </a:rPr>
              <a:t>Curse of Dimensionality”.</a:t>
            </a:r>
            <a:endParaRPr lang="en-IN" sz="3200" dirty="0"/>
          </a:p>
        </p:txBody>
      </p:sp>
    </p:spTree>
    <p:extLst>
      <p:ext uri="{BB962C8B-B14F-4D97-AF65-F5344CB8AC3E}">
        <p14:creationId xmlns:p14="http://schemas.microsoft.com/office/powerpoint/2010/main" val="105068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0254-723F-CC45-8264-12CA88D2E439}"/>
              </a:ext>
            </a:extLst>
          </p:cNvPr>
          <p:cNvSpPr>
            <a:spLocks noGrp="1"/>
          </p:cNvSpPr>
          <p:nvPr>
            <p:ph type="title"/>
          </p:nvPr>
        </p:nvSpPr>
        <p:spPr/>
        <p:txBody>
          <a:bodyPr/>
          <a:lstStyle/>
          <a:p>
            <a:r>
              <a:rPr lang="en-IN" b="1" dirty="0">
                <a:solidFill>
                  <a:srgbClr val="C00000"/>
                </a:solidFill>
                <a:latin typeface="Open Sans" panose="020B0606030504020204" pitchFamily="34" charset="0"/>
              </a:rPr>
              <a:t>Dimensionality</a:t>
            </a:r>
            <a:r>
              <a:rPr lang="en-IN" b="0" i="0" dirty="0">
                <a:solidFill>
                  <a:srgbClr val="FF0000"/>
                </a:solidFill>
                <a:effectLst/>
                <a:latin typeface="Inter"/>
              </a:rPr>
              <a:t> </a:t>
            </a:r>
            <a:r>
              <a:rPr lang="en-IN" b="1" dirty="0">
                <a:solidFill>
                  <a:srgbClr val="C00000"/>
                </a:solidFill>
                <a:latin typeface="Open Sans" panose="020B0606030504020204" pitchFamily="34" charset="0"/>
              </a:rPr>
              <a:t>Reduction</a:t>
            </a:r>
          </a:p>
        </p:txBody>
      </p:sp>
      <p:sp>
        <p:nvSpPr>
          <p:cNvPr id="3" name="Content Placeholder 2">
            <a:extLst>
              <a:ext uri="{FF2B5EF4-FFF2-40B4-BE49-F238E27FC236}">
                <a16:creationId xmlns:a16="http://schemas.microsoft.com/office/drawing/2014/main" id="{EEB47407-34D7-E90D-D695-33D25CBCD80C}"/>
              </a:ext>
            </a:extLst>
          </p:cNvPr>
          <p:cNvSpPr>
            <a:spLocks noGrp="1"/>
          </p:cNvSpPr>
          <p:nvPr>
            <p:ph idx="1"/>
          </p:nvPr>
        </p:nvSpPr>
        <p:spPr>
          <a:xfrm>
            <a:off x="838200" y="1825625"/>
            <a:ext cx="10515600" cy="1325563"/>
          </a:xfrm>
        </p:spPr>
        <p:txBody>
          <a:bodyPr>
            <a:normAutofit fontScale="92500"/>
          </a:bodyPr>
          <a:lstStyle/>
          <a:p>
            <a:pPr marL="0" indent="0">
              <a:buNone/>
            </a:pPr>
            <a:r>
              <a:rPr lang="en-US" sz="3600" b="0" i="0" dirty="0">
                <a:effectLst/>
              </a:rPr>
              <a:t>Dimensionality Reduction is simply reducing the number of features (columns) while retaining maximum information</a:t>
            </a:r>
            <a:endParaRPr lang="en-IN" sz="3600" dirty="0"/>
          </a:p>
          <a:p>
            <a:endParaRPr lang="en-IN" dirty="0"/>
          </a:p>
        </p:txBody>
      </p:sp>
    </p:spTree>
    <p:extLst>
      <p:ext uri="{BB962C8B-B14F-4D97-AF65-F5344CB8AC3E}">
        <p14:creationId xmlns:p14="http://schemas.microsoft.com/office/powerpoint/2010/main" val="3843413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A7911-F6FC-48DD-74DA-A69BEC23D672}"/>
              </a:ext>
            </a:extLst>
          </p:cNvPr>
          <p:cNvSpPr>
            <a:spLocks noGrp="1"/>
          </p:cNvSpPr>
          <p:nvPr>
            <p:ph type="title"/>
          </p:nvPr>
        </p:nvSpPr>
        <p:spPr/>
        <p:txBody>
          <a:bodyPr/>
          <a:lstStyle/>
          <a:p>
            <a:r>
              <a:rPr lang="en-IN" b="1" dirty="0">
                <a:solidFill>
                  <a:srgbClr val="C00000"/>
                </a:solidFill>
                <a:latin typeface="Open Sans" panose="020B0606030504020204" pitchFamily="34" charset="0"/>
              </a:rPr>
              <a:t>Dimensionality Reduction</a:t>
            </a:r>
            <a:br>
              <a:rPr lang="en-IN" b="0" i="0" dirty="0">
                <a:solidFill>
                  <a:srgbClr val="383838"/>
                </a:solidFill>
                <a:effectLst/>
                <a:latin typeface="Inter"/>
              </a:rPr>
            </a:br>
            <a:endParaRPr lang="en-IN" dirty="0"/>
          </a:p>
        </p:txBody>
      </p:sp>
      <p:sp>
        <p:nvSpPr>
          <p:cNvPr id="3" name="Content Placeholder 2">
            <a:extLst>
              <a:ext uri="{FF2B5EF4-FFF2-40B4-BE49-F238E27FC236}">
                <a16:creationId xmlns:a16="http://schemas.microsoft.com/office/drawing/2014/main" id="{8E560C98-D3DE-A692-7E15-417204CA0E04}"/>
              </a:ext>
            </a:extLst>
          </p:cNvPr>
          <p:cNvSpPr>
            <a:spLocks noGrp="1"/>
          </p:cNvSpPr>
          <p:nvPr>
            <p:ph idx="1"/>
          </p:nvPr>
        </p:nvSpPr>
        <p:spPr>
          <a:xfrm>
            <a:off x="838200" y="1397285"/>
            <a:ext cx="10515600" cy="4779678"/>
          </a:xfrm>
        </p:spPr>
        <p:txBody>
          <a:bodyPr>
            <a:normAutofit/>
          </a:bodyPr>
          <a:lstStyle/>
          <a:p>
            <a:pPr algn="l">
              <a:lnSpc>
                <a:spcPts val="2700"/>
              </a:lnSpc>
              <a:spcAft>
                <a:spcPts val="750"/>
              </a:spcAft>
              <a:buFont typeface="Arial" panose="020B0604020202020204" pitchFamily="34" charset="0"/>
              <a:buChar char="•"/>
            </a:pPr>
            <a:r>
              <a:rPr lang="en-US" b="0" i="0" dirty="0">
                <a:effectLst/>
              </a:rPr>
              <a:t>Dimensionality Reduction helps in data compression, and hence reduced storage space.</a:t>
            </a:r>
          </a:p>
          <a:p>
            <a:pPr algn="l">
              <a:lnSpc>
                <a:spcPts val="2700"/>
              </a:lnSpc>
              <a:spcAft>
                <a:spcPts val="750"/>
              </a:spcAft>
              <a:buFont typeface="Arial" panose="020B0604020202020204" pitchFamily="34" charset="0"/>
              <a:buChar char="•"/>
            </a:pPr>
            <a:r>
              <a:rPr lang="en-US" b="0" i="0" dirty="0">
                <a:effectLst/>
              </a:rPr>
              <a:t>It reduces computation time.</a:t>
            </a:r>
          </a:p>
          <a:p>
            <a:pPr algn="l">
              <a:lnSpc>
                <a:spcPts val="2700"/>
              </a:lnSpc>
              <a:spcAft>
                <a:spcPts val="750"/>
              </a:spcAft>
              <a:buFont typeface="Arial" panose="020B0604020202020204" pitchFamily="34" charset="0"/>
              <a:buChar char="•"/>
            </a:pPr>
            <a:r>
              <a:rPr lang="en-US" b="0" i="0" dirty="0">
                <a:effectLst/>
              </a:rPr>
              <a:t>It also helps remove redundant features, if any.</a:t>
            </a:r>
          </a:p>
          <a:p>
            <a:pPr algn="l">
              <a:lnSpc>
                <a:spcPts val="2700"/>
              </a:lnSpc>
              <a:spcAft>
                <a:spcPts val="750"/>
              </a:spcAft>
              <a:buFont typeface="Arial" panose="020B0604020202020204" pitchFamily="34" charset="0"/>
              <a:buChar char="•"/>
            </a:pPr>
            <a:r>
              <a:rPr lang="en-US" b="0" i="0" dirty="0">
                <a:effectLst/>
              </a:rPr>
              <a:t>Removes Correlated Features.</a:t>
            </a:r>
          </a:p>
          <a:p>
            <a:pPr algn="l">
              <a:lnSpc>
                <a:spcPts val="2700"/>
              </a:lnSpc>
              <a:spcAft>
                <a:spcPts val="750"/>
              </a:spcAft>
              <a:buFont typeface="Arial" panose="020B0604020202020204" pitchFamily="34" charset="0"/>
              <a:buChar char="•"/>
            </a:pPr>
            <a:r>
              <a:rPr lang="en-US" b="0" i="0" dirty="0">
                <a:effectLst/>
              </a:rPr>
              <a:t>Reducing the dimensions of data to 2D or 3D may allow us to plot and visualize it precisely. You can then observe patterns more clearly.</a:t>
            </a:r>
          </a:p>
          <a:p>
            <a:pPr algn="l">
              <a:lnSpc>
                <a:spcPts val="2700"/>
              </a:lnSpc>
              <a:spcAft>
                <a:spcPts val="750"/>
              </a:spcAft>
              <a:buFont typeface="Arial" panose="020B0604020202020204" pitchFamily="34" charset="0"/>
              <a:buChar char="•"/>
            </a:pPr>
            <a:r>
              <a:rPr lang="en-US" b="0" i="0" dirty="0">
                <a:effectLst/>
              </a:rPr>
              <a:t>It is helpful in noise removal also and as a result of that, we can improve the performance of models.</a:t>
            </a:r>
          </a:p>
          <a:p>
            <a:endParaRPr lang="en-IN" dirty="0"/>
          </a:p>
        </p:txBody>
      </p:sp>
    </p:spTree>
    <p:extLst>
      <p:ext uri="{BB962C8B-B14F-4D97-AF65-F5344CB8AC3E}">
        <p14:creationId xmlns:p14="http://schemas.microsoft.com/office/powerpoint/2010/main" val="1596565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111C7-1CFF-8D20-60C5-7F97E987C5C5}"/>
              </a:ext>
            </a:extLst>
          </p:cNvPr>
          <p:cNvSpPr>
            <a:spLocks noGrp="1"/>
          </p:cNvSpPr>
          <p:nvPr>
            <p:ph type="title"/>
          </p:nvPr>
        </p:nvSpPr>
        <p:spPr>
          <a:xfrm>
            <a:off x="838200" y="365125"/>
            <a:ext cx="10515600" cy="929419"/>
          </a:xfrm>
        </p:spPr>
        <p:txBody>
          <a:bodyPr>
            <a:normAutofit/>
          </a:bodyPr>
          <a:lstStyle/>
          <a:p>
            <a:r>
              <a:rPr lang="en-US" sz="4000" b="1" dirty="0">
                <a:solidFill>
                  <a:srgbClr val="C00000"/>
                </a:solidFill>
                <a:latin typeface="Open Sans" panose="020B0606030504020204" pitchFamily="34" charset="0"/>
              </a:rPr>
              <a:t>Dimensionality</a:t>
            </a:r>
            <a:r>
              <a:rPr lang="en-US" sz="4000" dirty="0">
                <a:solidFill>
                  <a:srgbClr val="C00000"/>
                </a:solidFill>
              </a:rPr>
              <a:t> </a:t>
            </a:r>
            <a:r>
              <a:rPr lang="en-US" sz="4000" b="1" dirty="0">
                <a:solidFill>
                  <a:srgbClr val="C00000"/>
                </a:solidFill>
                <a:latin typeface="Open Sans" panose="020B0606030504020204" pitchFamily="34" charset="0"/>
              </a:rPr>
              <a:t>Reduction Techniques</a:t>
            </a:r>
            <a:endParaRPr lang="en-IN" sz="4000" b="1" dirty="0">
              <a:solidFill>
                <a:srgbClr val="C00000"/>
              </a:solidFill>
              <a:latin typeface="Open Sans" panose="020B0606030504020204" pitchFamily="34" charset="0"/>
            </a:endParaRPr>
          </a:p>
        </p:txBody>
      </p:sp>
      <p:sp>
        <p:nvSpPr>
          <p:cNvPr id="3" name="Content Placeholder 2">
            <a:extLst>
              <a:ext uri="{FF2B5EF4-FFF2-40B4-BE49-F238E27FC236}">
                <a16:creationId xmlns:a16="http://schemas.microsoft.com/office/drawing/2014/main" id="{E1D3A7C4-3C74-793D-BE6F-35FDD8CE1689}"/>
              </a:ext>
            </a:extLst>
          </p:cNvPr>
          <p:cNvSpPr>
            <a:spLocks noGrp="1"/>
          </p:cNvSpPr>
          <p:nvPr>
            <p:ph idx="1"/>
          </p:nvPr>
        </p:nvSpPr>
        <p:spPr>
          <a:xfrm>
            <a:off x="838200" y="1458930"/>
            <a:ext cx="10515600" cy="4718033"/>
          </a:xfrm>
        </p:spPr>
        <p:txBody>
          <a:bodyPr>
            <a:normAutofit/>
          </a:bodyPr>
          <a:lstStyle/>
          <a:p>
            <a:pPr marL="0" indent="0">
              <a:buNone/>
            </a:pPr>
            <a:r>
              <a:rPr lang="en-US" sz="3300" dirty="0"/>
              <a:t>The various techniques used for dimensionality reduction include:</a:t>
            </a:r>
          </a:p>
          <a:p>
            <a:pPr lvl="1">
              <a:lnSpc>
                <a:spcPts val="2700"/>
              </a:lnSpc>
              <a:spcAft>
                <a:spcPts val="750"/>
              </a:spcAft>
            </a:pPr>
            <a:r>
              <a:rPr lang="en-IN" sz="2900" dirty="0"/>
              <a:t>Principal Component Analysis (PCA)</a:t>
            </a:r>
          </a:p>
          <a:p>
            <a:pPr lvl="1">
              <a:lnSpc>
                <a:spcPts val="2700"/>
              </a:lnSpc>
              <a:spcAft>
                <a:spcPts val="750"/>
              </a:spcAft>
            </a:pPr>
            <a:r>
              <a:rPr lang="en-IN" sz="2900" dirty="0"/>
              <a:t>Linear Discriminant Analysis (LDA)</a:t>
            </a:r>
          </a:p>
          <a:p>
            <a:pPr lvl="1">
              <a:lnSpc>
                <a:spcPts val="2700"/>
              </a:lnSpc>
              <a:spcAft>
                <a:spcPts val="750"/>
              </a:spcAft>
            </a:pPr>
            <a:r>
              <a:rPr lang="en-IN" sz="2900" dirty="0"/>
              <a:t>Generalized Discriminant Analysis (GDA)</a:t>
            </a:r>
          </a:p>
          <a:p>
            <a:pPr lvl="1">
              <a:lnSpc>
                <a:spcPts val="2700"/>
              </a:lnSpc>
              <a:spcAft>
                <a:spcPts val="750"/>
              </a:spcAft>
            </a:pPr>
            <a:r>
              <a:rPr lang="en-IN" sz="2900" dirty="0"/>
              <a:t>Multi-dimension Scaling (MDS)</a:t>
            </a:r>
          </a:p>
          <a:p>
            <a:pPr lvl="1">
              <a:lnSpc>
                <a:spcPts val="2700"/>
              </a:lnSpc>
              <a:spcAft>
                <a:spcPts val="750"/>
              </a:spcAft>
            </a:pPr>
            <a:r>
              <a:rPr lang="en-IN" sz="2900" dirty="0"/>
              <a:t>LLE</a:t>
            </a:r>
          </a:p>
          <a:p>
            <a:pPr lvl="1">
              <a:lnSpc>
                <a:spcPts val="2700"/>
              </a:lnSpc>
              <a:spcAft>
                <a:spcPts val="750"/>
              </a:spcAft>
            </a:pPr>
            <a:r>
              <a:rPr lang="en-IN" sz="2900" dirty="0" err="1"/>
              <a:t>IsoMap</a:t>
            </a:r>
            <a:endParaRPr lang="en-IN" sz="2900" dirty="0"/>
          </a:p>
          <a:p>
            <a:pPr lvl="1">
              <a:lnSpc>
                <a:spcPts val="2700"/>
              </a:lnSpc>
              <a:spcAft>
                <a:spcPts val="750"/>
              </a:spcAft>
            </a:pPr>
            <a:r>
              <a:rPr lang="en-IN" sz="2900" dirty="0"/>
              <a:t>Autoencoders</a:t>
            </a:r>
          </a:p>
          <a:p>
            <a:endParaRPr lang="en-IN" dirty="0"/>
          </a:p>
        </p:txBody>
      </p:sp>
    </p:spTree>
    <p:extLst>
      <p:ext uri="{BB962C8B-B14F-4D97-AF65-F5344CB8AC3E}">
        <p14:creationId xmlns:p14="http://schemas.microsoft.com/office/powerpoint/2010/main" val="3179988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0DA4C-3161-D6F7-96E7-CC75BCDD3418}"/>
              </a:ext>
            </a:extLst>
          </p:cNvPr>
          <p:cNvSpPr>
            <a:spLocks noGrp="1"/>
          </p:cNvSpPr>
          <p:nvPr>
            <p:ph type="title"/>
          </p:nvPr>
        </p:nvSpPr>
        <p:spPr>
          <a:xfrm>
            <a:off x="838200" y="365126"/>
            <a:ext cx="10515600" cy="631468"/>
          </a:xfrm>
        </p:spPr>
        <p:txBody>
          <a:bodyPr>
            <a:normAutofit fontScale="90000"/>
          </a:bodyPr>
          <a:lstStyle/>
          <a:p>
            <a:pPr algn="l"/>
            <a:r>
              <a:rPr lang="en-IN" b="1" i="0" dirty="0">
                <a:solidFill>
                  <a:srgbClr val="FF0000"/>
                </a:solidFill>
                <a:effectLst/>
                <a:latin typeface="+mn-lt"/>
              </a:rPr>
              <a:t> Principal Component Analysis (PCA)</a:t>
            </a:r>
          </a:p>
        </p:txBody>
      </p:sp>
      <p:sp>
        <p:nvSpPr>
          <p:cNvPr id="3" name="Content Placeholder 2">
            <a:extLst>
              <a:ext uri="{FF2B5EF4-FFF2-40B4-BE49-F238E27FC236}">
                <a16:creationId xmlns:a16="http://schemas.microsoft.com/office/drawing/2014/main" id="{4327EC5F-668E-EB44-6655-41D91C5818CA}"/>
              </a:ext>
            </a:extLst>
          </p:cNvPr>
          <p:cNvSpPr>
            <a:spLocks noGrp="1"/>
          </p:cNvSpPr>
          <p:nvPr>
            <p:ph idx="1"/>
          </p:nvPr>
        </p:nvSpPr>
        <p:spPr>
          <a:xfrm>
            <a:off x="838200" y="1325366"/>
            <a:ext cx="10515600" cy="4851597"/>
          </a:xfrm>
        </p:spPr>
        <p:txBody>
          <a:bodyPr>
            <a:normAutofit fontScale="92500" lnSpcReduction="10000"/>
          </a:bodyPr>
          <a:lstStyle/>
          <a:p>
            <a:pPr algn="just">
              <a:lnSpc>
                <a:spcPct val="120000"/>
              </a:lnSpc>
            </a:pPr>
            <a:r>
              <a:rPr lang="en-US" b="0" i="0" dirty="0">
                <a:solidFill>
                  <a:srgbClr val="242424"/>
                </a:solidFill>
                <a:effectLst/>
              </a:rPr>
              <a:t>PCA is a </a:t>
            </a:r>
            <a:r>
              <a:rPr lang="en-US" b="1" i="0" dirty="0">
                <a:solidFill>
                  <a:srgbClr val="242424"/>
                </a:solidFill>
                <a:effectLst/>
              </a:rPr>
              <a:t>linear dimensionality reduction technique </a:t>
            </a:r>
            <a:r>
              <a:rPr lang="en-US" b="0" i="0" dirty="0">
                <a:solidFill>
                  <a:srgbClr val="242424"/>
                </a:solidFill>
                <a:effectLst/>
              </a:rPr>
              <a:t>which converts a set of correlated features in the high dimensional space into a series of uncorrelated features in the low dimensional space.</a:t>
            </a:r>
          </a:p>
          <a:p>
            <a:pPr algn="just">
              <a:lnSpc>
                <a:spcPct val="120000"/>
              </a:lnSpc>
            </a:pPr>
            <a:r>
              <a:rPr lang="en-US" b="0" i="0" dirty="0">
                <a:solidFill>
                  <a:srgbClr val="242424"/>
                </a:solidFill>
                <a:effectLst/>
              </a:rPr>
              <a:t>These uncorrelated new features are also called </a:t>
            </a:r>
            <a:r>
              <a:rPr lang="en-US" b="1" i="0" dirty="0">
                <a:solidFill>
                  <a:srgbClr val="242424"/>
                </a:solidFill>
                <a:effectLst/>
              </a:rPr>
              <a:t>principal components</a:t>
            </a:r>
            <a:r>
              <a:rPr lang="en-US" b="0" i="0" dirty="0">
                <a:solidFill>
                  <a:srgbClr val="242424"/>
                </a:solidFill>
                <a:effectLst/>
              </a:rPr>
              <a:t>. </a:t>
            </a:r>
          </a:p>
          <a:p>
            <a:pPr algn="just">
              <a:lnSpc>
                <a:spcPct val="120000"/>
              </a:lnSpc>
            </a:pPr>
            <a:r>
              <a:rPr lang="en-US" dirty="0">
                <a:solidFill>
                  <a:srgbClr val="242424"/>
                </a:solidFill>
              </a:rPr>
              <a:t>PCA </a:t>
            </a:r>
            <a:r>
              <a:rPr lang="en-US" b="0" i="0" dirty="0">
                <a:solidFill>
                  <a:srgbClr val="242424"/>
                </a:solidFill>
                <a:effectLst/>
              </a:rPr>
              <a:t>is an orthogonal linear transformation which means that all the principal components are perpendicular to each other. </a:t>
            </a:r>
          </a:p>
          <a:p>
            <a:pPr lvl="1" algn="just">
              <a:lnSpc>
                <a:spcPct val="120000"/>
              </a:lnSpc>
            </a:pPr>
            <a:r>
              <a:rPr lang="en-US" b="0" i="0" dirty="0">
                <a:solidFill>
                  <a:srgbClr val="242424"/>
                </a:solidFill>
                <a:effectLst/>
              </a:rPr>
              <a:t>Each principal component captures a different aspect of the data’s variation.</a:t>
            </a:r>
          </a:p>
          <a:p>
            <a:pPr lvl="1" algn="just">
              <a:lnSpc>
                <a:spcPct val="120000"/>
              </a:lnSpc>
            </a:pPr>
            <a:r>
              <a:rPr lang="en-US" b="0" i="0" dirty="0">
                <a:solidFill>
                  <a:srgbClr val="242424"/>
                </a:solidFill>
                <a:effectLst/>
              </a:rPr>
              <a:t>They don’t repeat or overlap in the information they carry</a:t>
            </a:r>
          </a:p>
          <a:p>
            <a:pPr algn="just">
              <a:lnSpc>
                <a:spcPct val="120000"/>
              </a:lnSpc>
            </a:pPr>
            <a:r>
              <a:rPr lang="en-US" b="0" i="0" dirty="0">
                <a:solidFill>
                  <a:srgbClr val="242424"/>
                </a:solidFill>
                <a:effectLst/>
              </a:rPr>
              <a:t>It transforms the data in such a way that the first component tries to explain maximum variance from the original data</a:t>
            </a:r>
            <a:endParaRPr lang="en-IN" dirty="0"/>
          </a:p>
        </p:txBody>
      </p:sp>
    </p:spTree>
    <p:extLst>
      <p:ext uri="{BB962C8B-B14F-4D97-AF65-F5344CB8AC3E}">
        <p14:creationId xmlns:p14="http://schemas.microsoft.com/office/powerpoint/2010/main" val="3485407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8F7018-B422-CBE2-6FB9-CCAFE134C9A4}"/>
              </a:ext>
            </a:extLst>
          </p:cNvPr>
          <p:cNvPicPr>
            <a:picLocks noChangeAspect="1"/>
          </p:cNvPicPr>
          <p:nvPr/>
        </p:nvPicPr>
        <p:blipFill>
          <a:blip r:embed="rId2"/>
          <a:stretch>
            <a:fillRect/>
          </a:stretch>
        </p:blipFill>
        <p:spPr>
          <a:xfrm>
            <a:off x="846992" y="186631"/>
            <a:ext cx="5249008" cy="4820323"/>
          </a:xfrm>
          <a:prstGeom prst="rect">
            <a:avLst/>
          </a:prstGeom>
        </p:spPr>
      </p:pic>
      <p:pic>
        <p:nvPicPr>
          <p:cNvPr id="7" name="Picture 6">
            <a:extLst>
              <a:ext uri="{FF2B5EF4-FFF2-40B4-BE49-F238E27FC236}">
                <a16:creationId xmlns:a16="http://schemas.microsoft.com/office/drawing/2014/main" id="{8FE5E237-A81D-8EB0-C3A5-4B89AE7CAB5D}"/>
              </a:ext>
            </a:extLst>
          </p:cNvPr>
          <p:cNvPicPr>
            <a:picLocks noChangeAspect="1"/>
          </p:cNvPicPr>
          <p:nvPr/>
        </p:nvPicPr>
        <p:blipFill>
          <a:blip r:embed="rId3"/>
          <a:stretch>
            <a:fillRect/>
          </a:stretch>
        </p:blipFill>
        <p:spPr>
          <a:xfrm>
            <a:off x="7502799" y="186631"/>
            <a:ext cx="3213147" cy="3064275"/>
          </a:xfrm>
          <a:prstGeom prst="rect">
            <a:avLst/>
          </a:prstGeom>
        </p:spPr>
      </p:pic>
      <p:pic>
        <p:nvPicPr>
          <p:cNvPr id="9" name="Picture 8">
            <a:extLst>
              <a:ext uri="{FF2B5EF4-FFF2-40B4-BE49-F238E27FC236}">
                <a16:creationId xmlns:a16="http://schemas.microsoft.com/office/drawing/2014/main" id="{4FF9E080-6FDF-E864-D8C5-71EEDD68016A}"/>
              </a:ext>
            </a:extLst>
          </p:cNvPr>
          <p:cNvPicPr>
            <a:picLocks noChangeAspect="1"/>
          </p:cNvPicPr>
          <p:nvPr/>
        </p:nvPicPr>
        <p:blipFill>
          <a:blip r:embed="rId4"/>
          <a:stretch>
            <a:fillRect/>
          </a:stretch>
        </p:blipFill>
        <p:spPr>
          <a:xfrm>
            <a:off x="8402792" y="3351774"/>
            <a:ext cx="1838582" cy="2362530"/>
          </a:xfrm>
          <a:prstGeom prst="rect">
            <a:avLst/>
          </a:prstGeom>
        </p:spPr>
      </p:pic>
      <p:sp>
        <p:nvSpPr>
          <p:cNvPr id="10" name="TextBox 9">
            <a:extLst>
              <a:ext uri="{FF2B5EF4-FFF2-40B4-BE49-F238E27FC236}">
                <a16:creationId xmlns:a16="http://schemas.microsoft.com/office/drawing/2014/main" id="{5049161D-C325-7812-DEE8-1CE86C136307}"/>
              </a:ext>
            </a:extLst>
          </p:cNvPr>
          <p:cNvSpPr txBox="1"/>
          <p:nvPr/>
        </p:nvSpPr>
        <p:spPr>
          <a:xfrm>
            <a:off x="1047963" y="5815172"/>
            <a:ext cx="9534418" cy="954107"/>
          </a:xfrm>
          <a:prstGeom prst="rect">
            <a:avLst/>
          </a:prstGeom>
          <a:solidFill>
            <a:schemeClr val="accent2">
              <a:lumMod val="20000"/>
              <a:lumOff val="80000"/>
            </a:schemeClr>
          </a:solidFill>
        </p:spPr>
        <p:txBody>
          <a:bodyPr wrap="square" rtlCol="0">
            <a:spAutoFit/>
          </a:bodyPr>
          <a:lstStyle/>
          <a:p>
            <a:pPr algn="ctr"/>
            <a:r>
              <a:rPr lang="en-US" sz="2800" dirty="0"/>
              <a:t>The main idea of PCA is to reduce the number of dimensions by finding principal components</a:t>
            </a:r>
            <a:endParaRPr lang="en-IN" sz="2800" dirty="0"/>
          </a:p>
        </p:txBody>
      </p:sp>
    </p:spTree>
    <p:extLst>
      <p:ext uri="{BB962C8B-B14F-4D97-AF65-F5344CB8AC3E}">
        <p14:creationId xmlns:p14="http://schemas.microsoft.com/office/powerpoint/2010/main" val="305454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CD35CD-8D3E-507C-F8A4-0AAF452791B6}"/>
              </a:ext>
            </a:extLst>
          </p:cNvPr>
          <p:cNvPicPr>
            <a:picLocks noChangeAspect="1"/>
          </p:cNvPicPr>
          <p:nvPr/>
        </p:nvPicPr>
        <p:blipFill>
          <a:blip r:embed="rId2"/>
          <a:stretch>
            <a:fillRect/>
          </a:stretch>
        </p:blipFill>
        <p:spPr>
          <a:xfrm>
            <a:off x="428548" y="134326"/>
            <a:ext cx="4783851" cy="4359406"/>
          </a:xfrm>
          <a:prstGeom prst="rect">
            <a:avLst/>
          </a:prstGeom>
        </p:spPr>
      </p:pic>
      <p:sp>
        <p:nvSpPr>
          <p:cNvPr id="6" name="TextBox 5">
            <a:extLst>
              <a:ext uri="{FF2B5EF4-FFF2-40B4-BE49-F238E27FC236}">
                <a16:creationId xmlns:a16="http://schemas.microsoft.com/office/drawing/2014/main" id="{4871C9B3-EB1D-318B-4B7E-73EC9CCC7F52}"/>
              </a:ext>
            </a:extLst>
          </p:cNvPr>
          <p:cNvSpPr txBox="1"/>
          <p:nvPr/>
        </p:nvSpPr>
        <p:spPr>
          <a:xfrm>
            <a:off x="1072396" y="4685014"/>
            <a:ext cx="3640018" cy="523220"/>
          </a:xfrm>
          <a:prstGeom prst="rect">
            <a:avLst/>
          </a:prstGeom>
          <a:noFill/>
        </p:spPr>
        <p:txBody>
          <a:bodyPr wrap="square" rtlCol="0">
            <a:spAutoFit/>
          </a:bodyPr>
          <a:lstStyle/>
          <a:p>
            <a:r>
              <a:rPr lang="en-US" sz="2800" dirty="0"/>
              <a:t>City Vs Cost of Living</a:t>
            </a:r>
            <a:endParaRPr lang="en-IN" sz="2800" dirty="0"/>
          </a:p>
        </p:txBody>
      </p:sp>
      <p:sp>
        <p:nvSpPr>
          <p:cNvPr id="7" name="TextBox 6">
            <a:extLst>
              <a:ext uri="{FF2B5EF4-FFF2-40B4-BE49-F238E27FC236}">
                <a16:creationId xmlns:a16="http://schemas.microsoft.com/office/drawing/2014/main" id="{B02FA9F7-CA6D-433C-87BE-7B97DCC9CD20}"/>
              </a:ext>
            </a:extLst>
          </p:cNvPr>
          <p:cNvSpPr txBox="1"/>
          <p:nvPr/>
        </p:nvSpPr>
        <p:spPr>
          <a:xfrm>
            <a:off x="606175" y="5399516"/>
            <a:ext cx="4962418" cy="1200329"/>
          </a:xfrm>
          <a:prstGeom prst="rect">
            <a:avLst/>
          </a:prstGeom>
          <a:solidFill>
            <a:schemeClr val="accent2">
              <a:lumMod val="20000"/>
              <a:lumOff val="80000"/>
            </a:schemeClr>
          </a:solidFill>
        </p:spPr>
        <p:txBody>
          <a:bodyPr wrap="square" rtlCol="0">
            <a:spAutoFit/>
          </a:bodyPr>
          <a:lstStyle/>
          <a:p>
            <a:r>
              <a:rPr lang="en-US" sz="2400" dirty="0"/>
              <a:t>How to reduce to single dimension preserving as much information as possible?</a:t>
            </a:r>
            <a:endParaRPr lang="en-IN" sz="2400" dirty="0"/>
          </a:p>
        </p:txBody>
      </p:sp>
      <p:sp>
        <p:nvSpPr>
          <p:cNvPr id="8" name="Arrow: Right 7">
            <a:extLst>
              <a:ext uri="{FF2B5EF4-FFF2-40B4-BE49-F238E27FC236}">
                <a16:creationId xmlns:a16="http://schemas.microsoft.com/office/drawing/2014/main" id="{C39D53D6-5A83-63F7-D666-CD18D5844636}"/>
              </a:ext>
            </a:extLst>
          </p:cNvPr>
          <p:cNvSpPr/>
          <p:nvPr/>
        </p:nvSpPr>
        <p:spPr>
          <a:xfrm>
            <a:off x="5327151" y="2681554"/>
            <a:ext cx="934948" cy="5137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65716F4A-3D56-BF6B-93D1-B46C251E6C27}"/>
              </a:ext>
            </a:extLst>
          </p:cNvPr>
          <p:cNvPicPr>
            <a:picLocks noChangeAspect="1"/>
          </p:cNvPicPr>
          <p:nvPr/>
        </p:nvPicPr>
        <p:blipFill>
          <a:blip r:embed="rId3"/>
          <a:stretch>
            <a:fillRect/>
          </a:stretch>
        </p:blipFill>
        <p:spPr>
          <a:xfrm>
            <a:off x="6493343" y="134326"/>
            <a:ext cx="4897819" cy="4359406"/>
          </a:xfrm>
          <a:prstGeom prst="rect">
            <a:avLst/>
          </a:prstGeom>
        </p:spPr>
      </p:pic>
      <p:sp>
        <p:nvSpPr>
          <p:cNvPr id="11" name="TextBox 10">
            <a:extLst>
              <a:ext uri="{FF2B5EF4-FFF2-40B4-BE49-F238E27FC236}">
                <a16:creationId xmlns:a16="http://schemas.microsoft.com/office/drawing/2014/main" id="{47C77DCF-6841-57BA-CC1A-0A348D94FB34}"/>
              </a:ext>
            </a:extLst>
          </p:cNvPr>
          <p:cNvSpPr txBox="1"/>
          <p:nvPr/>
        </p:nvSpPr>
        <p:spPr>
          <a:xfrm>
            <a:off x="6493343" y="4685014"/>
            <a:ext cx="5342486" cy="1938992"/>
          </a:xfrm>
          <a:prstGeom prst="rect">
            <a:avLst/>
          </a:prstGeom>
          <a:noFill/>
        </p:spPr>
        <p:txBody>
          <a:bodyPr wrap="square" rtlCol="0">
            <a:spAutoFit/>
          </a:bodyPr>
          <a:lstStyle/>
          <a:p>
            <a:r>
              <a:rPr lang="en-US" sz="2400" dirty="0"/>
              <a:t>The following possibilities are available</a:t>
            </a:r>
          </a:p>
          <a:p>
            <a:pPr marL="342900" indent="-342900">
              <a:buFont typeface="Arial" panose="020B0604020202020204" pitchFamily="34" charset="0"/>
              <a:buChar char="•"/>
            </a:pPr>
            <a:r>
              <a:rPr lang="en-US" sz="2400" dirty="0"/>
              <a:t>X axis feature</a:t>
            </a:r>
          </a:p>
          <a:p>
            <a:pPr marL="342900" indent="-342900">
              <a:buFont typeface="Arial" panose="020B0604020202020204" pitchFamily="34" charset="0"/>
              <a:buChar char="•"/>
            </a:pPr>
            <a:r>
              <a:rPr lang="en-US" sz="2400" dirty="0"/>
              <a:t>Y axis feature</a:t>
            </a:r>
          </a:p>
          <a:p>
            <a:pPr marL="342900" indent="-342900">
              <a:buFont typeface="Arial" panose="020B0604020202020204" pitchFamily="34" charset="0"/>
              <a:buChar char="•"/>
            </a:pPr>
            <a:r>
              <a:rPr lang="en-US" sz="2400" dirty="0"/>
              <a:t>Green line </a:t>
            </a:r>
          </a:p>
          <a:p>
            <a:pPr marL="342900" indent="-342900">
              <a:buFont typeface="Arial" panose="020B0604020202020204" pitchFamily="34" charset="0"/>
              <a:buChar char="•"/>
            </a:pPr>
            <a:r>
              <a:rPr lang="en-US" sz="2400" dirty="0"/>
              <a:t>Yellow line</a:t>
            </a:r>
            <a:endParaRPr lang="en-IN" dirty="0"/>
          </a:p>
        </p:txBody>
      </p:sp>
    </p:spTree>
    <p:extLst>
      <p:ext uri="{BB962C8B-B14F-4D97-AF65-F5344CB8AC3E}">
        <p14:creationId xmlns:p14="http://schemas.microsoft.com/office/powerpoint/2010/main" val="2639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133BA-5DEF-D56A-B03D-5C1F444D59F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72B3897-A6CB-273C-66A9-A07B00A7B8FB}"/>
              </a:ext>
            </a:extLst>
          </p:cNvPr>
          <p:cNvPicPr>
            <a:picLocks noChangeAspect="1"/>
          </p:cNvPicPr>
          <p:nvPr/>
        </p:nvPicPr>
        <p:blipFill>
          <a:blip r:embed="rId2"/>
          <a:stretch>
            <a:fillRect/>
          </a:stretch>
        </p:blipFill>
        <p:spPr>
          <a:xfrm>
            <a:off x="595976" y="134326"/>
            <a:ext cx="4897819" cy="4359406"/>
          </a:xfrm>
          <a:prstGeom prst="rect">
            <a:avLst/>
          </a:prstGeom>
        </p:spPr>
      </p:pic>
      <p:sp>
        <p:nvSpPr>
          <p:cNvPr id="11" name="TextBox 10">
            <a:extLst>
              <a:ext uri="{FF2B5EF4-FFF2-40B4-BE49-F238E27FC236}">
                <a16:creationId xmlns:a16="http://schemas.microsoft.com/office/drawing/2014/main" id="{70E24AEE-7DE1-E7E7-8BD4-E17B7F51F284}"/>
              </a:ext>
            </a:extLst>
          </p:cNvPr>
          <p:cNvSpPr txBox="1"/>
          <p:nvPr/>
        </p:nvSpPr>
        <p:spPr>
          <a:xfrm>
            <a:off x="6339231" y="1490008"/>
            <a:ext cx="5342486" cy="1938992"/>
          </a:xfrm>
          <a:prstGeom prst="rect">
            <a:avLst/>
          </a:prstGeom>
          <a:noFill/>
        </p:spPr>
        <p:txBody>
          <a:bodyPr wrap="square" rtlCol="0">
            <a:spAutoFit/>
          </a:bodyPr>
          <a:lstStyle/>
          <a:p>
            <a:r>
              <a:rPr lang="en-US" sz="2400" dirty="0"/>
              <a:t>The following possibilities are available</a:t>
            </a:r>
          </a:p>
          <a:p>
            <a:pPr marL="342900" indent="-342900">
              <a:buFont typeface="Arial" panose="020B0604020202020204" pitchFamily="34" charset="0"/>
              <a:buChar char="•"/>
            </a:pPr>
            <a:r>
              <a:rPr lang="en-US" sz="2400" dirty="0"/>
              <a:t>X axis feature</a:t>
            </a:r>
          </a:p>
          <a:p>
            <a:pPr marL="342900" indent="-342900">
              <a:buFont typeface="Arial" panose="020B0604020202020204" pitchFamily="34" charset="0"/>
              <a:buChar char="•"/>
            </a:pPr>
            <a:r>
              <a:rPr lang="en-US" sz="2400" dirty="0"/>
              <a:t>Y axis feature</a:t>
            </a:r>
          </a:p>
          <a:p>
            <a:pPr marL="342900" indent="-342900">
              <a:buFont typeface="Arial" panose="020B0604020202020204" pitchFamily="34" charset="0"/>
              <a:buChar char="•"/>
            </a:pPr>
            <a:r>
              <a:rPr lang="en-US" sz="2400" dirty="0"/>
              <a:t>Green line </a:t>
            </a:r>
          </a:p>
          <a:p>
            <a:pPr marL="342900" indent="-342900">
              <a:buFont typeface="Arial" panose="020B0604020202020204" pitchFamily="34" charset="0"/>
              <a:buChar char="•"/>
            </a:pPr>
            <a:r>
              <a:rPr lang="en-US" sz="2400" dirty="0"/>
              <a:t>Yellow line</a:t>
            </a:r>
            <a:endParaRPr lang="en-IN" dirty="0"/>
          </a:p>
        </p:txBody>
      </p:sp>
      <p:sp>
        <p:nvSpPr>
          <p:cNvPr id="2" name="TextBox 1">
            <a:extLst>
              <a:ext uri="{FF2B5EF4-FFF2-40B4-BE49-F238E27FC236}">
                <a16:creationId xmlns:a16="http://schemas.microsoft.com/office/drawing/2014/main" id="{506E7A9D-E837-0F93-F155-329021C21329}"/>
              </a:ext>
            </a:extLst>
          </p:cNvPr>
          <p:cNvSpPr txBox="1"/>
          <p:nvPr/>
        </p:nvSpPr>
        <p:spPr>
          <a:xfrm>
            <a:off x="2517169" y="5178628"/>
            <a:ext cx="7366570" cy="523220"/>
          </a:xfrm>
          <a:prstGeom prst="rect">
            <a:avLst/>
          </a:prstGeom>
          <a:solidFill>
            <a:schemeClr val="accent2">
              <a:lumMod val="20000"/>
              <a:lumOff val="80000"/>
            </a:schemeClr>
          </a:solidFill>
        </p:spPr>
        <p:txBody>
          <a:bodyPr wrap="square" rtlCol="0">
            <a:spAutoFit/>
          </a:bodyPr>
          <a:lstStyle/>
          <a:p>
            <a:r>
              <a:rPr lang="en-US" sz="2800" dirty="0"/>
              <a:t>We choose the one captures the more of the data </a:t>
            </a:r>
            <a:endParaRPr lang="en-IN" sz="2800" dirty="0"/>
          </a:p>
        </p:txBody>
      </p:sp>
    </p:spTree>
    <p:extLst>
      <p:ext uri="{BB962C8B-B14F-4D97-AF65-F5344CB8AC3E}">
        <p14:creationId xmlns:p14="http://schemas.microsoft.com/office/powerpoint/2010/main" val="306783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B6E19-F672-D4EB-A49B-BAA24B48A6D4}"/>
              </a:ext>
            </a:extLst>
          </p:cNvPr>
          <p:cNvSpPr>
            <a:spLocks noGrp="1"/>
          </p:cNvSpPr>
          <p:nvPr>
            <p:ph type="title"/>
          </p:nvPr>
        </p:nvSpPr>
        <p:spPr>
          <a:xfrm>
            <a:off x="303944" y="262383"/>
            <a:ext cx="6353710" cy="1325563"/>
          </a:xfrm>
        </p:spPr>
        <p:txBody>
          <a:bodyPr>
            <a:normAutofit/>
          </a:bodyPr>
          <a:lstStyle/>
          <a:p>
            <a:r>
              <a:rPr lang="en-US" b="1" dirty="0">
                <a:solidFill>
                  <a:srgbClr val="FF0000"/>
                </a:solidFill>
                <a:latin typeface="+mn-lt"/>
              </a:rPr>
              <a:t>Variance of Single Feature</a:t>
            </a:r>
            <a:endParaRPr lang="en-IN" b="1" dirty="0">
              <a:solidFill>
                <a:srgbClr val="FF0000"/>
              </a:solidFill>
              <a:latin typeface="+mn-lt"/>
            </a:endParaRPr>
          </a:p>
        </p:txBody>
      </p:sp>
      <p:pic>
        <p:nvPicPr>
          <p:cNvPr id="5" name="Picture 4">
            <a:extLst>
              <a:ext uri="{FF2B5EF4-FFF2-40B4-BE49-F238E27FC236}">
                <a16:creationId xmlns:a16="http://schemas.microsoft.com/office/drawing/2014/main" id="{F371ED65-479E-E506-07D1-8ABCE0BE8BD5}"/>
              </a:ext>
            </a:extLst>
          </p:cNvPr>
          <p:cNvPicPr>
            <a:picLocks noChangeAspect="1"/>
          </p:cNvPicPr>
          <p:nvPr/>
        </p:nvPicPr>
        <p:blipFill>
          <a:blip r:embed="rId2"/>
          <a:stretch>
            <a:fillRect/>
          </a:stretch>
        </p:blipFill>
        <p:spPr>
          <a:xfrm>
            <a:off x="931225" y="1835928"/>
            <a:ext cx="4267796" cy="1457528"/>
          </a:xfrm>
          <a:prstGeom prst="rect">
            <a:avLst/>
          </a:prstGeom>
        </p:spPr>
      </p:pic>
      <p:pic>
        <p:nvPicPr>
          <p:cNvPr id="7" name="Picture 6">
            <a:extLst>
              <a:ext uri="{FF2B5EF4-FFF2-40B4-BE49-F238E27FC236}">
                <a16:creationId xmlns:a16="http://schemas.microsoft.com/office/drawing/2014/main" id="{2364F557-3844-BA17-7024-2FF14E27EF8B}"/>
              </a:ext>
            </a:extLst>
          </p:cNvPr>
          <p:cNvPicPr>
            <a:picLocks noChangeAspect="1"/>
          </p:cNvPicPr>
          <p:nvPr/>
        </p:nvPicPr>
        <p:blipFill>
          <a:blip r:embed="rId3"/>
          <a:stretch>
            <a:fillRect/>
          </a:stretch>
        </p:blipFill>
        <p:spPr>
          <a:xfrm>
            <a:off x="6925541" y="698055"/>
            <a:ext cx="4428259" cy="3039448"/>
          </a:xfrm>
          <a:prstGeom prst="rect">
            <a:avLst/>
          </a:prstGeom>
        </p:spPr>
      </p:pic>
      <p:sp>
        <p:nvSpPr>
          <p:cNvPr id="8" name="TextBox 7">
            <a:extLst>
              <a:ext uri="{FF2B5EF4-FFF2-40B4-BE49-F238E27FC236}">
                <a16:creationId xmlns:a16="http://schemas.microsoft.com/office/drawing/2014/main" id="{4DF8E5A0-82A1-B2DA-DA63-EA3BE095524A}"/>
              </a:ext>
            </a:extLst>
          </p:cNvPr>
          <p:cNvSpPr txBox="1"/>
          <p:nvPr/>
        </p:nvSpPr>
        <p:spPr>
          <a:xfrm>
            <a:off x="931225" y="4212404"/>
            <a:ext cx="10873782" cy="3046988"/>
          </a:xfrm>
          <a:prstGeom prst="rect">
            <a:avLst/>
          </a:prstGeom>
          <a:noFill/>
        </p:spPr>
        <p:txBody>
          <a:bodyPr wrap="square" rtlCol="0">
            <a:spAutoFit/>
          </a:bodyPr>
          <a:lstStyle/>
          <a:p>
            <a:pPr marL="342900" indent="-342900">
              <a:buFont typeface="Arial" panose="020B0604020202020204" pitchFamily="34" charset="0"/>
              <a:buChar char="•"/>
            </a:pPr>
            <a:r>
              <a:rPr lang="en-US" sz="2400" b="1" dirty="0"/>
              <a:t>Variance</a:t>
            </a:r>
            <a:r>
              <a:rPr lang="en-US" sz="2400" dirty="0"/>
              <a:t> </a:t>
            </a:r>
            <a:r>
              <a:rPr lang="en-US" sz="2400" b="1" dirty="0"/>
              <a:t>Formula</a:t>
            </a:r>
            <a:r>
              <a:rPr lang="en-US" sz="2400" dirty="0"/>
              <a:t> : Subtract the mean from all values and square them then summed up and divided by the number of variables  </a:t>
            </a:r>
          </a:p>
          <a:p>
            <a:pPr marL="342900" indent="-342900">
              <a:buFont typeface="Arial" panose="020B0604020202020204" pitchFamily="34" charset="0"/>
              <a:buChar char="•"/>
            </a:pPr>
            <a:r>
              <a:rPr lang="en-US" sz="2400" b="1" dirty="0"/>
              <a:t>Variance</a:t>
            </a:r>
            <a:r>
              <a:rPr lang="en-US" sz="2400" dirty="0"/>
              <a:t> is the measure for the spread of data </a:t>
            </a:r>
          </a:p>
          <a:p>
            <a:pPr marL="342900" indent="-342900">
              <a:buFont typeface="Arial" panose="020B0604020202020204" pitchFamily="34" charset="0"/>
              <a:buChar char="•"/>
            </a:pPr>
            <a:r>
              <a:rPr lang="en-US" sz="2400" dirty="0"/>
              <a:t>When the data points are far away from the center of the distribution then we have </a:t>
            </a:r>
            <a:r>
              <a:rPr lang="en-US" sz="2400" b="1" dirty="0"/>
              <a:t>large variance</a:t>
            </a:r>
          </a:p>
          <a:p>
            <a:pPr marL="342900" indent="-342900">
              <a:buFont typeface="Arial" panose="020B0604020202020204" pitchFamily="34" charset="0"/>
              <a:buChar char="•"/>
            </a:pPr>
            <a:r>
              <a:rPr lang="en-US" sz="2400" dirty="0"/>
              <a:t>If they are closer to the center then we have </a:t>
            </a:r>
            <a:r>
              <a:rPr lang="en-US" sz="2400" b="1" dirty="0"/>
              <a:t>smaller variance</a:t>
            </a:r>
          </a:p>
          <a:p>
            <a:endParaRPr lang="en-US" sz="2400" dirty="0"/>
          </a:p>
          <a:p>
            <a:endParaRPr lang="en-IN" sz="2400" dirty="0"/>
          </a:p>
        </p:txBody>
      </p:sp>
    </p:spTree>
    <p:extLst>
      <p:ext uri="{BB962C8B-B14F-4D97-AF65-F5344CB8AC3E}">
        <p14:creationId xmlns:p14="http://schemas.microsoft.com/office/powerpoint/2010/main" val="165902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702FAB-AF28-E50D-5962-DF3604920C61}"/>
              </a:ext>
            </a:extLst>
          </p:cNvPr>
          <p:cNvPicPr>
            <a:picLocks noChangeAspect="1"/>
          </p:cNvPicPr>
          <p:nvPr/>
        </p:nvPicPr>
        <p:blipFill>
          <a:blip r:embed="rId2"/>
          <a:stretch>
            <a:fillRect/>
          </a:stretch>
        </p:blipFill>
        <p:spPr>
          <a:xfrm>
            <a:off x="3088095" y="1229448"/>
            <a:ext cx="5069586" cy="4088101"/>
          </a:xfrm>
          <a:prstGeom prst="rect">
            <a:avLst/>
          </a:prstGeom>
        </p:spPr>
      </p:pic>
      <p:sp>
        <p:nvSpPr>
          <p:cNvPr id="7" name="Title 1">
            <a:extLst>
              <a:ext uri="{FF2B5EF4-FFF2-40B4-BE49-F238E27FC236}">
                <a16:creationId xmlns:a16="http://schemas.microsoft.com/office/drawing/2014/main" id="{D8AA8CE0-F911-1F21-1D5F-D321441E03F4}"/>
              </a:ext>
            </a:extLst>
          </p:cNvPr>
          <p:cNvSpPr>
            <a:spLocks noGrp="1"/>
          </p:cNvSpPr>
          <p:nvPr>
            <p:ph type="title"/>
          </p:nvPr>
        </p:nvSpPr>
        <p:spPr>
          <a:xfrm>
            <a:off x="3519756" y="351400"/>
            <a:ext cx="2881044" cy="878048"/>
          </a:xfrm>
        </p:spPr>
        <p:txBody>
          <a:bodyPr>
            <a:normAutofit/>
          </a:bodyPr>
          <a:lstStyle/>
          <a:p>
            <a:pPr algn="ctr"/>
            <a:r>
              <a:rPr lang="en-US" b="1" dirty="0">
                <a:solidFill>
                  <a:srgbClr val="FF0000"/>
                </a:solidFill>
                <a:latin typeface="+mn-lt"/>
              </a:rPr>
              <a:t>Variance</a:t>
            </a:r>
            <a:endParaRPr lang="en-IN" b="1" dirty="0">
              <a:solidFill>
                <a:srgbClr val="FF0000"/>
              </a:solidFill>
              <a:latin typeface="+mn-lt"/>
            </a:endParaRPr>
          </a:p>
        </p:txBody>
      </p:sp>
      <p:sp>
        <p:nvSpPr>
          <p:cNvPr id="8" name="TextBox 7">
            <a:extLst>
              <a:ext uri="{FF2B5EF4-FFF2-40B4-BE49-F238E27FC236}">
                <a16:creationId xmlns:a16="http://schemas.microsoft.com/office/drawing/2014/main" id="{24D626DC-5A9B-A5FA-57B0-C8DE0348B43E}"/>
              </a:ext>
            </a:extLst>
          </p:cNvPr>
          <p:cNvSpPr txBox="1"/>
          <p:nvPr/>
        </p:nvSpPr>
        <p:spPr>
          <a:xfrm>
            <a:off x="945223" y="5753527"/>
            <a:ext cx="10510462" cy="584775"/>
          </a:xfrm>
          <a:prstGeom prst="rect">
            <a:avLst/>
          </a:prstGeom>
          <a:solidFill>
            <a:schemeClr val="accent2">
              <a:lumMod val="20000"/>
              <a:lumOff val="80000"/>
            </a:schemeClr>
          </a:solidFill>
        </p:spPr>
        <p:txBody>
          <a:bodyPr wrap="square" rtlCol="0">
            <a:spAutoFit/>
          </a:bodyPr>
          <a:lstStyle/>
          <a:p>
            <a:r>
              <a:rPr lang="en-US" sz="3200" dirty="0"/>
              <a:t>Green line has more variance. Yellow line has small variance</a:t>
            </a:r>
            <a:endParaRPr lang="en-IN" sz="3200" dirty="0"/>
          </a:p>
        </p:txBody>
      </p:sp>
    </p:spTree>
    <p:extLst>
      <p:ext uri="{BB962C8B-B14F-4D97-AF65-F5344CB8AC3E}">
        <p14:creationId xmlns:p14="http://schemas.microsoft.com/office/powerpoint/2010/main" val="912018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049366-3EA5-1C1F-9601-7A65A97EB0D3}"/>
              </a:ext>
            </a:extLst>
          </p:cNvPr>
          <p:cNvPicPr>
            <a:picLocks noChangeAspect="1"/>
          </p:cNvPicPr>
          <p:nvPr/>
        </p:nvPicPr>
        <p:blipFill>
          <a:blip r:embed="rId2"/>
          <a:stretch>
            <a:fillRect/>
          </a:stretch>
        </p:blipFill>
        <p:spPr>
          <a:xfrm>
            <a:off x="352007" y="1068512"/>
            <a:ext cx="11487985" cy="5635183"/>
          </a:xfrm>
          <a:prstGeom prst="rect">
            <a:avLst/>
          </a:prstGeom>
        </p:spPr>
      </p:pic>
      <p:sp>
        <p:nvSpPr>
          <p:cNvPr id="4" name="TextBox 3">
            <a:extLst>
              <a:ext uri="{FF2B5EF4-FFF2-40B4-BE49-F238E27FC236}">
                <a16:creationId xmlns:a16="http://schemas.microsoft.com/office/drawing/2014/main" id="{D28203D7-49EB-1A68-701A-C370664B03BF}"/>
              </a:ext>
            </a:extLst>
          </p:cNvPr>
          <p:cNvSpPr txBox="1"/>
          <p:nvPr/>
        </p:nvSpPr>
        <p:spPr>
          <a:xfrm>
            <a:off x="352007" y="246580"/>
            <a:ext cx="11370806" cy="584775"/>
          </a:xfrm>
          <a:prstGeom prst="rect">
            <a:avLst/>
          </a:prstGeom>
          <a:noFill/>
        </p:spPr>
        <p:txBody>
          <a:bodyPr wrap="square" rtlCol="0">
            <a:spAutoFit/>
          </a:bodyPr>
          <a:lstStyle/>
          <a:p>
            <a:pPr algn="ctr"/>
            <a:r>
              <a:rPr lang="en-US" sz="3200" dirty="0"/>
              <a:t>Axis representation to understand the variance of data</a:t>
            </a:r>
            <a:endParaRPr lang="en-IN" sz="3200" dirty="0"/>
          </a:p>
        </p:txBody>
      </p:sp>
    </p:spTree>
    <p:extLst>
      <p:ext uri="{BB962C8B-B14F-4D97-AF65-F5344CB8AC3E}">
        <p14:creationId xmlns:p14="http://schemas.microsoft.com/office/powerpoint/2010/main" val="2261493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30353-4F16-F08A-462B-B952FEC2211E}"/>
              </a:ext>
            </a:extLst>
          </p:cNvPr>
          <p:cNvSpPr>
            <a:spLocks noGrp="1"/>
          </p:cNvSpPr>
          <p:nvPr>
            <p:ph type="title"/>
          </p:nvPr>
        </p:nvSpPr>
        <p:spPr/>
        <p:txBody>
          <a:bodyPr>
            <a:normAutofit/>
          </a:bodyPr>
          <a:lstStyle/>
          <a:p>
            <a:r>
              <a:rPr lang="en-US" sz="3200" dirty="0"/>
              <a:t>Projecting 2D data into new axis by mapping original data into 1D. Axis1 capture the relationship of the features better</a:t>
            </a:r>
            <a:endParaRPr lang="en-IN" sz="3200" dirty="0"/>
          </a:p>
        </p:txBody>
      </p:sp>
      <p:pic>
        <p:nvPicPr>
          <p:cNvPr id="5" name="Picture 4">
            <a:extLst>
              <a:ext uri="{FF2B5EF4-FFF2-40B4-BE49-F238E27FC236}">
                <a16:creationId xmlns:a16="http://schemas.microsoft.com/office/drawing/2014/main" id="{5D6D41D4-D1D6-AD67-C75F-A6DC7D01FE32}"/>
              </a:ext>
            </a:extLst>
          </p:cNvPr>
          <p:cNvPicPr>
            <a:picLocks noChangeAspect="1"/>
          </p:cNvPicPr>
          <p:nvPr/>
        </p:nvPicPr>
        <p:blipFill>
          <a:blip r:embed="rId2"/>
          <a:stretch>
            <a:fillRect/>
          </a:stretch>
        </p:blipFill>
        <p:spPr>
          <a:xfrm>
            <a:off x="1246432" y="1811322"/>
            <a:ext cx="8719502" cy="4265849"/>
          </a:xfrm>
          <a:prstGeom prst="rect">
            <a:avLst/>
          </a:prstGeom>
        </p:spPr>
      </p:pic>
    </p:spTree>
    <p:extLst>
      <p:ext uri="{BB962C8B-B14F-4D97-AF65-F5344CB8AC3E}">
        <p14:creationId xmlns:p14="http://schemas.microsoft.com/office/powerpoint/2010/main" val="1100751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6190A-BA95-0C7B-E8D2-C987DA53255E}"/>
              </a:ext>
            </a:extLst>
          </p:cNvPr>
          <p:cNvSpPr>
            <a:spLocks noGrp="1"/>
          </p:cNvSpPr>
          <p:nvPr>
            <p:ph type="title"/>
          </p:nvPr>
        </p:nvSpPr>
        <p:spPr>
          <a:xfrm>
            <a:off x="838200" y="365125"/>
            <a:ext cx="10515600" cy="763153"/>
          </a:xfrm>
        </p:spPr>
        <p:txBody>
          <a:bodyPr>
            <a:normAutofit fontScale="90000"/>
          </a:bodyPr>
          <a:lstStyle/>
          <a:p>
            <a:r>
              <a:rPr lang="en-US" sz="3600" dirty="0"/>
              <a:t>The below graph explains the variance of each Principal components </a:t>
            </a:r>
            <a:endParaRPr lang="en-IN" sz="3600" dirty="0"/>
          </a:p>
        </p:txBody>
      </p:sp>
      <p:pic>
        <p:nvPicPr>
          <p:cNvPr id="5" name="Picture 4">
            <a:extLst>
              <a:ext uri="{FF2B5EF4-FFF2-40B4-BE49-F238E27FC236}">
                <a16:creationId xmlns:a16="http://schemas.microsoft.com/office/drawing/2014/main" id="{17BE655A-880D-2D8F-6057-DFFE755B898B}"/>
              </a:ext>
            </a:extLst>
          </p:cNvPr>
          <p:cNvPicPr>
            <a:picLocks noChangeAspect="1"/>
          </p:cNvPicPr>
          <p:nvPr/>
        </p:nvPicPr>
        <p:blipFill>
          <a:blip r:embed="rId2"/>
          <a:stretch>
            <a:fillRect/>
          </a:stretch>
        </p:blipFill>
        <p:spPr>
          <a:xfrm>
            <a:off x="1905992" y="1409483"/>
            <a:ext cx="6796219" cy="4039034"/>
          </a:xfrm>
          <a:prstGeom prst="rect">
            <a:avLst/>
          </a:prstGeom>
        </p:spPr>
      </p:pic>
      <p:sp>
        <p:nvSpPr>
          <p:cNvPr id="6" name="TextBox 5">
            <a:extLst>
              <a:ext uri="{FF2B5EF4-FFF2-40B4-BE49-F238E27FC236}">
                <a16:creationId xmlns:a16="http://schemas.microsoft.com/office/drawing/2014/main" id="{2D057BCD-9A5F-86EF-74C8-D7F5923D4D6B}"/>
              </a:ext>
            </a:extLst>
          </p:cNvPr>
          <p:cNvSpPr txBox="1"/>
          <p:nvPr/>
        </p:nvSpPr>
        <p:spPr>
          <a:xfrm>
            <a:off x="934948" y="5661878"/>
            <a:ext cx="10037852" cy="830997"/>
          </a:xfrm>
          <a:prstGeom prst="rect">
            <a:avLst/>
          </a:prstGeom>
          <a:noFill/>
        </p:spPr>
        <p:txBody>
          <a:bodyPr wrap="square" rtlCol="0">
            <a:spAutoFit/>
          </a:bodyPr>
          <a:lstStyle/>
          <a:p>
            <a:r>
              <a:rPr lang="en-US" sz="2400" dirty="0"/>
              <a:t>Keep the PC which captures more data and discard the PC which captures less data </a:t>
            </a:r>
            <a:endParaRPr lang="en-IN" sz="2400" dirty="0"/>
          </a:p>
        </p:txBody>
      </p:sp>
    </p:spTree>
    <p:extLst>
      <p:ext uri="{BB962C8B-B14F-4D97-AF65-F5344CB8AC3E}">
        <p14:creationId xmlns:p14="http://schemas.microsoft.com/office/powerpoint/2010/main" val="2024472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6CE2B-300D-5987-C549-7BB458F862CB}"/>
              </a:ext>
            </a:extLst>
          </p:cNvPr>
          <p:cNvSpPr>
            <a:spLocks noGrp="1"/>
          </p:cNvSpPr>
          <p:nvPr>
            <p:ph type="title"/>
          </p:nvPr>
        </p:nvSpPr>
        <p:spPr/>
        <p:txBody>
          <a:bodyPr/>
          <a:lstStyle/>
          <a:p>
            <a:r>
              <a:rPr lang="en-US" b="1" dirty="0">
                <a:solidFill>
                  <a:srgbClr val="C00000"/>
                </a:solidFill>
              </a:rPr>
              <a:t>PCA using Covariance Matrix</a:t>
            </a:r>
            <a:endParaRPr lang="en-IN" b="1" dirty="0">
              <a:solidFill>
                <a:srgbClr val="C00000"/>
              </a:solidFill>
            </a:endParaRPr>
          </a:p>
        </p:txBody>
      </p:sp>
      <p:sp>
        <p:nvSpPr>
          <p:cNvPr id="3" name="Content Placeholder 2">
            <a:extLst>
              <a:ext uri="{FF2B5EF4-FFF2-40B4-BE49-F238E27FC236}">
                <a16:creationId xmlns:a16="http://schemas.microsoft.com/office/drawing/2014/main" id="{395DEFA8-B0EA-03A2-A08A-77DDB71DEAAA}"/>
              </a:ext>
            </a:extLst>
          </p:cNvPr>
          <p:cNvSpPr>
            <a:spLocks noGrp="1"/>
          </p:cNvSpPr>
          <p:nvPr>
            <p:ph idx="1"/>
          </p:nvPr>
        </p:nvSpPr>
        <p:spPr>
          <a:xfrm>
            <a:off x="838200" y="1592486"/>
            <a:ext cx="10515600" cy="1688137"/>
          </a:xfrm>
        </p:spPr>
        <p:txBody>
          <a:bodyPr/>
          <a:lstStyle/>
          <a:p>
            <a:r>
              <a:rPr lang="en-US" b="0" i="0" dirty="0">
                <a:effectLst/>
                <a:latin typeface="Google Sans"/>
              </a:rPr>
              <a:t>Principal Component Analysis (PCA) using the covariance matrix reduces data dimensionality by finding orthogonal vectors (principal components) that capture the most variance.</a:t>
            </a:r>
            <a:endParaRPr lang="en-IN" dirty="0"/>
          </a:p>
        </p:txBody>
      </p:sp>
      <p:pic>
        <p:nvPicPr>
          <p:cNvPr id="2050" name="Picture 2" descr="Covariance Matrix | GeeksforGeeks">
            <a:extLst>
              <a:ext uri="{FF2B5EF4-FFF2-40B4-BE49-F238E27FC236}">
                <a16:creationId xmlns:a16="http://schemas.microsoft.com/office/drawing/2014/main" id="{36D1A264-17C9-7B2C-A32D-48364BDE0B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8551" y="2878924"/>
            <a:ext cx="4393647" cy="27238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37A840-ECE6-16B5-3AF7-CA9AF9DFAC30}"/>
              </a:ext>
            </a:extLst>
          </p:cNvPr>
          <p:cNvSpPr txBox="1"/>
          <p:nvPr/>
        </p:nvSpPr>
        <p:spPr>
          <a:xfrm>
            <a:off x="2237197" y="5882896"/>
            <a:ext cx="8304088" cy="830997"/>
          </a:xfrm>
          <a:prstGeom prst="rect">
            <a:avLst/>
          </a:prstGeom>
          <a:solidFill>
            <a:schemeClr val="accent2">
              <a:lumMod val="20000"/>
              <a:lumOff val="80000"/>
            </a:schemeClr>
          </a:solidFill>
        </p:spPr>
        <p:txBody>
          <a:bodyPr wrap="square">
            <a:spAutoFit/>
          </a:bodyPr>
          <a:lstStyle/>
          <a:p>
            <a:r>
              <a:rPr lang="en-US" sz="2400" b="1" dirty="0"/>
              <a:t>Covariance</a:t>
            </a:r>
            <a:r>
              <a:rPr lang="en-US" sz="2400" dirty="0"/>
              <a:t> matrix tells us about the variance and joint direction of the variables.</a:t>
            </a:r>
            <a:endParaRPr lang="en-IN" sz="2400" dirty="0"/>
          </a:p>
        </p:txBody>
      </p:sp>
    </p:spTree>
    <p:extLst>
      <p:ext uri="{BB962C8B-B14F-4D97-AF65-F5344CB8AC3E}">
        <p14:creationId xmlns:p14="http://schemas.microsoft.com/office/powerpoint/2010/main" val="3387398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877258-B288-A181-F9DA-C4E9E559D406}"/>
              </a:ext>
            </a:extLst>
          </p:cNvPr>
          <p:cNvPicPr>
            <a:picLocks noChangeAspect="1"/>
          </p:cNvPicPr>
          <p:nvPr/>
        </p:nvPicPr>
        <p:blipFill>
          <a:blip r:embed="rId2"/>
          <a:stretch>
            <a:fillRect/>
          </a:stretch>
        </p:blipFill>
        <p:spPr>
          <a:xfrm>
            <a:off x="679607" y="380143"/>
            <a:ext cx="3073340" cy="3319473"/>
          </a:xfrm>
          <a:prstGeom prst="rect">
            <a:avLst/>
          </a:prstGeom>
        </p:spPr>
      </p:pic>
      <p:pic>
        <p:nvPicPr>
          <p:cNvPr id="7" name="Picture 6">
            <a:extLst>
              <a:ext uri="{FF2B5EF4-FFF2-40B4-BE49-F238E27FC236}">
                <a16:creationId xmlns:a16="http://schemas.microsoft.com/office/drawing/2014/main" id="{20687315-C83F-479B-C5EB-2376674B9C97}"/>
              </a:ext>
            </a:extLst>
          </p:cNvPr>
          <p:cNvPicPr>
            <a:picLocks noChangeAspect="1"/>
          </p:cNvPicPr>
          <p:nvPr/>
        </p:nvPicPr>
        <p:blipFill>
          <a:blip r:embed="rId3"/>
          <a:stretch>
            <a:fillRect/>
          </a:stretch>
        </p:blipFill>
        <p:spPr>
          <a:xfrm>
            <a:off x="4253501" y="377664"/>
            <a:ext cx="3358237" cy="3505775"/>
          </a:xfrm>
          <a:prstGeom prst="rect">
            <a:avLst/>
          </a:prstGeom>
        </p:spPr>
      </p:pic>
      <p:pic>
        <p:nvPicPr>
          <p:cNvPr id="9" name="Picture 8">
            <a:extLst>
              <a:ext uri="{FF2B5EF4-FFF2-40B4-BE49-F238E27FC236}">
                <a16:creationId xmlns:a16="http://schemas.microsoft.com/office/drawing/2014/main" id="{2E6182EA-9644-F328-0F03-97F74720CDB5}"/>
              </a:ext>
            </a:extLst>
          </p:cNvPr>
          <p:cNvPicPr>
            <a:picLocks noChangeAspect="1"/>
          </p:cNvPicPr>
          <p:nvPr/>
        </p:nvPicPr>
        <p:blipFill>
          <a:blip r:embed="rId4"/>
          <a:stretch>
            <a:fillRect/>
          </a:stretch>
        </p:blipFill>
        <p:spPr>
          <a:xfrm>
            <a:off x="8102069" y="382622"/>
            <a:ext cx="3897634" cy="3316994"/>
          </a:xfrm>
          <a:prstGeom prst="rect">
            <a:avLst/>
          </a:prstGeom>
        </p:spPr>
      </p:pic>
      <p:sp>
        <p:nvSpPr>
          <p:cNvPr id="10" name="TextBox 9">
            <a:extLst>
              <a:ext uri="{FF2B5EF4-FFF2-40B4-BE49-F238E27FC236}">
                <a16:creationId xmlns:a16="http://schemas.microsoft.com/office/drawing/2014/main" id="{1372D40A-5CB9-7ACF-A68E-3A475522EE7B}"/>
              </a:ext>
            </a:extLst>
          </p:cNvPr>
          <p:cNvSpPr txBox="1"/>
          <p:nvPr/>
        </p:nvSpPr>
        <p:spPr>
          <a:xfrm>
            <a:off x="770560" y="4274049"/>
            <a:ext cx="3073340" cy="1754326"/>
          </a:xfrm>
          <a:prstGeom prst="rect">
            <a:avLst/>
          </a:prstGeom>
          <a:noFill/>
        </p:spPr>
        <p:txBody>
          <a:bodyPr wrap="square" rtlCol="0">
            <a:spAutoFit/>
          </a:bodyPr>
          <a:lstStyle/>
          <a:p>
            <a:r>
              <a:rPr lang="en-US" dirty="0"/>
              <a:t>Slightly higher variance of 1.3 for feature X2 and both the variables move in the same direction that is why covariance between variables also high</a:t>
            </a:r>
            <a:endParaRPr lang="en-IN" dirty="0"/>
          </a:p>
        </p:txBody>
      </p:sp>
      <p:sp>
        <p:nvSpPr>
          <p:cNvPr id="11" name="TextBox 10">
            <a:extLst>
              <a:ext uri="{FF2B5EF4-FFF2-40B4-BE49-F238E27FC236}">
                <a16:creationId xmlns:a16="http://schemas.microsoft.com/office/drawing/2014/main" id="{16855934-2605-EA49-F153-8B89904A8FD3}"/>
              </a:ext>
            </a:extLst>
          </p:cNvPr>
          <p:cNvSpPr txBox="1"/>
          <p:nvPr/>
        </p:nvSpPr>
        <p:spPr>
          <a:xfrm>
            <a:off x="4395949" y="4412548"/>
            <a:ext cx="3073340" cy="1477328"/>
          </a:xfrm>
          <a:prstGeom prst="rect">
            <a:avLst/>
          </a:prstGeom>
          <a:noFill/>
        </p:spPr>
        <p:txBody>
          <a:bodyPr wrap="square" rtlCol="0">
            <a:spAutoFit/>
          </a:bodyPr>
          <a:lstStyle/>
          <a:p>
            <a:r>
              <a:rPr lang="en-US" dirty="0"/>
              <a:t>Slightly lower variance for each of the variables and no clear trend how they would move together therefore the covariance is quite low</a:t>
            </a:r>
            <a:endParaRPr lang="en-IN" dirty="0"/>
          </a:p>
        </p:txBody>
      </p:sp>
      <p:sp>
        <p:nvSpPr>
          <p:cNvPr id="12" name="TextBox 11">
            <a:extLst>
              <a:ext uri="{FF2B5EF4-FFF2-40B4-BE49-F238E27FC236}">
                <a16:creationId xmlns:a16="http://schemas.microsoft.com/office/drawing/2014/main" id="{087C45FE-DBA9-DD4C-C9D1-A540B4177144}"/>
              </a:ext>
            </a:extLst>
          </p:cNvPr>
          <p:cNvSpPr txBox="1"/>
          <p:nvPr/>
        </p:nvSpPr>
        <p:spPr>
          <a:xfrm>
            <a:off x="8604953" y="4227882"/>
            <a:ext cx="3073340" cy="923330"/>
          </a:xfrm>
          <a:prstGeom prst="rect">
            <a:avLst/>
          </a:prstGeom>
          <a:noFill/>
        </p:spPr>
        <p:txBody>
          <a:bodyPr wrap="square" rtlCol="0">
            <a:spAutoFit/>
          </a:bodyPr>
          <a:lstStyle/>
          <a:p>
            <a:r>
              <a:rPr lang="en-US" dirty="0"/>
              <a:t>As like first example, variance for feature X2 is higher. Covariance is negative Trend</a:t>
            </a:r>
            <a:endParaRPr lang="en-IN" dirty="0"/>
          </a:p>
        </p:txBody>
      </p:sp>
    </p:spTree>
    <p:extLst>
      <p:ext uri="{BB962C8B-B14F-4D97-AF65-F5344CB8AC3E}">
        <p14:creationId xmlns:p14="http://schemas.microsoft.com/office/powerpoint/2010/main" val="3772921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E7F3DA7-4E64-327A-5490-2F14E7405550}"/>
              </a:ext>
            </a:extLst>
          </p:cNvPr>
          <p:cNvSpPr>
            <a:spLocks noGrp="1" noChangeArrowheads="1"/>
          </p:cNvSpPr>
          <p:nvPr>
            <p:ph idx="1"/>
          </p:nvPr>
        </p:nvSpPr>
        <p:spPr bwMode="auto">
          <a:xfrm>
            <a:off x="858748" y="2590234"/>
            <a:ext cx="10233058" cy="2246769"/>
          </a:xfrm>
          <a:prstGeom prst="rect">
            <a:avLst/>
          </a:prstGeom>
          <a:solidFill>
            <a:schemeClr val="accent2">
              <a:lumMod val="20000"/>
              <a:lumOff val="80000"/>
            </a:scheme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If </a:t>
            </a:r>
            <a:r>
              <a:rPr kumimoji="0" lang="en-US" altLang="en-US" b="1" i="0" u="none" strike="noStrike" cap="none" normalizeH="0" baseline="0" dirty="0">
                <a:ln>
                  <a:noFill/>
                </a:ln>
                <a:solidFill>
                  <a:schemeClr val="tx1"/>
                </a:solidFill>
                <a:effectLst/>
                <a:latin typeface="+mj-lt"/>
              </a:rPr>
              <a:t>both variables increase or decrease together</a:t>
            </a:r>
            <a:r>
              <a:rPr kumimoji="0" lang="en-US" altLang="en-US" b="0" i="0" u="none" strike="noStrike" cap="none" normalizeH="0" baseline="0" dirty="0">
                <a:ln>
                  <a:noFill/>
                </a:ln>
                <a:solidFill>
                  <a:schemeClr val="tx1"/>
                </a:solidFill>
                <a:effectLst/>
                <a:latin typeface="+mj-lt"/>
              </a:rPr>
              <a:t>, covariance is </a:t>
            </a:r>
            <a:r>
              <a:rPr kumimoji="0" lang="en-US" altLang="en-US" b="1" i="0" u="none" strike="noStrike" cap="none" normalizeH="0" baseline="0" dirty="0">
                <a:ln>
                  <a:noFill/>
                </a:ln>
                <a:solidFill>
                  <a:schemeClr val="tx1"/>
                </a:solidFill>
                <a:effectLst/>
                <a:latin typeface="+mj-lt"/>
              </a:rPr>
              <a:t>positive</a:t>
            </a:r>
            <a:r>
              <a:rPr kumimoji="0" lang="en-US" altLang="en-US"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If </a:t>
            </a:r>
            <a:r>
              <a:rPr kumimoji="0" lang="en-US" altLang="en-US" b="1" i="0" u="none" strike="noStrike" cap="none" normalizeH="0" baseline="0" dirty="0">
                <a:ln>
                  <a:noFill/>
                </a:ln>
                <a:solidFill>
                  <a:schemeClr val="tx1"/>
                </a:solidFill>
                <a:effectLst/>
                <a:latin typeface="+mj-lt"/>
              </a:rPr>
              <a:t>one increases while the other decreases</a:t>
            </a:r>
            <a:r>
              <a:rPr kumimoji="0" lang="en-US" altLang="en-US" b="0" i="0" u="none" strike="noStrike" cap="none" normalizeH="0" baseline="0" dirty="0">
                <a:ln>
                  <a:noFill/>
                </a:ln>
                <a:solidFill>
                  <a:schemeClr val="tx1"/>
                </a:solidFill>
                <a:effectLst/>
                <a:latin typeface="+mj-lt"/>
              </a:rPr>
              <a:t>, covariance is </a:t>
            </a:r>
            <a:r>
              <a:rPr kumimoji="0" lang="en-US" altLang="en-US" b="1" i="0" u="none" strike="noStrike" cap="none" normalizeH="0" baseline="0" dirty="0">
                <a:ln>
                  <a:noFill/>
                </a:ln>
                <a:solidFill>
                  <a:schemeClr val="tx1"/>
                </a:solidFill>
                <a:effectLst/>
                <a:latin typeface="+mj-lt"/>
              </a:rPr>
              <a:t>negative</a:t>
            </a:r>
            <a:r>
              <a:rPr kumimoji="0" lang="en-US" altLang="en-US"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If there’s </a:t>
            </a:r>
            <a:r>
              <a:rPr kumimoji="0" lang="en-US" altLang="en-US" b="1" i="0" u="none" strike="noStrike" cap="none" normalizeH="0" baseline="0" dirty="0">
                <a:ln>
                  <a:noFill/>
                </a:ln>
                <a:solidFill>
                  <a:schemeClr val="tx1"/>
                </a:solidFill>
                <a:effectLst/>
                <a:latin typeface="+mj-lt"/>
              </a:rPr>
              <a:t>no consistent relationship</a:t>
            </a:r>
            <a:r>
              <a:rPr kumimoji="0" lang="en-US" altLang="en-US" b="0" i="0" u="none" strike="noStrike" cap="none" normalizeH="0" baseline="0" dirty="0">
                <a:ln>
                  <a:noFill/>
                </a:ln>
                <a:solidFill>
                  <a:schemeClr val="tx1"/>
                </a:solidFill>
                <a:effectLst/>
                <a:latin typeface="+mj-lt"/>
              </a:rPr>
              <a:t>, covariance is </a:t>
            </a:r>
            <a:r>
              <a:rPr kumimoji="0" lang="en-US" altLang="en-US" b="1" i="0" u="none" strike="noStrike" cap="none" normalizeH="0" baseline="0" dirty="0">
                <a:ln>
                  <a:noFill/>
                </a:ln>
                <a:solidFill>
                  <a:schemeClr val="tx1"/>
                </a:solidFill>
                <a:effectLst/>
                <a:latin typeface="+mj-lt"/>
              </a:rPr>
              <a:t>near zero</a:t>
            </a:r>
            <a:r>
              <a:rPr kumimoji="0" lang="en-US" altLang="en-US" b="0" i="0" u="none" strike="noStrike" cap="none" normalizeH="0" baseline="0" dirty="0">
                <a:ln>
                  <a:noFill/>
                </a:ln>
                <a:solidFill>
                  <a:schemeClr val="tx1"/>
                </a:solidFill>
                <a:effectLst/>
                <a:latin typeface="+mj-lt"/>
              </a:rPr>
              <a:t>.</a:t>
            </a:r>
          </a:p>
        </p:txBody>
      </p:sp>
      <p:sp>
        <p:nvSpPr>
          <p:cNvPr id="5" name="Title 1">
            <a:extLst>
              <a:ext uri="{FF2B5EF4-FFF2-40B4-BE49-F238E27FC236}">
                <a16:creationId xmlns:a16="http://schemas.microsoft.com/office/drawing/2014/main" id="{200F5428-B4BE-CB00-CC16-30861539AEEC}"/>
              </a:ext>
            </a:extLst>
          </p:cNvPr>
          <p:cNvSpPr>
            <a:spLocks noGrp="1"/>
          </p:cNvSpPr>
          <p:nvPr>
            <p:ph type="title"/>
          </p:nvPr>
        </p:nvSpPr>
        <p:spPr>
          <a:xfrm>
            <a:off x="838200" y="365125"/>
            <a:ext cx="10515600" cy="1325563"/>
          </a:xfrm>
        </p:spPr>
        <p:txBody>
          <a:bodyPr/>
          <a:lstStyle/>
          <a:p>
            <a:r>
              <a:rPr lang="en-US" b="1" dirty="0">
                <a:solidFill>
                  <a:srgbClr val="C00000"/>
                </a:solidFill>
              </a:rPr>
              <a:t>Covariance value and interpretation</a:t>
            </a:r>
            <a:endParaRPr lang="en-IN" b="1" dirty="0">
              <a:solidFill>
                <a:srgbClr val="C00000"/>
              </a:solidFill>
            </a:endParaRPr>
          </a:p>
        </p:txBody>
      </p:sp>
    </p:spTree>
    <p:extLst>
      <p:ext uri="{BB962C8B-B14F-4D97-AF65-F5344CB8AC3E}">
        <p14:creationId xmlns:p14="http://schemas.microsoft.com/office/powerpoint/2010/main" val="534246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7FD2B-1C4D-6C74-1957-B882D1E0C0C9}"/>
              </a:ext>
            </a:extLst>
          </p:cNvPr>
          <p:cNvSpPr>
            <a:spLocks noGrp="1"/>
          </p:cNvSpPr>
          <p:nvPr>
            <p:ph type="title"/>
          </p:nvPr>
        </p:nvSpPr>
        <p:spPr/>
        <p:txBody>
          <a:bodyPr/>
          <a:lstStyle/>
          <a:p>
            <a:r>
              <a:rPr lang="en-US" b="1" dirty="0">
                <a:solidFill>
                  <a:srgbClr val="FF0000"/>
                </a:solidFill>
              </a:rPr>
              <a:t>Steps for PCA</a:t>
            </a:r>
            <a:endParaRPr lang="en-IN" b="1" dirty="0">
              <a:solidFill>
                <a:srgbClr val="FF0000"/>
              </a:solidFill>
            </a:endParaRPr>
          </a:p>
        </p:txBody>
      </p:sp>
      <p:sp>
        <p:nvSpPr>
          <p:cNvPr id="3" name="Content Placeholder 2">
            <a:extLst>
              <a:ext uri="{FF2B5EF4-FFF2-40B4-BE49-F238E27FC236}">
                <a16:creationId xmlns:a16="http://schemas.microsoft.com/office/drawing/2014/main" id="{5527F3BF-ECA4-EA5F-5A5D-16E70498FE6E}"/>
              </a:ext>
            </a:extLst>
          </p:cNvPr>
          <p:cNvSpPr>
            <a:spLocks noGrp="1"/>
          </p:cNvSpPr>
          <p:nvPr>
            <p:ph idx="1"/>
          </p:nvPr>
        </p:nvSpPr>
        <p:spPr/>
        <p:txBody>
          <a:bodyPr>
            <a:normAutofit fontScale="85000" lnSpcReduction="10000"/>
          </a:bodyPr>
          <a:lstStyle/>
          <a:p>
            <a:pPr marL="0" indent="0" algn="l">
              <a:lnSpc>
                <a:spcPts val="2400"/>
              </a:lnSpc>
              <a:buNone/>
            </a:pPr>
            <a:r>
              <a:rPr lang="en-US" b="1" dirty="0">
                <a:solidFill>
                  <a:srgbClr val="242424"/>
                </a:solidFill>
                <a:latin typeface="source-serif-pro"/>
              </a:rPr>
              <a:t>Data Preparation:</a:t>
            </a:r>
          </a:p>
          <a:p>
            <a:pPr>
              <a:lnSpc>
                <a:spcPts val="2400"/>
              </a:lnSpc>
            </a:pPr>
            <a:r>
              <a:rPr lang="en-US" dirty="0">
                <a:solidFill>
                  <a:srgbClr val="242424"/>
                </a:solidFill>
                <a:latin typeface="source-serif-pro"/>
              </a:rPr>
              <a:t>Collect and preprocess your data.</a:t>
            </a:r>
          </a:p>
          <a:p>
            <a:pPr marL="0" indent="0">
              <a:lnSpc>
                <a:spcPts val="2400"/>
              </a:lnSpc>
              <a:buNone/>
            </a:pPr>
            <a:r>
              <a:rPr lang="en-US" b="1" dirty="0">
                <a:solidFill>
                  <a:srgbClr val="242424"/>
                </a:solidFill>
                <a:latin typeface="source-serif-pro"/>
              </a:rPr>
              <a:t>Covariance Matrix Computation:</a:t>
            </a:r>
          </a:p>
          <a:p>
            <a:pPr algn="l">
              <a:lnSpc>
                <a:spcPts val="2400"/>
              </a:lnSpc>
              <a:buFont typeface="Arial" panose="020B0604020202020204" pitchFamily="34" charset="0"/>
              <a:buChar char="•"/>
            </a:pPr>
            <a:r>
              <a:rPr lang="en-US" dirty="0">
                <a:solidFill>
                  <a:srgbClr val="242424"/>
                </a:solidFill>
                <a:latin typeface="source-serif-pro"/>
              </a:rPr>
              <a:t>Compute the covariance matrix of your centered data. The covariance matrix describes the relationships between the different features in your dataset.</a:t>
            </a:r>
          </a:p>
          <a:p>
            <a:pPr algn="l">
              <a:lnSpc>
                <a:spcPts val="2400"/>
              </a:lnSpc>
              <a:buNone/>
            </a:pPr>
            <a:r>
              <a:rPr lang="en-US" b="1" i="0" dirty="0">
                <a:solidFill>
                  <a:srgbClr val="242424"/>
                </a:solidFill>
                <a:effectLst/>
                <a:latin typeface="source-serif-pro"/>
              </a:rPr>
              <a:t>Eigenvalue and Eigenvector Computation:</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Calculate the eigenvalues and eigenvectors of the covariance matrix. These represent the magnitude and direction of the principal components.</a:t>
            </a:r>
          </a:p>
          <a:p>
            <a:pPr algn="l">
              <a:lnSpc>
                <a:spcPts val="2400"/>
              </a:lnSpc>
              <a:buFont typeface="Arial" panose="020B0604020202020204" pitchFamily="34" charset="0"/>
              <a:buChar char="•"/>
            </a:pPr>
            <a:r>
              <a:rPr lang="en-US" b="0" i="0" dirty="0">
                <a:solidFill>
                  <a:srgbClr val="242424"/>
                </a:solidFill>
                <a:effectLst/>
                <a:latin typeface="source-serif-pro"/>
              </a:rPr>
              <a:t>The eigenvalues indicate the variance explained by each principal component, and the eigenvectors define the direction of these components.</a:t>
            </a:r>
          </a:p>
          <a:p>
            <a:pPr algn="l">
              <a:lnSpc>
                <a:spcPts val="2400"/>
              </a:lnSpc>
              <a:buFont typeface="Arial" panose="020B0604020202020204" pitchFamily="34" charset="0"/>
              <a:buChar char="•"/>
            </a:pPr>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1953778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E1E98-941D-B21D-D449-E9E6596843E8}"/>
              </a:ext>
            </a:extLst>
          </p:cNvPr>
          <p:cNvSpPr>
            <a:spLocks noGrp="1"/>
          </p:cNvSpPr>
          <p:nvPr>
            <p:ph idx="1"/>
          </p:nvPr>
        </p:nvSpPr>
        <p:spPr>
          <a:xfrm>
            <a:off x="838200" y="818606"/>
            <a:ext cx="10515600" cy="5358357"/>
          </a:xfrm>
        </p:spPr>
        <p:txBody>
          <a:bodyPr/>
          <a:lstStyle/>
          <a:p>
            <a:pPr algn="l">
              <a:lnSpc>
                <a:spcPts val="2400"/>
              </a:lnSpc>
              <a:buNone/>
            </a:pPr>
            <a:r>
              <a:rPr lang="en-US" b="1" i="0" dirty="0">
                <a:effectLst/>
              </a:rPr>
              <a:t>Sort Eigenvalues</a:t>
            </a:r>
          </a:p>
          <a:p>
            <a:pPr algn="l">
              <a:lnSpc>
                <a:spcPts val="2400"/>
              </a:lnSpc>
              <a:buNone/>
            </a:pPr>
            <a:endParaRPr lang="en-US" b="0" i="0" dirty="0">
              <a:effectLst/>
            </a:endParaRPr>
          </a:p>
          <a:p>
            <a:pPr algn="l">
              <a:lnSpc>
                <a:spcPts val="2400"/>
              </a:lnSpc>
              <a:buFont typeface="Arial" panose="020B0604020202020204" pitchFamily="34" charset="0"/>
              <a:buChar char="•"/>
            </a:pPr>
            <a:r>
              <a:rPr lang="en-US" sz="2400" dirty="0"/>
              <a:t>Sort the eigenvalues in descending order. The largest eigenvalues correspond to the most significant principal components.</a:t>
            </a:r>
          </a:p>
          <a:p>
            <a:pPr marL="0" indent="0" algn="l">
              <a:lnSpc>
                <a:spcPts val="2400"/>
              </a:lnSpc>
              <a:buNone/>
            </a:pPr>
            <a:endParaRPr lang="en-US" sz="2400" b="0" i="0" dirty="0">
              <a:effectLst/>
            </a:endParaRPr>
          </a:p>
          <a:p>
            <a:pPr algn="l">
              <a:lnSpc>
                <a:spcPts val="2400"/>
              </a:lnSpc>
              <a:buNone/>
            </a:pPr>
            <a:r>
              <a:rPr lang="en-US" b="1" i="0" dirty="0">
                <a:effectLst/>
              </a:rPr>
              <a:t>Select Principal Components</a:t>
            </a:r>
            <a:endParaRPr lang="en-US" b="0" i="0" dirty="0">
              <a:effectLst/>
            </a:endParaRPr>
          </a:p>
          <a:p>
            <a:pPr algn="l">
              <a:lnSpc>
                <a:spcPts val="2400"/>
              </a:lnSpc>
              <a:buFont typeface="Arial" panose="020B0604020202020204" pitchFamily="34" charset="0"/>
              <a:buChar char="•"/>
            </a:pPr>
            <a:r>
              <a:rPr lang="en-US" sz="2400" b="0" i="0" dirty="0">
                <a:effectLst/>
              </a:rPr>
              <a:t>Decide how many principal components to keep. You can select a specific number or choose based on the explained variance (e.g., keep components that explain 95% of the variance).</a:t>
            </a:r>
          </a:p>
          <a:p>
            <a:pPr algn="l">
              <a:lnSpc>
                <a:spcPts val="2400"/>
              </a:lnSpc>
              <a:buFont typeface="Arial" panose="020B0604020202020204" pitchFamily="34" charset="0"/>
              <a:buChar char="•"/>
            </a:pPr>
            <a:endParaRPr lang="en-US" sz="2400" b="0" i="0" dirty="0">
              <a:effectLst/>
            </a:endParaRPr>
          </a:p>
          <a:p>
            <a:pPr algn="l">
              <a:lnSpc>
                <a:spcPts val="2400"/>
              </a:lnSpc>
              <a:buNone/>
            </a:pPr>
            <a:r>
              <a:rPr lang="en-US" b="1" i="0" dirty="0">
                <a:effectLst/>
              </a:rPr>
              <a:t>Projection onto Principal Components</a:t>
            </a:r>
            <a:endParaRPr lang="en-US" b="0" i="0" dirty="0">
              <a:effectLst/>
            </a:endParaRPr>
          </a:p>
          <a:p>
            <a:pPr algn="l">
              <a:lnSpc>
                <a:spcPts val="2400"/>
              </a:lnSpc>
              <a:buFont typeface="Arial" panose="020B0604020202020204" pitchFamily="34" charset="0"/>
              <a:buChar char="•"/>
            </a:pPr>
            <a:r>
              <a:rPr lang="en-US" sz="2400" b="0" i="0" dirty="0">
                <a:effectLst/>
              </a:rPr>
              <a:t>Project your original data onto the selected principal components to obtain a new set of features (variables) that are linear combinations of the original features</a:t>
            </a:r>
          </a:p>
          <a:p>
            <a:pPr algn="l">
              <a:lnSpc>
                <a:spcPts val="2400"/>
              </a:lnSpc>
              <a:buFont typeface="Arial" panose="020B0604020202020204" pitchFamily="34" charset="0"/>
              <a:buChar char="•"/>
            </a:pPr>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2879288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03816D-65D0-D361-7DB2-2E405CFC89D8}"/>
              </a:ext>
            </a:extLst>
          </p:cNvPr>
          <p:cNvSpPr>
            <a:spLocks noGrp="1"/>
          </p:cNvSpPr>
          <p:nvPr>
            <p:ph idx="1"/>
          </p:nvPr>
        </p:nvSpPr>
        <p:spPr>
          <a:xfrm>
            <a:off x="664029" y="292666"/>
            <a:ext cx="10515600" cy="508522"/>
          </a:xfrm>
          <a:ln>
            <a:solidFill>
              <a:schemeClr val="accent1"/>
            </a:solidFill>
          </a:ln>
        </p:spPr>
        <p:txBody>
          <a:bodyPr>
            <a:normAutofit fontScale="85000" lnSpcReduction="10000"/>
          </a:bodyPr>
          <a:lstStyle/>
          <a:p>
            <a:pPr marL="0" indent="0">
              <a:buNone/>
            </a:pPr>
            <a:r>
              <a:rPr lang="en-US" b="0" i="0" dirty="0">
                <a:solidFill>
                  <a:srgbClr val="242424"/>
                </a:solidFill>
                <a:effectLst/>
                <a:latin typeface="source-serif-pro"/>
              </a:rPr>
              <a:t>The following are the data points or features given. Let us start with 4 data points</a:t>
            </a:r>
            <a:endParaRPr lang="en-IN" dirty="0"/>
          </a:p>
        </p:txBody>
      </p:sp>
      <p:pic>
        <p:nvPicPr>
          <p:cNvPr id="4098" name="Picture 2">
            <a:extLst>
              <a:ext uri="{FF2B5EF4-FFF2-40B4-BE49-F238E27FC236}">
                <a16:creationId xmlns:a16="http://schemas.microsoft.com/office/drawing/2014/main" id="{231F0DFF-3FE1-794F-F3FA-893088A25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6460" y="1045948"/>
            <a:ext cx="4031270" cy="117366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7C2FCC5-695D-588D-1ADB-40EAAA493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8371" y="5106711"/>
            <a:ext cx="3809359" cy="124897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022F5A8-81E2-3A4C-9997-9B21D44D90A7}"/>
                  </a:ext>
                </a:extLst>
              </p:cNvPr>
              <p:cNvSpPr txBox="1"/>
              <p:nvPr/>
            </p:nvSpPr>
            <p:spPr>
              <a:xfrm>
                <a:off x="2878183" y="2687931"/>
                <a:ext cx="6435634" cy="1482137"/>
              </a:xfrm>
              <a:prstGeom prst="rect">
                <a:avLst/>
              </a:prstGeom>
              <a:noFill/>
            </p:spPr>
            <p:txBody>
              <a:bodyPr wrap="square">
                <a:spAutoFit/>
              </a:bodyPr>
              <a:lstStyle/>
              <a:p>
                <a:pPr>
                  <a:buNone/>
                </a:pPr>
                <a:r>
                  <a:rPr lang="en-IN" sz="2400" b="1" dirty="0"/>
                  <a:t>Step 1: Arrange Data (columns = features)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𝑋</m:t>
                      </m:r>
                      <m:r>
                        <a:rPr lang="en-IN" i="0">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i="0">
                                    <a:latin typeface="Cambria Math" panose="02040503050406030204" pitchFamily="18" charset="0"/>
                                  </a:rPr>
                                  <m:t>2</m:t>
                                </m:r>
                              </m:e>
                              <m:e>
                                <m:r>
                                  <a:rPr lang="ar-AE" i="0">
                                    <a:latin typeface="Cambria Math" panose="02040503050406030204" pitchFamily="18" charset="0"/>
                                  </a:rPr>
                                  <m:t>4</m:t>
                                </m:r>
                              </m:e>
                            </m:mr>
                            <m:mr>
                              <m:e>
                                <m:r>
                                  <a:rPr lang="ar-AE" i="0">
                                    <a:latin typeface="Cambria Math" panose="02040503050406030204" pitchFamily="18" charset="0"/>
                                  </a:rPr>
                                  <m:t>3</m:t>
                                </m:r>
                              </m:e>
                              <m:e>
                                <m:r>
                                  <a:rPr lang="ar-AE" i="0">
                                    <a:latin typeface="Cambria Math" panose="02040503050406030204" pitchFamily="18" charset="0"/>
                                  </a:rPr>
                                  <m:t>6</m:t>
                                </m:r>
                              </m:e>
                            </m:mr>
                            <m:mr>
                              <m:e>
                                <m:r>
                                  <a:rPr lang="ar-AE" i="0">
                                    <a:latin typeface="Cambria Math" panose="02040503050406030204" pitchFamily="18" charset="0"/>
                                  </a:rPr>
                                  <m:t>4</m:t>
                                </m:r>
                              </m:e>
                              <m:e>
                                <m:r>
                                  <a:rPr lang="ar-AE" i="0">
                                    <a:latin typeface="Cambria Math" panose="02040503050406030204" pitchFamily="18" charset="0"/>
                                  </a:rPr>
                                  <m:t>8</m:t>
                                </m:r>
                              </m:e>
                            </m:mr>
                            <m:mr>
                              <m:e>
                                <m:r>
                                  <a:rPr lang="ar-AE" i="0">
                                    <a:latin typeface="Cambria Math" panose="02040503050406030204" pitchFamily="18" charset="0"/>
                                  </a:rPr>
                                  <m:t>5</m:t>
                                </m:r>
                              </m:e>
                              <m:e>
                                <m:r>
                                  <a:rPr lang="ar-AE" i="0">
                                    <a:latin typeface="Cambria Math" panose="02040503050406030204" pitchFamily="18" charset="0"/>
                                  </a:rPr>
                                  <m:t>10</m:t>
                                </m:r>
                              </m:e>
                            </m:mr>
                          </m:m>
                        </m:e>
                      </m:d>
                    </m:oMath>
                  </m:oMathPara>
                </a14:m>
                <a:endParaRPr lang="ar-AE" dirty="0"/>
              </a:p>
            </p:txBody>
          </p:sp>
        </mc:Choice>
        <mc:Fallback xmlns="">
          <p:sp>
            <p:nvSpPr>
              <p:cNvPr id="4" name="TextBox 3">
                <a:extLst>
                  <a:ext uri="{FF2B5EF4-FFF2-40B4-BE49-F238E27FC236}">
                    <a16:creationId xmlns:a16="http://schemas.microsoft.com/office/drawing/2014/main" id="{7022F5A8-81E2-3A4C-9997-9B21D44D90A7}"/>
                  </a:ext>
                </a:extLst>
              </p:cNvPr>
              <p:cNvSpPr txBox="1">
                <a:spLocks noRot="1" noChangeAspect="1" noMove="1" noResize="1" noEditPoints="1" noAdjustHandles="1" noChangeArrowheads="1" noChangeShapeType="1" noTextEdit="1"/>
              </p:cNvSpPr>
              <p:nvPr/>
            </p:nvSpPr>
            <p:spPr>
              <a:xfrm>
                <a:off x="2878183" y="2687931"/>
                <a:ext cx="6435634" cy="1482137"/>
              </a:xfrm>
              <a:prstGeom prst="rect">
                <a:avLst/>
              </a:prstGeom>
              <a:blipFill>
                <a:blip r:embed="rId4"/>
                <a:stretch>
                  <a:fillRect l="-1420" t="-3292"/>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C9633473-6D01-1B5B-D7A7-8D1412093EA7}"/>
              </a:ext>
            </a:extLst>
          </p:cNvPr>
          <p:cNvSpPr txBox="1"/>
          <p:nvPr/>
        </p:nvSpPr>
        <p:spPr>
          <a:xfrm>
            <a:off x="2873829" y="4407557"/>
            <a:ext cx="6096000" cy="461665"/>
          </a:xfrm>
          <a:prstGeom prst="rect">
            <a:avLst/>
          </a:prstGeom>
          <a:noFill/>
        </p:spPr>
        <p:txBody>
          <a:bodyPr wrap="square">
            <a:spAutoFit/>
          </a:bodyPr>
          <a:lstStyle/>
          <a:p>
            <a:r>
              <a:rPr lang="en-IN" sz="2400" b="1" dirty="0"/>
              <a:t>Step 2: Compute Mean</a:t>
            </a:r>
          </a:p>
        </p:txBody>
      </p:sp>
    </p:spTree>
    <p:extLst>
      <p:ext uri="{BB962C8B-B14F-4D97-AF65-F5344CB8AC3E}">
        <p14:creationId xmlns:p14="http://schemas.microsoft.com/office/powerpoint/2010/main" val="1580318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D6112C-5532-52C9-8141-0DB4FC702CC2}"/>
              </a:ext>
            </a:extLst>
          </p:cNvPr>
          <p:cNvSpPr txBox="1"/>
          <p:nvPr/>
        </p:nvSpPr>
        <p:spPr>
          <a:xfrm>
            <a:off x="931816" y="564271"/>
            <a:ext cx="8577943" cy="584775"/>
          </a:xfrm>
          <a:prstGeom prst="rect">
            <a:avLst/>
          </a:prstGeom>
          <a:noFill/>
        </p:spPr>
        <p:txBody>
          <a:bodyPr wrap="square">
            <a:spAutoFit/>
          </a:bodyPr>
          <a:lstStyle/>
          <a:p>
            <a:r>
              <a:rPr lang="en-US" sz="3200" dirty="0"/>
              <a:t>Step 3: Subtract Mean (Center the Data)</a:t>
            </a:r>
            <a:endParaRPr lang="en-IN" sz="3200" dirty="0"/>
          </a:p>
        </p:txBody>
      </p:sp>
      <p:graphicFrame>
        <p:nvGraphicFramePr>
          <p:cNvPr id="6" name="Table 5">
            <a:extLst>
              <a:ext uri="{FF2B5EF4-FFF2-40B4-BE49-F238E27FC236}">
                <a16:creationId xmlns:a16="http://schemas.microsoft.com/office/drawing/2014/main" id="{26B1E50A-98E1-D051-4981-75B290008443}"/>
              </a:ext>
            </a:extLst>
          </p:cNvPr>
          <p:cNvGraphicFramePr>
            <a:graphicFrameLocks noGrp="1"/>
          </p:cNvGraphicFramePr>
          <p:nvPr>
            <p:extLst>
              <p:ext uri="{D42A27DB-BD31-4B8C-83A1-F6EECF244321}">
                <p14:modId xmlns:p14="http://schemas.microsoft.com/office/powerpoint/2010/main" val="1620609514"/>
              </p:ext>
            </p:extLst>
          </p:nvPr>
        </p:nvGraphicFramePr>
        <p:xfrm>
          <a:off x="1006927" y="1858986"/>
          <a:ext cx="8427720" cy="2346960"/>
        </p:xfrm>
        <a:graphic>
          <a:graphicData uri="http://schemas.openxmlformats.org/drawingml/2006/table">
            <a:tbl>
              <a:tblPr/>
              <a:tblGrid>
                <a:gridCol w="2106930">
                  <a:extLst>
                    <a:ext uri="{9D8B030D-6E8A-4147-A177-3AD203B41FA5}">
                      <a16:colId xmlns:a16="http://schemas.microsoft.com/office/drawing/2014/main" val="3820620669"/>
                    </a:ext>
                  </a:extLst>
                </a:gridCol>
                <a:gridCol w="2106930">
                  <a:extLst>
                    <a:ext uri="{9D8B030D-6E8A-4147-A177-3AD203B41FA5}">
                      <a16:colId xmlns:a16="http://schemas.microsoft.com/office/drawing/2014/main" val="1492949952"/>
                    </a:ext>
                  </a:extLst>
                </a:gridCol>
                <a:gridCol w="2106930">
                  <a:extLst>
                    <a:ext uri="{9D8B030D-6E8A-4147-A177-3AD203B41FA5}">
                      <a16:colId xmlns:a16="http://schemas.microsoft.com/office/drawing/2014/main" val="3872010034"/>
                    </a:ext>
                  </a:extLst>
                </a:gridCol>
                <a:gridCol w="2106930">
                  <a:extLst>
                    <a:ext uri="{9D8B030D-6E8A-4147-A177-3AD203B41FA5}">
                      <a16:colId xmlns:a16="http://schemas.microsoft.com/office/drawing/2014/main" val="3059548135"/>
                    </a:ext>
                  </a:extLst>
                </a:gridCol>
              </a:tblGrid>
              <a:tr h="0">
                <a:tc>
                  <a:txBody>
                    <a:bodyPr/>
                    <a:lstStyle/>
                    <a:p>
                      <a:pPr>
                        <a:buNone/>
                      </a:pPr>
                      <a:r>
                        <a:rPr lang="en-IN" sz="2800" dirty="0"/>
                        <a:t>X1</a:t>
                      </a:r>
                    </a:p>
                  </a:txBody>
                  <a:tcPr anchor="ctr">
                    <a:lnL>
                      <a:noFill/>
                    </a:lnL>
                    <a:lnR>
                      <a:noFill/>
                    </a:lnR>
                    <a:lnT>
                      <a:noFill/>
                    </a:lnT>
                    <a:lnB>
                      <a:noFill/>
                    </a:lnB>
                    <a:noFill/>
                  </a:tcPr>
                </a:tc>
                <a:tc>
                  <a:txBody>
                    <a:bodyPr/>
                    <a:lstStyle/>
                    <a:p>
                      <a:pPr>
                        <a:buNone/>
                      </a:pPr>
                      <a:r>
                        <a:rPr lang="en-IN" sz="2800" dirty="0"/>
                        <a:t>X2</a:t>
                      </a:r>
                    </a:p>
                  </a:txBody>
                  <a:tcPr anchor="ctr">
                    <a:lnL>
                      <a:noFill/>
                    </a:lnL>
                    <a:lnR>
                      <a:noFill/>
                    </a:lnR>
                    <a:lnT>
                      <a:noFill/>
                    </a:lnT>
                    <a:lnB>
                      <a:noFill/>
                    </a:lnB>
                    <a:noFill/>
                  </a:tcPr>
                </a:tc>
                <a:tc>
                  <a:txBody>
                    <a:bodyPr/>
                    <a:lstStyle/>
                    <a:p>
                      <a:pPr>
                        <a:buNone/>
                      </a:pPr>
                      <a:r>
                        <a:rPr lang="en-IN" sz="2800" dirty="0"/>
                        <a:t>X1 - 3.5</a:t>
                      </a:r>
                    </a:p>
                  </a:txBody>
                  <a:tcPr anchor="ctr">
                    <a:lnL>
                      <a:noFill/>
                    </a:lnL>
                    <a:lnR>
                      <a:noFill/>
                    </a:lnR>
                    <a:lnT>
                      <a:noFill/>
                    </a:lnT>
                    <a:lnB>
                      <a:noFill/>
                    </a:lnB>
                    <a:noFill/>
                  </a:tcPr>
                </a:tc>
                <a:tc>
                  <a:txBody>
                    <a:bodyPr/>
                    <a:lstStyle/>
                    <a:p>
                      <a:pPr>
                        <a:buNone/>
                      </a:pPr>
                      <a:r>
                        <a:rPr lang="en-IN" sz="2800" dirty="0"/>
                        <a:t>X2 - 7</a:t>
                      </a:r>
                    </a:p>
                  </a:txBody>
                  <a:tcPr anchor="ctr">
                    <a:lnL>
                      <a:noFill/>
                    </a:lnL>
                    <a:lnR>
                      <a:noFill/>
                    </a:lnR>
                    <a:lnT>
                      <a:noFill/>
                    </a:lnT>
                    <a:lnB>
                      <a:noFill/>
                    </a:lnB>
                    <a:noFill/>
                  </a:tcPr>
                </a:tc>
                <a:extLst>
                  <a:ext uri="{0D108BD9-81ED-4DB2-BD59-A6C34878D82A}">
                    <a16:rowId xmlns:a16="http://schemas.microsoft.com/office/drawing/2014/main" val="1128984476"/>
                  </a:ext>
                </a:extLst>
              </a:tr>
              <a:tr h="0">
                <a:tc>
                  <a:txBody>
                    <a:bodyPr/>
                    <a:lstStyle/>
                    <a:p>
                      <a:pPr>
                        <a:buNone/>
                      </a:pPr>
                      <a:r>
                        <a:rPr lang="en-IN" sz="2400" dirty="0"/>
                        <a:t>2</a:t>
                      </a:r>
                    </a:p>
                  </a:txBody>
                  <a:tcPr anchor="ctr">
                    <a:lnL>
                      <a:noFill/>
                    </a:lnL>
                    <a:lnR>
                      <a:noFill/>
                    </a:lnR>
                    <a:lnT>
                      <a:noFill/>
                    </a:lnT>
                    <a:lnB>
                      <a:noFill/>
                    </a:lnB>
                    <a:noFill/>
                  </a:tcPr>
                </a:tc>
                <a:tc>
                  <a:txBody>
                    <a:bodyPr/>
                    <a:lstStyle/>
                    <a:p>
                      <a:pPr>
                        <a:buNone/>
                      </a:pPr>
                      <a:r>
                        <a:rPr lang="en-IN" sz="2400"/>
                        <a:t>4</a:t>
                      </a:r>
                    </a:p>
                  </a:txBody>
                  <a:tcPr anchor="ctr">
                    <a:lnL>
                      <a:noFill/>
                    </a:lnL>
                    <a:lnR>
                      <a:noFill/>
                    </a:lnR>
                    <a:lnT>
                      <a:noFill/>
                    </a:lnT>
                    <a:lnB>
                      <a:noFill/>
                    </a:lnB>
                    <a:noFill/>
                  </a:tcPr>
                </a:tc>
                <a:tc>
                  <a:txBody>
                    <a:bodyPr/>
                    <a:lstStyle/>
                    <a:p>
                      <a:pPr>
                        <a:buNone/>
                      </a:pPr>
                      <a:r>
                        <a:rPr lang="en-IN" sz="2400"/>
                        <a:t>-1.5</a:t>
                      </a:r>
                    </a:p>
                  </a:txBody>
                  <a:tcPr anchor="ctr">
                    <a:lnL>
                      <a:noFill/>
                    </a:lnL>
                    <a:lnR>
                      <a:noFill/>
                    </a:lnR>
                    <a:lnT>
                      <a:noFill/>
                    </a:lnT>
                    <a:lnB>
                      <a:noFill/>
                    </a:lnB>
                    <a:noFill/>
                  </a:tcPr>
                </a:tc>
                <a:tc>
                  <a:txBody>
                    <a:bodyPr/>
                    <a:lstStyle/>
                    <a:p>
                      <a:pPr>
                        <a:buNone/>
                      </a:pPr>
                      <a:r>
                        <a:rPr lang="en-IN" sz="2400"/>
                        <a:t>-3</a:t>
                      </a:r>
                    </a:p>
                  </a:txBody>
                  <a:tcPr anchor="ctr">
                    <a:lnL>
                      <a:noFill/>
                    </a:lnL>
                    <a:lnR>
                      <a:noFill/>
                    </a:lnR>
                    <a:lnT>
                      <a:noFill/>
                    </a:lnT>
                    <a:lnB>
                      <a:noFill/>
                    </a:lnB>
                    <a:noFill/>
                  </a:tcPr>
                </a:tc>
                <a:extLst>
                  <a:ext uri="{0D108BD9-81ED-4DB2-BD59-A6C34878D82A}">
                    <a16:rowId xmlns:a16="http://schemas.microsoft.com/office/drawing/2014/main" val="803392703"/>
                  </a:ext>
                </a:extLst>
              </a:tr>
              <a:tr h="0">
                <a:tc>
                  <a:txBody>
                    <a:bodyPr/>
                    <a:lstStyle/>
                    <a:p>
                      <a:pPr>
                        <a:buNone/>
                      </a:pPr>
                      <a:r>
                        <a:rPr lang="en-IN" sz="2400"/>
                        <a:t>3</a:t>
                      </a:r>
                    </a:p>
                  </a:txBody>
                  <a:tcPr anchor="ctr">
                    <a:lnL>
                      <a:noFill/>
                    </a:lnL>
                    <a:lnR>
                      <a:noFill/>
                    </a:lnR>
                    <a:lnT>
                      <a:noFill/>
                    </a:lnT>
                    <a:lnB>
                      <a:noFill/>
                    </a:lnB>
                    <a:noFill/>
                  </a:tcPr>
                </a:tc>
                <a:tc>
                  <a:txBody>
                    <a:bodyPr/>
                    <a:lstStyle/>
                    <a:p>
                      <a:pPr>
                        <a:buNone/>
                      </a:pPr>
                      <a:r>
                        <a:rPr lang="en-IN" sz="2400" dirty="0"/>
                        <a:t>6</a:t>
                      </a:r>
                    </a:p>
                  </a:txBody>
                  <a:tcPr anchor="ctr">
                    <a:lnL>
                      <a:noFill/>
                    </a:lnL>
                    <a:lnR>
                      <a:noFill/>
                    </a:lnR>
                    <a:lnT>
                      <a:noFill/>
                    </a:lnT>
                    <a:lnB>
                      <a:noFill/>
                    </a:lnB>
                    <a:noFill/>
                  </a:tcPr>
                </a:tc>
                <a:tc>
                  <a:txBody>
                    <a:bodyPr/>
                    <a:lstStyle/>
                    <a:p>
                      <a:pPr>
                        <a:buNone/>
                      </a:pPr>
                      <a:r>
                        <a:rPr lang="en-IN" sz="2400"/>
                        <a:t>-0.5</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1319659800"/>
                  </a:ext>
                </a:extLst>
              </a:tr>
              <a:tr h="0">
                <a:tc>
                  <a:txBody>
                    <a:bodyPr/>
                    <a:lstStyle/>
                    <a:p>
                      <a:pPr>
                        <a:buNone/>
                      </a:pPr>
                      <a:r>
                        <a:rPr lang="en-IN" sz="2400"/>
                        <a:t>4</a:t>
                      </a:r>
                    </a:p>
                  </a:txBody>
                  <a:tcPr anchor="ctr">
                    <a:lnL>
                      <a:noFill/>
                    </a:lnL>
                    <a:lnR>
                      <a:noFill/>
                    </a:lnR>
                    <a:lnT>
                      <a:noFill/>
                    </a:lnT>
                    <a:lnB>
                      <a:noFill/>
                    </a:lnB>
                    <a:noFill/>
                  </a:tcPr>
                </a:tc>
                <a:tc>
                  <a:txBody>
                    <a:bodyPr/>
                    <a:lstStyle/>
                    <a:p>
                      <a:pPr>
                        <a:buNone/>
                      </a:pPr>
                      <a:r>
                        <a:rPr lang="en-IN" sz="2400"/>
                        <a:t>8</a:t>
                      </a:r>
                    </a:p>
                  </a:txBody>
                  <a:tcPr anchor="ctr">
                    <a:lnL>
                      <a:noFill/>
                    </a:lnL>
                    <a:lnR>
                      <a:noFill/>
                    </a:lnR>
                    <a:lnT>
                      <a:noFill/>
                    </a:lnT>
                    <a:lnB>
                      <a:noFill/>
                    </a:lnB>
                    <a:noFill/>
                  </a:tcPr>
                </a:tc>
                <a:tc>
                  <a:txBody>
                    <a:bodyPr/>
                    <a:lstStyle/>
                    <a:p>
                      <a:pPr>
                        <a:buNone/>
                      </a:pPr>
                      <a:r>
                        <a:rPr lang="en-IN" sz="2400"/>
                        <a:t>0.5</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2655155668"/>
                  </a:ext>
                </a:extLst>
              </a:tr>
              <a:tr h="0">
                <a:tc>
                  <a:txBody>
                    <a:bodyPr/>
                    <a:lstStyle/>
                    <a:p>
                      <a:pPr>
                        <a:buNone/>
                      </a:pPr>
                      <a:r>
                        <a:rPr lang="en-IN" sz="2400"/>
                        <a:t>5</a:t>
                      </a:r>
                    </a:p>
                  </a:txBody>
                  <a:tcPr anchor="ctr">
                    <a:lnL>
                      <a:noFill/>
                    </a:lnL>
                    <a:lnR>
                      <a:noFill/>
                    </a:lnR>
                    <a:lnT>
                      <a:noFill/>
                    </a:lnT>
                    <a:lnB>
                      <a:noFill/>
                    </a:lnB>
                    <a:noFill/>
                  </a:tcPr>
                </a:tc>
                <a:tc>
                  <a:txBody>
                    <a:bodyPr/>
                    <a:lstStyle/>
                    <a:p>
                      <a:pPr>
                        <a:buNone/>
                      </a:pPr>
                      <a:r>
                        <a:rPr lang="en-IN" sz="2400" dirty="0"/>
                        <a:t>10</a:t>
                      </a:r>
                    </a:p>
                  </a:txBody>
                  <a:tcPr anchor="ctr">
                    <a:lnL>
                      <a:noFill/>
                    </a:lnL>
                    <a:lnR>
                      <a:noFill/>
                    </a:lnR>
                    <a:lnT>
                      <a:noFill/>
                    </a:lnT>
                    <a:lnB>
                      <a:noFill/>
                    </a:lnB>
                    <a:noFill/>
                  </a:tcPr>
                </a:tc>
                <a:tc>
                  <a:txBody>
                    <a:bodyPr/>
                    <a:lstStyle/>
                    <a:p>
                      <a:pPr>
                        <a:buNone/>
                      </a:pPr>
                      <a:r>
                        <a:rPr lang="en-IN" sz="2400" dirty="0"/>
                        <a:t>1.5</a:t>
                      </a:r>
                    </a:p>
                  </a:txBody>
                  <a:tcPr anchor="ctr">
                    <a:lnL>
                      <a:noFill/>
                    </a:lnL>
                    <a:lnR>
                      <a:noFill/>
                    </a:lnR>
                    <a:lnT>
                      <a:noFill/>
                    </a:lnT>
                    <a:lnB>
                      <a:noFill/>
                    </a:lnB>
                    <a:noFill/>
                  </a:tcPr>
                </a:tc>
                <a:tc>
                  <a:txBody>
                    <a:bodyPr/>
                    <a:lstStyle/>
                    <a:p>
                      <a:pPr>
                        <a:buNone/>
                      </a:pPr>
                      <a:r>
                        <a:rPr lang="en-IN" sz="2400" dirty="0"/>
                        <a:t>3</a:t>
                      </a:r>
                    </a:p>
                  </a:txBody>
                  <a:tcPr anchor="ctr">
                    <a:lnL>
                      <a:noFill/>
                    </a:lnL>
                    <a:lnR>
                      <a:noFill/>
                    </a:lnR>
                    <a:lnT>
                      <a:noFill/>
                    </a:lnT>
                    <a:lnB>
                      <a:noFill/>
                    </a:lnB>
                    <a:noFill/>
                  </a:tcPr>
                </a:tc>
                <a:extLst>
                  <a:ext uri="{0D108BD9-81ED-4DB2-BD59-A6C34878D82A}">
                    <a16:rowId xmlns:a16="http://schemas.microsoft.com/office/drawing/2014/main" val="3262813311"/>
                  </a:ext>
                </a:extLst>
              </a:tr>
            </a:tbl>
          </a:graphicData>
        </a:graphic>
      </p:graphicFrame>
    </p:spTree>
    <p:extLst>
      <p:ext uri="{BB962C8B-B14F-4D97-AF65-F5344CB8AC3E}">
        <p14:creationId xmlns:p14="http://schemas.microsoft.com/office/powerpoint/2010/main" val="132274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7CCB8A-B196-3B15-C300-5D1E437EA0F6}"/>
              </a:ext>
            </a:extLst>
          </p:cNvPr>
          <p:cNvSpPr txBox="1"/>
          <p:nvPr/>
        </p:nvSpPr>
        <p:spPr>
          <a:xfrm>
            <a:off x="626895" y="354266"/>
            <a:ext cx="8229722" cy="421910"/>
          </a:xfrm>
          <a:prstGeom prst="rect">
            <a:avLst/>
          </a:prstGeom>
          <a:noFill/>
        </p:spPr>
        <p:txBody>
          <a:bodyPr wrap="square">
            <a:spAutoFit/>
          </a:bodyPr>
          <a:lstStyle/>
          <a:p>
            <a:pPr algn="l">
              <a:lnSpc>
                <a:spcPts val="2250"/>
              </a:lnSpc>
            </a:pPr>
            <a:r>
              <a:rPr lang="en-IN" sz="3200" b="1" i="0" dirty="0">
                <a:solidFill>
                  <a:srgbClr val="242424"/>
                </a:solidFill>
                <a:effectLst/>
                <a:latin typeface="sohne"/>
              </a:rPr>
              <a:t>Step 4: Covariance Matrix Computation</a:t>
            </a:r>
          </a:p>
        </p:txBody>
      </p:sp>
      <p:pic>
        <p:nvPicPr>
          <p:cNvPr id="6" name="Picture 5">
            <a:extLst>
              <a:ext uri="{FF2B5EF4-FFF2-40B4-BE49-F238E27FC236}">
                <a16:creationId xmlns:a16="http://schemas.microsoft.com/office/drawing/2014/main" id="{C62A6A7C-FEA0-4762-EB2C-88CD1E085EA8}"/>
              </a:ext>
            </a:extLst>
          </p:cNvPr>
          <p:cNvPicPr>
            <a:picLocks noChangeAspect="1"/>
          </p:cNvPicPr>
          <p:nvPr/>
        </p:nvPicPr>
        <p:blipFill>
          <a:blip r:embed="rId2"/>
          <a:stretch>
            <a:fillRect/>
          </a:stretch>
        </p:blipFill>
        <p:spPr>
          <a:xfrm>
            <a:off x="626895" y="776176"/>
            <a:ext cx="5372796" cy="951608"/>
          </a:xfrm>
          <a:prstGeom prst="rect">
            <a:avLst/>
          </a:prstGeom>
          <a:ln>
            <a:solidFill>
              <a:schemeClr val="accent1"/>
            </a:solidFill>
          </a:ln>
        </p:spPr>
      </p:pic>
      <p:pic>
        <p:nvPicPr>
          <p:cNvPr id="10" name="Picture 9">
            <a:extLst>
              <a:ext uri="{FF2B5EF4-FFF2-40B4-BE49-F238E27FC236}">
                <a16:creationId xmlns:a16="http://schemas.microsoft.com/office/drawing/2014/main" id="{90D6EB3E-F48F-034A-75E1-19BC97ED2A4A}"/>
              </a:ext>
            </a:extLst>
          </p:cNvPr>
          <p:cNvPicPr>
            <a:picLocks noChangeAspect="1"/>
          </p:cNvPicPr>
          <p:nvPr/>
        </p:nvPicPr>
        <p:blipFill>
          <a:blip r:embed="rId3"/>
          <a:stretch>
            <a:fillRect/>
          </a:stretch>
        </p:blipFill>
        <p:spPr>
          <a:xfrm>
            <a:off x="445552" y="1879994"/>
            <a:ext cx="8781948" cy="1430951"/>
          </a:xfrm>
          <a:prstGeom prst="rect">
            <a:avLst/>
          </a:prstGeom>
        </p:spPr>
      </p:pic>
      <p:pic>
        <p:nvPicPr>
          <p:cNvPr id="12" name="Picture 11">
            <a:extLst>
              <a:ext uri="{FF2B5EF4-FFF2-40B4-BE49-F238E27FC236}">
                <a16:creationId xmlns:a16="http://schemas.microsoft.com/office/drawing/2014/main" id="{5E89BDB3-8244-E1CE-B513-028E6730420E}"/>
              </a:ext>
            </a:extLst>
          </p:cNvPr>
          <p:cNvPicPr>
            <a:picLocks noChangeAspect="1"/>
          </p:cNvPicPr>
          <p:nvPr/>
        </p:nvPicPr>
        <p:blipFill>
          <a:blip r:embed="rId4"/>
          <a:stretch>
            <a:fillRect/>
          </a:stretch>
        </p:blipFill>
        <p:spPr>
          <a:xfrm>
            <a:off x="445552" y="3310945"/>
            <a:ext cx="7542191" cy="1327621"/>
          </a:xfrm>
          <a:prstGeom prst="rect">
            <a:avLst/>
          </a:prstGeom>
        </p:spPr>
      </p:pic>
      <p:pic>
        <p:nvPicPr>
          <p:cNvPr id="14" name="Picture 13">
            <a:extLst>
              <a:ext uri="{FF2B5EF4-FFF2-40B4-BE49-F238E27FC236}">
                <a16:creationId xmlns:a16="http://schemas.microsoft.com/office/drawing/2014/main" id="{51424E1D-6A96-CE97-B1EA-0D462D8282BC}"/>
              </a:ext>
            </a:extLst>
          </p:cNvPr>
          <p:cNvPicPr>
            <a:picLocks noChangeAspect="1"/>
          </p:cNvPicPr>
          <p:nvPr/>
        </p:nvPicPr>
        <p:blipFill>
          <a:blip r:embed="rId5"/>
          <a:stretch>
            <a:fillRect/>
          </a:stretch>
        </p:blipFill>
        <p:spPr>
          <a:xfrm>
            <a:off x="445552" y="4638566"/>
            <a:ext cx="6349920" cy="2010047"/>
          </a:xfrm>
          <a:prstGeom prst="rect">
            <a:avLst/>
          </a:prstGeom>
        </p:spPr>
      </p:pic>
      <p:pic>
        <p:nvPicPr>
          <p:cNvPr id="18" name="Picture 17">
            <a:extLst>
              <a:ext uri="{FF2B5EF4-FFF2-40B4-BE49-F238E27FC236}">
                <a16:creationId xmlns:a16="http://schemas.microsoft.com/office/drawing/2014/main" id="{52954901-8ECB-0B20-B40A-DF6F6CB2B1C8}"/>
              </a:ext>
            </a:extLst>
          </p:cNvPr>
          <p:cNvPicPr>
            <a:picLocks noChangeAspect="1"/>
          </p:cNvPicPr>
          <p:nvPr/>
        </p:nvPicPr>
        <p:blipFill>
          <a:blip r:embed="rId6"/>
          <a:stretch>
            <a:fillRect/>
          </a:stretch>
        </p:blipFill>
        <p:spPr>
          <a:xfrm>
            <a:off x="8327634" y="4903647"/>
            <a:ext cx="2991267" cy="1352739"/>
          </a:xfrm>
          <a:prstGeom prst="rect">
            <a:avLst/>
          </a:prstGeom>
          <a:ln>
            <a:solidFill>
              <a:schemeClr val="accent1"/>
            </a:solidFill>
          </a:ln>
        </p:spPr>
      </p:pic>
    </p:spTree>
    <p:extLst>
      <p:ext uri="{BB962C8B-B14F-4D97-AF65-F5344CB8AC3E}">
        <p14:creationId xmlns:p14="http://schemas.microsoft.com/office/powerpoint/2010/main" val="282318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BF37E2-8759-2E41-C0CF-0E8E81B183E9}"/>
              </a:ext>
            </a:extLst>
          </p:cNvPr>
          <p:cNvSpPr>
            <a:spLocks noGrp="1"/>
          </p:cNvSpPr>
          <p:nvPr>
            <p:ph idx="1"/>
          </p:nvPr>
        </p:nvSpPr>
        <p:spPr>
          <a:xfrm>
            <a:off x="838200" y="390419"/>
            <a:ext cx="10515600" cy="678094"/>
          </a:xfrm>
        </p:spPr>
        <p:txBody>
          <a:bodyPr/>
          <a:lstStyle/>
          <a:p>
            <a:pPr marL="0" indent="0">
              <a:buNone/>
            </a:pPr>
            <a:r>
              <a:rPr lang="en-IN" sz="3200" b="1" dirty="0">
                <a:solidFill>
                  <a:srgbClr val="242424"/>
                </a:solidFill>
                <a:latin typeface="sohne"/>
              </a:rPr>
              <a:t>Step 5: </a:t>
            </a:r>
            <a:r>
              <a:rPr lang="en-IN" sz="3200" b="1" i="0" dirty="0">
                <a:solidFill>
                  <a:srgbClr val="242424"/>
                </a:solidFill>
                <a:effectLst/>
                <a:latin typeface="sohne"/>
              </a:rPr>
              <a:t>Eigen values Computation</a:t>
            </a:r>
          </a:p>
          <a:p>
            <a:endParaRPr lang="en-IN" dirty="0"/>
          </a:p>
        </p:txBody>
      </p:sp>
      <p:sp>
        <p:nvSpPr>
          <p:cNvPr id="4" name="TextBox 3">
            <a:extLst>
              <a:ext uri="{FF2B5EF4-FFF2-40B4-BE49-F238E27FC236}">
                <a16:creationId xmlns:a16="http://schemas.microsoft.com/office/drawing/2014/main" id="{8D053058-A96C-DE15-9195-BF411C0618F3}"/>
              </a:ext>
            </a:extLst>
          </p:cNvPr>
          <p:cNvSpPr txBox="1"/>
          <p:nvPr/>
        </p:nvSpPr>
        <p:spPr>
          <a:xfrm>
            <a:off x="905691" y="1269665"/>
            <a:ext cx="2969623" cy="461665"/>
          </a:xfrm>
          <a:prstGeom prst="rect">
            <a:avLst/>
          </a:prstGeom>
          <a:noFill/>
        </p:spPr>
        <p:txBody>
          <a:bodyPr wrap="square">
            <a:spAutoFit/>
          </a:bodyPr>
          <a:lstStyle/>
          <a:p>
            <a:r>
              <a:rPr lang="en-IN" sz="2400" dirty="0"/>
              <a:t>Eigenvalue Formula</a:t>
            </a:r>
          </a:p>
        </p:txBody>
      </p:sp>
      <p:pic>
        <p:nvPicPr>
          <p:cNvPr id="7" name="Picture 6">
            <a:extLst>
              <a:ext uri="{FF2B5EF4-FFF2-40B4-BE49-F238E27FC236}">
                <a16:creationId xmlns:a16="http://schemas.microsoft.com/office/drawing/2014/main" id="{D2367EF1-B951-2ECD-4ADF-C600BAA40161}"/>
              </a:ext>
            </a:extLst>
          </p:cNvPr>
          <p:cNvPicPr>
            <a:picLocks noChangeAspect="1"/>
          </p:cNvPicPr>
          <p:nvPr/>
        </p:nvPicPr>
        <p:blipFill>
          <a:blip r:embed="rId2"/>
          <a:stretch>
            <a:fillRect/>
          </a:stretch>
        </p:blipFill>
        <p:spPr>
          <a:xfrm>
            <a:off x="4054609" y="1241362"/>
            <a:ext cx="2128477" cy="665632"/>
          </a:xfrm>
          <a:prstGeom prst="rect">
            <a:avLst/>
          </a:prstGeom>
          <a:ln>
            <a:solidFill>
              <a:schemeClr val="accent1"/>
            </a:solidFill>
          </a:ln>
        </p:spPr>
      </p:pic>
      <p:sp>
        <p:nvSpPr>
          <p:cNvPr id="9" name="TextBox 8">
            <a:extLst>
              <a:ext uri="{FF2B5EF4-FFF2-40B4-BE49-F238E27FC236}">
                <a16:creationId xmlns:a16="http://schemas.microsoft.com/office/drawing/2014/main" id="{FC1A29EF-51EA-E656-2B25-BE9308D5D0EA}"/>
              </a:ext>
            </a:extLst>
          </p:cNvPr>
          <p:cNvSpPr txBox="1"/>
          <p:nvPr/>
        </p:nvSpPr>
        <p:spPr>
          <a:xfrm>
            <a:off x="931817" y="2236316"/>
            <a:ext cx="3509554" cy="461665"/>
          </a:xfrm>
          <a:prstGeom prst="rect">
            <a:avLst/>
          </a:prstGeom>
          <a:noFill/>
        </p:spPr>
        <p:txBody>
          <a:bodyPr wrap="square">
            <a:spAutoFit/>
          </a:bodyPr>
          <a:lstStyle/>
          <a:p>
            <a:r>
              <a:rPr lang="en-IN" sz="2400" dirty="0"/>
              <a:t>Subtract </a:t>
            </a:r>
            <a:r>
              <a:rPr lang="el-GR" sz="2400" dirty="0"/>
              <a:t>λ </a:t>
            </a:r>
            <a:r>
              <a:rPr lang="en-IN" sz="2400" dirty="0"/>
              <a:t>from diagonal</a:t>
            </a:r>
          </a:p>
        </p:txBody>
      </p:sp>
      <p:pic>
        <p:nvPicPr>
          <p:cNvPr id="11" name="Picture 10">
            <a:extLst>
              <a:ext uri="{FF2B5EF4-FFF2-40B4-BE49-F238E27FC236}">
                <a16:creationId xmlns:a16="http://schemas.microsoft.com/office/drawing/2014/main" id="{5B028A90-B2D1-AF88-EB61-B105B1B62DA3}"/>
              </a:ext>
            </a:extLst>
          </p:cNvPr>
          <p:cNvPicPr>
            <a:picLocks noChangeAspect="1"/>
          </p:cNvPicPr>
          <p:nvPr/>
        </p:nvPicPr>
        <p:blipFill>
          <a:blip r:embed="rId3"/>
          <a:stretch>
            <a:fillRect/>
          </a:stretch>
        </p:blipFill>
        <p:spPr>
          <a:xfrm>
            <a:off x="4397827" y="2166646"/>
            <a:ext cx="3352803" cy="861941"/>
          </a:xfrm>
          <a:prstGeom prst="rect">
            <a:avLst/>
          </a:prstGeom>
        </p:spPr>
      </p:pic>
      <p:sp>
        <p:nvSpPr>
          <p:cNvPr id="13" name="TextBox 12">
            <a:extLst>
              <a:ext uri="{FF2B5EF4-FFF2-40B4-BE49-F238E27FC236}">
                <a16:creationId xmlns:a16="http://schemas.microsoft.com/office/drawing/2014/main" id="{42B57603-A0CE-282D-93AF-D255F9989480}"/>
              </a:ext>
            </a:extLst>
          </p:cNvPr>
          <p:cNvSpPr txBox="1"/>
          <p:nvPr/>
        </p:nvSpPr>
        <p:spPr>
          <a:xfrm>
            <a:off x="1006609" y="3288239"/>
            <a:ext cx="6096000" cy="461665"/>
          </a:xfrm>
          <a:prstGeom prst="rect">
            <a:avLst/>
          </a:prstGeom>
          <a:noFill/>
        </p:spPr>
        <p:txBody>
          <a:bodyPr wrap="square">
            <a:spAutoFit/>
          </a:bodyPr>
          <a:lstStyle/>
          <a:p>
            <a:r>
              <a:rPr lang="en-IN" sz="2400" dirty="0"/>
              <a:t>Find Determinant</a:t>
            </a:r>
          </a:p>
        </p:txBody>
      </p:sp>
      <p:pic>
        <p:nvPicPr>
          <p:cNvPr id="15" name="Picture 14">
            <a:extLst>
              <a:ext uri="{FF2B5EF4-FFF2-40B4-BE49-F238E27FC236}">
                <a16:creationId xmlns:a16="http://schemas.microsoft.com/office/drawing/2014/main" id="{FC5068CF-4E80-190F-2BEE-0F4E2B6F0C3F}"/>
              </a:ext>
            </a:extLst>
          </p:cNvPr>
          <p:cNvPicPr>
            <a:picLocks noChangeAspect="1"/>
          </p:cNvPicPr>
          <p:nvPr/>
        </p:nvPicPr>
        <p:blipFill>
          <a:blip r:embed="rId4"/>
          <a:stretch>
            <a:fillRect/>
          </a:stretch>
        </p:blipFill>
        <p:spPr>
          <a:xfrm>
            <a:off x="905691" y="3978612"/>
            <a:ext cx="6958149" cy="2210032"/>
          </a:xfrm>
          <a:prstGeom prst="rect">
            <a:avLst/>
          </a:prstGeom>
        </p:spPr>
      </p:pic>
    </p:spTree>
    <p:extLst>
      <p:ext uri="{BB962C8B-B14F-4D97-AF65-F5344CB8AC3E}">
        <p14:creationId xmlns:p14="http://schemas.microsoft.com/office/powerpoint/2010/main" val="2757241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C43C9C-DB79-138C-8A2E-2AE2373DCDBD}"/>
              </a:ext>
            </a:extLst>
          </p:cNvPr>
          <p:cNvPicPr>
            <a:picLocks noChangeAspect="1"/>
          </p:cNvPicPr>
          <p:nvPr/>
        </p:nvPicPr>
        <p:blipFill>
          <a:blip r:embed="rId2"/>
          <a:stretch>
            <a:fillRect/>
          </a:stretch>
        </p:blipFill>
        <p:spPr>
          <a:xfrm>
            <a:off x="3394367" y="37380"/>
            <a:ext cx="4915586" cy="685896"/>
          </a:xfrm>
          <a:prstGeom prst="rect">
            <a:avLst/>
          </a:prstGeom>
        </p:spPr>
      </p:pic>
      <p:pic>
        <p:nvPicPr>
          <p:cNvPr id="7" name="Picture 6">
            <a:extLst>
              <a:ext uri="{FF2B5EF4-FFF2-40B4-BE49-F238E27FC236}">
                <a16:creationId xmlns:a16="http://schemas.microsoft.com/office/drawing/2014/main" id="{FB012C46-B755-3A29-9176-18A3B0C0B942}"/>
              </a:ext>
            </a:extLst>
          </p:cNvPr>
          <p:cNvPicPr>
            <a:picLocks noChangeAspect="1"/>
          </p:cNvPicPr>
          <p:nvPr/>
        </p:nvPicPr>
        <p:blipFill>
          <a:blip r:embed="rId3"/>
          <a:stretch>
            <a:fillRect/>
          </a:stretch>
        </p:blipFill>
        <p:spPr>
          <a:xfrm>
            <a:off x="2823274" y="599448"/>
            <a:ext cx="6251057" cy="1189437"/>
          </a:xfrm>
          <a:prstGeom prst="rect">
            <a:avLst/>
          </a:prstGeom>
        </p:spPr>
      </p:pic>
      <p:pic>
        <p:nvPicPr>
          <p:cNvPr id="9" name="Picture 8">
            <a:extLst>
              <a:ext uri="{FF2B5EF4-FFF2-40B4-BE49-F238E27FC236}">
                <a16:creationId xmlns:a16="http://schemas.microsoft.com/office/drawing/2014/main" id="{3A53F213-FE6B-75DA-F1E1-227BE7FF12A0}"/>
              </a:ext>
            </a:extLst>
          </p:cNvPr>
          <p:cNvPicPr>
            <a:picLocks noChangeAspect="1"/>
          </p:cNvPicPr>
          <p:nvPr/>
        </p:nvPicPr>
        <p:blipFill>
          <a:blip r:embed="rId4"/>
          <a:stretch>
            <a:fillRect/>
          </a:stretch>
        </p:blipFill>
        <p:spPr>
          <a:xfrm>
            <a:off x="3647718" y="1739527"/>
            <a:ext cx="4602168" cy="1148461"/>
          </a:xfrm>
          <a:prstGeom prst="rect">
            <a:avLst/>
          </a:prstGeom>
        </p:spPr>
      </p:pic>
      <p:sp>
        <p:nvSpPr>
          <p:cNvPr id="11" name="TextBox 10">
            <a:extLst>
              <a:ext uri="{FF2B5EF4-FFF2-40B4-BE49-F238E27FC236}">
                <a16:creationId xmlns:a16="http://schemas.microsoft.com/office/drawing/2014/main" id="{AC6314DA-266F-4BC0-EA46-DA222A960F6D}"/>
              </a:ext>
            </a:extLst>
          </p:cNvPr>
          <p:cNvSpPr txBox="1"/>
          <p:nvPr/>
        </p:nvSpPr>
        <p:spPr>
          <a:xfrm>
            <a:off x="3742710" y="2736382"/>
            <a:ext cx="6096000" cy="523220"/>
          </a:xfrm>
          <a:prstGeom prst="rect">
            <a:avLst/>
          </a:prstGeom>
          <a:noFill/>
        </p:spPr>
        <p:txBody>
          <a:bodyPr wrap="square">
            <a:spAutoFit/>
          </a:bodyPr>
          <a:lstStyle/>
          <a:p>
            <a:r>
              <a:rPr lang="en-IN" sz="2800" b="1" dirty="0"/>
              <a:t>Solve Quadratic Equation</a:t>
            </a:r>
          </a:p>
        </p:txBody>
      </p:sp>
      <p:pic>
        <p:nvPicPr>
          <p:cNvPr id="13" name="Picture 12">
            <a:extLst>
              <a:ext uri="{FF2B5EF4-FFF2-40B4-BE49-F238E27FC236}">
                <a16:creationId xmlns:a16="http://schemas.microsoft.com/office/drawing/2014/main" id="{9EE042C1-8F8C-16B0-24F5-119A5A9F633E}"/>
              </a:ext>
            </a:extLst>
          </p:cNvPr>
          <p:cNvPicPr>
            <a:picLocks noChangeAspect="1"/>
          </p:cNvPicPr>
          <p:nvPr/>
        </p:nvPicPr>
        <p:blipFill>
          <a:blip r:embed="rId5"/>
          <a:stretch>
            <a:fillRect/>
          </a:stretch>
        </p:blipFill>
        <p:spPr>
          <a:xfrm>
            <a:off x="9074330" y="2083828"/>
            <a:ext cx="3105583" cy="1305107"/>
          </a:xfrm>
          <a:prstGeom prst="rect">
            <a:avLst/>
          </a:prstGeom>
          <a:ln>
            <a:solidFill>
              <a:schemeClr val="accent1"/>
            </a:solidFill>
          </a:ln>
        </p:spPr>
      </p:pic>
      <p:pic>
        <p:nvPicPr>
          <p:cNvPr id="15" name="Picture 14">
            <a:extLst>
              <a:ext uri="{FF2B5EF4-FFF2-40B4-BE49-F238E27FC236}">
                <a16:creationId xmlns:a16="http://schemas.microsoft.com/office/drawing/2014/main" id="{5B384ABB-1674-E8D1-8E58-F1C73041813C}"/>
              </a:ext>
            </a:extLst>
          </p:cNvPr>
          <p:cNvPicPr>
            <a:picLocks noChangeAspect="1"/>
          </p:cNvPicPr>
          <p:nvPr/>
        </p:nvPicPr>
        <p:blipFill>
          <a:blip r:embed="rId6"/>
          <a:stretch>
            <a:fillRect/>
          </a:stretch>
        </p:blipFill>
        <p:spPr>
          <a:xfrm>
            <a:off x="273662" y="3462428"/>
            <a:ext cx="4254796" cy="3358192"/>
          </a:xfrm>
          <a:prstGeom prst="rect">
            <a:avLst/>
          </a:prstGeom>
          <a:ln>
            <a:solidFill>
              <a:schemeClr val="accent1"/>
            </a:solidFill>
          </a:ln>
        </p:spPr>
      </p:pic>
      <p:pic>
        <p:nvPicPr>
          <p:cNvPr id="17" name="Picture 16">
            <a:extLst>
              <a:ext uri="{FF2B5EF4-FFF2-40B4-BE49-F238E27FC236}">
                <a16:creationId xmlns:a16="http://schemas.microsoft.com/office/drawing/2014/main" id="{BCA75FA5-669E-B113-2CEA-ACB15FD74709}"/>
              </a:ext>
            </a:extLst>
          </p:cNvPr>
          <p:cNvPicPr>
            <a:picLocks noChangeAspect="1"/>
          </p:cNvPicPr>
          <p:nvPr/>
        </p:nvPicPr>
        <p:blipFill>
          <a:blip r:embed="rId7"/>
          <a:stretch>
            <a:fillRect/>
          </a:stretch>
        </p:blipFill>
        <p:spPr>
          <a:xfrm>
            <a:off x="4958454" y="3683878"/>
            <a:ext cx="6114578" cy="2786591"/>
          </a:xfrm>
          <a:prstGeom prst="rect">
            <a:avLst/>
          </a:prstGeom>
        </p:spPr>
      </p:pic>
    </p:spTree>
    <p:extLst>
      <p:ext uri="{BB962C8B-B14F-4D97-AF65-F5344CB8AC3E}">
        <p14:creationId xmlns:p14="http://schemas.microsoft.com/office/powerpoint/2010/main" val="33296295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61CCC4-33AB-B110-B12D-9AB0DE9B9166}"/>
              </a:ext>
            </a:extLst>
          </p:cNvPr>
          <p:cNvSpPr txBox="1"/>
          <p:nvPr/>
        </p:nvSpPr>
        <p:spPr>
          <a:xfrm>
            <a:off x="600891" y="303014"/>
            <a:ext cx="6096000" cy="646331"/>
          </a:xfrm>
          <a:prstGeom prst="rect">
            <a:avLst/>
          </a:prstGeom>
          <a:noFill/>
        </p:spPr>
        <p:txBody>
          <a:bodyPr wrap="square">
            <a:spAutoFit/>
          </a:bodyPr>
          <a:lstStyle/>
          <a:p>
            <a:r>
              <a:rPr lang="en-IN" sz="3600" dirty="0">
                <a:solidFill>
                  <a:srgbClr val="C00000"/>
                </a:solidFill>
              </a:rPr>
              <a:t>Eigen Vectors</a:t>
            </a:r>
          </a:p>
        </p:txBody>
      </p:sp>
      <p:sp>
        <p:nvSpPr>
          <p:cNvPr id="7" name="TextBox 6">
            <a:extLst>
              <a:ext uri="{FF2B5EF4-FFF2-40B4-BE49-F238E27FC236}">
                <a16:creationId xmlns:a16="http://schemas.microsoft.com/office/drawing/2014/main" id="{E8854123-994B-DF6B-E0E8-605B94DCD05F}"/>
              </a:ext>
            </a:extLst>
          </p:cNvPr>
          <p:cNvSpPr txBox="1"/>
          <p:nvPr/>
        </p:nvSpPr>
        <p:spPr>
          <a:xfrm>
            <a:off x="714103" y="1069369"/>
            <a:ext cx="6096000" cy="461665"/>
          </a:xfrm>
          <a:prstGeom prst="rect">
            <a:avLst/>
          </a:prstGeom>
          <a:noFill/>
        </p:spPr>
        <p:txBody>
          <a:bodyPr wrap="square">
            <a:spAutoFit/>
          </a:bodyPr>
          <a:lstStyle/>
          <a:p>
            <a:r>
              <a:rPr lang="en-IN" sz="2400" b="1" dirty="0"/>
              <a:t>Subtract </a:t>
            </a:r>
            <a:r>
              <a:rPr lang="el-GR" sz="2400" b="1" dirty="0"/>
              <a:t>λ </a:t>
            </a:r>
            <a:r>
              <a:rPr lang="en-IN" sz="2400" b="1" dirty="0"/>
              <a:t>from diagonal</a:t>
            </a:r>
          </a:p>
        </p:txBody>
      </p:sp>
      <p:pic>
        <p:nvPicPr>
          <p:cNvPr id="9" name="Picture 8">
            <a:extLst>
              <a:ext uri="{FF2B5EF4-FFF2-40B4-BE49-F238E27FC236}">
                <a16:creationId xmlns:a16="http://schemas.microsoft.com/office/drawing/2014/main" id="{BEF6E924-2E78-971A-3F67-8D77AB9D514C}"/>
              </a:ext>
            </a:extLst>
          </p:cNvPr>
          <p:cNvPicPr>
            <a:picLocks noChangeAspect="1"/>
          </p:cNvPicPr>
          <p:nvPr/>
        </p:nvPicPr>
        <p:blipFill>
          <a:blip r:embed="rId2"/>
          <a:stretch>
            <a:fillRect/>
          </a:stretch>
        </p:blipFill>
        <p:spPr>
          <a:xfrm>
            <a:off x="714103" y="1531034"/>
            <a:ext cx="7706801" cy="1324160"/>
          </a:xfrm>
          <a:prstGeom prst="rect">
            <a:avLst/>
          </a:prstGeom>
        </p:spPr>
      </p:pic>
      <p:sp>
        <p:nvSpPr>
          <p:cNvPr id="11" name="TextBox 10">
            <a:extLst>
              <a:ext uri="{FF2B5EF4-FFF2-40B4-BE49-F238E27FC236}">
                <a16:creationId xmlns:a16="http://schemas.microsoft.com/office/drawing/2014/main" id="{F9E124BF-C41B-E27A-7C3F-E8BB7BB139BB}"/>
              </a:ext>
            </a:extLst>
          </p:cNvPr>
          <p:cNvSpPr txBox="1"/>
          <p:nvPr/>
        </p:nvSpPr>
        <p:spPr>
          <a:xfrm>
            <a:off x="600891" y="2624361"/>
            <a:ext cx="2429691" cy="523220"/>
          </a:xfrm>
          <a:prstGeom prst="rect">
            <a:avLst/>
          </a:prstGeom>
          <a:noFill/>
        </p:spPr>
        <p:txBody>
          <a:bodyPr wrap="square">
            <a:spAutoFit/>
          </a:bodyPr>
          <a:lstStyle/>
          <a:p>
            <a:r>
              <a:rPr lang="en-IN" sz="2800" dirty="0"/>
              <a:t>Take first row</a:t>
            </a:r>
          </a:p>
        </p:txBody>
      </p:sp>
      <p:sp>
        <p:nvSpPr>
          <p:cNvPr id="13" name="TextBox 12">
            <a:extLst>
              <a:ext uri="{FF2B5EF4-FFF2-40B4-BE49-F238E27FC236}">
                <a16:creationId xmlns:a16="http://schemas.microsoft.com/office/drawing/2014/main" id="{7D020D53-BFB8-F46E-A9EA-13898DC3C7FC}"/>
              </a:ext>
            </a:extLst>
          </p:cNvPr>
          <p:cNvSpPr txBox="1"/>
          <p:nvPr/>
        </p:nvSpPr>
        <p:spPr>
          <a:xfrm>
            <a:off x="600891" y="3206050"/>
            <a:ext cx="6096000" cy="523220"/>
          </a:xfrm>
          <a:prstGeom prst="rect">
            <a:avLst/>
          </a:prstGeom>
          <a:noFill/>
        </p:spPr>
        <p:txBody>
          <a:bodyPr wrap="square">
            <a:spAutoFit/>
          </a:bodyPr>
          <a:lstStyle/>
          <a:p>
            <a:r>
              <a:rPr lang="en-IN" sz="2800" dirty="0"/>
              <a:t>−6.66x+3.33y=0</a:t>
            </a:r>
          </a:p>
        </p:txBody>
      </p:sp>
      <p:sp>
        <p:nvSpPr>
          <p:cNvPr id="15" name="TextBox 14">
            <a:extLst>
              <a:ext uri="{FF2B5EF4-FFF2-40B4-BE49-F238E27FC236}">
                <a16:creationId xmlns:a16="http://schemas.microsoft.com/office/drawing/2014/main" id="{C99DEC08-BC31-E7B0-880D-4B58EFBD9E51}"/>
              </a:ext>
            </a:extLst>
          </p:cNvPr>
          <p:cNvSpPr txBox="1"/>
          <p:nvPr/>
        </p:nvSpPr>
        <p:spPr>
          <a:xfrm>
            <a:off x="3648891" y="3282994"/>
            <a:ext cx="4023360" cy="369332"/>
          </a:xfrm>
          <a:prstGeom prst="rect">
            <a:avLst/>
          </a:prstGeom>
          <a:noFill/>
          <a:ln>
            <a:solidFill>
              <a:schemeClr val="tx1"/>
            </a:solidFill>
          </a:ln>
        </p:spPr>
        <p:txBody>
          <a:bodyPr wrap="square">
            <a:spAutoFit/>
          </a:bodyPr>
          <a:lstStyle/>
          <a:p>
            <a:r>
              <a:rPr lang="en-IN" dirty="0"/>
              <a:t>Simplify { divide the equation by 3.33</a:t>
            </a:r>
          </a:p>
        </p:txBody>
      </p:sp>
      <p:sp>
        <p:nvSpPr>
          <p:cNvPr id="17" name="TextBox 16">
            <a:extLst>
              <a:ext uri="{FF2B5EF4-FFF2-40B4-BE49-F238E27FC236}">
                <a16:creationId xmlns:a16="http://schemas.microsoft.com/office/drawing/2014/main" id="{71DBB35D-0F27-F93A-F0F5-CEAD737348C5}"/>
              </a:ext>
            </a:extLst>
          </p:cNvPr>
          <p:cNvSpPr txBox="1"/>
          <p:nvPr/>
        </p:nvSpPr>
        <p:spPr>
          <a:xfrm>
            <a:off x="714103" y="4020087"/>
            <a:ext cx="1576251" cy="523220"/>
          </a:xfrm>
          <a:prstGeom prst="rect">
            <a:avLst/>
          </a:prstGeom>
          <a:noFill/>
        </p:spPr>
        <p:txBody>
          <a:bodyPr wrap="square">
            <a:spAutoFit/>
          </a:bodyPr>
          <a:lstStyle/>
          <a:p>
            <a:r>
              <a:rPr lang="en-IN" sz="2800" dirty="0"/>
              <a:t>−2x+y=0</a:t>
            </a:r>
          </a:p>
        </p:txBody>
      </p:sp>
      <p:sp>
        <p:nvSpPr>
          <p:cNvPr id="19" name="TextBox 18">
            <a:extLst>
              <a:ext uri="{FF2B5EF4-FFF2-40B4-BE49-F238E27FC236}">
                <a16:creationId xmlns:a16="http://schemas.microsoft.com/office/drawing/2014/main" id="{854DCA8E-9566-A1B5-7574-01375D3CD9E6}"/>
              </a:ext>
            </a:extLst>
          </p:cNvPr>
          <p:cNvSpPr txBox="1"/>
          <p:nvPr/>
        </p:nvSpPr>
        <p:spPr>
          <a:xfrm>
            <a:off x="2725783" y="4020087"/>
            <a:ext cx="2952206" cy="369332"/>
          </a:xfrm>
          <a:prstGeom prst="rect">
            <a:avLst/>
          </a:prstGeom>
          <a:noFill/>
        </p:spPr>
        <p:txBody>
          <a:bodyPr wrap="square">
            <a:spAutoFit/>
          </a:bodyPr>
          <a:lstStyle/>
          <a:p>
            <a:r>
              <a:rPr lang="en-IN" dirty="0"/>
              <a:t>Express one variable</a:t>
            </a:r>
          </a:p>
        </p:txBody>
      </p:sp>
      <p:sp>
        <p:nvSpPr>
          <p:cNvPr id="21" name="TextBox 20">
            <a:extLst>
              <a:ext uri="{FF2B5EF4-FFF2-40B4-BE49-F238E27FC236}">
                <a16:creationId xmlns:a16="http://schemas.microsoft.com/office/drawing/2014/main" id="{898C6F5F-1BFE-ACAD-0D5C-B78E19950F14}"/>
              </a:ext>
            </a:extLst>
          </p:cNvPr>
          <p:cNvSpPr txBox="1"/>
          <p:nvPr/>
        </p:nvSpPr>
        <p:spPr>
          <a:xfrm>
            <a:off x="862149" y="4963397"/>
            <a:ext cx="1428205" cy="523220"/>
          </a:xfrm>
          <a:prstGeom prst="rect">
            <a:avLst/>
          </a:prstGeom>
          <a:noFill/>
          <a:ln>
            <a:solidFill>
              <a:schemeClr val="tx1"/>
            </a:solidFill>
          </a:ln>
        </p:spPr>
        <p:txBody>
          <a:bodyPr wrap="square">
            <a:spAutoFit/>
          </a:bodyPr>
          <a:lstStyle/>
          <a:p>
            <a:r>
              <a:rPr lang="en-IN" sz="2800" dirty="0"/>
              <a:t>y=2x</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6095F1A-355D-6A72-E503-A5C20ECB7A84}"/>
                  </a:ext>
                </a:extLst>
              </p:cNvPr>
              <p:cNvSpPr txBox="1"/>
              <p:nvPr/>
            </p:nvSpPr>
            <p:spPr>
              <a:xfrm>
                <a:off x="6096000" y="4461025"/>
                <a:ext cx="2324904" cy="2308324"/>
              </a:xfrm>
              <a:prstGeom prst="rect">
                <a:avLst/>
              </a:prstGeom>
              <a:noFill/>
              <a:ln>
                <a:solidFill>
                  <a:schemeClr val="tx1"/>
                </a:solidFill>
              </a:ln>
            </p:spPr>
            <p:txBody>
              <a:bodyPr wrap="square">
                <a:spAutoFit/>
              </a:bodyPr>
              <a:lstStyle/>
              <a:p>
                <a:pPr>
                  <a:buNone/>
                </a:pPr>
                <a:r>
                  <a:rPr lang="en-US" sz="2400" b="1" dirty="0"/>
                  <a:t>Pick any value</a:t>
                </a:r>
              </a:p>
              <a:p>
                <a:pPr>
                  <a:buNone/>
                </a:pPr>
                <a:r>
                  <a:rPr lang="en-US" sz="2400" dirty="0"/>
                  <a:t>Let:</a:t>
                </a:r>
              </a:p>
              <a:p>
                <a:pPr>
                  <a:buFont typeface="Arial" panose="020B0604020202020204" pitchFamily="34" charset="0"/>
                  <a:buChar char="•"/>
                </a:pPr>
                <a14:m>
                  <m:oMath xmlns:m="http://schemas.openxmlformats.org/officeDocument/2006/math">
                    <m:r>
                      <a:rPr lang="en-US" sz="2400" i="1">
                        <a:latin typeface="Cambria Math" panose="02040503050406030204" pitchFamily="18" charset="0"/>
                      </a:rPr>
                      <m:t>𝑥</m:t>
                    </m:r>
                    <m:r>
                      <a:rPr lang="en-US" sz="2400" i="0">
                        <a:latin typeface="Cambria Math" panose="02040503050406030204" pitchFamily="18" charset="0"/>
                      </a:rPr>
                      <m:t>=</m:t>
                    </m:r>
                    <m:r>
                      <a:rPr lang="en-US" sz="2400" i="0">
                        <a:latin typeface="Cambria Math" panose="02040503050406030204" pitchFamily="18" charset="0"/>
                      </a:rPr>
                      <m:t>1</m:t>
                    </m:r>
                  </m:oMath>
                </a14:m>
                <a:endParaRPr lang="en-US" sz="2400" dirty="0"/>
              </a:p>
              <a:p>
                <a:pPr>
                  <a:buNone/>
                </a:pPr>
                <a:r>
                  <a:rPr lang="en-US" sz="2400" dirty="0"/>
                  <a:t>Then:</a:t>
                </a:r>
              </a:p>
              <a:p>
                <a:pPr>
                  <a:buFont typeface="Arial" panose="020B0604020202020204" pitchFamily="34" charset="0"/>
                  <a:buChar char="•"/>
                </a:pPr>
                <a14:m>
                  <m:oMath xmlns:m="http://schemas.openxmlformats.org/officeDocument/2006/math">
                    <m:r>
                      <a:rPr lang="en-US" sz="2400" i="1">
                        <a:latin typeface="Cambria Math" panose="02040503050406030204" pitchFamily="18" charset="0"/>
                      </a:rPr>
                      <m:t>𝑦</m:t>
                    </m:r>
                    <m:r>
                      <a:rPr lang="en-US" sz="2400" i="0">
                        <a:latin typeface="Cambria Math" panose="02040503050406030204" pitchFamily="18" charset="0"/>
                      </a:rPr>
                      <m:t>=</m:t>
                    </m:r>
                    <m:r>
                      <a:rPr lang="en-US" sz="2400" i="0">
                        <a:latin typeface="Cambria Math" panose="02040503050406030204" pitchFamily="18" charset="0"/>
                      </a:rPr>
                      <m:t>2</m:t>
                    </m:r>
                  </m:oMath>
                </a14:m>
                <a:endParaRPr lang="en-US" sz="2400" dirty="0"/>
              </a:p>
              <a:p>
                <a:pPr>
                  <a:buNone/>
                </a:pPr>
                <a:r>
                  <a:rPr lang="en-US" sz="2400" dirty="0"/>
                  <a:t>Eigenvector:</a:t>
                </a:r>
              </a:p>
            </p:txBody>
          </p:sp>
        </mc:Choice>
        <mc:Fallback xmlns="">
          <p:sp>
            <p:nvSpPr>
              <p:cNvPr id="23" name="TextBox 22">
                <a:extLst>
                  <a:ext uri="{FF2B5EF4-FFF2-40B4-BE49-F238E27FC236}">
                    <a16:creationId xmlns:a16="http://schemas.microsoft.com/office/drawing/2014/main" id="{76095F1A-355D-6A72-E503-A5C20ECB7A84}"/>
                  </a:ext>
                </a:extLst>
              </p:cNvPr>
              <p:cNvSpPr txBox="1">
                <a:spLocks noRot="1" noChangeAspect="1" noMove="1" noResize="1" noEditPoints="1" noAdjustHandles="1" noChangeArrowheads="1" noChangeShapeType="1" noTextEdit="1"/>
              </p:cNvSpPr>
              <p:nvPr/>
            </p:nvSpPr>
            <p:spPr>
              <a:xfrm>
                <a:off x="6096000" y="4461025"/>
                <a:ext cx="2324904" cy="2308324"/>
              </a:xfrm>
              <a:prstGeom prst="rect">
                <a:avLst/>
              </a:prstGeom>
              <a:blipFill>
                <a:blip r:embed="rId3"/>
                <a:stretch>
                  <a:fillRect l="-3655" t="-1842" b="-5000"/>
                </a:stretch>
              </a:blipFill>
              <a:ln>
                <a:solidFill>
                  <a:schemeClr val="tx1"/>
                </a:solidFill>
              </a:ln>
            </p:spPr>
            <p:txBody>
              <a:bodyPr/>
              <a:lstStyle/>
              <a:p>
                <a:r>
                  <a:rPr lang="en-IN">
                    <a:noFill/>
                  </a:rPr>
                  <a:t> </a:t>
                </a:r>
              </a:p>
            </p:txBody>
          </p:sp>
        </mc:Fallback>
      </mc:AlternateContent>
      <p:pic>
        <p:nvPicPr>
          <p:cNvPr id="27" name="Picture 26">
            <a:extLst>
              <a:ext uri="{FF2B5EF4-FFF2-40B4-BE49-F238E27FC236}">
                <a16:creationId xmlns:a16="http://schemas.microsoft.com/office/drawing/2014/main" id="{30B019D3-6CB6-3C3D-074D-1EF3C90B61FA}"/>
              </a:ext>
            </a:extLst>
          </p:cNvPr>
          <p:cNvPicPr>
            <a:picLocks noChangeAspect="1"/>
          </p:cNvPicPr>
          <p:nvPr/>
        </p:nvPicPr>
        <p:blipFill>
          <a:blip r:embed="rId4"/>
          <a:stretch>
            <a:fillRect/>
          </a:stretch>
        </p:blipFill>
        <p:spPr>
          <a:xfrm>
            <a:off x="7882563" y="6056335"/>
            <a:ext cx="538341" cy="761555"/>
          </a:xfrm>
          <a:prstGeom prst="rect">
            <a:avLst/>
          </a:prstGeom>
        </p:spPr>
      </p:pic>
      <p:sp>
        <p:nvSpPr>
          <p:cNvPr id="29" name="TextBox 28">
            <a:extLst>
              <a:ext uri="{FF2B5EF4-FFF2-40B4-BE49-F238E27FC236}">
                <a16:creationId xmlns:a16="http://schemas.microsoft.com/office/drawing/2014/main" id="{80BA00B2-768D-C0C9-B6D8-8C3A434904C2}"/>
              </a:ext>
            </a:extLst>
          </p:cNvPr>
          <p:cNvSpPr txBox="1"/>
          <p:nvPr/>
        </p:nvSpPr>
        <p:spPr>
          <a:xfrm>
            <a:off x="8873750" y="3927754"/>
            <a:ext cx="2604147" cy="461665"/>
          </a:xfrm>
          <a:prstGeom prst="rect">
            <a:avLst/>
          </a:prstGeom>
          <a:noFill/>
        </p:spPr>
        <p:txBody>
          <a:bodyPr wrap="square">
            <a:spAutoFit/>
          </a:bodyPr>
          <a:lstStyle/>
          <a:p>
            <a:r>
              <a:rPr lang="en-IN" sz="2400" dirty="0"/>
              <a:t>Normalize </a:t>
            </a:r>
          </a:p>
        </p:txBody>
      </p:sp>
      <p:pic>
        <p:nvPicPr>
          <p:cNvPr id="33" name="Picture 32">
            <a:extLst>
              <a:ext uri="{FF2B5EF4-FFF2-40B4-BE49-F238E27FC236}">
                <a16:creationId xmlns:a16="http://schemas.microsoft.com/office/drawing/2014/main" id="{2717FA0A-574B-2A55-00E0-E2CDCA2A2668}"/>
              </a:ext>
            </a:extLst>
          </p:cNvPr>
          <p:cNvPicPr>
            <a:picLocks noChangeAspect="1"/>
          </p:cNvPicPr>
          <p:nvPr/>
        </p:nvPicPr>
        <p:blipFill>
          <a:blip r:embed="rId5"/>
          <a:stretch>
            <a:fillRect/>
          </a:stretch>
        </p:blipFill>
        <p:spPr>
          <a:xfrm>
            <a:off x="8751829" y="5436572"/>
            <a:ext cx="3343742" cy="1381318"/>
          </a:xfrm>
          <a:prstGeom prst="rect">
            <a:avLst/>
          </a:prstGeom>
        </p:spPr>
      </p:pic>
      <p:pic>
        <p:nvPicPr>
          <p:cNvPr id="35" name="Picture 34">
            <a:extLst>
              <a:ext uri="{FF2B5EF4-FFF2-40B4-BE49-F238E27FC236}">
                <a16:creationId xmlns:a16="http://schemas.microsoft.com/office/drawing/2014/main" id="{C967B9C7-5BAF-D50E-A645-DE646504194F}"/>
              </a:ext>
            </a:extLst>
          </p:cNvPr>
          <p:cNvPicPr>
            <a:picLocks noChangeAspect="1"/>
          </p:cNvPicPr>
          <p:nvPr/>
        </p:nvPicPr>
        <p:blipFill>
          <a:blip r:embed="rId6"/>
          <a:stretch>
            <a:fillRect/>
          </a:stretch>
        </p:blipFill>
        <p:spPr>
          <a:xfrm>
            <a:off x="8873750" y="4557668"/>
            <a:ext cx="2257740" cy="733527"/>
          </a:xfrm>
          <a:prstGeom prst="rect">
            <a:avLst/>
          </a:prstGeom>
        </p:spPr>
      </p:pic>
    </p:spTree>
    <p:extLst>
      <p:ext uri="{BB962C8B-B14F-4D97-AF65-F5344CB8AC3E}">
        <p14:creationId xmlns:p14="http://schemas.microsoft.com/office/powerpoint/2010/main" val="3331379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3305DD-8568-D762-34B2-3A08E96112FB}"/>
              </a:ext>
            </a:extLst>
          </p:cNvPr>
          <p:cNvSpPr txBox="1"/>
          <p:nvPr/>
        </p:nvSpPr>
        <p:spPr>
          <a:xfrm>
            <a:off x="1036320" y="363974"/>
            <a:ext cx="2011680" cy="461665"/>
          </a:xfrm>
          <a:prstGeom prst="rect">
            <a:avLst/>
          </a:prstGeom>
          <a:noFill/>
          <a:ln>
            <a:solidFill>
              <a:schemeClr val="tx1"/>
            </a:solidFill>
          </a:ln>
        </p:spPr>
        <p:txBody>
          <a:bodyPr wrap="square">
            <a:spAutoFit/>
          </a:bodyPr>
          <a:lstStyle/>
          <a:p>
            <a:r>
              <a:rPr lang="en-IN" sz="2400" dirty="0"/>
              <a:t>For </a:t>
            </a:r>
            <a:r>
              <a:rPr lang="el-GR" sz="2400" dirty="0"/>
              <a:t>λ = 0</a:t>
            </a:r>
            <a:endParaRPr lang="en-IN" sz="2400" dirty="0"/>
          </a:p>
        </p:txBody>
      </p:sp>
      <p:pic>
        <p:nvPicPr>
          <p:cNvPr id="7" name="Picture 6">
            <a:extLst>
              <a:ext uri="{FF2B5EF4-FFF2-40B4-BE49-F238E27FC236}">
                <a16:creationId xmlns:a16="http://schemas.microsoft.com/office/drawing/2014/main" id="{4CCC70A1-E11A-A4CA-30D9-5AB1A9AB60DB}"/>
              </a:ext>
            </a:extLst>
          </p:cNvPr>
          <p:cNvPicPr>
            <a:picLocks noChangeAspect="1"/>
          </p:cNvPicPr>
          <p:nvPr/>
        </p:nvPicPr>
        <p:blipFill>
          <a:blip r:embed="rId2"/>
          <a:stretch>
            <a:fillRect/>
          </a:stretch>
        </p:blipFill>
        <p:spPr>
          <a:xfrm>
            <a:off x="860144" y="1002271"/>
            <a:ext cx="6081925" cy="4379625"/>
          </a:xfrm>
          <a:prstGeom prst="rect">
            <a:avLst/>
          </a:prstGeom>
        </p:spPr>
      </p:pic>
      <p:pic>
        <p:nvPicPr>
          <p:cNvPr id="9" name="Picture 8">
            <a:extLst>
              <a:ext uri="{FF2B5EF4-FFF2-40B4-BE49-F238E27FC236}">
                <a16:creationId xmlns:a16="http://schemas.microsoft.com/office/drawing/2014/main" id="{4467C1E2-E6FC-631F-7E9C-FF351F1EB82A}"/>
              </a:ext>
            </a:extLst>
          </p:cNvPr>
          <p:cNvPicPr>
            <a:picLocks noChangeAspect="1"/>
          </p:cNvPicPr>
          <p:nvPr/>
        </p:nvPicPr>
        <p:blipFill>
          <a:blip r:embed="rId3"/>
          <a:stretch>
            <a:fillRect/>
          </a:stretch>
        </p:blipFill>
        <p:spPr>
          <a:xfrm>
            <a:off x="4043505" y="5522954"/>
            <a:ext cx="3791479" cy="1324160"/>
          </a:xfrm>
          <a:prstGeom prst="rect">
            <a:avLst/>
          </a:prstGeom>
        </p:spPr>
      </p:pic>
    </p:spTree>
    <p:extLst>
      <p:ext uri="{BB962C8B-B14F-4D97-AF65-F5344CB8AC3E}">
        <p14:creationId xmlns:p14="http://schemas.microsoft.com/office/powerpoint/2010/main" val="708443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7B5F17-C824-09E1-6B16-1C4EED951F99}"/>
              </a:ext>
            </a:extLst>
          </p:cNvPr>
          <p:cNvPicPr>
            <a:picLocks noChangeAspect="1"/>
          </p:cNvPicPr>
          <p:nvPr/>
        </p:nvPicPr>
        <p:blipFill>
          <a:blip r:embed="rId2"/>
          <a:stretch>
            <a:fillRect/>
          </a:stretch>
        </p:blipFill>
        <p:spPr>
          <a:xfrm>
            <a:off x="2584199" y="747237"/>
            <a:ext cx="6849431" cy="4858428"/>
          </a:xfrm>
          <a:prstGeom prst="rect">
            <a:avLst/>
          </a:prstGeom>
        </p:spPr>
      </p:pic>
    </p:spTree>
    <p:extLst>
      <p:ext uri="{BB962C8B-B14F-4D97-AF65-F5344CB8AC3E}">
        <p14:creationId xmlns:p14="http://schemas.microsoft.com/office/powerpoint/2010/main" val="1098539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1C16F41-CDD3-322B-BFEB-D6A614428030}"/>
              </a:ext>
            </a:extLst>
          </p:cNvPr>
          <p:cNvGraphicFramePr>
            <a:graphicFrameLocks noGrp="1"/>
          </p:cNvGraphicFramePr>
          <p:nvPr>
            <p:extLst>
              <p:ext uri="{D42A27DB-BD31-4B8C-83A1-F6EECF244321}">
                <p14:modId xmlns:p14="http://schemas.microsoft.com/office/powerpoint/2010/main" val="3829971994"/>
              </p:ext>
            </p:extLst>
          </p:nvPr>
        </p:nvGraphicFramePr>
        <p:xfrm>
          <a:off x="667293" y="164224"/>
          <a:ext cx="6639200" cy="2286000"/>
        </p:xfrm>
        <a:graphic>
          <a:graphicData uri="http://schemas.openxmlformats.org/drawingml/2006/table">
            <a:tbl>
              <a:tblPr/>
              <a:tblGrid>
                <a:gridCol w="1659800">
                  <a:extLst>
                    <a:ext uri="{9D8B030D-6E8A-4147-A177-3AD203B41FA5}">
                      <a16:colId xmlns:a16="http://schemas.microsoft.com/office/drawing/2014/main" val="3820620669"/>
                    </a:ext>
                  </a:extLst>
                </a:gridCol>
                <a:gridCol w="1659800">
                  <a:extLst>
                    <a:ext uri="{9D8B030D-6E8A-4147-A177-3AD203B41FA5}">
                      <a16:colId xmlns:a16="http://schemas.microsoft.com/office/drawing/2014/main" val="1492949952"/>
                    </a:ext>
                  </a:extLst>
                </a:gridCol>
                <a:gridCol w="1659800">
                  <a:extLst>
                    <a:ext uri="{9D8B030D-6E8A-4147-A177-3AD203B41FA5}">
                      <a16:colId xmlns:a16="http://schemas.microsoft.com/office/drawing/2014/main" val="3872010034"/>
                    </a:ext>
                  </a:extLst>
                </a:gridCol>
                <a:gridCol w="1659800">
                  <a:extLst>
                    <a:ext uri="{9D8B030D-6E8A-4147-A177-3AD203B41FA5}">
                      <a16:colId xmlns:a16="http://schemas.microsoft.com/office/drawing/2014/main" val="3059548135"/>
                    </a:ext>
                  </a:extLst>
                </a:gridCol>
              </a:tblGrid>
              <a:tr h="0">
                <a:tc>
                  <a:txBody>
                    <a:bodyPr/>
                    <a:lstStyle/>
                    <a:p>
                      <a:pPr>
                        <a:buNone/>
                      </a:pPr>
                      <a:r>
                        <a:rPr lang="en-IN" sz="2400" dirty="0"/>
                        <a:t>X1</a:t>
                      </a:r>
                    </a:p>
                  </a:txBody>
                  <a:tcPr anchor="ctr">
                    <a:lnL>
                      <a:noFill/>
                    </a:lnL>
                    <a:lnR>
                      <a:noFill/>
                    </a:lnR>
                    <a:lnT>
                      <a:noFill/>
                    </a:lnT>
                    <a:lnB>
                      <a:noFill/>
                    </a:lnB>
                    <a:noFill/>
                  </a:tcPr>
                </a:tc>
                <a:tc>
                  <a:txBody>
                    <a:bodyPr/>
                    <a:lstStyle/>
                    <a:p>
                      <a:pPr>
                        <a:buNone/>
                      </a:pPr>
                      <a:r>
                        <a:rPr lang="en-IN" sz="2400" dirty="0"/>
                        <a:t>X2</a:t>
                      </a:r>
                    </a:p>
                  </a:txBody>
                  <a:tcPr anchor="ctr">
                    <a:lnL>
                      <a:noFill/>
                    </a:lnL>
                    <a:lnR>
                      <a:noFill/>
                    </a:lnR>
                    <a:lnT>
                      <a:noFill/>
                    </a:lnT>
                    <a:lnB>
                      <a:noFill/>
                    </a:lnB>
                    <a:noFill/>
                  </a:tcPr>
                </a:tc>
                <a:tc>
                  <a:txBody>
                    <a:bodyPr/>
                    <a:lstStyle/>
                    <a:p>
                      <a:pPr>
                        <a:buNone/>
                      </a:pPr>
                      <a:r>
                        <a:rPr lang="en-IN" sz="2400" dirty="0"/>
                        <a:t>X1 - 3.5</a:t>
                      </a:r>
                    </a:p>
                  </a:txBody>
                  <a:tcPr anchor="ctr">
                    <a:lnL>
                      <a:noFill/>
                    </a:lnL>
                    <a:lnR>
                      <a:noFill/>
                    </a:lnR>
                    <a:lnT>
                      <a:noFill/>
                    </a:lnT>
                    <a:lnB>
                      <a:noFill/>
                    </a:lnB>
                    <a:noFill/>
                  </a:tcPr>
                </a:tc>
                <a:tc>
                  <a:txBody>
                    <a:bodyPr/>
                    <a:lstStyle/>
                    <a:p>
                      <a:pPr>
                        <a:buNone/>
                      </a:pPr>
                      <a:r>
                        <a:rPr lang="en-IN" sz="2400" dirty="0"/>
                        <a:t>X2 - 7</a:t>
                      </a:r>
                    </a:p>
                  </a:txBody>
                  <a:tcPr anchor="ctr">
                    <a:lnL>
                      <a:noFill/>
                    </a:lnL>
                    <a:lnR>
                      <a:noFill/>
                    </a:lnR>
                    <a:lnT>
                      <a:noFill/>
                    </a:lnT>
                    <a:lnB>
                      <a:noFill/>
                    </a:lnB>
                    <a:noFill/>
                  </a:tcPr>
                </a:tc>
                <a:extLst>
                  <a:ext uri="{0D108BD9-81ED-4DB2-BD59-A6C34878D82A}">
                    <a16:rowId xmlns:a16="http://schemas.microsoft.com/office/drawing/2014/main" val="1128984476"/>
                  </a:ext>
                </a:extLst>
              </a:tr>
              <a:tr h="0">
                <a:tc>
                  <a:txBody>
                    <a:bodyPr/>
                    <a:lstStyle/>
                    <a:p>
                      <a:pPr>
                        <a:buNone/>
                      </a:pPr>
                      <a:r>
                        <a:rPr lang="en-IN" sz="2400" dirty="0"/>
                        <a:t>2</a:t>
                      </a:r>
                    </a:p>
                  </a:txBody>
                  <a:tcPr anchor="ctr">
                    <a:lnL>
                      <a:noFill/>
                    </a:lnL>
                    <a:lnR>
                      <a:noFill/>
                    </a:lnR>
                    <a:lnT>
                      <a:noFill/>
                    </a:lnT>
                    <a:lnB>
                      <a:noFill/>
                    </a:lnB>
                    <a:noFill/>
                  </a:tcPr>
                </a:tc>
                <a:tc>
                  <a:txBody>
                    <a:bodyPr/>
                    <a:lstStyle/>
                    <a:p>
                      <a:pPr>
                        <a:buNone/>
                      </a:pPr>
                      <a:r>
                        <a:rPr lang="en-IN" sz="2400"/>
                        <a:t>4</a:t>
                      </a:r>
                    </a:p>
                  </a:txBody>
                  <a:tcPr anchor="ctr">
                    <a:lnL>
                      <a:noFill/>
                    </a:lnL>
                    <a:lnR>
                      <a:noFill/>
                    </a:lnR>
                    <a:lnT>
                      <a:noFill/>
                    </a:lnT>
                    <a:lnB>
                      <a:noFill/>
                    </a:lnB>
                    <a:noFill/>
                  </a:tcPr>
                </a:tc>
                <a:tc>
                  <a:txBody>
                    <a:bodyPr/>
                    <a:lstStyle/>
                    <a:p>
                      <a:pPr>
                        <a:buNone/>
                      </a:pPr>
                      <a:r>
                        <a:rPr lang="en-IN" sz="2400"/>
                        <a:t>-1.5</a:t>
                      </a:r>
                    </a:p>
                  </a:txBody>
                  <a:tcPr anchor="ctr">
                    <a:lnL>
                      <a:noFill/>
                    </a:lnL>
                    <a:lnR>
                      <a:noFill/>
                    </a:lnR>
                    <a:lnT>
                      <a:noFill/>
                    </a:lnT>
                    <a:lnB>
                      <a:noFill/>
                    </a:lnB>
                    <a:noFill/>
                  </a:tcPr>
                </a:tc>
                <a:tc>
                  <a:txBody>
                    <a:bodyPr/>
                    <a:lstStyle/>
                    <a:p>
                      <a:pPr>
                        <a:buNone/>
                      </a:pPr>
                      <a:r>
                        <a:rPr lang="en-IN" sz="2400"/>
                        <a:t>-3</a:t>
                      </a:r>
                    </a:p>
                  </a:txBody>
                  <a:tcPr anchor="ctr">
                    <a:lnL>
                      <a:noFill/>
                    </a:lnL>
                    <a:lnR>
                      <a:noFill/>
                    </a:lnR>
                    <a:lnT>
                      <a:noFill/>
                    </a:lnT>
                    <a:lnB>
                      <a:noFill/>
                    </a:lnB>
                    <a:noFill/>
                  </a:tcPr>
                </a:tc>
                <a:extLst>
                  <a:ext uri="{0D108BD9-81ED-4DB2-BD59-A6C34878D82A}">
                    <a16:rowId xmlns:a16="http://schemas.microsoft.com/office/drawing/2014/main" val="803392703"/>
                  </a:ext>
                </a:extLst>
              </a:tr>
              <a:tr h="0">
                <a:tc>
                  <a:txBody>
                    <a:bodyPr/>
                    <a:lstStyle/>
                    <a:p>
                      <a:pPr>
                        <a:buNone/>
                      </a:pPr>
                      <a:r>
                        <a:rPr lang="en-IN" sz="2400"/>
                        <a:t>3</a:t>
                      </a:r>
                    </a:p>
                  </a:txBody>
                  <a:tcPr anchor="ctr">
                    <a:lnL>
                      <a:noFill/>
                    </a:lnL>
                    <a:lnR>
                      <a:noFill/>
                    </a:lnR>
                    <a:lnT>
                      <a:noFill/>
                    </a:lnT>
                    <a:lnB>
                      <a:noFill/>
                    </a:lnB>
                    <a:noFill/>
                  </a:tcPr>
                </a:tc>
                <a:tc>
                  <a:txBody>
                    <a:bodyPr/>
                    <a:lstStyle/>
                    <a:p>
                      <a:pPr>
                        <a:buNone/>
                      </a:pPr>
                      <a:r>
                        <a:rPr lang="en-IN" sz="2400" dirty="0"/>
                        <a:t>6</a:t>
                      </a:r>
                    </a:p>
                  </a:txBody>
                  <a:tcPr anchor="ctr">
                    <a:lnL>
                      <a:noFill/>
                    </a:lnL>
                    <a:lnR>
                      <a:noFill/>
                    </a:lnR>
                    <a:lnT>
                      <a:noFill/>
                    </a:lnT>
                    <a:lnB>
                      <a:noFill/>
                    </a:lnB>
                    <a:noFill/>
                  </a:tcPr>
                </a:tc>
                <a:tc>
                  <a:txBody>
                    <a:bodyPr/>
                    <a:lstStyle/>
                    <a:p>
                      <a:pPr>
                        <a:buNone/>
                      </a:pPr>
                      <a:r>
                        <a:rPr lang="en-IN" sz="2400"/>
                        <a:t>-0.5</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1319659800"/>
                  </a:ext>
                </a:extLst>
              </a:tr>
              <a:tr h="0">
                <a:tc>
                  <a:txBody>
                    <a:bodyPr/>
                    <a:lstStyle/>
                    <a:p>
                      <a:pPr>
                        <a:buNone/>
                      </a:pPr>
                      <a:r>
                        <a:rPr lang="en-IN" sz="2400"/>
                        <a:t>4</a:t>
                      </a:r>
                    </a:p>
                  </a:txBody>
                  <a:tcPr anchor="ctr">
                    <a:lnL>
                      <a:noFill/>
                    </a:lnL>
                    <a:lnR>
                      <a:noFill/>
                    </a:lnR>
                    <a:lnT>
                      <a:noFill/>
                    </a:lnT>
                    <a:lnB>
                      <a:noFill/>
                    </a:lnB>
                    <a:noFill/>
                  </a:tcPr>
                </a:tc>
                <a:tc>
                  <a:txBody>
                    <a:bodyPr/>
                    <a:lstStyle/>
                    <a:p>
                      <a:pPr>
                        <a:buNone/>
                      </a:pPr>
                      <a:r>
                        <a:rPr lang="en-IN" sz="2400"/>
                        <a:t>8</a:t>
                      </a:r>
                    </a:p>
                  </a:txBody>
                  <a:tcPr anchor="ctr">
                    <a:lnL>
                      <a:noFill/>
                    </a:lnL>
                    <a:lnR>
                      <a:noFill/>
                    </a:lnR>
                    <a:lnT>
                      <a:noFill/>
                    </a:lnT>
                    <a:lnB>
                      <a:noFill/>
                    </a:lnB>
                    <a:noFill/>
                  </a:tcPr>
                </a:tc>
                <a:tc>
                  <a:txBody>
                    <a:bodyPr/>
                    <a:lstStyle/>
                    <a:p>
                      <a:pPr>
                        <a:buNone/>
                      </a:pPr>
                      <a:r>
                        <a:rPr lang="en-IN" sz="2400"/>
                        <a:t>0.5</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2655155668"/>
                  </a:ext>
                </a:extLst>
              </a:tr>
              <a:tr h="0">
                <a:tc>
                  <a:txBody>
                    <a:bodyPr/>
                    <a:lstStyle/>
                    <a:p>
                      <a:pPr>
                        <a:buNone/>
                      </a:pPr>
                      <a:r>
                        <a:rPr lang="en-IN" sz="2400"/>
                        <a:t>5</a:t>
                      </a:r>
                    </a:p>
                  </a:txBody>
                  <a:tcPr anchor="ctr">
                    <a:lnL>
                      <a:noFill/>
                    </a:lnL>
                    <a:lnR>
                      <a:noFill/>
                    </a:lnR>
                    <a:lnT>
                      <a:noFill/>
                    </a:lnT>
                    <a:lnB>
                      <a:noFill/>
                    </a:lnB>
                    <a:noFill/>
                  </a:tcPr>
                </a:tc>
                <a:tc>
                  <a:txBody>
                    <a:bodyPr/>
                    <a:lstStyle/>
                    <a:p>
                      <a:pPr>
                        <a:buNone/>
                      </a:pPr>
                      <a:r>
                        <a:rPr lang="en-IN" sz="2400" dirty="0"/>
                        <a:t>10</a:t>
                      </a:r>
                    </a:p>
                  </a:txBody>
                  <a:tcPr anchor="ctr">
                    <a:lnL>
                      <a:noFill/>
                    </a:lnL>
                    <a:lnR>
                      <a:noFill/>
                    </a:lnR>
                    <a:lnT>
                      <a:noFill/>
                    </a:lnT>
                    <a:lnB>
                      <a:noFill/>
                    </a:lnB>
                    <a:noFill/>
                  </a:tcPr>
                </a:tc>
                <a:tc>
                  <a:txBody>
                    <a:bodyPr/>
                    <a:lstStyle/>
                    <a:p>
                      <a:pPr>
                        <a:buNone/>
                      </a:pPr>
                      <a:r>
                        <a:rPr lang="en-IN" sz="2400" dirty="0"/>
                        <a:t>1.5</a:t>
                      </a:r>
                    </a:p>
                  </a:txBody>
                  <a:tcPr anchor="ctr">
                    <a:lnL>
                      <a:noFill/>
                    </a:lnL>
                    <a:lnR>
                      <a:noFill/>
                    </a:lnR>
                    <a:lnT>
                      <a:noFill/>
                    </a:lnT>
                    <a:lnB>
                      <a:noFill/>
                    </a:lnB>
                    <a:noFill/>
                  </a:tcPr>
                </a:tc>
                <a:tc>
                  <a:txBody>
                    <a:bodyPr/>
                    <a:lstStyle/>
                    <a:p>
                      <a:pPr>
                        <a:buNone/>
                      </a:pPr>
                      <a:r>
                        <a:rPr lang="en-IN" sz="2400" dirty="0"/>
                        <a:t>3</a:t>
                      </a:r>
                    </a:p>
                  </a:txBody>
                  <a:tcPr anchor="ctr">
                    <a:lnL>
                      <a:noFill/>
                    </a:lnL>
                    <a:lnR>
                      <a:noFill/>
                    </a:lnR>
                    <a:lnT>
                      <a:noFill/>
                    </a:lnT>
                    <a:lnB>
                      <a:noFill/>
                    </a:lnB>
                    <a:noFill/>
                  </a:tcPr>
                </a:tc>
                <a:extLst>
                  <a:ext uri="{0D108BD9-81ED-4DB2-BD59-A6C34878D82A}">
                    <a16:rowId xmlns:a16="http://schemas.microsoft.com/office/drawing/2014/main" val="3262813311"/>
                  </a:ext>
                </a:extLst>
              </a:tr>
            </a:tbl>
          </a:graphicData>
        </a:graphic>
      </p:graphicFrame>
      <p:sp>
        <p:nvSpPr>
          <p:cNvPr id="6" name="TextBox 5">
            <a:extLst>
              <a:ext uri="{FF2B5EF4-FFF2-40B4-BE49-F238E27FC236}">
                <a16:creationId xmlns:a16="http://schemas.microsoft.com/office/drawing/2014/main" id="{247EC0A5-CFAF-4419-9104-5E0B562293F8}"/>
              </a:ext>
            </a:extLst>
          </p:cNvPr>
          <p:cNvSpPr txBox="1"/>
          <p:nvPr/>
        </p:nvSpPr>
        <p:spPr>
          <a:xfrm>
            <a:off x="418012" y="2548341"/>
            <a:ext cx="6096000" cy="523220"/>
          </a:xfrm>
          <a:prstGeom prst="rect">
            <a:avLst/>
          </a:prstGeom>
          <a:noFill/>
        </p:spPr>
        <p:txBody>
          <a:bodyPr wrap="square">
            <a:spAutoFit/>
          </a:bodyPr>
          <a:lstStyle/>
          <a:p>
            <a:r>
              <a:rPr lang="en-IN" sz="2800" dirty="0"/>
              <a:t>Project Data onto PC1:</a:t>
            </a:r>
          </a:p>
        </p:txBody>
      </p:sp>
      <p:sp>
        <p:nvSpPr>
          <p:cNvPr id="8" name="TextBox 7">
            <a:extLst>
              <a:ext uri="{FF2B5EF4-FFF2-40B4-BE49-F238E27FC236}">
                <a16:creationId xmlns:a16="http://schemas.microsoft.com/office/drawing/2014/main" id="{89F56F33-E63F-D9B3-DA10-5453BFBA43B8}"/>
              </a:ext>
            </a:extLst>
          </p:cNvPr>
          <p:cNvSpPr txBox="1"/>
          <p:nvPr/>
        </p:nvSpPr>
        <p:spPr>
          <a:xfrm>
            <a:off x="3892732" y="2527741"/>
            <a:ext cx="3335382" cy="523220"/>
          </a:xfrm>
          <a:prstGeom prst="rect">
            <a:avLst/>
          </a:prstGeom>
          <a:solidFill>
            <a:schemeClr val="accent2"/>
          </a:solidFill>
          <a:ln>
            <a:solidFill>
              <a:schemeClr val="tx1"/>
            </a:solidFill>
          </a:ln>
        </p:spPr>
        <p:txBody>
          <a:bodyPr wrap="square">
            <a:spAutoFit/>
          </a:bodyPr>
          <a:lstStyle/>
          <a:p>
            <a:r>
              <a:rPr lang="en-IN" sz="2800" dirty="0"/>
              <a:t>New value=X⋅PC1</a:t>
            </a:r>
          </a:p>
        </p:txBody>
      </p:sp>
      <p:pic>
        <p:nvPicPr>
          <p:cNvPr id="10" name="Picture 9">
            <a:extLst>
              <a:ext uri="{FF2B5EF4-FFF2-40B4-BE49-F238E27FC236}">
                <a16:creationId xmlns:a16="http://schemas.microsoft.com/office/drawing/2014/main" id="{F31331AA-4CF8-1E92-56A4-AC11BA5C8439}"/>
              </a:ext>
            </a:extLst>
          </p:cNvPr>
          <p:cNvPicPr>
            <a:picLocks noChangeAspect="1"/>
          </p:cNvPicPr>
          <p:nvPr/>
        </p:nvPicPr>
        <p:blipFill>
          <a:blip r:embed="rId2"/>
          <a:stretch>
            <a:fillRect/>
          </a:stretch>
        </p:blipFill>
        <p:spPr>
          <a:xfrm>
            <a:off x="545982" y="3050961"/>
            <a:ext cx="5840059" cy="3715764"/>
          </a:xfrm>
          <a:prstGeom prst="rect">
            <a:avLst/>
          </a:prstGeom>
        </p:spPr>
      </p:pic>
      <p:pic>
        <p:nvPicPr>
          <p:cNvPr id="12" name="Picture 11">
            <a:extLst>
              <a:ext uri="{FF2B5EF4-FFF2-40B4-BE49-F238E27FC236}">
                <a16:creationId xmlns:a16="http://schemas.microsoft.com/office/drawing/2014/main" id="{C6BE51ED-5074-CB7E-C5AB-0C08DFC7BB1A}"/>
              </a:ext>
            </a:extLst>
          </p:cNvPr>
          <p:cNvPicPr>
            <a:picLocks noChangeAspect="1"/>
          </p:cNvPicPr>
          <p:nvPr/>
        </p:nvPicPr>
        <p:blipFill>
          <a:blip r:embed="rId3"/>
          <a:stretch>
            <a:fillRect/>
          </a:stretch>
        </p:blipFill>
        <p:spPr>
          <a:xfrm>
            <a:off x="6718240" y="3503694"/>
            <a:ext cx="4927778" cy="2536356"/>
          </a:xfrm>
          <a:prstGeom prst="rect">
            <a:avLst/>
          </a:prstGeom>
          <a:ln>
            <a:solidFill>
              <a:schemeClr val="tx1"/>
            </a:solidFill>
          </a:ln>
        </p:spPr>
      </p:pic>
    </p:spTree>
    <p:extLst>
      <p:ext uri="{BB962C8B-B14F-4D97-AF65-F5344CB8AC3E}">
        <p14:creationId xmlns:p14="http://schemas.microsoft.com/office/powerpoint/2010/main" val="3083926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8A253057-08F7-66E3-53F8-86C3A3960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0345" y="2229974"/>
            <a:ext cx="6651309" cy="40886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4EA9BEF-A6B4-1CEF-6D85-40C4B2340E32}"/>
              </a:ext>
            </a:extLst>
          </p:cNvPr>
          <p:cNvSpPr txBox="1"/>
          <p:nvPr/>
        </p:nvSpPr>
        <p:spPr>
          <a:xfrm>
            <a:off x="1222626" y="539393"/>
            <a:ext cx="9719352" cy="1384995"/>
          </a:xfrm>
          <a:prstGeom prst="rect">
            <a:avLst/>
          </a:prstGeom>
          <a:noFill/>
        </p:spPr>
        <p:txBody>
          <a:bodyPr wrap="square">
            <a:spAutoFit/>
          </a:bodyPr>
          <a:lstStyle/>
          <a:p>
            <a:r>
              <a:rPr lang="en-US" sz="2800" b="0" i="0" dirty="0">
                <a:solidFill>
                  <a:srgbClr val="242424"/>
                </a:solidFill>
                <a:effectLst/>
                <a:latin typeface="source-serif-pro"/>
              </a:rPr>
              <a:t>Blue points are the data points, the red point is the average point, the yellow circle is the eigen vector point (-0.45,-0.89) and the green line is the first principal component.</a:t>
            </a:r>
            <a:endParaRPr lang="en-IN" sz="2800" dirty="0"/>
          </a:p>
        </p:txBody>
      </p:sp>
    </p:spTree>
    <p:extLst>
      <p:ext uri="{BB962C8B-B14F-4D97-AF65-F5344CB8AC3E}">
        <p14:creationId xmlns:p14="http://schemas.microsoft.com/office/powerpoint/2010/main" val="551503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BD4D-E400-48C7-B0D1-4D85D951F791}"/>
              </a:ext>
            </a:extLst>
          </p:cNvPr>
          <p:cNvSpPr>
            <a:spLocks noGrp="1"/>
          </p:cNvSpPr>
          <p:nvPr>
            <p:ph type="title"/>
          </p:nvPr>
        </p:nvSpPr>
        <p:spPr/>
        <p:txBody>
          <a:bodyPr/>
          <a:lstStyle/>
          <a:p>
            <a:r>
              <a:rPr lang="en-US" dirty="0"/>
              <a:t>Exercise</a:t>
            </a:r>
            <a:endParaRPr lang="en-IN" dirty="0"/>
          </a:p>
        </p:txBody>
      </p:sp>
      <p:sp>
        <p:nvSpPr>
          <p:cNvPr id="3" name="Content Placeholder 2">
            <a:extLst>
              <a:ext uri="{FF2B5EF4-FFF2-40B4-BE49-F238E27FC236}">
                <a16:creationId xmlns:a16="http://schemas.microsoft.com/office/drawing/2014/main" id="{EFD90E7C-89FE-4C8B-A2B2-635FDE8A7B3F}"/>
              </a:ext>
            </a:extLst>
          </p:cNvPr>
          <p:cNvSpPr>
            <a:spLocks noGrp="1"/>
          </p:cNvSpPr>
          <p:nvPr>
            <p:ph idx="1"/>
          </p:nvPr>
        </p:nvSpPr>
        <p:spPr/>
        <p:txBody>
          <a:bodyPr/>
          <a:lstStyle/>
          <a:p>
            <a:pPr marL="0" indent="0">
              <a:buNone/>
            </a:pPr>
            <a:r>
              <a:rPr lang="en-US" b="1" dirty="0"/>
              <a:t>Given Dataset</a:t>
            </a:r>
          </a:p>
          <a:p>
            <a:pPr marL="0" indent="0">
              <a:buNone/>
            </a:pPr>
            <a:r>
              <a:rPr lang="en-US" dirty="0"/>
              <a:t>Consider the following 2D data points:</a:t>
            </a:r>
          </a:p>
          <a:p>
            <a:pPr marL="0" indent="0">
              <a:buNone/>
            </a:pPr>
            <a:r>
              <a:rPr lang="en-US" dirty="0"/>
              <a:t>(2,4), (3,6), (4,8), (5,10)</a:t>
            </a:r>
          </a:p>
          <a:p>
            <a:pPr marL="0" indent="0">
              <a:buNone/>
            </a:pPr>
            <a:endParaRPr lang="en-US" dirty="0"/>
          </a:p>
        </p:txBody>
      </p:sp>
    </p:spTree>
    <p:extLst>
      <p:ext uri="{BB962C8B-B14F-4D97-AF65-F5344CB8AC3E}">
        <p14:creationId xmlns:p14="http://schemas.microsoft.com/office/powerpoint/2010/main" val="2192392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4C81ACA-EAC2-4A3C-A859-C8EEA47FFC5E}"/>
              </a:ext>
            </a:extLst>
          </p:cNvPr>
          <p:cNvPicPr>
            <a:picLocks noChangeAspect="1"/>
          </p:cNvPicPr>
          <p:nvPr/>
        </p:nvPicPr>
        <p:blipFill>
          <a:blip r:embed="rId2"/>
          <a:stretch>
            <a:fillRect/>
          </a:stretch>
        </p:blipFill>
        <p:spPr>
          <a:xfrm>
            <a:off x="1185276" y="856174"/>
            <a:ext cx="3555536" cy="1185179"/>
          </a:xfrm>
          <a:prstGeom prst="rect">
            <a:avLst/>
          </a:prstGeom>
        </p:spPr>
      </p:pic>
      <p:pic>
        <p:nvPicPr>
          <p:cNvPr id="15" name="Picture 14">
            <a:extLst>
              <a:ext uri="{FF2B5EF4-FFF2-40B4-BE49-F238E27FC236}">
                <a16:creationId xmlns:a16="http://schemas.microsoft.com/office/drawing/2014/main" id="{66BD28FA-C0AC-429D-B7E4-258D41B9A597}"/>
              </a:ext>
            </a:extLst>
          </p:cNvPr>
          <p:cNvPicPr>
            <a:picLocks noChangeAspect="1"/>
          </p:cNvPicPr>
          <p:nvPr/>
        </p:nvPicPr>
        <p:blipFill>
          <a:blip r:embed="rId3"/>
          <a:stretch>
            <a:fillRect/>
          </a:stretch>
        </p:blipFill>
        <p:spPr>
          <a:xfrm>
            <a:off x="1392702" y="2278883"/>
            <a:ext cx="2648755" cy="665807"/>
          </a:xfrm>
          <a:prstGeom prst="rect">
            <a:avLst/>
          </a:prstGeom>
        </p:spPr>
      </p:pic>
    </p:spTree>
    <p:extLst>
      <p:ext uri="{BB962C8B-B14F-4D97-AF65-F5344CB8AC3E}">
        <p14:creationId xmlns:p14="http://schemas.microsoft.com/office/powerpoint/2010/main" val="699433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099BB-8149-5D1F-99A0-8EBE0831A3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FD2BFE-4A20-6765-E4C9-152C6381A989}"/>
              </a:ext>
            </a:extLst>
          </p:cNvPr>
          <p:cNvSpPr>
            <a:spLocks noGrp="1"/>
          </p:cNvSpPr>
          <p:nvPr>
            <p:ph idx="1"/>
          </p:nvPr>
        </p:nvSpPr>
        <p:spPr/>
        <p:txBody>
          <a:bodyPr/>
          <a:lstStyle/>
          <a:p>
            <a:r>
              <a:rPr lang="en-IN" dirty="0">
                <a:hlinkClick r:id="rId2"/>
              </a:rPr>
              <a:t>https://www.youtube.com/watch?v=ne6vnKoTHwk</a:t>
            </a:r>
            <a:endParaRPr lang="en-IN" dirty="0"/>
          </a:p>
          <a:p>
            <a:r>
              <a:rPr lang="en-IN" dirty="0"/>
              <a:t>https://medium.com/@dhanyahari07/principal-component-analysis-a-numerical-approach-88a8296dc2dc</a:t>
            </a:r>
          </a:p>
        </p:txBody>
      </p:sp>
    </p:spTree>
    <p:extLst>
      <p:ext uri="{BB962C8B-B14F-4D97-AF65-F5344CB8AC3E}">
        <p14:creationId xmlns:p14="http://schemas.microsoft.com/office/powerpoint/2010/main" val="1795415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594</TotalTime>
  <Words>1234</Words>
  <Application>Microsoft Office PowerPoint</Application>
  <PresentationFormat>Widescreen</PresentationFormat>
  <Paragraphs>163</Paragraphs>
  <Slides>33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Calibri</vt:lpstr>
      <vt:lpstr>Calibri Light</vt:lpstr>
      <vt:lpstr>Cambria Math</vt:lpstr>
      <vt:lpstr>Google Sans</vt:lpstr>
      <vt:lpstr>Inter</vt:lpstr>
      <vt:lpstr>Open Sans</vt:lpstr>
      <vt:lpstr>sohne</vt:lpstr>
      <vt:lpstr>source-serif-pro</vt:lpstr>
      <vt:lpstr>Office Theme</vt:lpstr>
      <vt:lpstr>Dimensionality Reduction</vt:lpstr>
      <vt:lpstr>Machine Learning –Bottlenecks </vt:lpstr>
      <vt:lpstr>The Curse of Dimensionality </vt:lpstr>
      <vt:lpstr>Dimensionality Reduction</vt:lpstr>
      <vt:lpstr>Dimensionality Reduction </vt:lpstr>
      <vt:lpstr>Dimensionality Reduction Techniques</vt:lpstr>
      <vt:lpstr> Principal Component Analysis (PCA)</vt:lpstr>
      <vt:lpstr>PowerPoint Presentation</vt:lpstr>
      <vt:lpstr>PowerPoint Presentation</vt:lpstr>
      <vt:lpstr>PowerPoint Presentation</vt:lpstr>
      <vt:lpstr>Variance of Single Feature</vt:lpstr>
      <vt:lpstr>Variance</vt:lpstr>
      <vt:lpstr>PowerPoint Presentation</vt:lpstr>
      <vt:lpstr>Projecting 2D data into new axis by mapping original data into 1D. Axis1 capture the relationship of the features better</vt:lpstr>
      <vt:lpstr>The below graph explains the variance of each Principal components </vt:lpstr>
      <vt:lpstr>PCA using Covariance Matrix</vt:lpstr>
      <vt:lpstr>PowerPoint Presentation</vt:lpstr>
      <vt:lpstr>Covariance value and interpretation</vt:lpstr>
      <vt:lpstr>Steps for PCA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Dimensionality Reduction</dc:title>
  <dc:creator>Kayarvizhy N</dc:creator>
  <cp:lastModifiedBy>admin</cp:lastModifiedBy>
  <cp:revision>56</cp:revision>
  <dcterms:created xsi:type="dcterms:W3CDTF">2025-05-01T11:27:13Z</dcterms:created>
  <dcterms:modified xsi:type="dcterms:W3CDTF">2026-03-23T05:45:46Z</dcterms:modified>
</cp:coreProperties>
</file>