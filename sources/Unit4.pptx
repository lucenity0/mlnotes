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70"/>
  </p:notesMasterIdLst>
  <p:sldIdLst>
    <p:sldId id="256" r:id="rId3"/>
    <p:sldId id="324" r:id="rId4"/>
    <p:sldId id="323" r:id="rId5"/>
    <p:sldId id="322" r:id="rId6"/>
    <p:sldId id="258" r:id="rId7"/>
    <p:sldId id="259" r:id="rId8"/>
    <p:sldId id="260" r:id="rId9"/>
    <p:sldId id="261" r:id="rId10"/>
    <p:sldId id="262" r:id="rId11"/>
    <p:sldId id="263" r:id="rId12"/>
    <p:sldId id="264" r:id="rId13"/>
    <p:sldId id="266" r:id="rId14"/>
    <p:sldId id="268" r:id="rId15"/>
    <p:sldId id="270" r:id="rId16"/>
    <p:sldId id="271" r:id="rId17"/>
    <p:sldId id="272" r:id="rId18"/>
    <p:sldId id="302" r:id="rId19"/>
    <p:sldId id="303" r:id="rId20"/>
    <p:sldId id="293" r:id="rId21"/>
    <p:sldId id="294" r:id="rId22"/>
    <p:sldId id="295" r:id="rId23"/>
    <p:sldId id="275" r:id="rId24"/>
    <p:sldId id="296" r:id="rId25"/>
    <p:sldId id="297" r:id="rId26"/>
    <p:sldId id="298" r:id="rId27"/>
    <p:sldId id="276" r:id="rId28"/>
    <p:sldId id="278" r:id="rId29"/>
    <p:sldId id="304" r:id="rId30"/>
    <p:sldId id="279" r:id="rId31"/>
    <p:sldId id="325" r:id="rId32"/>
    <p:sldId id="326" r:id="rId33"/>
    <p:sldId id="280" r:id="rId34"/>
    <p:sldId id="281" r:id="rId35"/>
    <p:sldId id="327" r:id="rId36"/>
    <p:sldId id="328" r:id="rId37"/>
    <p:sldId id="329" r:id="rId38"/>
    <p:sldId id="330" r:id="rId39"/>
    <p:sldId id="282" r:id="rId40"/>
    <p:sldId id="283" r:id="rId41"/>
    <p:sldId id="331" r:id="rId42"/>
    <p:sldId id="332" r:id="rId43"/>
    <p:sldId id="333" r:id="rId44"/>
    <p:sldId id="334" r:id="rId45"/>
    <p:sldId id="335" r:id="rId46"/>
    <p:sldId id="287" r:id="rId47"/>
    <p:sldId id="289" r:id="rId48"/>
    <p:sldId id="291" r:id="rId49"/>
    <p:sldId id="292" r:id="rId50"/>
    <p:sldId id="306" r:id="rId51"/>
    <p:sldId id="307" r:id="rId52"/>
    <p:sldId id="308" r:id="rId53"/>
    <p:sldId id="309" r:id="rId54"/>
    <p:sldId id="310" r:id="rId55"/>
    <p:sldId id="318" r:id="rId56"/>
    <p:sldId id="320" r:id="rId57"/>
    <p:sldId id="321" r:id="rId58"/>
    <p:sldId id="311" r:id="rId59"/>
    <p:sldId id="319" r:id="rId60"/>
    <p:sldId id="312" r:id="rId61"/>
    <p:sldId id="313" r:id="rId62"/>
    <p:sldId id="314" r:id="rId63"/>
    <p:sldId id="315" r:id="rId64"/>
    <p:sldId id="316" r:id="rId65"/>
    <p:sldId id="317" r:id="rId66"/>
    <p:sldId id="336" r:id="rId67"/>
    <p:sldId id="337" r:id="rId68"/>
    <p:sldId id="265"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94" autoAdjust="0"/>
    <p:restoredTop sz="94660"/>
  </p:normalViewPr>
  <p:slideViewPr>
    <p:cSldViewPr snapToGrid="0">
      <p:cViewPr varScale="1">
        <p:scale>
          <a:sx n="73" d="100"/>
          <a:sy n="73" d="100"/>
        </p:scale>
        <p:origin x="392"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675404-A6D0-4CD6-8725-01585F69EE20}" type="datetimeFigureOut">
              <a:rPr lang="en-IN" smtClean="0"/>
              <a:t>16-03-2026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C4D14B-E9E8-4F69-BB1B-5D353CA39AA5}" type="slidenum">
              <a:rPr lang="en-IN" smtClean="0"/>
              <a:t>‹#›</a:t>
            </a:fld>
            <a:endParaRPr lang="en-IN"/>
          </a:p>
        </p:txBody>
      </p:sp>
    </p:spTree>
    <p:extLst>
      <p:ext uri="{BB962C8B-B14F-4D97-AF65-F5344CB8AC3E}">
        <p14:creationId xmlns:p14="http://schemas.microsoft.com/office/powerpoint/2010/main" val="13403622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2dc0b0c3a33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2dc0b0c3a33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696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dc0b0c3a33_1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2dc0b0c3a33_1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0519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dbf25ecd32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dbf25ecd32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37212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2dc0b0c3a33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2dc0b0c3a33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3775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5C4D14B-E9E8-4F69-BB1B-5D353CA39AA5}" type="slidenum">
              <a:rPr lang="en-IN" smtClean="0"/>
              <a:t>53</a:t>
            </a:fld>
            <a:endParaRPr lang="en-IN"/>
          </a:p>
        </p:txBody>
      </p:sp>
    </p:spTree>
    <p:extLst>
      <p:ext uri="{BB962C8B-B14F-4D97-AF65-F5344CB8AC3E}">
        <p14:creationId xmlns:p14="http://schemas.microsoft.com/office/powerpoint/2010/main" val="6219008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0AE65028-75CD-4922-B5F4-230206E2FBBB}"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14763252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E65028-75CD-4922-B5F4-230206E2FBBB}"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3034384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AE65028-75CD-4922-B5F4-230206E2FBBB}"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308399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0AE65028-75CD-4922-B5F4-230206E2FBBB}"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16918548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0AE65028-75CD-4922-B5F4-230206E2FBBB}" type="datetimeFigureOut">
              <a:rPr lang="en-IN" smtClean="0"/>
              <a:t>16-03-2026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2530406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0AE65028-75CD-4922-B5F4-230206E2FBBB}" type="datetimeFigureOut">
              <a:rPr lang="en-IN" smtClean="0"/>
              <a:t>16-03-2026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7940247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E65028-75CD-4922-B5F4-230206E2FBBB}" type="datetimeFigureOut">
              <a:rPr lang="en-IN" smtClean="0"/>
              <a:t>16-03-2026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8290633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65028-75CD-4922-B5F4-230206E2FBBB}"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17708640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AE65028-75CD-4922-B5F4-230206E2FBBB}" type="datetimeFigureOut">
              <a:rPr lang="en-IN" smtClean="0"/>
              <a:t>16-03-2026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89563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E65028-75CD-4922-B5F4-230206E2FBBB}"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1013446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AE65028-75CD-4922-B5F4-230206E2FBBB}" type="datetimeFigureOut">
              <a:rPr lang="en-IN" smtClean="0"/>
              <a:t>16-03-2026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F6D50DD-FB65-4C13-9058-E5A6C8E7CCB5}" type="slidenum">
              <a:rPr lang="en-IN" smtClean="0"/>
              <a:t>‹#›</a:t>
            </a:fld>
            <a:endParaRPr lang="en-IN"/>
          </a:p>
        </p:txBody>
      </p:sp>
    </p:spTree>
    <p:extLst>
      <p:ext uri="{BB962C8B-B14F-4D97-AF65-F5344CB8AC3E}">
        <p14:creationId xmlns:p14="http://schemas.microsoft.com/office/powerpoint/2010/main" val="32309586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59758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8783697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1287429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2124365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5752399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791622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5661682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1087081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3754199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4331192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390264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E65028-75CD-4922-B5F4-230206E2FBBB}" type="datetimeFigureOut">
              <a:rPr lang="en-IN" smtClean="0"/>
              <a:t>16-03-2026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6D50DD-FB65-4C13-9058-E5A6C8E7CCB5}" type="slidenum">
              <a:rPr lang="en-IN" smtClean="0"/>
              <a:t>‹#›</a:t>
            </a:fld>
            <a:endParaRPr lang="en-IN"/>
          </a:p>
        </p:txBody>
      </p:sp>
    </p:spTree>
    <p:extLst>
      <p:ext uri="{BB962C8B-B14F-4D97-AF65-F5344CB8AC3E}">
        <p14:creationId xmlns:p14="http://schemas.microsoft.com/office/powerpoint/2010/main" val="163274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84495167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4.xml"/></Relationships>
</file>

<file path=ppt/slides/_rels/slide6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 4</a:t>
            </a:r>
            <a:endParaRPr lang="en-IN" dirty="0"/>
          </a:p>
        </p:txBody>
      </p:sp>
      <p:sp>
        <p:nvSpPr>
          <p:cNvPr id="3" name="Subtitle 2"/>
          <p:cNvSpPr>
            <a:spLocks noGrp="1"/>
          </p:cNvSpPr>
          <p:nvPr>
            <p:ph type="subTitle" idx="1"/>
          </p:nvPr>
        </p:nvSpPr>
        <p:spPr/>
        <p:txBody>
          <a:bodyPr>
            <a:normAutofit lnSpcReduction="10000"/>
          </a:bodyPr>
          <a:lstStyle/>
          <a:p>
            <a:pPr algn="just"/>
            <a:r>
              <a:rPr lang="en-US" b="1" i="0" u="none" strike="noStrike" baseline="0" dirty="0">
                <a:solidFill>
                  <a:srgbClr val="000000"/>
                </a:solidFill>
                <a:latin typeface="Calibri" panose="020F0502020204030204" pitchFamily="34" charset="0"/>
              </a:rPr>
              <a:t>Ensemble Techniques And Unsupervised Learning: </a:t>
            </a:r>
            <a:r>
              <a:rPr lang="en-US" b="0" i="0" u="none" strike="noStrike" baseline="0" dirty="0">
                <a:solidFill>
                  <a:srgbClr val="000000"/>
                </a:solidFill>
                <a:latin typeface="Calibri" panose="020F0502020204030204" pitchFamily="34" charset="0"/>
              </a:rPr>
              <a:t>Combining multiple learners: Model combination schemes, Voting, Ensemble Learning - bagging, boosting, stacking, Unsupervised learning: Introduction to Clustering, K-means clustering, Dimensionality reduction-Principal Component Analysis </a:t>
            </a:r>
            <a:r>
              <a:rPr lang="en-US" sz="1800" b="0" i="0" u="none" strike="noStrike" baseline="0" dirty="0">
                <a:solidFill>
                  <a:srgbClr val="000000"/>
                </a:solidFill>
                <a:latin typeface="Calibri" panose="020F0502020204030204" pitchFamily="34" charset="0"/>
              </a:rPr>
              <a:t>	</a:t>
            </a:r>
          </a:p>
          <a:p>
            <a:endParaRPr lang="en-IN" dirty="0"/>
          </a:p>
        </p:txBody>
      </p:sp>
    </p:spTree>
    <p:extLst>
      <p:ext uri="{BB962C8B-B14F-4D97-AF65-F5344CB8AC3E}">
        <p14:creationId xmlns:p14="http://schemas.microsoft.com/office/powerpoint/2010/main" val="2941328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8B389-5EB8-4C65-BCB5-DC28B2AA9060}"/>
              </a:ext>
            </a:extLst>
          </p:cNvPr>
          <p:cNvSpPr>
            <a:spLocks noGrp="1"/>
          </p:cNvSpPr>
          <p:nvPr>
            <p:ph type="title"/>
          </p:nvPr>
        </p:nvSpPr>
        <p:spPr/>
        <p:txBody>
          <a:bodyPr/>
          <a:lstStyle/>
          <a:p>
            <a:r>
              <a:rPr lang="en-US" dirty="0">
                <a:solidFill>
                  <a:srgbClr val="FF0000"/>
                </a:solidFill>
              </a:rPr>
              <a:t>Bias and Variance in Machine Learning</a:t>
            </a:r>
            <a:endParaRPr lang="en-IN" dirty="0">
              <a:solidFill>
                <a:srgbClr val="FF0000"/>
              </a:solidFill>
            </a:endParaRPr>
          </a:p>
        </p:txBody>
      </p:sp>
      <p:sp>
        <p:nvSpPr>
          <p:cNvPr id="3" name="Content Placeholder 2">
            <a:extLst>
              <a:ext uri="{FF2B5EF4-FFF2-40B4-BE49-F238E27FC236}">
                <a16:creationId xmlns:a16="http://schemas.microsoft.com/office/drawing/2014/main" id="{8ED89B13-B023-464C-BF0F-1548F761C591}"/>
              </a:ext>
            </a:extLst>
          </p:cNvPr>
          <p:cNvSpPr>
            <a:spLocks noGrp="1"/>
          </p:cNvSpPr>
          <p:nvPr>
            <p:ph idx="1"/>
          </p:nvPr>
        </p:nvSpPr>
        <p:spPr/>
        <p:txBody>
          <a:bodyPr/>
          <a:lstStyle/>
          <a:p>
            <a:r>
              <a:rPr lang="en-US" b="1" dirty="0"/>
              <a:t>Bias and Variance</a:t>
            </a:r>
            <a:r>
              <a:rPr lang="en-US" dirty="0"/>
              <a:t> are two major sources of error that affect a machine learning model's performance</a:t>
            </a:r>
          </a:p>
          <a:p>
            <a:r>
              <a:rPr lang="en-US" dirty="0"/>
              <a:t>Understanding them helps in designing models that </a:t>
            </a:r>
            <a:r>
              <a:rPr lang="en-US" b="1" dirty="0"/>
              <a:t>generalize well to unseen data</a:t>
            </a:r>
            <a:r>
              <a:rPr lang="en-US" dirty="0"/>
              <a:t>.</a:t>
            </a:r>
          </a:p>
          <a:p>
            <a:r>
              <a:rPr lang="en-US" dirty="0"/>
              <a:t>Balance bias and variance to achieve </a:t>
            </a:r>
            <a:r>
              <a:rPr lang="en-US" b="1" dirty="0"/>
              <a:t>optimal model performance</a:t>
            </a:r>
            <a:r>
              <a:rPr lang="en-US" dirty="0"/>
              <a:t>.</a:t>
            </a:r>
            <a:endParaRPr lang="en-IN" dirty="0"/>
          </a:p>
        </p:txBody>
      </p:sp>
    </p:spTree>
    <p:extLst>
      <p:ext uri="{BB962C8B-B14F-4D97-AF65-F5344CB8AC3E}">
        <p14:creationId xmlns:p14="http://schemas.microsoft.com/office/powerpoint/2010/main" val="245514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7FEEE-0CDB-4E3C-9ABF-D0F5303E7E0C}"/>
              </a:ext>
            </a:extLst>
          </p:cNvPr>
          <p:cNvSpPr>
            <a:spLocks noGrp="1"/>
          </p:cNvSpPr>
          <p:nvPr>
            <p:ph type="title"/>
          </p:nvPr>
        </p:nvSpPr>
        <p:spPr>
          <a:xfrm>
            <a:off x="838200" y="365125"/>
            <a:ext cx="10515600" cy="464869"/>
          </a:xfrm>
        </p:spPr>
        <p:txBody>
          <a:bodyPr>
            <a:normAutofit fontScale="90000"/>
          </a:bodyPr>
          <a:lstStyle/>
          <a:p>
            <a:r>
              <a:rPr lang="en-US" dirty="0">
                <a:solidFill>
                  <a:srgbClr val="FF0000"/>
                </a:solidFill>
              </a:rPr>
              <a:t>Bias</a:t>
            </a:r>
            <a:endParaRPr lang="en-IN" dirty="0">
              <a:solidFill>
                <a:srgbClr val="FF0000"/>
              </a:solidFill>
            </a:endParaRPr>
          </a:p>
        </p:txBody>
      </p:sp>
      <p:sp>
        <p:nvSpPr>
          <p:cNvPr id="3" name="Content Placeholder 2">
            <a:extLst>
              <a:ext uri="{FF2B5EF4-FFF2-40B4-BE49-F238E27FC236}">
                <a16:creationId xmlns:a16="http://schemas.microsoft.com/office/drawing/2014/main" id="{01055977-4678-4804-B73E-FE13BE8E582C}"/>
              </a:ext>
            </a:extLst>
          </p:cNvPr>
          <p:cNvSpPr>
            <a:spLocks noGrp="1"/>
          </p:cNvSpPr>
          <p:nvPr>
            <p:ph idx="1"/>
          </p:nvPr>
        </p:nvSpPr>
        <p:spPr>
          <a:xfrm>
            <a:off x="838200" y="1097281"/>
            <a:ext cx="10515600" cy="2331719"/>
          </a:xfrm>
        </p:spPr>
        <p:txBody>
          <a:bodyPr>
            <a:normAutofit fontScale="92500" lnSpcReduction="10000"/>
          </a:bodyPr>
          <a:lstStyle/>
          <a:p>
            <a:r>
              <a:rPr lang="en-US" b="0" i="0" dirty="0">
                <a:solidFill>
                  <a:srgbClr val="191919"/>
                </a:solidFill>
                <a:effectLst/>
                <a:latin typeface="Roboto Slab"/>
              </a:rPr>
              <a:t> </a:t>
            </a:r>
            <a:r>
              <a:rPr lang="en-US" b="0" i="0" dirty="0">
                <a:solidFill>
                  <a:srgbClr val="191919"/>
                </a:solidFill>
                <a:effectLst/>
              </a:rPr>
              <a:t>Bias refers to errors due to overly simplistic assumptions in the learning algorithm</a:t>
            </a:r>
          </a:p>
          <a:p>
            <a:r>
              <a:rPr lang="en-US" b="0" i="0" dirty="0">
                <a:solidFill>
                  <a:srgbClr val="191919"/>
                </a:solidFill>
                <a:effectLst/>
              </a:rPr>
              <a:t> Models with high bias tend to underfit the data, meaning they fail to capture the underlying patterns in the dataset.</a:t>
            </a:r>
          </a:p>
          <a:p>
            <a:r>
              <a:rPr lang="en-US" dirty="0"/>
              <a:t>Bias measures </a:t>
            </a:r>
            <a:r>
              <a:rPr lang="en-US" b="1" dirty="0"/>
              <a:t>how far the model’s average prediction is from the true value</a:t>
            </a:r>
            <a:r>
              <a:rPr lang="en-US" dirty="0"/>
              <a:t>.</a:t>
            </a:r>
            <a:endParaRPr lang="en-US" b="0" i="0" dirty="0">
              <a:solidFill>
                <a:srgbClr val="191919"/>
              </a:solidFill>
              <a:effectLst/>
            </a:endParaRPr>
          </a:p>
          <a:p>
            <a:endParaRPr lang="en-IN" dirty="0"/>
          </a:p>
        </p:txBody>
      </p:sp>
      <p:sp>
        <p:nvSpPr>
          <p:cNvPr id="5" name="TextBox 4">
            <a:extLst>
              <a:ext uri="{FF2B5EF4-FFF2-40B4-BE49-F238E27FC236}">
                <a16:creationId xmlns:a16="http://schemas.microsoft.com/office/drawing/2014/main" id="{03A7B02A-1B99-45AC-A702-ACBF3DD521E6}"/>
              </a:ext>
            </a:extLst>
          </p:cNvPr>
          <p:cNvSpPr txBox="1"/>
          <p:nvPr/>
        </p:nvSpPr>
        <p:spPr>
          <a:xfrm>
            <a:off x="556846" y="3559127"/>
            <a:ext cx="7152249" cy="2800767"/>
          </a:xfrm>
          <a:prstGeom prst="rect">
            <a:avLst/>
          </a:prstGeom>
          <a:solidFill>
            <a:schemeClr val="accent1">
              <a:lumMod val="20000"/>
              <a:lumOff val="80000"/>
            </a:schemeClr>
          </a:solidFill>
          <a:ln>
            <a:solidFill>
              <a:schemeClr val="accent1">
                <a:lumMod val="20000"/>
                <a:lumOff val="80000"/>
              </a:schemeClr>
            </a:solidFill>
          </a:ln>
        </p:spPr>
        <p:txBody>
          <a:bodyPr wrap="square">
            <a:spAutoFit/>
          </a:bodyPr>
          <a:lstStyle/>
          <a:p>
            <a:pPr algn="ctr"/>
            <a:r>
              <a:rPr lang="en-US" sz="2400" b="1" dirty="0"/>
              <a:t>Example</a:t>
            </a:r>
          </a:p>
          <a:p>
            <a:pPr algn="ctr"/>
            <a:endParaRPr lang="en-US" sz="2400" b="1" dirty="0"/>
          </a:p>
          <a:p>
            <a:pPr marL="342900" indent="-342900">
              <a:buFont typeface="Arial" panose="020B0604020202020204" pitchFamily="34" charset="0"/>
              <a:buChar char="•"/>
            </a:pPr>
            <a:r>
              <a:rPr lang="en-US" sz="2400" dirty="0"/>
              <a:t>Suppose the true relationship is: </a:t>
            </a:r>
            <a:r>
              <a:rPr lang="en-US" sz="2400" dirty="0">
                <a:solidFill>
                  <a:srgbClr val="FF0000"/>
                </a:solidFill>
                <a:highlight>
                  <a:srgbClr val="FFFF00"/>
                </a:highlight>
              </a:rPr>
              <a:t>y=x</a:t>
            </a:r>
            <a:r>
              <a:rPr lang="en-US" sz="2400" baseline="30000" dirty="0">
                <a:solidFill>
                  <a:srgbClr val="FF0000"/>
                </a:solidFill>
                <a:highlight>
                  <a:srgbClr val="FFFF00"/>
                </a:highlight>
              </a:rPr>
              <a:t>2</a:t>
            </a:r>
          </a:p>
          <a:p>
            <a:pPr marL="342900" indent="-342900">
              <a:buFont typeface="Arial" panose="020B0604020202020204" pitchFamily="34" charset="0"/>
              <a:buChar char="•"/>
            </a:pPr>
            <a:endParaRPr lang="en-US" sz="2400" b="1" baseline="30000" dirty="0"/>
          </a:p>
          <a:p>
            <a:pPr marL="342900" indent="-342900">
              <a:buFont typeface="Arial" panose="020B0604020202020204" pitchFamily="34" charset="0"/>
              <a:buChar char="•"/>
            </a:pPr>
            <a:r>
              <a:rPr lang="en-US" sz="2400" dirty="0"/>
              <a:t>But the model you use is </a:t>
            </a:r>
            <a:r>
              <a:rPr lang="en-US" sz="2400" b="1" dirty="0"/>
              <a:t>linear regression</a:t>
            </a:r>
            <a:r>
              <a:rPr lang="en-US" sz="2400" dirty="0"/>
              <a:t>: </a:t>
            </a:r>
            <a:r>
              <a:rPr lang="en-US" sz="2400" dirty="0">
                <a:solidFill>
                  <a:srgbClr val="FF0000"/>
                </a:solidFill>
                <a:highlight>
                  <a:srgbClr val="FFFF00"/>
                </a:highlight>
              </a:rPr>
              <a:t>y=</a:t>
            </a:r>
            <a:r>
              <a:rPr lang="en-US" sz="2400" dirty="0" err="1">
                <a:solidFill>
                  <a:srgbClr val="FF0000"/>
                </a:solidFill>
                <a:highlight>
                  <a:srgbClr val="FFFF00"/>
                </a:highlight>
              </a:rPr>
              <a:t>ax+b</a:t>
            </a:r>
            <a:endParaRPr lang="en-US" sz="2400" dirty="0">
              <a:solidFill>
                <a:srgbClr val="FF0000"/>
              </a:solidFill>
              <a:highlight>
                <a:srgbClr val="FFFF00"/>
              </a:highlight>
            </a:endParaRPr>
          </a:p>
          <a:p>
            <a:pPr marL="342900" indent="-342900">
              <a:buFont typeface="Arial" panose="020B0604020202020204" pitchFamily="34" charset="0"/>
              <a:buChar char="•"/>
            </a:pPr>
            <a:endParaRPr lang="en-US" sz="2400" b="1" baseline="30000" dirty="0"/>
          </a:p>
          <a:p>
            <a:pPr marL="342900" indent="-342900">
              <a:buFont typeface="Arial" panose="020B0604020202020204" pitchFamily="34" charset="0"/>
              <a:buChar char="•"/>
            </a:pPr>
            <a:r>
              <a:rPr lang="en-US" sz="2400" dirty="0"/>
              <a:t>A straight line </a:t>
            </a:r>
            <a:r>
              <a:rPr lang="en-US" sz="2400" b="1" dirty="0"/>
              <a:t>cannot represent a quadratic curve</a:t>
            </a:r>
            <a:r>
              <a:rPr lang="en-US" sz="2400" dirty="0"/>
              <a:t>, so the model will consistently make errors</a:t>
            </a:r>
            <a:r>
              <a:rPr lang="en-US" dirty="0"/>
              <a:t>.</a:t>
            </a:r>
            <a:endParaRPr lang="en-US" b="1" baseline="30000" dirty="0"/>
          </a:p>
        </p:txBody>
      </p:sp>
      <p:sp>
        <p:nvSpPr>
          <p:cNvPr id="7" name="TextBox 6">
            <a:extLst>
              <a:ext uri="{FF2B5EF4-FFF2-40B4-BE49-F238E27FC236}">
                <a16:creationId xmlns:a16="http://schemas.microsoft.com/office/drawing/2014/main" id="{26DEA9AF-4D16-4A07-B821-FA981EB798EE}"/>
              </a:ext>
            </a:extLst>
          </p:cNvPr>
          <p:cNvSpPr txBox="1"/>
          <p:nvPr/>
        </p:nvSpPr>
        <p:spPr>
          <a:xfrm>
            <a:off x="7709095" y="3636499"/>
            <a:ext cx="4375053" cy="2369880"/>
          </a:xfrm>
          <a:prstGeom prst="rect">
            <a:avLst/>
          </a:prstGeom>
          <a:noFill/>
        </p:spPr>
        <p:txBody>
          <a:bodyPr wrap="square">
            <a:spAutoFit/>
          </a:bodyPr>
          <a:lstStyle/>
          <a:p>
            <a:r>
              <a:rPr lang="en-US" sz="2400" b="1" dirty="0"/>
              <a:t>Characteristics of High Bias</a:t>
            </a:r>
          </a:p>
          <a:p>
            <a:pPr marL="457200" indent="-457200">
              <a:buFont typeface="Arial" panose="020B0604020202020204" pitchFamily="34" charset="0"/>
              <a:buChar char="•"/>
            </a:pPr>
            <a:r>
              <a:rPr lang="en-US" sz="2400" dirty="0"/>
              <a:t>Model is </a:t>
            </a:r>
            <a:r>
              <a:rPr lang="en-US" sz="2400" b="1" dirty="0"/>
              <a:t>too simple</a:t>
            </a:r>
            <a:endParaRPr lang="en-US" sz="2400" dirty="0"/>
          </a:p>
          <a:p>
            <a:pPr marL="457200" indent="-457200">
              <a:buFont typeface="Arial" panose="020B0604020202020204" pitchFamily="34" charset="0"/>
              <a:buChar char="•"/>
            </a:pPr>
            <a:r>
              <a:rPr lang="en-US" sz="2400" b="1" dirty="0"/>
              <a:t>Underfitting</a:t>
            </a:r>
            <a:endParaRPr lang="en-US" sz="2400" dirty="0"/>
          </a:p>
          <a:p>
            <a:pPr marL="457200" indent="-457200">
              <a:buFont typeface="Arial" panose="020B0604020202020204" pitchFamily="34" charset="0"/>
              <a:buChar char="•"/>
            </a:pPr>
            <a:r>
              <a:rPr lang="en-US" sz="2400" dirty="0"/>
              <a:t>Training error is </a:t>
            </a:r>
            <a:r>
              <a:rPr lang="en-US" sz="2400" b="1" dirty="0"/>
              <a:t>high</a:t>
            </a:r>
            <a:endParaRPr lang="en-US" sz="2400" dirty="0"/>
          </a:p>
          <a:p>
            <a:pPr marL="457200" indent="-457200">
              <a:buFont typeface="Arial" panose="020B0604020202020204" pitchFamily="34" charset="0"/>
              <a:buChar char="•"/>
            </a:pPr>
            <a:r>
              <a:rPr lang="en-US" sz="2400" dirty="0"/>
              <a:t>Validation/test error is </a:t>
            </a:r>
            <a:r>
              <a:rPr lang="en-US" sz="2400" b="1" dirty="0"/>
              <a:t>also high</a:t>
            </a:r>
            <a:endParaRPr lang="en-US" sz="1600" dirty="0"/>
          </a:p>
        </p:txBody>
      </p:sp>
    </p:spTree>
    <p:extLst>
      <p:ext uri="{BB962C8B-B14F-4D97-AF65-F5344CB8AC3E}">
        <p14:creationId xmlns:p14="http://schemas.microsoft.com/office/powerpoint/2010/main" val="163970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3F493-B696-4D64-98BA-20528FD1EA42}"/>
              </a:ext>
            </a:extLst>
          </p:cNvPr>
          <p:cNvSpPr>
            <a:spLocks noGrp="1"/>
          </p:cNvSpPr>
          <p:nvPr>
            <p:ph type="title"/>
          </p:nvPr>
        </p:nvSpPr>
        <p:spPr>
          <a:xfrm>
            <a:off x="838200" y="365126"/>
            <a:ext cx="10515600" cy="760290"/>
          </a:xfrm>
        </p:spPr>
        <p:txBody>
          <a:bodyPr/>
          <a:lstStyle/>
          <a:p>
            <a:r>
              <a:rPr lang="en-US" b="1" dirty="0">
                <a:solidFill>
                  <a:srgbClr val="FF0000"/>
                </a:solidFill>
              </a:rPr>
              <a:t>Variance</a:t>
            </a:r>
            <a:endParaRPr lang="en-IN" b="1" dirty="0">
              <a:solidFill>
                <a:srgbClr val="FF0000"/>
              </a:solidFill>
            </a:endParaRPr>
          </a:p>
        </p:txBody>
      </p:sp>
      <p:sp>
        <p:nvSpPr>
          <p:cNvPr id="3" name="Content Placeholder 2">
            <a:extLst>
              <a:ext uri="{FF2B5EF4-FFF2-40B4-BE49-F238E27FC236}">
                <a16:creationId xmlns:a16="http://schemas.microsoft.com/office/drawing/2014/main" id="{6254A3F8-1AB7-46BE-943B-0113FD353619}"/>
              </a:ext>
            </a:extLst>
          </p:cNvPr>
          <p:cNvSpPr>
            <a:spLocks noGrp="1"/>
          </p:cNvSpPr>
          <p:nvPr>
            <p:ph idx="1"/>
          </p:nvPr>
        </p:nvSpPr>
        <p:spPr>
          <a:xfrm>
            <a:off x="838200" y="1403594"/>
            <a:ext cx="10515600" cy="2760443"/>
          </a:xfrm>
        </p:spPr>
        <p:txBody>
          <a:bodyPr>
            <a:normAutofit/>
          </a:bodyPr>
          <a:lstStyle/>
          <a:p>
            <a:r>
              <a:rPr lang="en-US" b="0" i="0" dirty="0">
                <a:effectLst/>
              </a:rPr>
              <a:t>Variance measures the model’s sensitivity to fluctuations in the training data</a:t>
            </a:r>
            <a:r>
              <a:rPr lang="en-US" b="1" dirty="0"/>
              <a:t>.</a:t>
            </a:r>
          </a:p>
          <a:p>
            <a:r>
              <a:rPr lang="en-US" dirty="0"/>
              <a:t>Variance measures </a:t>
            </a:r>
            <a:r>
              <a:rPr lang="en-US" b="1" dirty="0"/>
              <a:t>how much the model’s predictions change if the training data changes slightly</a:t>
            </a:r>
            <a:r>
              <a:rPr lang="en-US" dirty="0"/>
              <a:t>.</a:t>
            </a:r>
          </a:p>
          <a:p>
            <a:r>
              <a:rPr lang="en-US" dirty="0"/>
              <a:t>If a model learns </a:t>
            </a:r>
            <a:r>
              <a:rPr lang="en-US" b="1" dirty="0"/>
              <a:t>noise in the data instead of the real pattern</a:t>
            </a:r>
            <a:r>
              <a:rPr lang="en-US" dirty="0"/>
              <a:t>, it has </a:t>
            </a:r>
            <a:r>
              <a:rPr lang="en-US" b="1" dirty="0"/>
              <a:t>high variance</a:t>
            </a:r>
            <a:r>
              <a:rPr lang="en-US" dirty="0"/>
              <a:t>.</a:t>
            </a:r>
            <a:endParaRPr lang="en-IN" dirty="0"/>
          </a:p>
        </p:txBody>
      </p:sp>
      <p:sp>
        <p:nvSpPr>
          <p:cNvPr id="5" name="TextBox 4">
            <a:extLst>
              <a:ext uri="{FF2B5EF4-FFF2-40B4-BE49-F238E27FC236}">
                <a16:creationId xmlns:a16="http://schemas.microsoft.com/office/drawing/2014/main" id="{C021ED20-520C-4EFE-9532-C7C4F8B72790}"/>
              </a:ext>
            </a:extLst>
          </p:cNvPr>
          <p:cNvSpPr txBox="1"/>
          <p:nvPr/>
        </p:nvSpPr>
        <p:spPr>
          <a:xfrm>
            <a:off x="3187505" y="4442215"/>
            <a:ext cx="6098344" cy="1938992"/>
          </a:xfrm>
          <a:prstGeom prst="rect">
            <a:avLst/>
          </a:prstGeom>
          <a:noFill/>
        </p:spPr>
        <p:txBody>
          <a:bodyPr wrap="square">
            <a:spAutoFit/>
          </a:bodyPr>
          <a:lstStyle/>
          <a:p>
            <a:pPr algn="ctr"/>
            <a:r>
              <a:rPr lang="en-US" sz="2400" b="1" dirty="0">
                <a:solidFill>
                  <a:srgbClr val="FF0000"/>
                </a:solidFill>
              </a:rPr>
              <a:t>Characteristics of High Variance</a:t>
            </a:r>
          </a:p>
          <a:p>
            <a:pPr marL="1257300" lvl="2" indent="-342900">
              <a:buFont typeface="Arial" panose="020B0604020202020204" pitchFamily="34" charset="0"/>
              <a:buChar char="•"/>
            </a:pPr>
            <a:r>
              <a:rPr lang="en-US" sz="2400" dirty="0"/>
              <a:t>Model is </a:t>
            </a:r>
            <a:r>
              <a:rPr lang="en-US" sz="2400" b="1" dirty="0"/>
              <a:t>too complex</a:t>
            </a:r>
            <a:endParaRPr lang="en-US" sz="2400" dirty="0"/>
          </a:p>
          <a:p>
            <a:pPr marL="1257300" lvl="2" indent="-342900">
              <a:buFont typeface="Arial" panose="020B0604020202020204" pitchFamily="34" charset="0"/>
              <a:buChar char="•"/>
            </a:pPr>
            <a:r>
              <a:rPr lang="en-US" sz="2400" b="1" dirty="0"/>
              <a:t>Overfitting</a:t>
            </a:r>
            <a:endParaRPr lang="en-US" sz="2400" dirty="0"/>
          </a:p>
          <a:p>
            <a:pPr marL="1257300" lvl="2" indent="-342900">
              <a:buFont typeface="Arial" panose="020B0604020202020204" pitchFamily="34" charset="0"/>
              <a:buChar char="•"/>
            </a:pPr>
            <a:r>
              <a:rPr lang="en-US" sz="2400" dirty="0"/>
              <a:t>Training error </a:t>
            </a:r>
            <a:r>
              <a:rPr lang="en-US" sz="2400" b="1" dirty="0"/>
              <a:t>very low</a:t>
            </a:r>
            <a:endParaRPr lang="en-US" sz="2400" dirty="0"/>
          </a:p>
          <a:p>
            <a:pPr marL="1257300" lvl="2" indent="-342900">
              <a:buFont typeface="Arial" panose="020B0604020202020204" pitchFamily="34" charset="0"/>
              <a:buChar char="•"/>
            </a:pPr>
            <a:r>
              <a:rPr lang="en-US" sz="2400" dirty="0"/>
              <a:t>Test error </a:t>
            </a:r>
            <a:r>
              <a:rPr lang="en-US" sz="2400" b="1" dirty="0"/>
              <a:t>high</a:t>
            </a:r>
            <a:endParaRPr lang="en-US" sz="2400" dirty="0"/>
          </a:p>
        </p:txBody>
      </p:sp>
    </p:spTree>
    <p:extLst>
      <p:ext uri="{BB962C8B-B14F-4D97-AF65-F5344CB8AC3E}">
        <p14:creationId xmlns:p14="http://schemas.microsoft.com/office/powerpoint/2010/main" val="702100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AA70A-7403-B110-573C-B1D45784DF29}"/>
              </a:ext>
            </a:extLst>
          </p:cNvPr>
          <p:cNvSpPr>
            <a:spLocks noGrp="1"/>
          </p:cNvSpPr>
          <p:nvPr>
            <p:ph type="title"/>
          </p:nvPr>
        </p:nvSpPr>
        <p:spPr>
          <a:xfrm>
            <a:off x="838200" y="365125"/>
            <a:ext cx="10515600" cy="785581"/>
          </a:xfrm>
        </p:spPr>
        <p:txBody>
          <a:bodyPr/>
          <a:lstStyle/>
          <a:p>
            <a:pPr algn="ctr"/>
            <a:r>
              <a:rPr lang="en-IN" b="1" dirty="0">
                <a:solidFill>
                  <a:srgbClr val="FF0000"/>
                </a:solidFill>
              </a:rPr>
              <a:t>Ensemble Learning</a:t>
            </a:r>
          </a:p>
        </p:txBody>
      </p:sp>
      <p:sp>
        <p:nvSpPr>
          <p:cNvPr id="3" name="Content Placeholder 2">
            <a:extLst>
              <a:ext uri="{FF2B5EF4-FFF2-40B4-BE49-F238E27FC236}">
                <a16:creationId xmlns:a16="http://schemas.microsoft.com/office/drawing/2014/main" id="{7E351BE9-5FE8-082A-3F2D-64A14572ED41}"/>
              </a:ext>
            </a:extLst>
          </p:cNvPr>
          <p:cNvSpPr>
            <a:spLocks noGrp="1"/>
          </p:cNvSpPr>
          <p:nvPr>
            <p:ph idx="1"/>
          </p:nvPr>
        </p:nvSpPr>
        <p:spPr>
          <a:xfrm>
            <a:off x="838200" y="1520825"/>
            <a:ext cx="10515600" cy="4972050"/>
          </a:xfrm>
        </p:spPr>
        <p:txBody>
          <a:bodyPr>
            <a:noAutofit/>
          </a:bodyPr>
          <a:lstStyle/>
          <a:p>
            <a:pPr algn="just"/>
            <a:r>
              <a:rPr lang="en-US" b="1" dirty="0"/>
              <a:t>Ensemble technology</a:t>
            </a:r>
            <a:r>
              <a:rPr lang="en-US" dirty="0"/>
              <a:t> in machine learning refers to techniques that </a:t>
            </a:r>
            <a:r>
              <a:rPr lang="en-US" dirty="0">
                <a:solidFill>
                  <a:srgbClr val="FF0000"/>
                </a:solidFill>
              </a:rPr>
              <a:t>combine multiple models to produce better performance than any single model alone. </a:t>
            </a:r>
          </a:p>
          <a:p>
            <a:pPr algn="just"/>
            <a:r>
              <a:rPr lang="en-US" dirty="0"/>
              <a:t>The main idea is that a group of "weak learners" (models that perform slightly better than random guessing) can be combined to form a "strong learner.“</a:t>
            </a:r>
          </a:p>
          <a:p>
            <a:pPr algn="just"/>
            <a:r>
              <a:rPr lang="en-US" dirty="0"/>
              <a:t>Ensembles offer more accuracy than individual or base classifier. </a:t>
            </a:r>
          </a:p>
          <a:p>
            <a:pPr algn="just"/>
            <a:r>
              <a:rPr lang="en-US" dirty="0"/>
              <a:t> Ensemble methods can </a:t>
            </a:r>
            <a:r>
              <a:rPr lang="en-US" b="1" dirty="0"/>
              <a:t>decrease variance using bagging approach,</a:t>
            </a:r>
            <a:r>
              <a:rPr lang="en-US" dirty="0"/>
              <a:t> </a:t>
            </a:r>
            <a:r>
              <a:rPr lang="en-US" b="1" dirty="0"/>
              <a:t>bias using a boosting approach</a:t>
            </a:r>
            <a:r>
              <a:rPr lang="en-US" dirty="0"/>
              <a:t>, or </a:t>
            </a:r>
            <a:r>
              <a:rPr lang="en-US" b="1" dirty="0"/>
              <a:t>improve predictions using stacking approach.</a:t>
            </a:r>
            <a:endParaRPr lang="en-IN" b="1" dirty="0"/>
          </a:p>
        </p:txBody>
      </p:sp>
    </p:spTree>
    <p:extLst>
      <p:ext uri="{BB962C8B-B14F-4D97-AF65-F5344CB8AC3E}">
        <p14:creationId xmlns:p14="http://schemas.microsoft.com/office/powerpoint/2010/main" val="36060046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0EDD3-EF7B-B4E5-E396-5091BEDDDB4E}"/>
              </a:ext>
            </a:extLst>
          </p:cNvPr>
          <p:cNvSpPr>
            <a:spLocks noGrp="1"/>
          </p:cNvSpPr>
          <p:nvPr>
            <p:ph type="title"/>
          </p:nvPr>
        </p:nvSpPr>
        <p:spPr/>
        <p:txBody>
          <a:bodyPr/>
          <a:lstStyle/>
          <a:p>
            <a:pPr algn="ctr"/>
            <a:r>
              <a:rPr lang="en-IN" b="1" dirty="0">
                <a:solidFill>
                  <a:srgbClr val="FF0000"/>
                </a:solidFill>
              </a:rPr>
              <a:t>Real life examples</a:t>
            </a:r>
          </a:p>
        </p:txBody>
      </p:sp>
      <p:sp>
        <p:nvSpPr>
          <p:cNvPr id="3" name="Content Placeholder 2">
            <a:extLst>
              <a:ext uri="{FF2B5EF4-FFF2-40B4-BE49-F238E27FC236}">
                <a16:creationId xmlns:a16="http://schemas.microsoft.com/office/drawing/2014/main" id="{AFD54C5F-A3CA-BF44-F59D-59F16EF2F5C7}"/>
              </a:ext>
            </a:extLst>
          </p:cNvPr>
          <p:cNvSpPr>
            <a:spLocks noGrp="1"/>
          </p:cNvSpPr>
          <p:nvPr>
            <p:ph idx="1"/>
          </p:nvPr>
        </p:nvSpPr>
        <p:spPr>
          <a:xfrm>
            <a:off x="838200" y="1825625"/>
            <a:ext cx="10515600" cy="3650501"/>
          </a:xfrm>
        </p:spPr>
        <p:txBody>
          <a:bodyPr>
            <a:normAutofit/>
          </a:bodyPr>
          <a:lstStyle/>
          <a:p>
            <a:pPr algn="just"/>
            <a:r>
              <a:rPr lang="en-US" sz="3200" dirty="0"/>
              <a:t>Let's take a real example to build the intuition. </a:t>
            </a:r>
          </a:p>
          <a:p>
            <a:pPr algn="just"/>
            <a:r>
              <a:rPr lang="en-US" sz="3200" dirty="0"/>
              <a:t> Suppose, you want </a:t>
            </a:r>
            <a:r>
              <a:rPr lang="en-US" sz="3200" dirty="0">
                <a:solidFill>
                  <a:srgbClr val="00B0F0"/>
                </a:solidFill>
              </a:rPr>
              <a:t>to invest in a company XYZ</a:t>
            </a:r>
            <a:r>
              <a:rPr lang="en-US" sz="3200" dirty="0"/>
              <a:t>. You are not sure about its performance though. </a:t>
            </a:r>
          </a:p>
          <a:p>
            <a:pPr algn="just"/>
            <a:r>
              <a:rPr lang="en-US" sz="3200" dirty="0"/>
              <a:t> So, you </a:t>
            </a:r>
            <a:r>
              <a:rPr lang="en-US" sz="3200" dirty="0">
                <a:solidFill>
                  <a:srgbClr val="FF0000"/>
                </a:solidFill>
              </a:rPr>
              <a:t>look for advice on whether the stock price will increase by more than 6% per annum or not? </a:t>
            </a:r>
          </a:p>
          <a:p>
            <a:pPr algn="just"/>
            <a:r>
              <a:rPr lang="en-US" sz="3200" dirty="0"/>
              <a:t> You decide to approach various experts having diverse domain experience</a:t>
            </a:r>
            <a:endParaRPr lang="en-IN" sz="3200" dirty="0"/>
          </a:p>
        </p:txBody>
      </p:sp>
    </p:spTree>
    <p:extLst>
      <p:ext uri="{BB962C8B-B14F-4D97-AF65-F5344CB8AC3E}">
        <p14:creationId xmlns:p14="http://schemas.microsoft.com/office/powerpoint/2010/main" val="2558432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5E1B9-BC9A-FA51-4913-585BA134138D}"/>
              </a:ext>
            </a:extLst>
          </p:cNvPr>
          <p:cNvSpPr>
            <a:spLocks noGrp="1"/>
          </p:cNvSpPr>
          <p:nvPr>
            <p:ph type="title"/>
          </p:nvPr>
        </p:nvSpPr>
        <p:spPr>
          <a:xfrm>
            <a:off x="838200" y="365126"/>
            <a:ext cx="10515600" cy="898596"/>
          </a:xfrm>
        </p:spPr>
        <p:txBody>
          <a:bodyPr/>
          <a:lstStyle/>
          <a:p>
            <a:r>
              <a:rPr lang="en-IN" b="1" dirty="0">
                <a:solidFill>
                  <a:srgbClr val="FF0000"/>
                </a:solidFill>
              </a:rPr>
              <a:t>The survey prediction</a:t>
            </a:r>
          </a:p>
        </p:txBody>
      </p:sp>
      <p:sp>
        <p:nvSpPr>
          <p:cNvPr id="3" name="Content Placeholder 2">
            <a:extLst>
              <a:ext uri="{FF2B5EF4-FFF2-40B4-BE49-F238E27FC236}">
                <a16:creationId xmlns:a16="http://schemas.microsoft.com/office/drawing/2014/main" id="{09AA9643-E675-EF9F-C4CF-45C7E87CC0D2}"/>
              </a:ext>
            </a:extLst>
          </p:cNvPr>
          <p:cNvSpPr>
            <a:spLocks noGrp="1"/>
          </p:cNvSpPr>
          <p:nvPr>
            <p:ph idx="1"/>
          </p:nvPr>
        </p:nvSpPr>
        <p:spPr>
          <a:xfrm>
            <a:off x="838200" y="1499171"/>
            <a:ext cx="10515600" cy="4729163"/>
          </a:xfrm>
        </p:spPr>
        <p:txBody>
          <a:bodyPr>
            <a:normAutofit fontScale="92500" lnSpcReduction="10000"/>
          </a:bodyPr>
          <a:lstStyle/>
          <a:p>
            <a:r>
              <a:rPr lang="en-US" dirty="0"/>
              <a:t>Employee of Company XYZ: </a:t>
            </a:r>
          </a:p>
          <a:p>
            <a:pPr marL="457200" lvl="1" indent="0">
              <a:buNone/>
            </a:pPr>
            <a:r>
              <a:rPr lang="en-US" dirty="0"/>
              <a:t>– In the past, he has been right 70% times. </a:t>
            </a:r>
          </a:p>
          <a:p>
            <a:pPr marL="0" indent="0">
              <a:buNone/>
            </a:pPr>
            <a:r>
              <a:rPr lang="en-US" dirty="0"/>
              <a:t>• Financial Advisor of Company XYZ: </a:t>
            </a:r>
          </a:p>
          <a:p>
            <a:pPr marL="457200" lvl="1" indent="0">
              <a:buNone/>
            </a:pPr>
            <a:r>
              <a:rPr lang="en-US" dirty="0"/>
              <a:t>– In the past, he has been right 75% times. </a:t>
            </a:r>
          </a:p>
          <a:p>
            <a:pPr marL="0" indent="0">
              <a:buNone/>
            </a:pPr>
            <a:r>
              <a:rPr lang="en-US" dirty="0"/>
              <a:t>• Stock Market Trader: </a:t>
            </a:r>
          </a:p>
          <a:p>
            <a:pPr marL="457200" lvl="1" indent="0">
              <a:buNone/>
            </a:pPr>
            <a:r>
              <a:rPr lang="en-US" dirty="0"/>
              <a:t>– In the past, he has been right 70% times. </a:t>
            </a:r>
          </a:p>
          <a:p>
            <a:pPr marL="0" indent="0">
              <a:buNone/>
            </a:pPr>
            <a:r>
              <a:rPr lang="en-US" dirty="0"/>
              <a:t>• Employee of a competitor: </a:t>
            </a:r>
          </a:p>
          <a:p>
            <a:pPr marL="457200" lvl="1" indent="0">
              <a:buNone/>
            </a:pPr>
            <a:r>
              <a:rPr lang="en-US" dirty="0"/>
              <a:t>– In the past, he has been right 60% times.</a:t>
            </a:r>
          </a:p>
          <a:p>
            <a:pPr marL="0" indent="0">
              <a:buNone/>
            </a:pPr>
            <a:r>
              <a:rPr lang="en-US" dirty="0"/>
              <a:t> • Market Research team in the same segment: </a:t>
            </a:r>
          </a:p>
          <a:p>
            <a:pPr marL="457200" lvl="1" indent="0">
              <a:buNone/>
            </a:pPr>
            <a:r>
              <a:rPr lang="en-US" dirty="0"/>
              <a:t>– In the past, he has been right 75% times. </a:t>
            </a:r>
          </a:p>
          <a:p>
            <a:pPr marL="0" indent="0">
              <a:buNone/>
            </a:pPr>
            <a:r>
              <a:rPr lang="en-US" dirty="0"/>
              <a:t>• Social Media Expert: </a:t>
            </a:r>
          </a:p>
          <a:p>
            <a:pPr marL="457200" lvl="1" indent="0">
              <a:buNone/>
            </a:pPr>
            <a:r>
              <a:rPr lang="en-US" dirty="0"/>
              <a:t>– In the past, he has been right 65% times.</a:t>
            </a:r>
            <a:endParaRPr lang="en-IN" dirty="0"/>
          </a:p>
        </p:txBody>
      </p:sp>
    </p:spTree>
    <p:extLst>
      <p:ext uri="{BB962C8B-B14F-4D97-AF65-F5344CB8AC3E}">
        <p14:creationId xmlns:p14="http://schemas.microsoft.com/office/powerpoint/2010/main" val="4071670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E5563-9D70-52F9-8E62-77FDE7A57008}"/>
              </a:ext>
            </a:extLst>
          </p:cNvPr>
          <p:cNvSpPr>
            <a:spLocks noGrp="1"/>
          </p:cNvSpPr>
          <p:nvPr>
            <p:ph type="title"/>
          </p:nvPr>
        </p:nvSpPr>
        <p:spPr/>
        <p:txBody>
          <a:bodyPr/>
          <a:lstStyle/>
          <a:p>
            <a:pPr algn="ctr"/>
            <a:r>
              <a:rPr lang="en-IN" b="1" dirty="0">
                <a:solidFill>
                  <a:srgbClr val="FF0000"/>
                </a:solidFill>
              </a:rPr>
              <a:t>Inference</a:t>
            </a:r>
          </a:p>
        </p:txBody>
      </p:sp>
      <p:sp>
        <p:nvSpPr>
          <p:cNvPr id="3" name="Content Placeholder 2">
            <a:extLst>
              <a:ext uri="{FF2B5EF4-FFF2-40B4-BE49-F238E27FC236}">
                <a16:creationId xmlns:a16="http://schemas.microsoft.com/office/drawing/2014/main" id="{F70D21BF-7719-06F2-B0A4-7C34025098E4}"/>
              </a:ext>
            </a:extLst>
          </p:cNvPr>
          <p:cNvSpPr>
            <a:spLocks noGrp="1"/>
          </p:cNvSpPr>
          <p:nvPr>
            <p:ph idx="1"/>
          </p:nvPr>
        </p:nvSpPr>
        <p:spPr/>
        <p:txBody>
          <a:bodyPr>
            <a:normAutofit/>
          </a:bodyPr>
          <a:lstStyle/>
          <a:p>
            <a:pPr algn="just"/>
            <a:r>
              <a:rPr lang="en-US" sz="2400" dirty="0"/>
              <a:t>Given the broad spectrum of access you have, you can probably combine all the information and make an informed decision. </a:t>
            </a:r>
          </a:p>
          <a:p>
            <a:pPr algn="just"/>
            <a:r>
              <a:rPr lang="en-US" sz="2400" dirty="0"/>
              <a:t> In a scenario when all the 6 experts/teams verify that it’s a good decision(assuming all the predictions are independent of each other), you will get a combined accuracy rate of 1 - (30% . 25% . 30% . 40% . 25% . 35%) = 1 - 0.07875 = 99.92125% </a:t>
            </a:r>
          </a:p>
          <a:p>
            <a:pPr algn="just"/>
            <a:r>
              <a:rPr lang="en-US" sz="2400" dirty="0"/>
              <a:t> The assumption used here that all the predictions are completely independent is slightly extreme as they are expected to be correlated. However, you can see how we can be so sure by combining various forecasts together. </a:t>
            </a:r>
          </a:p>
          <a:p>
            <a:pPr algn="just"/>
            <a:r>
              <a:rPr lang="en-US" sz="2400" dirty="0"/>
              <a:t> Well, Ensemble learning is no different.</a:t>
            </a:r>
            <a:endParaRPr lang="en-IN" sz="2400" dirty="0"/>
          </a:p>
        </p:txBody>
      </p:sp>
    </p:spTree>
    <p:extLst>
      <p:ext uri="{BB962C8B-B14F-4D97-AF65-F5344CB8AC3E}">
        <p14:creationId xmlns:p14="http://schemas.microsoft.com/office/powerpoint/2010/main" val="38955403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F65F94-62EB-5021-0A2E-E28EE20555C3}"/>
              </a:ext>
            </a:extLst>
          </p:cNvPr>
          <p:cNvSpPr>
            <a:spLocks noGrp="1"/>
          </p:cNvSpPr>
          <p:nvPr>
            <p:ph type="title"/>
          </p:nvPr>
        </p:nvSpPr>
        <p:spPr/>
        <p:txBody>
          <a:bodyPr/>
          <a:lstStyle/>
          <a:p>
            <a:r>
              <a:rPr lang="en-IN" dirty="0" err="1">
                <a:solidFill>
                  <a:srgbClr val="FF0000"/>
                </a:solidFill>
              </a:rPr>
              <a:t>Ensembling</a:t>
            </a:r>
            <a:endParaRPr lang="en-IN" dirty="0">
              <a:solidFill>
                <a:srgbClr val="FF0000"/>
              </a:solidFill>
            </a:endParaRPr>
          </a:p>
        </p:txBody>
      </p:sp>
      <p:sp>
        <p:nvSpPr>
          <p:cNvPr id="3" name="Content Placeholder 2">
            <a:extLst>
              <a:ext uri="{FF2B5EF4-FFF2-40B4-BE49-F238E27FC236}">
                <a16:creationId xmlns:a16="http://schemas.microsoft.com/office/drawing/2014/main" id="{95920B8F-372B-2D15-0D8E-0670DA05A55E}"/>
              </a:ext>
            </a:extLst>
          </p:cNvPr>
          <p:cNvSpPr>
            <a:spLocks noGrp="1"/>
          </p:cNvSpPr>
          <p:nvPr>
            <p:ph idx="1"/>
          </p:nvPr>
        </p:nvSpPr>
        <p:spPr/>
        <p:txBody>
          <a:bodyPr/>
          <a:lstStyle/>
          <a:p>
            <a:pPr algn="just"/>
            <a:r>
              <a:rPr lang="en-US" dirty="0"/>
              <a:t>An ensemble is the </a:t>
            </a:r>
            <a:r>
              <a:rPr lang="en-US" dirty="0">
                <a:highlight>
                  <a:srgbClr val="FFFF00"/>
                </a:highlight>
              </a:rPr>
              <a:t>art of combining a diverse set of learners </a:t>
            </a:r>
            <a:r>
              <a:rPr lang="en-US" dirty="0"/>
              <a:t>(individual models) together to improvise on the stability and predictive power of the model.</a:t>
            </a:r>
          </a:p>
          <a:p>
            <a:pPr algn="just"/>
            <a:r>
              <a:rPr lang="en-US" dirty="0"/>
              <a:t> In our example, the way we combine all the predictions collectively will be termed as Ensemble learning. </a:t>
            </a:r>
          </a:p>
          <a:p>
            <a:pPr algn="just"/>
            <a:r>
              <a:rPr lang="en-US" dirty="0"/>
              <a:t> Moreover, Ensemble-based models can be incorporated in both of the two scenarios, i.e., when data is of large volume and when data is too little.</a:t>
            </a:r>
            <a:endParaRPr lang="en-IN" dirty="0"/>
          </a:p>
        </p:txBody>
      </p:sp>
    </p:spTree>
    <p:extLst>
      <p:ext uri="{BB962C8B-B14F-4D97-AF65-F5344CB8AC3E}">
        <p14:creationId xmlns:p14="http://schemas.microsoft.com/office/powerpoint/2010/main" val="14104331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8A00B-0F6B-9C64-8B0A-8EA1493115FB}"/>
              </a:ext>
            </a:extLst>
          </p:cNvPr>
          <p:cNvSpPr>
            <a:spLocks noGrp="1"/>
          </p:cNvSpPr>
          <p:nvPr>
            <p:ph type="title"/>
          </p:nvPr>
        </p:nvSpPr>
        <p:spPr>
          <a:xfrm>
            <a:off x="838200" y="365126"/>
            <a:ext cx="10515600" cy="857500"/>
          </a:xfrm>
        </p:spPr>
        <p:txBody>
          <a:bodyPr/>
          <a:lstStyle/>
          <a:p>
            <a:pPr algn="ctr"/>
            <a:r>
              <a:rPr lang="en-IN" b="1" dirty="0">
                <a:solidFill>
                  <a:srgbClr val="FF0000"/>
                </a:solidFill>
              </a:rPr>
              <a:t>Basic Ensemble Structure</a:t>
            </a:r>
          </a:p>
        </p:txBody>
      </p:sp>
      <p:pic>
        <p:nvPicPr>
          <p:cNvPr id="5" name="Picture 4">
            <a:extLst>
              <a:ext uri="{FF2B5EF4-FFF2-40B4-BE49-F238E27FC236}">
                <a16:creationId xmlns:a16="http://schemas.microsoft.com/office/drawing/2014/main" id="{9A88686D-EA7B-7AB7-0CC0-EE275F937CF5}"/>
              </a:ext>
            </a:extLst>
          </p:cNvPr>
          <p:cNvPicPr>
            <a:picLocks noChangeAspect="1"/>
          </p:cNvPicPr>
          <p:nvPr/>
        </p:nvPicPr>
        <p:blipFill>
          <a:blip r:embed="rId2"/>
          <a:stretch>
            <a:fillRect/>
          </a:stretch>
        </p:blipFill>
        <p:spPr>
          <a:xfrm>
            <a:off x="3178814" y="1222626"/>
            <a:ext cx="6571361" cy="5273892"/>
          </a:xfrm>
          <a:prstGeom prst="rect">
            <a:avLst/>
          </a:prstGeom>
        </p:spPr>
      </p:pic>
    </p:spTree>
    <p:extLst>
      <p:ext uri="{BB962C8B-B14F-4D97-AF65-F5344CB8AC3E}">
        <p14:creationId xmlns:p14="http://schemas.microsoft.com/office/powerpoint/2010/main" val="513049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39626A-BFD1-BEE7-2CE2-94B428AD9346}"/>
              </a:ext>
            </a:extLst>
          </p:cNvPr>
          <p:cNvSpPr>
            <a:spLocks noGrp="1"/>
          </p:cNvSpPr>
          <p:nvPr>
            <p:ph type="title"/>
          </p:nvPr>
        </p:nvSpPr>
        <p:spPr/>
        <p:txBody>
          <a:bodyPr/>
          <a:lstStyle/>
          <a:p>
            <a:r>
              <a:rPr lang="en-US" b="1" dirty="0">
                <a:solidFill>
                  <a:srgbClr val="FF0000"/>
                </a:solidFill>
              </a:rPr>
              <a:t>Summary</a:t>
            </a:r>
            <a:endParaRPr lang="en-IN" b="1" dirty="0">
              <a:solidFill>
                <a:srgbClr val="FF0000"/>
              </a:solidFill>
            </a:endParaRPr>
          </a:p>
        </p:txBody>
      </p:sp>
      <p:sp>
        <p:nvSpPr>
          <p:cNvPr id="3" name="Content Placeholder 2">
            <a:extLst>
              <a:ext uri="{FF2B5EF4-FFF2-40B4-BE49-F238E27FC236}">
                <a16:creationId xmlns:a16="http://schemas.microsoft.com/office/drawing/2014/main" id="{58BEEC69-139B-1A31-B2D0-2FCFFB8A635E}"/>
              </a:ext>
            </a:extLst>
          </p:cNvPr>
          <p:cNvSpPr>
            <a:spLocks noGrp="1"/>
          </p:cNvSpPr>
          <p:nvPr>
            <p:ph idx="1"/>
          </p:nvPr>
        </p:nvSpPr>
        <p:spPr/>
        <p:txBody>
          <a:bodyPr>
            <a:normAutofit/>
          </a:bodyPr>
          <a:lstStyle/>
          <a:p>
            <a:r>
              <a:rPr lang="en-US" dirty="0"/>
              <a:t>Use multiple learning algorithms (classifiers) </a:t>
            </a:r>
          </a:p>
          <a:p>
            <a:r>
              <a:rPr lang="en-US" dirty="0"/>
              <a:t> Combine the decisions</a:t>
            </a:r>
          </a:p>
          <a:p>
            <a:r>
              <a:rPr lang="en-US" dirty="0"/>
              <a:t> Can be more accurate than the individual classifiers </a:t>
            </a:r>
          </a:p>
          <a:p>
            <a:r>
              <a:rPr lang="en-US" dirty="0"/>
              <a:t> Generate a group of base-learners </a:t>
            </a:r>
          </a:p>
          <a:p>
            <a:r>
              <a:rPr lang="en-US" dirty="0"/>
              <a:t> Different learners use different</a:t>
            </a:r>
          </a:p>
          <a:p>
            <a:pPr marL="457200" lvl="1" indent="0">
              <a:buNone/>
            </a:pPr>
            <a:r>
              <a:rPr lang="en-US" dirty="0"/>
              <a:t>– Algorithms </a:t>
            </a:r>
          </a:p>
          <a:p>
            <a:pPr marL="457200" lvl="1" indent="0">
              <a:buNone/>
            </a:pPr>
            <a:r>
              <a:rPr lang="en-US" dirty="0"/>
              <a:t>– Hyperparameters </a:t>
            </a:r>
          </a:p>
          <a:p>
            <a:pPr marL="457200" lvl="1" indent="0">
              <a:buNone/>
            </a:pPr>
            <a:r>
              <a:rPr lang="en-US" dirty="0"/>
              <a:t>– Representations (Modalities) </a:t>
            </a:r>
          </a:p>
          <a:p>
            <a:pPr marL="457200" lvl="1" indent="0">
              <a:buNone/>
            </a:pPr>
            <a:r>
              <a:rPr lang="en-US" dirty="0"/>
              <a:t>– Training sets</a:t>
            </a:r>
            <a:endParaRPr lang="en-IN" dirty="0"/>
          </a:p>
        </p:txBody>
      </p:sp>
    </p:spTree>
    <p:extLst>
      <p:ext uri="{BB962C8B-B14F-4D97-AF65-F5344CB8AC3E}">
        <p14:creationId xmlns:p14="http://schemas.microsoft.com/office/powerpoint/2010/main" val="24642318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15729-1A74-5C45-DBB6-B228AC3B0631}"/>
              </a:ext>
            </a:extLst>
          </p:cNvPr>
          <p:cNvSpPr>
            <a:spLocks noGrp="1"/>
          </p:cNvSpPr>
          <p:nvPr>
            <p:ph type="title"/>
          </p:nvPr>
        </p:nvSpPr>
        <p:spPr/>
        <p:txBody>
          <a:bodyPr/>
          <a:lstStyle/>
          <a:p>
            <a:r>
              <a:rPr lang="en-IN" b="1" dirty="0">
                <a:solidFill>
                  <a:srgbClr val="FF0000"/>
                </a:solidFill>
              </a:rPr>
              <a:t>Why ensembles ?</a:t>
            </a:r>
          </a:p>
        </p:txBody>
      </p:sp>
      <p:sp>
        <p:nvSpPr>
          <p:cNvPr id="3" name="Content Placeholder 2">
            <a:extLst>
              <a:ext uri="{FF2B5EF4-FFF2-40B4-BE49-F238E27FC236}">
                <a16:creationId xmlns:a16="http://schemas.microsoft.com/office/drawing/2014/main" id="{A39B1E4C-4CC9-A352-4E0F-79010B36C514}"/>
              </a:ext>
            </a:extLst>
          </p:cNvPr>
          <p:cNvSpPr>
            <a:spLocks noGrp="1"/>
          </p:cNvSpPr>
          <p:nvPr>
            <p:ph idx="1"/>
          </p:nvPr>
        </p:nvSpPr>
        <p:spPr/>
        <p:txBody>
          <a:bodyPr/>
          <a:lstStyle/>
          <a:p>
            <a:r>
              <a:rPr lang="en-US" dirty="0"/>
              <a:t>There are two main reasons to use an ensemble over a single model, and they are related; they are: </a:t>
            </a:r>
          </a:p>
          <a:p>
            <a:endParaRPr lang="en-US" dirty="0"/>
          </a:p>
          <a:p>
            <a:pPr marL="457200" lvl="1" indent="0" algn="just">
              <a:buNone/>
            </a:pPr>
            <a:r>
              <a:rPr lang="en-US" sz="2800" dirty="0"/>
              <a:t>– </a:t>
            </a:r>
            <a:r>
              <a:rPr lang="en-US" sz="2800" dirty="0">
                <a:solidFill>
                  <a:srgbClr val="FF0000"/>
                </a:solidFill>
              </a:rPr>
              <a:t>Performance</a:t>
            </a:r>
            <a:r>
              <a:rPr lang="en-US" sz="2800" dirty="0"/>
              <a:t>: An ensemble can make better predictions and achieve better performance than any single contributing model. </a:t>
            </a:r>
          </a:p>
          <a:p>
            <a:pPr marL="457200" lvl="1" indent="0" algn="just">
              <a:buNone/>
            </a:pPr>
            <a:endParaRPr lang="en-US" sz="2800" dirty="0"/>
          </a:p>
          <a:p>
            <a:pPr marL="457200" lvl="1" indent="0" algn="just">
              <a:buNone/>
            </a:pPr>
            <a:r>
              <a:rPr lang="en-US" sz="2800" dirty="0"/>
              <a:t>– </a:t>
            </a:r>
            <a:r>
              <a:rPr lang="en-US" sz="2800" dirty="0">
                <a:solidFill>
                  <a:srgbClr val="FF0000"/>
                </a:solidFill>
              </a:rPr>
              <a:t>Robustness</a:t>
            </a:r>
            <a:r>
              <a:rPr lang="en-US" sz="2800" dirty="0"/>
              <a:t>: An ensemble reduces the spread or dispersion of the predictions and model performance</a:t>
            </a:r>
            <a:r>
              <a:rPr lang="en-US" dirty="0"/>
              <a:t>.</a:t>
            </a:r>
            <a:endParaRPr lang="en-IN" dirty="0"/>
          </a:p>
        </p:txBody>
      </p:sp>
    </p:spTree>
    <p:extLst>
      <p:ext uri="{BB962C8B-B14F-4D97-AF65-F5344CB8AC3E}">
        <p14:creationId xmlns:p14="http://schemas.microsoft.com/office/powerpoint/2010/main" val="15268099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BEA40F-A883-8C49-D48F-94145FC79781}"/>
              </a:ext>
            </a:extLst>
          </p:cNvPr>
          <p:cNvSpPr>
            <a:spLocks noGrp="1"/>
          </p:cNvSpPr>
          <p:nvPr>
            <p:ph type="title"/>
          </p:nvPr>
        </p:nvSpPr>
        <p:spPr/>
        <p:txBody>
          <a:bodyPr/>
          <a:lstStyle/>
          <a:p>
            <a:r>
              <a:rPr lang="en-IN" b="1" dirty="0">
                <a:solidFill>
                  <a:srgbClr val="FF0000"/>
                </a:solidFill>
              </a:rPr>
              <a:t>Ensemble Learning Methods</a:t>
            </a:r>
          </a:p>
        </p:txBody>
      </p:sp>
      <p:sp>
        <p:nvSpPr>
          <p:cNvPr id="3" name="Content Placeholder 2">
            <a:extLst>
              <a:ext uri="{FF2B5EF4-FFF2-40B4-BE49-F238E27FC236}">
                <a16:creationId xmlns:a16="http://schemas.microsoft.com/office/drawing/2014/main" id="{CD8C5B7C-1D24-B481-219B-9181B57A3399}"/>
              </a:ext>
            </a:extLst>
          </p:cNvPr>
          <p:cNvSpPr>
            <a:spLocks noGrp="1"/>
          </p:cNvSpPr>
          <p:nvPr>
            <p:ph idx="1"/>
          </p:nvPr>
        </p:nvSpPr>
        <p:spPr/>
        <p:txBody>
          <a:bodyPr>
            <a:normAutofit/>
          </a:bodyPr>
          <a:lstStyle/>
          <a:p>
            <a:r>
              <a:rPr lang="en-IN" sz="3200" dirty="0"/>
              <a:t> Bagging </a:t>
            </a:r>
          </a:p>
          <a:p>
            <a:r>
              <a:rPr lang="en-IN" sz="3200" dirty="0"/>
              <a:t> Boosting </a:t>
            </a:r>
          </a:p>
          <a:p>
            <a:r>
              <a:rPr lang="en-IN" sz="3200" dirty="0"/>
              <a:t> Stacking</a:t>
            </a:r>
          </a:p>
          <a:p>
            <a:r>
              <a:rPr lang="en-IN" sz="3200" dirty="0"/>
              <a:t> Voting</a:t>
            </a:r>
          </a:p>
        </p:txBody>
      </p:sp>
    </p:spTree>
    <p:extLst>
      <p:ext uri="{BB962C8B-B14F-4D97-AF65-F5344CB8AC3E}">
        <p14:creationId xmlns:p14="http://schemas.microsoft.com/office/powerpoint/2010/main" val="18664384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25AC9-4AFD-9658-1557-755EAA8433E5}"/>
              </a:ext>
            </a:extLst>
          </p:cNvPr>
          <p:cNvSpPr>
            <a:spLocks noGrp="1"/>
          </p:cNvSpPr>
          <p:nvPr>
            <p:ph type="title"/>
          </p:nvPr>
        </p:nvSpPr>
        <p:spPr/>
        <p:txBody>
          <a:bodyPr/>
          <a:lstStyle/>
          <a:p>
            <a:r>
              <a:rPr lang="en-US" b="1" dirty="0">
                <a:solidFill>
                  <a:srgbClr val="FF0000"/>
                </a:solidFill>
              </a:rPr>
              <a:t>Bootstrapping </a:t>
            </a:r>
            <a:endParaRPr lang="en-IN" dirty="0">
              <a:solidFill>
                <a:srgbClr val="FF0000"/>
              </a:solidFill>
            </a:endParaRPr>
          </a:p>
        </p:txBody>
      </p:sp>
      <p:sp>
        <p:nvSpPr>
          <p:cNvPr id="3" name="Content Placeholder 2">
            <a:extLst>
              <a:ext uri="{FF2B5EF4-FFF2-40B4-BE49-F238E27FC236}">
                <a16:creationId xmlns:a16="http://schemas.microsoft.com/office/drawing/2014/main" id="{C35C0623-450B-8727-FA2A-B1FA0272C19B}"/>
              </a:ext>
            </a:extLst>
          </p:cNvPr>
          <p:cNvSpPr>
            <a:spLocks noGrp="1"/>
          </p:cNvSpPr>
          <p:nvPr>
            <p:ph idx="1"/>
          </p:nvPr>
        </p:nvSpPr>
        <p:spPr/>
        <p:txBody>
          <a:bodyPr/>
          <a:lstStyle/>
          <a:p>
            <a:pPr>
              <a:buNone/>
            </a:pPr>
            <a:r>
              <a:rPr lang="en-US" b="1" dirty="0"/>
              <a:t>   Bootstrapping</a:t>
            </a:r>
            <a:r>
              <a:rPr lang="en-US" dirty="0"/>
              <a:t> is a technique where we </a:t>
            </a:r>
            <a:r>
              <a:rPr lang="en-US" b="1" dirty="0"/>
              <a:t>create many new datasets from the original dataset by sampling randomly with replacement</a:t>
            </a:r>
            <a:r>
              <a:rPr lang="en-US" dirty="0"/>
              <a:t>.</a:t>
            </a:r>
          </a:p>
          <a:p>
            <a:pPr>
              <a:buNone/>
            </a:pPr>
            <a:endParaRPr lang="en-US" sz="1800" dirty="0"/>
          </a:p>
          <a:p>
            <a:pPr lvl="1"/>
            <a:r>
              <a:rPr lang="en-US" sz="2800" dirty="0"/>
              <a:t>Each bootstrap sample is likely to have </a:t>
            </a:r>
            <a:r>
              <a:rPr lang="en-US" sz="2800" b="1" dirty="0"/>
              <a:t>some repeated and some missing records</a:t>
            </a:r>
            <a:r>
              <a:rPr lang="en-US" sz="2800" dirty="0"/>
              <a:t>.</a:t>
            </a:r>
          </a:p>
          <a:p>
            <a:pPr lvl="1"/>
            <a:r>
              <a:rPr lang="en-US" sz="2800" dirty="0"/>
              <a:t>These samples are then used to train different models.</a:t>
            </a:r>
          </a:p>
          <a:p>
            <a:pPr marL="457200" lvl="1" indent="0">
              <a:buNone/>
            </a:pPr>
            <a:endParaRPr lang="en-US" sz="2800" dirty="0"/>
          </a:p>
          <a:p>
            <a:pPr algn="just"/>
            <a:r>
              <a:rPr lang="en-US" dirty="0"/>
              <a:t>It helps us understand the variability in our model and improves stability and accuracy when used in ensemble learning,</a:t>
            </a:r>
          </a:p>
        </p:txBody>
      </p:sp>
    </p:spTree>
    <p:extLst>
      <p:ext uri="{BB962C8B-B14F-4D97-AF65-F5344CB8AC3E}">
        <p14:creationId xmlns:p14="http://schemas.microsoft.com/office/powerpoint/2010/main" val="30027727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85FA1-10EE-82C6-995E-A28CCD690E4C}"/>
              </a:ext>
            </a:extLst>
          </p:cNvPr>
          <p:cNvSpPr>
            <a:spLocks noGrp="1"/>
          </p:cNvSpPr>
          <p:nvPr>
            <p:ph type="title"/>
          </p:nvPr>
        </p:nvSpPr>
        <p:spPr/>
        <p:txBody>
          <a:bodyPr/>
          <a:lstStyle/>
          <a:p>
            <a:r>
              <a:rPr lang="en-US" b="1" dirty="0">
                <a:solidFill>
                  <a:srgbClr val="FF0000"/>
                </a:solidFill>
              </a:rPr>
              <a:t>Bootstrapping</a:t>
            </a:r>
            <a:endParaRPr lang="en-IN" dirty="0"/>
          </a:p>
        </p:txBody>
      </p:sp>
      <p:sp>
        <p:nvSpPr>
          <p:cNvPr id="3" name="Content Placeholder 2">
            <a:extLst>
              <a:ext uri="{FF2B5EF4-FFF2-40B4-BE49-F238E27FC236}">
                <a16:creationId xmlns:a16="http://schemas.microsoft.com/office/drawing/2014/main" id="{62E5AE94-9832-7872-40C1-83FFDFD523D6}"/>
              </a:ext>
            </a:extLst>
          </p:cNvPr>
          <p:cNvSpPr>
            <a:spLocks noGrp="1"/>
          </p:cNvSpPr>
          <p:nvPr>
            <p:ph idx="1"/>
          </p:nvPr>
        </p:nvSpPr>
        <p:spPr/>
        <p:txBody>
          <a:bodyPr/>
          <a:lstStyle/>
          <a:p>
            <a:pPr marL="0" indent="0">
              <a:buNone/>
            </a:pPr>
            <a:r>
              <a:rPr lang="en-IN" sz="3200" b="1" dirty="0"/>
              <a:t>Original Dataset: [1, 2, 3, 4, 5]</a:t>
            </a:r>
          </a:p>
          <a:p>
            <a:pPr marL="0" indent="0">
              <a:buNone/>
            </a:pPr>
            <a:endParaRPr lang="en-IN" dirty="0"/>
          </a:p>
          <a:p>
            <a:pPr lvl="1">
              <a:buNone/>
            </a:pPr>
            <a:r>
              <a:rPr lang="en-US" sz="3200" dirty="0"/>
              <a:t>You create bootstrap samples like</a:t>
            </a:r>
          </a:p>
          <a:p>
            <a:pPr lvl="1">
              <a:buNone/>
            </a:pPr>
            <a:endParaRPr lang="en-US" sz="3200" dirty="0"/>
          </a:p>
          <a:p>
            <a:pPr lvl="1"/>
            <a:r>
              <a:rPr lang="en-US" sz="3200" dirty="0"/>
              <a:t>Sample 1: [1, 3, 4, 4, 5]</a:t>
            </a:r>
          </a:p>
          <a:p>
            <a:pPr lvl="1"/>
            <a:r>
              <a:rPr lang="en-US" sz="3200" dirty="0"/>
              <a:t>Sample 2: [2, 2, 3, 5, 1]</a:t>
            </a:r>
          </a:p>
          <a:p>
            <a:pPr lvl="1"/>
            <a:r>
              <a:rPr lang="en-US" sz="3200" dirty="0"/>
              <a:t>Sample 3: [5, 3, 1, 3, 4]</a:t>
            </a:r>
          </a:p>
          <a:p>
            <a:endParaRPr lang="en-IN" dirty="0"/>
          </a:p>
        </p:txBody>
      </p:sp>
    </p:spTree>
    <p:extLst>
      <p:ext uri="{BB962C8B-B14F-4D97-AF65-F5344CB8AC3E}">
        <p14:creationId xmlns:p14="http://schemas.microsoft.com/office/powerpoint/2010/main" val="39868708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B7AE16-7430-B6BF-86CE-F9D387F31EAB}"/>
              </a:ext>
            </a:extLst>
          </p:cNvPr>
          <p:cNvSpPr>
            <a:spLocks noGrp="1"/>
          </p:cNvSpPr>
          <p:nvPr>
            <p:ph type="title"/>
          </p:nvPr>
        </p:nvSpPr>
        <p:spPr/>
        <p:txBody>
          <a:bodyPr/>
          <a:lstStyle/>
          <a:p>
            <a:pPr algn="ctr"/>
            <a:r>
              <a:rPr lang="en-IN" b="1" dirty="0">
                <a:solidFill>
                  <a:srgbClr val="FF0000"/>
                </a:solidFill>
              </a:rPr>
              <a:t>Bagging or </a:t>
            </a:r>
            <a:r>
              <a:rPr lang="en" b="1" dirty="0">
                <a:solidFill>
                  <a:srgbClr val="FF0000"/>
                </a:solidFill>
              </a:rPr>
              <a:t>Bootstrap Aggregation</a:t>
            </a:r>
            <a:endParaRPr lang="en-IN" b="1" dirty="0">
              <a:solidFill>
                <a:srgbClr val="FF0000"/>
              </a:solidFill>
            </a:endParaRPr>
          </a:p>
        </p:txBody>
      </p:sp>
      <p:sp>
        <p:nvSpPr>
          <p:cNvPr id="3" name="Content Placeholder 2">
            <a:extLst>
              <a:ext uri="{FF2B5EF4-FFF2-40B4-BE49-F238E27FC236}">
                <a16:creationId xmlns:a16="http://schemas.microsoft.com/office/drawing/2014/main" id="{182CEC3E-9BC1-FC1D-7B8C-3DFE52B361AA}"/>
              </a:ext>
            </a:extLst>
          </p:cNvPr>
          <p:cNvSpPr>
            <a:spLocks noGrp="1"/>
          </p:cNvSpPr>
          <p:nvPr>
            <p:ph idx="1"/>
          </p:nvPr>
        </p:nvSpPr>
        <p:spPr/>
        <p:txBody>
          <a:bodyPr/>
          <a:lstStyle/>
          <a:p>
            <a:pPr marL="482600" indent="-457200" algn="just">
              <a:spcBef>
                <a:spcPts val="0"/>
              </a:spcBef>
              <a:buClr>
                <a:schemeClr val="dk1"/>
              </a:buClr>
              <a:buSzPts val="3200"/>
            </a:pPr>
            <a:r>
              <a:rPr lang="en-US" sz="2800" dirty="0">
                <a:highlight>
                  <a:srgbClr val="FFFFFF"/>
                </a:highlight>
                <a:ea typeface="Times New Roman"/>
                <a:cs typeface="Times New Roman"/>
                <a:sym typeface="Times New Roman"/>
              </a:rPr>
              <a:t>Bagging, an abbreviation for Bootstrap Aggregating, is a machine learning ensemble strategy for enhancing the reliability and precision of predictive models.</a:t>
            </a:r>
          </a:p>
          <a:p>
            <a:pPr marL="482600" indent="-457200" algn="just">
              <a:spcBef>
                <a:spcPts val="0"/>
              </a:spcBef>
              <a:buClr>
                <a:schemeClr val="dk1"/>
              </a:buClr>
              <a:buSzPts val="3200"/>
            </a:pPr>
            <a:endParaRPr lang="en-US" dirty="0">
              <a:highlight>
                <a:srgbClr val="FFFFFF"/>
              </a:highlight>
              <a:ea typeface="Times New Roman"/>
              <a:cs typeface="Times New Roman"/>
              <a:sym typeface="Times New Roman"/>
            </a:endParaRPr>
          </a:p>
          <a:p>
            <a:pPr marL="482600" indent="-457200" algn="just">
              <a:spcBef>
                <a:spcPts val="0"/>
              </a:spcBef>
              <a:buClr>
                <a:schemeClr val="dk1"/>
              </a:buClr>
              <a:buSzPts val="3200"/>
            </a:pPr>
            <a:r>
              <a:rPr lang="en-US" sz="2800" dirty="0">
                <a:highlight>
                  <a:srgbClr val="FFFFFF"/>
                </a:highlight>
                <a:ea typeface="Times New Roman"/>
                <a:cs typeface="Times New Roman"/>
                <a:sym typeface="Times New Roman"/>
              </a:rPr>
              <a:t>Bagging involves training multiple base learners on different subsets of the training data, typically created through random sampling with replacement.</a:t>
            </a:r>
          </a:p>
          <a:p>
            <a:pPr marL="482600" indent="-457200" algn="just">
              <a:spcBef>
                <a:spcPts val="0"/>
              </a:spcBef>
              <a:buClr>
                <a:schemeClr val="dk1"/>
              </a:buClr>
              <a:buSzPts val="3200"/>
            </a:pPr>
            <a:endParaRPr lang="en-US" dirty="0">
              <a:highlight>
                <a:srgbClr val="FFFFFF"/>
              </a:highlight>
              <a:ea typeface="Times New Roman"/>
              <a:cs typeface="Times New Roman"/>
              <a:sym typeface="Times New Roman"/>
            </a:endParaRPr>
          </a:p>
          <a:p>
            <a:pPr marL="482600" indent="-457200" algn="just">
              <a:spcBef>
                <a:spcPts val="0"/>
              </a:spcBef>
              <a:buClr>
                <a:schemeClr val="dk1"/>
              </a:buClr>
              <a:buSzPts val="3200"/>
            </a:pPr>
            <a:r>
              <a:rPr lang="en-US" sz="2800" dirty="0">
                <a:highlight>
                  <a:srgbClr val="FFFFFF"/>
                </a:highlight>
                <a:ea typeface="Times New Roman"/>
                <a:cs typeface="Times New Roman"/>
                <a:sym typeface="Times New Roman"/>
              </a:rPr>
              <a:t>It can be used for both classification and regression</a:t>
            </a:r>
          </a:p>
        </p:txBody>
      </p:sp>
    </p:spTree>
    <p:extLst>
      <p:ext uri="{BB962C8B-B14F-4D97-AF65-F5344CB8AC3E}">
        <p14:creationId xmlns:p14="http://schemas.microsoft.com/office/powerpoint/2010/main" val="16012389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7BC73-20C2-94DC-A01D-09A01BB13AC1}"/>
              </a:ext>
            </a:extLst>
          </p:cNvPr>
          <p:cNvSpPr>
            <a:spLocks noGrp="1"/>
          </p:cNvSpPr>
          <p:nvPr>
            <p:ph type="title"/>
          </p:nvPr>
        </p:nvSpPr>
        <p:spPr/>
        <p:txBody>
          <a:bodyPr/>
          <a:lstStyle/>
          <a:p>
            <a:r>
              <a:rPr lang="en-IN" b="1" dirty="0">
                <a:solidFill>
                  <a:srgbClr val="FF0000"/>
                </a:solidFill>
              </a:rPr>
              <a:t>Bagging (Bootstrap Aggregating)</a:t>
            </a:r>
            <a:r>
              <a:rPr lang="en-IN" dirty="0">
                <a:solidFill>
                  <a:srgbClr val="FF0000"/>
                </a:solidFill>
              </a:rPr>
              <a:t>:</a:t>
            </a:r>
          </a:p>
        </p:txBody>
      </p:sp>
      <p:sp>
        <p:nvSpPr>
          <p:cNvPr id="4" name="Rectangle 1">
            <a:extLst>
              <a:ext uri="{FF2B5EF4-FFF2-40B4-BE49-F238E27FC236}">
                <a16:creationId xmlns:a16="http://schemas.microsoft.com/office/drawing/2014/main" id="{2AD4F6BA-9E29-097A-2808-8B0110A6D29C}"/>
              </a:ext>
            </a:extLst>
          </p:cNvPr>
          <p:cNvSpPr>
            <a:spLocks noGrp="1" noChangeArrowheads="1"/>
          </p:cNvSpPr>
          <p:nvPr>
            <p:ph idx="1"/>
          </p:nvPr>
        </p:nvSpPr>
        <p:spPr bwMode="auto">
          <a:xfrm>
            <a:off x="838200" y="2650411"/>
            <a:ext cx="10149766" cy="27017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Font typeface="Arial" panose="020B0604020202020204" pitchFamily="34" charset="0"/>
              <a:buChar char="•"/>
            </a:pPr>
            <a:r>
              <a:rPr lang="en-US" b="1" dirty="0"/>
              <a:t>Goal</a:t>
            </a:r>
            <a:r>
              <a:rPr lang="en-US" dirty="0"/>
              <a:t>: Reduce </a:t>
            </a:r>
            <a:r>
              <a:rPr lang="en-US" b="1" dirty="0"/>
              <a:t>variance</a:t>
            </a:r>
            <a:r>
              <a:rPr lang="en-US" dirty="0"/>
              <a:t> and avoid </a:t>
            </a:r>
            <a:r>
              <a:rPr lang="en-US" b="1" dirty="0"/>
              <a:t>overfitting</a:t>
            </a:r>
            <a:r>
              <a:rPr lang="en-US" dirty="0"/>
              <a:t>.</a:t>
            </a:r>
          </a:p>
          <a:p>
            <a:pPr>
              <a:buFont typeface="Arial" panose="020B0604020202020204" pitchFamily="34" charset="0"/>
              <a:buChar char="•"/>
            </a:pPr>
            <a:r>
              <a:rPr lang="en-US" b="1" dirty="0"/>
              <a:t>How it works</a:t>
            </a:r>
            <a:r>
              <a:rPr lang="en-US" dirty="0"/>
              <a:t>:</a:t>
            </a:r>
          </a:p>
          <a:p>
            <a:pPr marL="742950" lvl="1" indent="-285750">
              <a:buFont typeface="Arial" panose="020B0604020202020204" pitchFamily="34" charset="0"/>
              <a:buChar char="•"/>
            </a:pPr>
            <a:r>
              <a:rPr lang="en-US" dirty="0"/>
              <a:t>Take </a:t>
            </a:r>
            <a:r>
              <a:rPr lang="en-US" b="1" dirty="0"/>
              <a:t>many random samples</a:t>
            </a:r>
            <a:r>
              <a:rPr lang="en-US" dirty="0"/>
              <a:t> (with replacement) from the original dataset.</a:t>
            </a:r>
          </a:p>
          <a:p>
            <a:pPr marL="742950" lvl="1" indent="-285750">
              <a:buFont typeface="Arial" panose="020B0604020202020204" pitchFamily="34" charset="0"/>
              <a:buChar char="•"/>
            </a:pPr>
            <a:r>
              <a:rPr lang="en-US" dirty="0"/>
              <a:t>Train a separate model on each sample.</a:t>
            </a:r>
          </a:p>
          <a:p>
            <a:pPr marL="742950" lvl="1" indent="-285750">
              <a:buFont typeface="Arial" panose="020B0604020202020204" pitchFamily="34" charset="0"/>
              <a:buChar char="•"/>
            </a:pPr>
            <a:r>
              <a:rPr lang="en-US" b="1" dirty="0"/>
              <a:t>Average</a:t>
            </a:r>
            <a:r>
              <a:rPr lang="en-US" dirty="0"/>
              <a:t> (for regression) or </a:t>
            </a:r>
            <a:r>
              <a:rPr lang="en-US" b="1" dirty="0"/>
              <a:t>vote</a:t>
            </a:r>
            <a:r>
              <a:rPr lang="en-US" dirty="0"/>
              <a:t> (for classification) the predictions.</a:t>
            </a:r>
          </a:p>
          <a:p>
            <a:pPr>
              <a:buFont typeface="Arial" panose="020B0604020202020204" pitchFamily="34" charset="0"/>
              <a:buChar char="•"/>
            </a:pPr>
            <a:r>
              <a:rPr lang="en-US" b="1" dirty="0"/>
              <a:t>Popular example</a:t>
            </a:r>
            <a:r>
              <a:rPr lang="en-US" dirty="0"/>
              <a:t>: </a:t>
            </a:r>
            <a:r>
              <a:rPr lang="en-US" b="1" dirty="0"/>
              <a:t>Random Forest</a:t>
            </a:r>
            <a:r>
              <a:rPr lang="en-US" dirty="0"/>
              <a:t> (many decision trees).</a:t>
            </a:r>
          </a:p>
        </p:txBody>
      </p:sp>
    </p:spTree>
    <p:extLst>
      <p:ext uri="{BB962C8B-B14F-4D97-AF65-F5344CB8AC3E}">
        <p14:creationId xmlns:p14="http://schemas.microsoft.com/office/powerpoint/2010/main" val="11439775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F5CEDC-AFC2-2C84-1373-74561500A7C2}"/>
              </a:ext>
            </a:extLst>
          </p:cNvPr>
          <p:cNvSpPr>
            <a:spLocks noGrp="1"/>
          </p:cNvSpPr>
          <p:nvPr>
            <p:ph type="title"/>
          </p:nvPr>
        </p:nvSpPr>
        <p:spPr/>
        <p:txBody>
          <a:bodyPr/>
          <a:lstStyle/>
          <a:p>
            <a:r>
              <a:rPr lang="en-US" b="1" dirty="0">
                <a:solidFill>
                  <a:srgbClr val="FF0000"/>
                </a:solidFill>
              </a:rPr>
              <a:t>Variance</a:t>
            </a:r>
            <a:endParaRPr lang="en-IN" b="1" dirty="0">
              <a:solidFill>
                <a:srgbClr val="FF0000"/>
              </a:solidFill>
            </a:endParaRPr>
          </a:p>
        </p:txBody>
      </p:sp>
      <p:sp>
        <p:nvSpPr>
          <p:cNvPr id="3" name="Content Placeholder 2">
            <a:extLst>
              <a:ext uri="{FF2B5EF4-FFF2-40B4-BE49-F238E27FC236}">
                <a16:creationId xmlns:a16="http://schemas.microsoft.com/office/drawing/2014/main" id="{4DEDE228-E4FB-3F51-9FDD-02C443D36AFA}"/>
              </a:ext>
            </a:extLst>
          </p:cNvPr>
          <p:cNvSpPr>
            <a:spLocks noGrp="1"/>
          </p:cNvSpPr>
          <p:nvPr>
            <p:ph idx="1"/>
          </p:nvPr>
        </p:nvSpPr>
        <p:spPr/>
        <p:txBody>
          <a:bodyPr/>
          <a:lstStyle/>
          <a:p>
            <a:pPr>
              <a:buNone/>
            </a:pPr>
            <a:r>
              <a:rPr lang="en-US" b="1" dirty="0"/>
              <a:t>Variance</a:t>
            </a:r>
            <a:r>
              <a:rPr lang="en-US" dirty="0"/>
              <a:t> means </a:t>
            </a:r>
            <a:r>
              <a:rPr lang="en-US" b="1" dirty="0"/>
              <a:t>how much your model's predictions change</a:t>
            </a:r>
            <a:r>
              <a:rPr lang="en-US" dirty="0"/>
              <a:t> if you use a </a:t>
            </a:r>
            <a:r>
              <a:rPr lang="en-US" b="1" dirty="0"/>
              <a:t>different training dataset</a:t>
            </a:r>
            <a:r>
              <a:rPr lang="en-US" dirty="0"/>
              <a:t>.</a:t>
            </a:r>
          </a:p>
          <a:p>
            <a:pPr>
              <a:buFont typeface="Arial" panose="020B0604020202020204" pitchFamily="34" charset="0"/>
              <a:buChar char="•"/>
            </a:pPr>
            <a:r>
              <a:rPr lang="en-US" b="1" dirty="0"/>
              <a:t>High variance</a:t>
            </a:r>
            <a:r>
              <a:rPr lang="en-US" dirty="0"/>
              <a:t> = Model is </a:t>
            </a:r>
            <a:r>
              <a:rPr lang="en-US" b="1" dirty="0"/>
              <a:t>too sensitive</a:t>
            </a:r>
            <a:r>
              <a:rPr lang="en-US" dirty="0"/>
              <a:t> to the training data.</a:t>
            </a:r>
          </a:p>
          <a:p>
            <a:pPr marL="742950" lvl="1" indent="-285750">
              <a:buFont typeface="Arial" panose="020B0604020202020204" pitchFamily="34" charset="0"/>
              <a:buChar char="•"/>
            </a:pPr>
            <a:r>
              <a:rPr lang="en-US" dirty="0"/>
              <a:t>It </a:t>
            </a:r>
            <a:r>
              <a:rPr lang="en-US" b="1" dirty="0"/>
              <a:t>learns noise</a:t>
            </a:r>
            <a:r>
              <a:rPr lang="en-US" dirty="0"/>
              <a:t> or </a:t>
            </a:r>
            <a:r>
              <a:rPr lang="en-US" b="1" dirty="0"/>
              <a:t>unnecessary details</a:t>
            </a:r>
            <a:r>
              <a:rPr lang="en-US" dirty="0"/>
              <a:t> (overfitting).</a:t>
            </a:r>
          </a:p>
          <a:p>
            <a:pPr marL="742950" lvl="1" indent="-285750">
              <a:buFont typeface="Arial" panose="020B0604020202020204" pitchFamily="34" charset="0"/>
              <a:buChar char="•"/>
            </a:pPr>
            <a:r>
              <a:rPr lang="en-US" dirty="0"/>
              <a:t>Performs </a:t>
            </a:r>
            <a:r>
              <a:rPr lang="en-US" b="1" dirty="0"/>
              <a:t>well on training data</a:t>
            </a:r>
            <a:r>
              <a:rPr lang="en-US" dirty="0"/>
              <a:t> but </a:t>
            </a:r>
            <a:r>
              <a:rPr lang="en-US" b="1" dirty="0"/>
              <a:t>poorly on new/unseen data</a:t>
            </a:r>
            <a:r>
              <a:rPr lang="en-US" dirty="0"/>
              <a:t>.</a:t>
            </a:r>
          </a:p>
          <a:p>
            <a:pPr>
              <a:buFont typeface="Arial" panose="020B0604020202020204" pitchFamily="34" charset="0"/>
              <a:buChar char="•"/>
            </a:pPr>
            <a:r>
              <a:rPr lang="en-US" b="1" dirty="0"/>
              <a:t>Low variance</a:t>
            </a:r>
            <a:r>
              <a:rPr lang="en-US" dirty="0"/>
              <a:t> = Model is </a:t>
            </a:r>
            <a:r>
              <a:rPr lang="en-US" b="1" dirty="0"/>
              <a:t>more stable</a:t>
            </a:r>
            <a:r>
              <a:rPr lang="en-US" dirty="0"/>
              <a:t>.</a:t>
            </a:r>
          </a:p>
          <a:p>
            <a:pPr marL="742950" lvl="1" indent="-285750">
              <a:buFont typeface="Arial" panose="020B0604020202020204" pitchFamily="34" charset="0"/>
              <a:buChar char="•"/>
            </a:pPr>
            <a:r>
              <a:rPr lang="en-US" dirty="0"/>
              <a:t>Even if the training data changes a little, predictions stay </a:t>
            </a:r>
            <a:r>
              <a:rPr lang="en-US" b="1" dirty="0"/>
              <a:t>similar</a:t>
            </a:r>
            <a:r>
              <a:rPr lang="en-US" dirty="0"/>
              <a:t>.</a:t>
            </a:r>
          </a:p>
          <a:p>
            <a:endParaRPr lang="en-IN" dirty="0"/>
          </a:p>
        </p:txBody>
      </p:sp>
    </p:spTree>
    <p:extLst>
      <p:ext uri="{BB962C8B-B14F-4D97-AF65-F5344CB8AC3E}">
        <p14:creationId xmlns:p14="http://schemas.microsoft.com/office/powerpoint/2010/main" val="30976982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3" name="Picture 2">
            <a:extLst>
              <a:ext uri="{FF2B5EF4-FFF2-40B4-BE49-F238E27FC236}">
                <a16:creationId xmlns:a16="http://schemas.microsoft.com/office/drawing/2014/main" id="{8B644FE8-6F9C-43AF-9C1E-55A2E6127DB6}"/>
              </a:ext>
            </a:extLst>
          </p:cNvPr>
          <p:cNvPicPr>
            <a:picLocks noChangeAspect="1"/>
          </p:cNvPicPr>
          <p:nvPr/>
        </p:nvPicPr>
        <p:blipFill>
          <a:blip r:embed="rId3"/>
          <a:stretch>
            <a:fillRect/>
          </a:stretch>
        </p:blipFill>
        <p:spPr>
          <a:xfrm>
            <a:off x="1716259" y="254666"/>
            <a:ext cx="7285133" cy="546384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1"/>
          <p:cNvSpPr txBox="1">
            <a:spLocks noGrp="1"/>
          </p:cNvSpPr>
          <p:nvPr>
            <p:ph type="body" idx="1"/>
          </p:nvPr>
        </p:nvSpPr>
        <p:spPr>
          <a:xfrm>
            <a:off x="415600" y="206633"/>
            <a:ext cx="11360800" cy="6474800"/>
          </a:xfrm>
          <a:prstGeom prst="rect">
            <a:avLst/>
          </a:prstGeom>
        </p:spPr>
        <p:txBody>
          <a:bodyPr spcFirstLastPara="1" wrap="square" lIns="121900" tIns="121900" rIns="121900" bIns="121900" anchor="t" anchorCtr="0">
            <a:noAutofit/>
          </a:bodyPr>
          <a:lstStyle/>
          <a:p>
            <a:pPr indent="-491054" algn="just">
              <a:buClr>
                <a:schemeClr val="dk1"/>
              </a:buClr>
              <a:buSzPts val="2200"/>
              <a:buFont typeface="Times New Roman"/>
              <a:buChar char="●"/>
            </a:pPr>
            <a:r>
              <a:rPr lang="en" sz="2933" dirty="0">
                <a:solidFill>
                  <a:schemeClr val="tx1"/>
                </a:solidFill>
                <a:highlight>
                  <a:srgbClr val="FFFFFF"/>
                </a:highlight>
                <a:latin typeface="Times New Roman"/>
                <a:ea typeface="Times New Roman"/>
                <a:cs typeface="Times New Roman"/>
                <a:sym typeface="Times New Roman"/>
              </a:rPr>
              <a:t>Multiple base models are trained independently and in parallel on different subsets of the training data.</a:t>
            </a:r>
            <a:endParaRPr sz="2933" dirty="0">
              <a:solidFill>
                <a:schemeClr val="tx1"/>
              </a:solidFill>
              <a:highlight>
                <a:srgbClr val="FFFFFF"/>
              </a:highlight>
              <a:latin typeface="Times New Roman"/>
              <a:ea typeface="Times New Roman"/>
              <a:cs typeface="Times New Roman"/>
              <a:sym typeface="Times New Roman"/>
            </a:endParaRPr>
          </a:p>
          <a:p>
            <a:pPr indent="-491054" algn="just">
              <a:buClr>
                <a:schemeClr val="dk1"/>
              </a:buClr>
              <a:buSzPts val="2200"/>
              <a:buFont typeface="Times New Roman"/>
              <a:buChar char="●"/>
            </a:pPr>
            <a:r>
              <a:rPr lang="en" sz="2933" dirty="0">
                <a:solidFill>
                  <a:schemeClr val="tx1"/>
                </a:solidFill>
                <a:highlight>
                  <a:srgbClr val="FFFFFF"/>
                </a:highlight>
                <a:latin typeface="Times New Roman"/>
                <a:ea typeface="Times New Roman"/>
                <a:cs typeface="Times New Roman"/>
                <a:sym typeface="Times New Roman"/>
              </a:rPr>
              <a:t>Each subset is generated using bootstrap sampling, in which data points are picked at random with replacement.</a:t>
            </a:r>
            <a:endParaRPr sz="2933" dirty="0">
              <a:solidFill>
                <a:schemeClr val="tx1"/>
              </a:solidFill>
              <a:highlight>
                <a:srgbClr val="FFFFFF"/>
              </a:highlight>
              <a:latin typeface="Times New Roman"/>
              <a:ea typeface="Times New Roman"/>
              <a:cs typeface="Times New Roman"/>
              <a:sym typeface="Times New Roman"/>
            </a:endParaRPr>
          </a:p>
          <a:p>
            <a:pPr indent="-491054" algn="just">
              <a:buClr>
                <a:schemeClr val="dk1"/>
              </a:buClr>
              <a:buSzPts val="2200"/>
              <a:buFont typeface="Times New Roman"/>
              <a:buChar char="●"/>
            </a:pPr>
            <a:r>
              <a:rPr lang="en" sz="2933" dirty="0">
                <a:solidFill>
                  <a:schemeClr val="tx1"/>
                </a:solidFill>
                <a:highlight>
                  <a:srgbClr val="FFFFFF"/>
                </a:highlight>
                <a:latin typeface="Times New Roman"/>
                <a:ea typeface="Times New Roman"/>
                <a:cs typeface="Times New Roman"/>
                <a:sym typeface="Times New Roman"/>
              </a:rPr>
              <a:t>In the case of the bagging classifier, the final prediction is made by aggregating the predictions of the all-base model using majority voting.</a:t>
            </a:r>
            <a:endParaRPr sz="2933" dirty="0">
              <a:solidFill>
                <a:schemeClr val="tx1"/>
              </a:solidFill>
              <a:highlight>
                <a:srgbClr val="FFFFFF"/>
              </a:highlight>
              <a:latin typeface="Times New Roman"/>
              <a:ea typeface="Times New Roman"/>
              <a:cs typeface="Times New Roman"/>
              <a:sym typeface="Times New Roman"/>
            </a:endParaRPr>
          </a:p>
          <a:p>
            <a:pPr indent="-491054" algn="just">
              <a:buClr>
                <a:schemeClr val="dk1"/>
              </a:buClr>
              <a:buSzPts val="2200"/>
              <a:buFont typeface="Times New Roman"/>
              <a:buChar char="●"/>
            </a:pPr>
            <a:r>
              <a:rPr lang="en" sz="2933" dirty="0">
                <a:solidFill>
                  <a:schemeClr val="tx1"/>
                </a:solidFill>
                <a:highlight>
                  <a:srgbClr val="FFFFFF"/>
                </a:highlight>
                <a:latin typeface="Times New Roman"/>
                <a:ea typeface="Times New Roman"/>
                <a:cs typeface="Times New Roman"/>
                <a:sym typeface="Times New Roman"/>
              </a:rPr>
              <a:t>In the models of regression, the final prediction is made by averaging the predictions of the all-base model, and that is known as bagging regression.</a:t>
            </a:r>
            <a:endParaRPr sz="2933" dirty="0">
              <a:solidFill>
                <a:schemeClr val="tx1"/>
              </a:solidFill>
              <a:highlight>
                <a:srgbClr val="FFFFFF"/>
              </a:highlight>
              <a:latin typeface="Times New Roman"/>
              <a:ea typeface="Times New Roman"/>
              <a:cs typeface="Times New Roman"/>
              <a:sym typeface="Times New Roman"/>
            </a:endParaRPr>
          </a:p>
          <a:p>
            <a:pPr indent="-491054" algn="just">
              <a:buClr>
                <a:schemeClr val="dk1"/>
              </a:buClr>
              <a:buSzPts val="2200"/>
              <a:buFont typeface="Times New Roman"/>
              <a:buChar char="●"/>
            </a:pPr>
            <a:r>
              <a:rPr lang="en" sz="2933" dirty="0">
                <a:solidFill>
                  <a:schemeClr val="tx1"/>
                </a:solidFill>
                <a:highlight>
                  <a:srgbClr val="FFFFFF"/>
                </a:highlight>
                <a:latin typeface="Times New Roman"/>
                <a:ea typeface="Times New Roman"/>
                <a:cs typeface="Times New Roman"/>
                <a:sym typeface="Times New Roman"/>
              </a:rPr>
              <a:t>Bagging helps improve accuracy and reduce overfitting, especially in models that have high variance.</a:t>
            </a:r>
            <a:endParaRPr sz="2933" dirty="0">
              <a:solidFill>
                <a:schemeClr val="tx1"/>
              </a:solidFill>
              <a:highlight>
                <a:srgbClr val="FFFFFF"/>
              </a:highlight>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2"/>
          <p:cNvSpPr txBox="1">
            <a:spLocks noGrp="1"/>
          </p:cNvSpPr>
          <p:nvPr>
            <p:ph type="body" idx="1"/>
          </p:nvPr>
        </p:nvSpPr>
        <p:spPr>
          <a:xfrm>
            <a:off x="458867" y="253567"/>
            <a:ext cx="11385600" cy="2384800"/>
          </a:xfrm>
          <a:prstGeom prst="rect">
            <a:avLst/>
          </a:prstGeom>
        </p:spPr>
        <p:txBody>
          <a:bodyPr spcFirstLastPara="1" wrap="square" lIns="121900" tIns="121900" rIns="121900" bIns="121900" anchor="t" anchorCtr="0">
            <a:noAutofit/>
          </a:bodyPr>
          <a:lstStyle/>
          <a:p>
            <a:pPr indent="-491054" algn="just">
              <a:lnSpc>
                <a:spcPct val="95000"/>
              </a:lnSpc>
              <a:buClr>
                <a:schemeClr val="dk1"/>
              </a:buClr>
              <a:buSzPts val="2200"/>
              <a:buFont typeface="Times New Roman"/>
              <a:buChar char="●"/>
            </a:pPr>
            <a:r>
              <a:rPr lang="en" sz="2933">
                <a:solidFill>
                  <a:schemeClr val="dk1"/>
                </a:solidFill>
                <a:latin typeface="Times New Roman"/>
                <a:ea typeface="Times New Roman"/>
                <a:cs typeface="Times New Roman"/>
                <a:sym typeface="Times New Roman"/>
              </a:rPr>
              <a:t>Use the same training algorithm for every predictor, but to train them on different random subsets of the training set.</a:t>
            </a:r>
            <a:endParaRPr sz="2933">
              <a:solidFill>
                <a:schemeClr val="dk1"/>
              </a:solidFill>
              <a:latin typeface="Times New Roman"/>
              <a:ea typeface="Times New Roman"/>
              <a:cs typeface="Times New Roman"/>
              <a:sym typeface="Times New Roman"/>
            </a:endParaRPr>
          </a:p>
          <a:p>
            <a:pPr indent="-491054" algn="just">
              <a:lnSpc>
                <a:spcPct val="95000"/>
              </a:lnSpc>
              <a:buClr>
                <a:schemeClr val="dk1"/>
              </a:buClr>
              <a:buSzPts val="2200"/>
              <a:buFont typeface="Times New Roman"/>
              <a:buChar char="●"/>
            </a:pPr>
            <a:r>
              <a:rPr lang="en" sz="2933">
                <a:solidFill>
                  <a:schemeClr val="dk1"/>
                </a:solidFill>
                <a:latin typeface="Times New Roman"/>
                <a:ea typeface="Times New Roman"/>
                <a:cs typeface="Times New Roman"/>
                <a:sym typeface="Times New Roman"/>
              </a:rPr>
              <a:t>When sampling is performed with replacement, this method is called bagging (short for bootstrap aggregating).</a:t>
            </a:r>
            <a:endParaRPr sz="2933">
              <a:solidFill>
                <a:schemeClr val="dk1"/>
              </a:solidFill>
              <a:latin typeface="Times New Roman"/>
              <a:ea typeface="Times New Roman"/>
              <a:cs typeface="Times New Roman"/>
              <a:sym typeface="Times New Roman"/>
            </a:endParaRPr>
          </a:p>
          <a:p>
            <a:pPr indent="-491054" algn="just">
              <a:lnSpc>
                <a:spcPct val="95000"/>
              </a:lnSpc>
              <a:buClr>
                <a:schemeClr val="dk1"/>
              </a:buClr>
              <a:buSzPts val="2200"/>
              <a:buFont typeface="Times New Roman"/>
              <a:buChar char="●"/>
            </a:pPr>
            <a:r>
              <a:rPr lang="en" sz="2933">
                <a:solidFill>
                  <a:schemeClr val="dk1"/>
                </a:solidFill>
                <a:latin typeface="Times New Roman"/>
                <a:ea typeface="Times New Roman"/>
                <a:cs typeface="Times New Roman"/>
                <a:sym typeface="Times New Roman"/>
              </a:rPr>
              <a:t>When sampling is performed without replacement, it is called pasting.</a:t>
            </a:r>
            <a:endParaRPr sz="2933">
              <a:solidFill>
                <a:schemeClr val="dk1"/>
              </a:solidFill>
              <a:latin typeface="Times New Roman"/>
              <a:ea typeface="Times New Roman"/>
              <a:cs typeface="Times New Roman"/>
              <a:sym typeface="Times New Roman"/>
            </a:endParaRPr>
          </a:p>
          <a:p>
            <a:pPr indent="0" algn="just">
              <a:lnSpc>
                <a:spcPct val="95000"/>
              </a:lnSpc>
              <a:spcBef>
                <a:spcPts val="1600"/>
              </a:spcBef>
              <a:spcAft>
                <a:spcPts val="1600"/>
              </a:spcAft>
              <a:buSzPts val="852"/>
              <a:buNone/>
            </a:pPr>
            <a:endParaRPr sz="2933">
              <a:latin typeface="Times New Roman"/>
              <a:ea typeface="Times New Roman"/>
              <a:cs typeface="Times New Roman"/>
              <a:sym typeface="Times New Roman"/>
            </a:endParaRPr>
          </a:p>
        </p:txBody>
      </p:sp>
      <p:pic>
        <p:nvPicPr>
          <p:cNvPr id="108" name="Google Shape;108;p22"/>
          <p:cNvPicPr preferRelativeResize="0"/>
          <p:nvPr/>
        </p:nvPicPr>
        <p:blipFill>
          <a:blip r:embed="rId3">
            <a:alphaModFix/>
          </a:blip>
          <a:stretch>
            <a:fillRect/>
          </a:stretch>
        </p:blipFill>
        <p:spPr>
          <a:xfrm>
            <a:off x="1685534" y="3079401"/>
            <a:ext cx="9068601" cy="3672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F57D0-482C-83F4-10BD-F1DAC3579E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EB8DF3-B835-EF18-82EF-21846D314B5C}"/>
              </a:ext>
            </a:extLst>
          </p:cNvPr>
          <p:cNvSpPr>
            <a:spLocks noGrp="1"/>
          </p:cNvSpPr>
          <p:nvPr>
            <p:ph type="title"/>
          </p:nvPr>
        </p:nvSpPr>
        <p:spPr>
          <a:xfrm>
            <a:off x="838200" y="365125"/>
            <a:ext cx="10515600" cy="777875"/>
          </a:xfrm>
        </p:spPr>
        <p:txBody>
          <a:bodyPr/>
          <a:lstStyle/>
          <a:p>
            <a:r>
              <a:rPr lang="en-IN" b="1" dirty="0">
                <a:solidFill>
                  <a:srgbClr val="FF0000"/>
                </a:solidFill>
              </a:rPr>
              <a:t>Random Forest</a:t>
            </a:r>
          </a:p>
        </p:txBody>
      </p:sp>
      <p:sp>
        <p:nvSpPr>
          <p:cNvPr id="5" name="TextBox 4">
            <a:extLst>
              <a:ext uri="{FF2B5EF4-FFF2-40B4-BE49-F238E27FC236}">
                <a16:creationId xmlns:a16="http://schemas.microsoft.com/office/drawing/2014/main" id="{45C9A5FE-6C2D-1D3D-9042-D5460E243051}"/>
              </a:ext>
            </a:extLst>
          </p:cNvPr>
          <p:cNvSpPr txBox="1"/>
          <p:nvPr/>
        </p:nvSpPr>
        <p:spPr>
          <a:xfrm>
            <a:off x="711200" y="1413153"/>
            <a:ext cx="10642600" cy="4555093"/>
          </a:xfrm>
          <a:prstGeom prst="rect">
            <a:avLst/>
          </a:prstGeom>
          <a:noFill/>
        </p:spPr>
        <p:txBody>
          <a:bodyPr wrap="square">
            <a:spAutoFit/>
          </a:bodyPr>
          <a:lstStyle/>
          <a:p>
            <a:pPr marL="342900" indent="-342900" algn="just">
              <a:buFont typeface="Arial" panose="020B0604020202020204" pitchFamily="34" charset="0"/>
              <a:buChar char="•"/>
            </a:pPr>
            <a:r>
              <a:rPr lang="en-US" sz="2600" b="0" i="0" u="none" strike="noStrike" baseline="0" dirty="0">
                <a:solidFill>
                  <a:srgbClr val="000000"/>
                </a:solidFill>
                <a:latin typeface="Ubuntu" panose="020B0504030602030204" pitchFamily="34" charset="0"/>
              </a:rPr>
              <a:t>Random forest is a type of supervised machine learning algorithm based on </a:t>
            </a:r>
            <a:r>
              <a:rPr lang="en-US" sz="2600" b="0" i="0" u="none" strike="noStrike" baseline="0" dirty="0">
                <a:solidFill>
                  <a:srgbClr val="CA211E"/>
                </a:solidFill>
                <a:latin typeface="Ubuntu" panose="020B0504030602030204" pitchFamily="34" charset="0"/>
              </a:rPr>
              <a:t>ensemble learning</a:t>
            </a:r>
            <a:r>
              <a:rPr lang="en-US" sz="2600" b="0" i="0" u="none" strike="noStrike" baseline="0" dirty="0">
                <a:solidFill>
                  <a:srgbClr val="000000"/>
                </a:solidFill>
                <a:latin typeface="Ubuntu" panose="020B0504030602030204" pitchFamily="34" charset="0"/>
              </a:rPr>
              <a:t>.</a:t>
            </a:r>
          </a:p>
          <a:p>
            <a:pPr marL="342900" indent="-342900" algn="just">
              <a:buFont typeface="Arial" panose="020B0604020202020204" pitchFamily="34" charset="0"/>
              <a:buChar char="•"/>
            </a:pPr>
            <a:r>
              <a:rPr lang="en-US" sz="2800" b="1" dirty="0"/>
              <a:t>Random forest </a:t>
            </a:r>
            <a:r>
              <a:rPr lang="en-US" sz="2800" dirty="0"/>
              <a:t>combines </a:t>
            </a:r>
            <a:r>
              <a:rPr lang="en-US" sz="2800" b="1" dirty="0"/>
              <a:t>multiple decision trees</a:t>
            </a:r>
            <a:r>
              <a:rPr lang="en-US" sz="2800" dirty="0"/>
              <a:t> to make more accurate and stable predictions</a:t>
            </a:r>
            <a:r>
              <a:rPr lang="en-US" sz="2600" b="0" i="0" u="none" strike="noStrike" baseline="0" dirty="0">
                <a:solidFill>
                  <a:srgbClr val="000000"/>
                </a:solidFill>
                <a:latin typeface="Ubuntu" panose="020B0504030602030204" pitchFamily="34" charset="0"/>
              </a:rPr>
              <a:t>.</a:t>
            </a:r>
          </a:p>
          <a:p>
            <a:pPr algn="just"/>
            <a:endParaRPr lang="en-US" sz="2600" b="0" i="0" u="none" strike="noStrike" baseline="0" dirty="0">
              <a:solidFill>
                <a:srgbClr val="000000"/>
              </a:solidFill>
              <a:latin typeface="Ubuntu" panose="020B0504030602030204" pitchFamily="34" charset="0"/>
            </a:endParaRPr>
          </a:p>
          <a:p>
            <a:pPr marL="342900" indent="-342900" algn="just">
              <a:buFont typeface="Arial" panose="020B0604020202020204" pitchFamily="34" charset="0"/>
              <a:buChar char="•"/>
            </a:pPr>
            <a:r>
              <a:rPr lang="en-US" sz="2600" b="0" i="0" u="none" strike="noStrike" baseline="0" dirty="0">
                <a:solidFill>
                  <a:srgbClr val="000000"/>
                </a:solidFill>
                <a:latin typeface="Ubuntu" panose="020B0504030602030204" pitchFamily="34" charset="0"/>
              </a:rPr>
              <a:t>The random forest algorithm combines multiple algorithm of the same type i.e. multiple decision trees, resulting in a forest of trees, hence the name "Random </a:t>
            </a:r>
            <a:r>
              <a:rPr lang="en-IN" sz="2600" b="0" i="0" u="none" strike="noStrike" baseline="0" dirty="0">
                <a:solidFill>
                  <a:srgbClr val="000000"/>
                </a:solidFill>
                <a:latin typeface="Ubuntu" panose="020B0504030602030204" pitchFamily="34" charset="0"/>
              </a:rPr>
              <a:t>Forest".</a:t>
            </a:r>
          </a:p>
          <a:p>
            <a:pPr algn="just"/>
            <a:endParaRPr lang="en-IN" sz="2600" b="0" i="0" u="none" strike="noStrike" baseline="0" dirty="0">
              <a:solidFill>
                <a:srgbClr val="000000"/>
              </a:solidFill>
              <a:latin typeface="Ubuntu" panose="020B0504030602030204" pitchFamily="34" charset="0"/>
            </a:endParaRPr>
          </a:p>
          <a:p>
            <a:pPr marL="342900" indent="-342900" algn="just">
              <a:buFont typeface="Arial" panose="020B0604020202020204" pitchFamily="34" charset="0"/>
              <a:buChar char="•"/>
            </a:pPr>
            <a:r>
              <a:rPr lang="en-US" sz="2600" b="0" i="0" u="none" strike="noStrike" baseline="0" dirty="0">
                <a:solidFill>
                  <a:srgbClr val="000000"/>
                </a:solidFill>
                <a:latin typeface="Ubuntu" panose="020B0504030602030204" pitchFamily="34" charset="0"/>
              </a:rPr>
              <a:t>The random forest algorithm can be used for both </a:t>
            </a:r>
            <a:r>
              <a:rPr lang="en-IN" sz="2600" b="0" i="0" u="none" strike="noStrike" baseline="0" dirty="0">
                <a:solidFill>
                  <a:srgbClr val="000000"/>
                </a:solidFill>
                <a:latin typeface="Ubuntu" panose="020B0504030602030204" pitchFamily="34" charset="0"/>
              </a:rPr>
              <a:t>regression and classification tasks.</a:t>
            </a:r>
            <a:endParaRPr lang="en-IN" sz="2600" dirty="0"/>
          </a:p>
        </p:txBody>
      </p:sp>
    </p:spTree>
    <p:extLst>
      <p:ext uri="{BB962C8B-B14F-4D97-AF65-F5344CB8AC3E}">
        <p14:creationId xmlns:p14="http://schemas.microsoft.com/office/powerpoint/2010/main" val="31383520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FF0000"/>
                </a:solidFill>
              </a:rPr>
              <a:t>Random Forest</a:t>
            </a:r>
            <a:endParaRPr lang="en-IN" dirty="0"/>
          </a:p>
        </p:txBody>
      </p:sp>
      <p:sp>
        <p:nvSpPr>
          <p:cNvPr id="5" name="Content Placeholder 4"/>
          <p:cNvSpPr>
            <a:spLocks noGrp="1"/>
          </p:cNvSpPr>
          <p:nvPr>
            <p:ph idx="1"/>
          </p:nvPr>
        </p:nvSpPr>
        <p:spPr/>
        <p:txBody>
          <a:bodyPr/>
          <a:lstStyle/>
          <a:p>
            <a:r>
              <a:rPr lang="en-US" b="1" dirty="0"/>
              <a:t>Bootstrapping</a:t>
            </a:r>
            <a:r>
              <a:rPr lang="en-US" dirty="0"/>
              <a:t> – Each tree is trained on a different random sample of the training data (with replacement).</a:t>
            </a:r>
          </a:p>
          <a:p>
            <a:r>
              <a:rPr lang="en-US" b="1" dirty="0"/>
              <a:t>Feature Randomness</a:t>
            </a:r>
            <a:r>
              <a:rPr lang="en-US" dirty="0"/>
              <a:t> – At each split in a tree, a random subset of features is considered.</a:t>
            </a:r>
          </a:p>
          <a:p>
            <a:r>
              <a:rPr lang="en-US" b="1" dirty="0"/>
              <a:t>Ensemble of Trees</a:t>
            </a:r>
            <a:r>
              <a:rPr lang="en-US" dirty="0"/>
              <a:t> – All trees vote, and the majority wins.</a:t>
            </a:r>
          </a:p>
          <a:p>
            <a:pPr marL="0" indent="0">
              <a:buNone/>
            </a:pPr>
            <a:endParaRPr lang="en-IN" dirty="0"/>
          </a:p>
        </p:txBody>
      </p:sp>
    </p:spTree>
    <p:extLst>
      <p:ext uri="{BB962C8B-B14F-4D97-AF65-F5344CB8AC3E}">
        <p14:creationId xmlns:p14="http://schemas.microsoft.com/office/powerpoint/2010/main" val="1186807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Random Forest</a:t>
            </a:r>
            <a:endParaRPr lang="en-IN" b="1" dirty="0">
              <a:solidFill>
                <a:srgbClr val="FF0000"/>
              </a:solidFill>
            </a:endParaRPr>
          </a:p>
        </p:txBody>
      </p:sp>
      <p:pic>
        <p:nvPicPr>
          <p:cNvPr id="4" name="Picture 3"/>
          <p:cNvPicPr>
            <a:picLocks noChangeAspect="1"/>
          </p:cNvPicPr>
          <p:nvPr/>
        </p:nvPicPr>
        <p:blipFill>
          <a:blip r:embed="rId2"/>
          <a:stretch>
            <a:fillRect/>
          </a:stretch>
        </p:blipFill>
        <p:spPr>
          <a:xfrm>
            <a:off x="1542419" y="1976010"/>
            <a:ext cx="9107162" cy="4493028"/>
          </a:xfrm>
          <a:prstGeom prst="rect">
            <a:avLst/>
          </a:prstGeom>
        </p:spPr>
      </p:pic>
    </p:spTree>
    <p:extLst>
      <p:ext uri="{BB962C8B-B14F-4D97-AF65-F5344CB8AC3E}">
        <p14:creationId xmlns:p14="http://schemas.microsoft.com/office/powerpoint/2010/main" val="37327345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6EBD9-1C21-73DE-1FEF-061EC531C946}"/>
              </a:ext>
            </a:extLst>
          </p:cNvPr>
          <p:cNvSpPr>
            <a:spLocks noGrp="1"/>
          </p:cNvSpPr>
          <p:nvPr>
            <p:ph type="title"/>
          </p:nvPr>
        </p:nvSpPr>
        <p:spPr/>
        <p:txBody>
          <a:bodyPr/>
          <a:lstStyle/>
          <a:p>
            <a:r>
              <a:rPr lang="en-US" b="1" dirty="0">
                <a:solidFill>
                  <a:srgbClr val="FF0000"/>
                </a:solidFill>
              </a:rPr>
              <a:t>Majority voting</a:t>
            </a:r>
            <a:endParaRPr lang="en-IN" b="1" dirty="0">
              <a:solidFill>
                <a:srgbClr val="FF0000"/>
              </a:solidFill>
            </a:endParaRPr>
          </a:p>
        </p:txBody>
      </p:sp>
      <p:pic>
        <p:nvPicPr>
          <p:cNvPr id="5" name="Picture 4">
            <a:extLst>
              <a:ext uri="{FF2B5EF4-FFF2-40B4-BE49-F238E27FC236}">
                <a16:creationId xmlns:a16="http://schemas.microsoft.com/office/drawing/2014/main" id="{F7D677D1-4834-D9F4-0894-F9779700D38E}"/>
              </a:ext>
            </a:extLst>
          </p:cNvPr>
          <p:cNvPicPr>
            <a:picLocks noChangeAspect="1"/>
          </p:cNvPicPr>
          <p:nvPr/>
        </p:nvPicPr>
        <p:blipFill>
          <a:blip r:embed="rId2"/>
          <a:stretch>
            <a:fillRect/>
          </a:stretch>
        </p:blipFill>
        <p:spPr>
          <a:xfrm>
            <a:off x="1567915" y="1600199"/>
            <a:ext cx="8635865" cy="4892675"/>
          </a:xfrm>
          <a:prstGeom prst="rect">
            <a:avLst/>
          </a:prstGeom>
        </p:spPr>
      </p:pic>
    </p:spTree>
    <p:extLst>
      <p:ext uri="{BB962C8B-B14F-4D97-AF65-F5344CB8AC3E}">
        <p14:creationId xmlns:p14="http://schemas.microsoft.com/office/powerpoint/2010/main" val="300416368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EE56A-9048-FD95-216C-9D67263217BE}"/>
              </a:ext>
            </a:extLst>
          </p:cNvPr>
          <p:cNvSpPr>
            <a:spLocks noGrp="1"/>
          </p:cNvSpPr>
          <p:nvPr>
            <p:ph type="title"/>
          </p:nvPr>
        </p:nvSpPr>
        <p:spPr>
          <a:xfrm>
            <a:off x="838200" y="365126"/>
            <a:ext cx="10515600" cy="991064"/>
          </a:xfrm>
        </p:spPr>
        <p:txBody>
          <a:bodyPr/>
          <a:lstStyle/>
          <a:p>
            <a:r>
              <a:rPr lang="en-US" b="1" dirty="0">
                <a:solidFill>
                  <a:srgbClr val="FF0000"/>
                </a:solidFill>
              </a:rPr>
              <a:t>Random Forest</a:t>
            </a:r>
            <a:endParaRPr lang="en-IN" b="1" dirty="0">
              <a:solidFill>
                <a:srgbClr val="FF0000"/>
              </a:solidFill>
            </a:endParaRPr>
          </a:p>
        </p:txBody>
      </p:sp>
      <p:sp>
        <p:nvSpPr>
          <p:cNvPr id="3" name="Content Placeholder 2">
            <a:extLst>
              <a:ext uri="{FF2B5EF4-FFF2-40B4-BE49-F238E27FC236}">
                <a16:creationId xmlns:a16="http://schemas.microsoft.com/office/drawing/2014/main" id="{DE1A2D9A-4867-3CF9-D29D-BC97F88A2EED}"/>
              </a:ext>
            </a:extLst>
          </p:cNvPr>
          <p:cNvSpPr>
            <a:spLocks noGrp="1"/>
          </p:cNvSpPr>
          <p:nvPr>
            <p:ph idx="1"/>
          </p:nvPr>
        </p:nvSpPr>
        <p:spPr>
          <a:xfrm>
            <a:off x="911260" y="1438382"/>
            <a:ext cx="10515600" cy="5054492"/>
          </a:xfrm>
        </p:spPr>
        <p:txBody>
          <a:bodyPr>
            <a:normAutofit/>
          </a:bodyPr>
          <a:lstStyle/>
          <a:p>
            <a:pPr algn="just"/>
            <a:r>
              <a:rPr lang="en-US" sz="2400" b="0" i="0" u="none" strike="noStrike" baseline="0" dirty="0">
                <a:solidFill>
                  <a:srgbClr val="000000"/>
                </a:solidFill>
              </a:rPr>
              <a:t>Pick N random records from the dataset.</a:t>
            </a:r>
          </a:p>
          <a:p>
            <a:pPr marL="0" indent="0" algn="just">
              <a:buNone/>
            </a:pPr>
            <a:endParaRPr lang="en-US" sz="1400" b="0" i="0" u="none" strike="noStrike" baseline="0" dirty="0">
              <a:solidFill>
                <a:srgbClr val="000000"/>
              </a:solidFill>
            </a:endParaRPr>
          </a:p>
          <a:p>
            <a:pPr algn="just"/>
            <a:r>
              <a:rPr lang="en-US" sz="2400" b="0" i="0" u="none" strike="noStrike" baseline="0" dirty="0">
                <a:solidFill>
                  <a:srgbClr val="000000"/>
                </a:solidFill>
              </a:rPr>
              <a:t>Build a decision tree based on these N records.</a:t>
            </a:r>
          </a:p>
          <a:p>
            <a:pPr marL="0" indent="0" algn="just">
              <a:buNone/>
            </a:pPr>
            <a:endParaRPr lang="en-US" sz="1800" b="0" i="0" u="none" strike="noStrike" baseline="0" dirty="0">
              <a:solidFill>
                <a:srgbClr val="000000"/>
              </a:solidFill>
            </a:endParaRPr>
          </a:p>
          <a:p>
            <a:pPr algn="just"/>
            <a:r>
              <a:rPr lang="en-US" sz="2400" b="0" i="0" u="none" strike="noStrike" baseline="0" dirty="0">
                <a:solidFill>
                  <a:srgbClr val="000000"/>
                </a:solidFill>
              </a:rPr>
              <a:t>Choose the number of trees you want in your algorithm and repeat steps 1 and 2.</a:t>
            </a:r>
          </a:p>
          <a:p>
            <a:pPr marL="0" indent="0" algn="just">
              <a:buNone/>
            </a:pPr>
            <a:endParaRPr lang="en-US" sz="1600" b="0" i="0" u="none" strike="noStrike" baseline="0" dirty="0">
              <a:solidFill>
                <a:srgbClr val="000000"/>
              </a:solidFill>
            </a:endParaRPr>
          </a:p>
          <a:p>
            <a:pPr algn="just"/>
            <a:r>
              <a:rPr lang="en-US" sz="2400" b="0" i="0" u="none" strike="noStrike" baseline="0" dirty="0">
                <a:solidFill>
                  <a:srgbClr val="000000"/>
                </a:solidFill>
              </a:rPr>
              <a:t>In case of a regression problem, for a new record, each tree in the forest predicts a value for Y (output). The final value can be calculated by taking the average of all the values predicted by all the trees in forest. Or, in case of a classification problem, each tree in the forest predicts the category to which the new record belongs. Finally, the new record is assigned to the category that wins the </a:t>
            </a:r>
            <a:r>
              <a:rPr lang="en-IN" sz="2400" b="0" i="0" u="none" strike="noStrike" baseline="0" dirty="0">
                <a:solidFill>
                  <a:srgbClr val="000000"/>
                </a:solidFill>
              </a:rPr>
              <a:t>majority vote.</a:t>
            </a:r>
            <a:endParaRPr lang="en-IN" sz="3600" dirty="0"/>
          </a:p>
        </p:txBody>
      </p:sp>
    </p:spTree>
    <p:extLst>
      <p:ext uri="{BB962C8B-B14F-4D97-AF65-F5344CB8AC3E}">
        <p14:creationId xmlns:p14="http://schemas.microsoft.com/office/powerpoint/2010/main" val="19545441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08D854-0280-949E-8B5D-A6145FE65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72D777-BA85-3FE0-22D7-283662C4188C}"/>
              </a:ext>
            </a:extLst>
          </p:cNvPr>
          <p:cNvSpPr>
            <a:spLocks noGrp="1"/>
          </p:cNvSpPr>
          <p:nvPr>
            <p:ph type="title"/>
          </p:nvPr>
        </p:nvSpPr>
        <p:spPr/>
        <p:txBody>
          <a:bodyPr/>
          <a:lstStyle/>
          <a:p>
            <a:r>
              <a:rPr lang="en-US" b="1" dirty="0">
                <a:solidFill>
                  <a:srgbClr val="FF0000"/>
                </a:solidFill>
              </a:rPr>
              <a:t>Boosting</a:t>
            </a:r>
            <a:endParaRPr lang="en-IN" b="1" dirty="0">
              <a:solidFill>
                <a:srgbClr val="FF0000"/>
              </a:solidFill>
            </a:endParaRPr>
          </a:p>
        </p:txBody>
      </p:sp>
      <p:sp>
        <p:nvSpPr>
          <p:cNvPr id="3" name="Content Placeholder 2">
            <a:extLst>
              <a:ext uri="{FF2B5EF4-FFF2-40B4-BE49-F238E27FC236}">
                <a16:creationId xmlns:a16="http://schemas.microsoft.com/office/drawing/2014/main" id="{6325D13A-3C30-1C52-E611-168A8A5F6F52}"/>
              </a:ext>
            </a:extLst>
          </p:cNvPr>
          <p:cNvSpPr>
            <a:spLocks noGrp="1"/>
          </p:cNvSpPr>
          <p:nvPr>
            <p:ph idx="1"/>
          </p:nvPr>
        </p:nvSpPr>
        <p:spPr>
          <a:xfrm>
            <a:off x="736600" y="1574574"/>
            <a:ext cx="10515600" cy="4569372"/>
          </a:xfrm>
        </p:spPr>
        <p:txBody>
          <a:bodyPr>
            <a:normAutofit/>
          </a:bodyPr>
          <a:lstStyle/>
          <a:p>
            <a:pPr algn="just"/>
            <a:r>
              <a:rPr lang="en-US" dirty="0"/>
              <a:t>Boosting improves performance by training models sequentially. </a:t>
            </a:r>
          </a:p>
          <a:p>
            <a:pPr algn="just"/>
            <a:r>
              <a:rPr lang="en-US" dirty="0"/>
              <a:t>Each new model tries to correct errors made by the previous one.</a:t>
            </a:r>
            <a:endParaRPr lang="en-US" b="0" i="0" u="none" strike="noStrike" baseline="0" dirty="0">
              <a:solidFill>
                <a:srgbClr val="000000"/>
              </a:solidFill>
            </a:endParaRPr>
          </a:p>
          <a:p>
            <a:pPr algn="just"/>
            <a:r>
              <a:rPr lang="en-US" dirty="0">
                <a:solidFill>
                  <a:srgbClr val="000000"/>
                </a:solidFill>
              </a:rPr>
              <a:t>T</a:t>
            </a:r>
            <a:r>
              <a:rPr lang="en-US" b="0" i="0" u="none" strike="noStrike" baseline="0" dirty="0">
                <a:solidFill>
                  <a:srgbClr val="000000"/>
                </a:solidFill>
              </a:rPr>
              <a:t>his is done by building a model from the training data, then creating a second model that attempts to correct the errors from the first model. Models are added until the training set is predicted perfectly or a maximum number of models are added.</a:t>
            </a:r>
          </a:p>
          <a:p>
            <a:pPr algn="just"/>
            <a:r>
              <a:rPr lang="en-US" b="0" i="0" u="none" strike="noStrike" baseline="0" dirty="0">
                <a:solidFill>
                  <a:srgbClr val="000000"/>
                </a:solidFill>
              </a:rPr>
              <a:t>Highly accurate classifier( or strong classifier) offer error rate close to 0. </a:t>
            </a:r>
          </a:p>
          <a:p>
            <a:pPr algn="just"/>
            <a:r>
              <a:rPr lang="en-US" b="0" i="0" u="none" strike="noStrike" baseline="0" dirty="0">
                <a:solidFill>
                  <a:srgbClr val="000000"/>
                </a:solidFill>
              </a:rPr>
              <a:t>Boosting algorithms are less affected by the overfitting </a:t>
            </a:r>
            <a:r>
              <a:rPr lang="en-IN" b="0" i="0" u="none" strike="noStrike" baseline="0" dirty="0">
                <a:solidFill>
                  <a:srgbClr val="000000"/>
                </a:solidFill>
              </a:rPr>
              <a:t>problem.</a:t>
            </a:r>
            <a:endParaRPr lang="en-IN" sz="4800" dirty="0"/>
          </a:p>
        </p:txBody>
      </p:sp>
    </p:spTree>
    <p:extLst>
      <p:ext uri="{BB962C8B-B14F-4D97-AF65-F5344CB8AC3E}">
        <p14:creationId xmlns:p14="http://schemas.microsoft.com/office/powerpoint/2010/main" val="2877342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F923F-0EA0-32BB-7DE7-B06716512433}"/>
              </a:ext>
            </a:extLst>
          </p:cNvPr>
          <p:cNvSpPr>
            <a:spLocks noGrp="1"/>
          </p:cNvSpPr>
          <p:nvPr>
            <p:ph type="title"/>
          </p:nvPr>
        </p:nvSpPr>
        <p:spPr/>
        <p:txBody>
          <a:bodyPr/>
          <a:lstStyle/>
          <a:p>
            <a:r>
              <a:rPr lang="en-US" b="1" dirty="0">
                <a:solidFill>
                  <a:srgbClr val="FF0000"/>
                </a:solidFill>
              </a:rPr>
              <a:t>Boosting</a:t>
            </a:r>
            <a:endParaRPr lang="en-IN" b="1" dirty="0">
              <a:solidFill>
                <a:srgbClr val="FF0000"/>
              </a:solidFill>
            </a:endParaRPr>
          </a:p>
        </p:txBody>
      </p:sp>
      <p:sp>
        <p:nvSpPr>
          <p:cNvPr id="3" name="Content Placeholder 2">
            <a:extLst>
              <a:ext uri="{FF2B5EF4-FFF2-40B4-BE49-F238E27FC236}">
                <a16:creationId xmlns:a16="http://schemas.microsoft.com/office/drawing/2014/main" id="{B2EEC4C7-C709-0835-4E1B-E2189EA236E7}"/>
              </a:ext>
            </a:extLst>
          </p:cNvPr>
          <p:cNvSpPr>
            <a:spLocks noGrp="1"/>
          </p:cNvSpPr>
          <p:nvPr>
            <p:ph idx="1"/>
          </p:nvPr>
        </p:nvSpPr>
        <p:spPr/>
        <p:txBody>
          <a:bodyPr/>
          <a:lstStyle/>
          <a:p>
            <a:pPr>
              <a:buFont typeface="Arial" panose="020B0604020202020204" pitchFamily="34" charset="0"/>
              <a:buChar char="•"/>
            </a:pPr>
            <a:r>
              <a:rPr lang="en-US" b="1" dirty="0"/>
              <a:t>Goal</a:t>
            </a:r>
            <a:r>
              <a:rPr lang="en-US" dirty="0"/>
              <a:t>: Reduce </a:t>
            </a:r>
            <a:r>
              <a:rPr lang="en-US" b="1" dirty="0"/>
              <a:t>bias</a:t>
            </a:r>
            <a:r>
              <a:rPr lang="en-US" dirty="0"/>
              <a:t> (and a little bit of variance).</a:t>
            </a:r>
          </a:p>
          <a:p>
            <a:pPr>
              <a:buFont typeface="Arial" panose="020B0604020202020204" pitchFamily="34" charset="0"/>
              <a:buChar char="•"/>
            </a:pPr>
            <a:r>
              <a:rPr lang="en-US" b="1" dirty="0"/>
              <a:t>How it works</a:t>
            </a:r>
            <a:r>
              <a:rPr lang="en-US" dirty="0"/>
              <a:t>:</a:t>
            </a:r>
          </a:p>
          <a:p>
            <a:pPr marL="742950" lvl="1" indent="-285750">
              <a:buFont typeface="Arial" panose="020B0604020202020204" pitchFamily="34" charset="0"/>
              <a:buChar char="•"/>
            </a:pPr>
            <a:r>
              <a:rPr lang="en-US" dirty="0"/>
              <a:t>Train models </a:t>
            </a:r>
            <a:r>
              <a:rPr lang="en-US" b="1" dirty="0"/>
              <a:t>sequentially</a:t>
            </a:r>
            <a:r>
              <a:rPr lang="en-US" dirty="0"/>
              <a:t>.</a:t>
            </a:r>
          </a:p>
          <a:p>
            <a:pPr marL="742950" lvl="1" indent="-285750">
              <a:buFont typeface="Arial" panose="020B0604020202020204" pitchFamily="34" charset="0"/>
              <a:buChar char="•"/>
            </a:pPr>
            <a:r>
              <a:rPr lang="en-US" dirty="0"/>
              <a:t>Each model </a:t>
            </a:r>
            <a:r>
              <a:rPr lang="en-US" b="1" dirty="0"/>
              <a:t>focuses more</a:t>
            </a:r>
            <a:r>
              <a:rPr lang="en-US" dirty="0"/>
              <a:t> on the mistakes made by the previous model.</a:t>
            </a:r>
          </a:p>
          <a:p>
            <a:pPr marL="742950" lvl="1" indent="-285750">
              <a:buFont typeface="Arial" panose="020B0604020202020204" pitchFamily="34" charset="0"/>
              <a:buChar char="•"/>
            </a:pPr>
            <a:r>
              <a:rPr lang="en-US" dirty="0"/>
              <a:t>Combine all models into one strong model (weighted sum or voting).</a:t>
            </a:r>
          </a:p>
          <a:p>
            <a:pPr>
              <a:buFont typeface="Arial" panose="020B0604020202020204" pitchFamily="34" charset="0"/>
              <a:buChar char="•"/>
            </a:pPr>
            <a:r>
              <a:rPr lang="en-US" b="1" dirty="0"/>
              <a:t>Popular examples</a:t>
            </a:r>
            <a:r>
              <a:rPr lang="en-US" dirty="0"/>
              <a:t>: </a:t>
            </a:r>
            <a:r>
              <a:rPr lang="en-US" b="1" dirty="0"/>
              <a:t>AdaBoost</a:t>
            </a:r>
            <a:r>
              <a:rPr lang="en-US" dirty="0"/>
              <a:t>, </a:t>
            </a:r>
            <a:r>
              <a:rPr lang="en-US" b="1" dirty="0"/>
              <a:t>Gradient Boosting</a:t>
            </a:r>
            <a:r>
              <a:rPr lang="en-US" dirty="0"/>
              <a:t>, </a:t>
            </a:r>
            <a:r>
              <a:rPr lang="en-US" b="1" dirty="0" err="1"/>
              <a:t>XGBoost</a:t>
            </a:r>
            <a:r>
              <a:rPr lang="en-US" dirty="0"/>
              <a:t>.</a:t>
            </a:r>
          </a:p>
          <a:p>
            <a:endParaRPr lang="en-IN" dirty="0"/>
          </a:p>
        </p:txBody>
      </p:sp>
    </p:spTree>
    <p:extLst>
      <p:ext uri="{BB962C8B-B14F-4D97-AF65-F5344CB8AC3E}">
        <p14:creationId xmlns:p14="http://schemas.microsoft.com/office/powerpoint/2010/main" val="1454375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AD140-AC01-F619-D957-C5939AAB0BC1}"/>
              </a:ext>
            </a:extLst>
          </p:cNvPr>
          <p:cNvSpPr>
            <a:spLocks noGrp="1"/>
          </p:cNvSpPr>
          <p:nvPr>
            <p:ph type="title"/>
          </p:nvPr>
        </p:nvSpPr>
        <p:spPr/>
        <p:txBody>
          <a:bodyPr/>
          <a:lstStyle/>
          <a:p>
            <a:r>
              <a:rPr lang="en-US" b="1" dirty="0">
                <a:solidFill>
                  <a:srgbClr val="FF0000"/>
                </a:solidFill>
              </a:rPr>
              <a:t>Boosting Models</a:t>
            </a:r>
            <a:endParaRPr lang="en-IN" b="1" dirty="0">
              <a:solidFill>
                <a:srgbClr val="FF0000"/>
              </a:solidFill>
            </a:endParaRPr>
          </a:p>
        </p:txBody>
      </p:sp>
      <p:sp>
        <p:nvSpPr>
          <p:cNvPr id="3" name="Content Placeholder 2">
            <a:extLst>
              <a:ext uri="{FF2B5EF4-FFF2-40B4-BE49-F238E27FC236}">
                <a16:creationId xmlns:a16="http://schemas.microsoft.com/office/drawing/2014/main" id="{5564EFDC-568D-DA76-3A9E-1E24E00564C3}"/>
              </a:ext>
            </a:extLst>
          </p:cNvPr>
          <p:cNvSpPr>
            <a:spLocks noGrp="1"/>
          </p:cNvSpPr>
          <p:nvPr>
            <p:ph idx="1"/>
          </p:nvPr>
        </p:nvSpPr>
        <p:spPr/>
        <p:txBody>
          <a:bodyPr>
            <a:normAutofit/>
          </a:bodyPr>
          <a:lstStyle/>
          <a:p>
            <a:pPr marL="0" indent="0" algn="l">
              <a:buNone/>
            </a:pPr>
            <a:r>
              <a:rPr lang="en-US" sz="3200" b="0" i="0" u="none" strike="noStrike" baseline="0" dirty="0">
                <a:solidFill>
                  <a:srgbClr val="000000"/>
                </a:solidFill>
              </a:rPr>
              <a:t>Models that are typically used in Boosting </a:t>
            </a:r>
            <a:r>
              <a:rPr lang="en-IN" sz="3200" b="0" i="0" u="none" strike="noStrike" baseline="0" dirty="0">
                <a:solidFill>
                  <a:srgbClr val="000000"/>
                </a:solidFill>
              </a:rPr>
              <a:t>technique are:</a:t>
            </a:r>
          </a:p>
          <a:p>
            <a:pPr marL="0" indent="0" algn="l">
              <a:buNone/>
            </a:pPr>
            <a:endParaRPr lang="en-IN" sz="3200" b="0" i="0" u="none" strike="noStrike" baseline="0" dirty="0">
              <a:solidFill>
                <a:srgbClr val="000000"/>
              </a:solidFill>
            </a:endParaRPr>
          </a:p>
          <a:p>
            <a:r>
              <a:rPr lang="en-IN" sz="3200" b="0" i="0" u="none" strike="noStrike" baseline="0" dirty="0" err="1">
                <a:solidFill>
                  <a:srgbClr val="000000"/>
                </a:solidFill>
              </a:rPr>
              <a:t>XGBoost</a:t>
            </a:r>
            <a:r>
              <a:rPr lang="en-IN" sz="3200" b="0" i="0" u="none" strike="noStrike" baseline="0" dirty="0">
                <a:solidFill>
                  <a:srgbClr val="000000"/>
                </a:solidFill>
              </a:rPr>
              <a:t> (Extreme Gradient Boosting)</a:t>
            </a:r>
          </a:p>
          <a:p>
            <a:r>
              <a:rPr lang="en-IN" sz="3200" b="0" i="0" u="none" strike="noStrike" baseline="0" dirty="0">
                <a:solidFill>
                  <a:srgbClr val="000000"/>
                </a:solidFill>
              </a:rPr>
              <a:t>GBM (Gradient Boosting Machine)</a:t>
            </a:r>
          </a:p>
          <a:p>
            <a:r>
              <a:rPr lang="en-IN" sz="3200" b="0" i="0" u="none" strike="noStrike" baseline="0" dirty="0" err="1">
                <a:solidFill>
                  <a:srgbClr val="000000"/>
                </a:solidFill>
              </a:rPr>
              <a:t>ADABoost</a:t>
            </a:r>
            <a:r>
              <a:rPr lang="en-IN" sz="3200" b="0" i="0" u="none" strike="noStrike" baseline="0" dirty="0">
                <a:solidFill>
                  <a:srgbClr val="000000"/>
                </a:solidFill>
              </a:rPr>
              <a:t> (Adaptive Boosting)</a:t>
            </a:r>
            <a:endParaRPr lang="en-IN" sz="4400" dirty="0"/>
          </a:p>
        </p:txBody>
      </p:sp>
    </p:spTree>
    <p:extLst>
      <p:ext uri="{BB962C8B-B14F-4D97-AF65-F5344CB8AC3E}">
        <p14:creationId xmlns:p14="http://schemas.microsoft.com/office/powerpoint/2010/main" val="15799791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0F86D-5A7D-45B9-B42A-C55872E2D963}"/>
              </a:ext>
            </a:extLst>
          </p:cNvPr>
          <p:cNvSpPr>
            <a:spLocks noGrp="1"/>
          </p:cNvSpPr>
          <p:nvPr>
            <p:ph type="title"/>
          </p:nvPr>
        </p:nvSpPr>
        <p:spPr/>
        <p:txBody>
          <a:bodyPr/>
          <a:lstStyle/>
          <a:p>
            <a:r>
              <a:rPr lang="en-US" b="1" dirty="0">
                <a:solidFill>
                  <a:srgbClr val="FF0000"/>
                </a:solidFill>
              </a:rPr>
              <a:t>AdaBoost</a:t>
            </a:r>
            <a:endParaRPr lang="en-IN" b="1" dirty="0">
              <a:solidFill>
                <a:srgbClr val="FF0000"/>
              </a:solidFill>
            </a:endParaRPr>
          </a:p>
        </p:txBody>
      </p:sp>
      <p:sp>
        <p:nvSpPr>
          <p:cNvPr id="3" name="Content Placeholder 2">
            <a:extLst>
              <a:ext uri="{FF2B5EF4-FFF2-40B4-BE49-F238E27FC236}">
                <a16:creationId xmlns:a16="http://schemas.microsoft.com/office/drawing/2014/main" id="{D438C2DC-3A80-468A-A558-63E097EE95BC}"/>
              </a:ext>
            </a:extLst>
          </p:cNvPr>
          <p:cNvSpPr>
            <a:spLocks noGrp="1"/>
          </p:cNvSpPr>
          <p:nvPr>
            <p:ph idx="1"/>
          </p:nvPr>
        </p:nvSpPr>
        <p:spPr/>
        <p:txBody>
          <a:bodyPr/>
          <a:lstStyle/>
          <a:p>
            <a:pPr algn="just"/>
            <a:r>
              <a:rPr lang="en-US" sz="3200" b="1" dirty="0"/>
              <a:t>AdaBoost</a:t>
            </a:r>
            <a:r>
              <a:rPr lang="en-US" sz="3200" dirty="0"/>
              <a:t> is a </a:t>
            </a:r>
            <a:r>
              <a:rPr lang="en-US" sz="3200" b="1" dirty="0"/>
              <a:t>boosting ensemble machine learning algorithm</a:t>
            </a:r>
            <a:r>
              <a:rPr lang="en-US" sz="3200" dirty="0"/>
              <a:t> that combines multiple </a:t>
            </a:r>
            <a:r>
              <a:rPr lang="en-US" sz="3200" b="1" dirty="0"/>
              <a:t>weak learners</a:t>
            </a:r>
            <a:r>
              <a:rPr lang="en-US" sz="3200" dirty="0"/>
              <a:t> (usually decision stumps) to create a </a:t>
            </a:r>
            <a:r>
              <a:rPr lang="en-US" sz="3200" b="1" dirty="0"/>
              <a:t>strong classifier</a:t>
            </a:r>
            <a:r>
              <a:rPr lang="en-US" sz="3200" dirty="0"/>
              <a:t>.</a:t>
            </a:r>
          </a:p>
          <a:p>
            <a:pPr algn="just"/>
            <a:r>
              <a:rPr lang="en-US" sz="3200" dirty="0"/>
              <a:t>The idea is </a:t>
            </a:r>
          </a:p>
          <a:p>
            <a:pPr lvl="1"/>
            <a:r>
              <a:rPr lang="en-US" sz="3200" dirty="0"/>
              <a:t>Instead of training all models equally, </a:t>
            </a:r>
            <a:r>
              <a:rPr lang="en-US" sz="3200" b="1" dirty="0"/>
              <a:t>AdaBoost focuses more on the samples that previous models classified incorrectly.</a:t>
            </a:r>
            <a:endParaRPr lang="en-US" sz="3200" dirty="0"/>
          </a:p>
          <a:p>
            <a:pPr lvl="1"/>
            <a:r>
              <a:rPr lang="en-US" sz="3200" dirty="0"/>
              <a:t>So, each new model </a:t>
            </a:r>
            <a:r>
              <a:rPr lang="en-US" sz="3200" b="1" dirty="0"/>
              <a:t>learns from the mistakes of the previous model</a:t>
            </a:r>
            <a:r>
              <a:rPr lang="en-US" sz="3200" dirty="0"/>
              <a:t>.</a:t>
            </a:r>
          </a:p>
          <a:p>
            <a:endParaRPr lang="en-IN" dirty="0"/>
          </a:p>
        </p:txBody>
      </p:sp>
    </p:spTree>
    <p:extLst>
      <p:ext uri="{BB962C8B-B14F-4D97-AF65-F5344CB8AC3E}">
        <p14:creationId xmlns:p14="http://schemas.microsoft.com/office/powerpoint/2010/main" val="2966425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C420DD-7F2C-B919-3CF2-4B9D9D06D7F1}"/>
              </a:ext>
            </a:extLst>
          </p:cNvPr>
          <p:cNvSpPr>
            <a:spLocks noGrp="1"/>
          </p:cNvSpPr>
          <p:nvPr>
            <p:ph idx="1"/>
          </p:nvPr>
        </p:nvSpPr>
        <p:spPr>
          <a:xfrm>
            <a:off x="495300" y="173356"/>
            <a:ext cx="9867900" cy="4560570"/>
          </a:xfrm>
        </p:spPr>
        <p:txBody>
          <a:bodyPr>
            <a:normAutofit/>
          </a:bodyPr>
          <a:lstStyle/>
          <a:p>
            <a:pPr marL="0" indent="0">
              <a:buNone/>
            </a:pPr>
            <a:r>
              <a:rPr lang="en-US" sz="3200" b="1" dirty="0">
                <a:solidFill>
                  <a:srgbClr val="FF0000"/>
                </a:solidFill>
              </a:rPr>
              <a:t>Weak Learner</a:t>
            </a:r>
            <a:endParaRPr lang="en-US" sz="3200" dirty="0">
              <a:solidFill>
                <a:srgbClr val="FF0000"/>
              </a:solidFill>
            </a:endParaRPr>
          </a:p>
          <a:p>
            <a:pPr lvl="1"/>
            <a:r>
              <a:rPr lang="en-US" sz="2800" dirty="0"/>
              <a:t>A model slightly better than random guessing.</a:t>
            </a:r>
          </a:p>
          <a:p>
            <a:pPr lvl="1"/>
            <a:r>
              <a:rPr lang="en-US" sz="2800" dirty="0"/>
              <a:t>Usually a </a:t>
            </a:r>
            <a:r>
              <a:rPr lang="en-US" sz="2800" b="1" dirty="0"/>
              <a:t>decision stump (tree with depth = 1)</a:t>
            </a:r>
            <a:r>
              <a:rPr lang="en-US" sz="2800" dirty="0"/>
              <a:t>.</a:t>
            </a:r>
          </a:p>
          <a:p>
            <a:pPr marL="0" indent="0">
              <a:buNone/>
            </a:pPr>
            <a:r>
              <a:rPr lang="en-US" sz="3200" b="1" dirty="0">
                <a:solidFill>
                  <a:srgbClr val="FF0000"/>
                </a:solidFill>
              </a:rPr>
              <a:t>Sample Weights</a:t>
            </a:r>
          </a:p>
          <a:p>
            <a:pPr lvl="1"/>
            <a:r>
              <a:rPr lang="en-US" sz="2800" dirty="0"/>
              <a:t>Each training sample has a </a:t>
            </a:r>
            <a:r>
              <a:rPr lang="en-US" sz="2800" b="1" dirty="0"/>
              <a:t>weight</a:t>
            </a:r>
            <a:r>
              <a:rPr lang="en-US" sz="2800" dirty="0"/>
              <a:t>.</a:t>
            </a:r>
          </a:p>
          <a:p>
            <a:pPr lvl="1"/>
            <a:r>
              <a:rPr lang="en-US" sz="2800" dirty="0"/>
              <a:t>Initially all weights are </a:t>
            </a:r>
            <a:r>
              <a:rPr lang="en-US" sz="2800" b="1" dirty="0"/>
              <a:t>equal</a:t>
            </a:r>
            <a:r>
              <a:rPr lang="en-US" sz="2800" dirty="0"/>
              <a:t>.</a:t>
            </a:r>
          </a:p>
          <a:p>
            <a:pPr lvl="1"/>
            <a:r>
              <a:rPr lang="en-US" sz="2800" dirty="0"/>
              <a:t>Misclassified samples get </a:t>
            </a:r>
            <a:r>
              <a:rPr lang="en-US" sz="2800" b="1" dirty="0"/>
              <a:t>higher weight</a:t>
            </a:r>
            <a:r>
              <a:rPr lang="en-US" sz="2800" dirty="0"/>
              <a:t> in the next iteration</a:t>
            </a:r>
          </a:p>
          <a:p>
            <a:pPr marL="0" indent="0">
              <a:lnSpc>
                <a:spcPct val="100000"/>
              </a:lnSpc>
              <a:buNone/>
            </a:pPr>
            <a:r>
              <a:rPr lang="en-US" sz="3200" b="1" dirty="0">
                <a:solidFill>
                  <a:srgbClr val="FF0000"/>
                </a:solidFill>
              </a:rPr>
              <a:t>Model Weight (α)</a:t>
            </a:r>
          </a:p>
          <a:p>
            <a:pPr lvl="1"/>
            <a:r>
              <a:rPr lang="en-US" sz="2800" dirty="0"/>
              <a:t>Each weak learner is assigned a weight based on its accuracy</a:t>
            </a:r>
          </a:p>
          <a:p>
            <a:endParaRPr lang="en-US" sz="3600" dirty="0"/>
          </a:p>
          <a:p>
            <a:endParaRPr lang="en-US" sz="3600" dirty="0"/>
          </a:p>
          <a:p>
            <a:pPr marL="0" indent="0">
              <a:buNone/>
            </a:pPr>
            <a:endParaRPr lang="en-IN" dirty="0"/>
          </a:p>
        </p:txBody>
      </p:sp>
      <p:pic>
        <p:nvPicPr>
          <p:cNvPr id="5" name="Picture 4"/>
          <p:cNvPicPr>
            <a:picLocks noChangeAspect="1"/>
          </p:cNvPicPr>
          <p:nvPr/>
        </p:nvPicPr>
        <p:blipFill>
          <a:blip r:embed="rId2"/>
          <a:stretch>
            <a:fillRect/>
          </a:stretch>
        </p:blipFill>
        <p:spPr>
          <a:xfrm>
            <a:off x="2834011" y="4916516"/>
            <a:ext cx="4732709" cy="1433906"/>
          </a:xfrm>
          <a:prstGeom prst="rect">
            <a:avLst/>
          </a:prstGeom>
          <a:ln>
            <a:solidFill>
              <a:schemeClr val="tx1"/>
            </a:solidFill>
          </a:ln>
        </p:spPr>
      </p:pic>
    </p:spTree>
    <p:extLst>
      <p:ext uri="{BB962C8B-B14F-4D97-AF65-F5344CB8AC3E}">
        <p14:creationId xmlns:p14="http://schemas.microsoft.com/office/powerpoint/2010/main" val="2864644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42D9B-B3E1-B96A-311C-07A090745F00}"/>
              </a:ext>
            </a:extLst>
          </p:cNvPr>
          <p:cNvSpPr>
            <a:spLocks noGrp="1"/>
          </p:cNvSpPr>
          <p:nvPr>
            <p:ph type="title"/>
          </p:nvPr>
        </p:nvSpPr>
        <p:spPr>
          <a:xfrm>
            <a:off x="363723" y="194744"/>
            <a:ext cx="6468122" cy="1004532"/>
          </a:xfrm>
        </p:spPr>
        <p:txBody>
          <a:bodyPr/>
          <a:lstStyle/>
          <a:p>
            <a:r>
              <a:rPr lang="en-US" b="1" dirty="0" err="1">
                <a:solidFill>
                  <a:srgbClr val="FF0000"/>
                </a:solidFill>
              </a:rPr>
              <a:t>Adaboost</a:t>
            </a:r>
            <a:r>
              <a:rPr lang="en-US" b="1" dirty="0">
                <a:solidFill>
                  <a:srgbClr val="FF0000"/>
                </a:solidFill>
              </a:rPr>
              <a:t> </a:t>
            </a:r>
            <a:endParaRPr lang="en-IN" b="1" dirty="0">
              <a:solidFill>
                <a:srgbClr val="FF0000"/>
              </a:solidFill>
            </a:endParaRPr>
          </a:p>
        </p:txBody>
      </p:sp>
      <p:sp>
        <p:nvSpPr>
          <p:cNvPr id="3" name="Content Placeholder 2">
            <a:extLst>
              <a:ext uri="{FF2B5EF4-FFF2-40B4-BE49-F238E27FC236}">
                <a16:creationId xmlns:a16="http://schemas.microsoft.com/office/drawing/2014/main" id="{B53FD062-5A23-265D-377F-83D7B9F2F05D}"/>
              </a:ext>
            </a:extLst>
          </p:cNvPr>
          <p:cNvSpPr>
            <a:spLocks noGrp="1"/>
          </p:cNvSpPr>
          <p:nvPr>
            <p:ph idx="1"/>
          </p:nvPr>
        </p:nvSpPr>
        <p:spPr>
          <a:xfrm>
            <a:off x="363723" y="1253331"/>
            <a:ext cx="8030592" cy="4351338"/>
          </a:xfrm>
        </p:spPr>
        <p:txBody>
          <a:bodyPr>
            <a:normAutofit lnSpcReduction="10000"/>
          </a:bodyPr>
          <a:lstStyle/>
          <a:p>
            <a:pPr marL="0" indent="0">
              <a:buNone/>
            </a:pPr>
            <a:r>
              <a:rPr lang="en-US" dirty="0"/>
              <a:t>AdaBoost works in </a:t>
            </a:r>
            <a:r>
              <a:rPr lang="en-US" b="1" dirty="0"/>
              <a:t>iterations</a:t>
            </a:r>
          </a:p>
          <a:p>
            <a:pPr marL="0" indent="0">
              <a:buNone/>
            </a:pPr>
            <a:endParaRPr lang="en-US" dirty="0"/>
          </a:p>
          <a:p>
            <a:pPr lvl="1"/>
            <a:r>
              <a:rPr lang="en-US" sz="2800" dirty="0"/>
              <a:t>Start by giving </a:t>
            </a:r>
            <a:r>
              <a:rPr lang="en-US" sz="2800" b="1" dirty="0"/>
              <a:t>equal weight to all training samples</a:t>
            </a:r>
            <a:r>
              <a:rPr lang="en-US" sz="2800" dirty="0"/>
              <a:t>.</a:t>
            </a:r>
          </a:p>
          <a:p>
            <a:pPr lvl="1"/>
            <a:r>
              <a:rPr lang="en-US" sz="2800" dirty="0"/>
              <a:t>Train a </a:t>
            </a:r>
            <a:r>
              <a:rPr lang="en-US" sz="2800" b="1" dirty="0"/>
              <a:t>weak learner</a:t>
            </a:r>
            <a:r>
              <a:rPr lang="en-US" sz="2800" dirty="0"/>
              <a:t> (e.g., decision stump).</a:t>
            </a:r>
          </a:p>
          <a:p>
            <a:pPr lvl="1"/>
            <a:r>
              <a:rPr lang="en-US" sz="2800" dirty="0"/>
              <a:t>Check which samples were </a:t>
            </a:r>
            <a:r>
              <a:rPr lang="en-US" sz="2800" b="1" dirty="0"/>
              <a:t>misclassified</a:t>
            </a:r>
            <a:r>
              <a:rPr lang="en-US" sz="2800" dirty="0"/>
              <a:t>.</a:t>
            </a:r>
          </a:p>
          <a:p>
            <a:pPr lvl="1"/>
            <a:r>
              <a:rPr lang="en-US" sz="2800" b="1" dirty="0"/>
              <a:t>Increase weights</a:t>
            </a:r>
            <a:r>
              <a:rPr lang="en-US" sz="2800" dirty="0"/>
              <a:t> of misclassified samples.</a:t>
            </a:r>
          </a:p>
          <a:p>
            <a:pPr lvl="1"/>
            <a:r>
              <a:rPr lang="en-US" sz="2800" dirty="0"/>
              <a:t>Train the next learner using the updated weights.</a:t>
            </a:r>
          </a:p>
          <a:p>
            <a:pPr lvl="1"/>
            <a:r>
              <a:rPr lang="en-US" sz="2800" dirty="0"/>
              <a:t>Combine all learners into a </a:t>
            </a:r>
            <a:r>
              <a:rPr lang="en-US" sz="2800" b="1" dirty="0"/>
              <a:t>weighted majority vote</a:t>
            </a:r>
            <a:r>
              <a:rPr lang="en-US" sz="2800" dirty="0"/>
              <a:t>.</a:t>
            </a:r>
          </a:p>
          <a:p>
            <a:pPr marL="0" indent="0" algn="just">
              <a:buNone/>
            </a:pPr>
            <a:endParaRPr lang="en-IN" sz="3600" dirty="0"/>
          </a:p>
        </p:txBody>
      </p:sp>
      <p:pic>
        <p:nvPicPr>
          <p:cNvPr id="4" name="Picture 3"/>
          <p:cNvPicPr>
            <a:picLocks noChangeAspect="1"/>
          </p:cNvPicPr>
          <p:nvPr/>
        </p:nvPicPr>
        <p:blipFill>
          <a:blip r:embed="rId2"/>
          <a:stretch>
            <a:fillRect/>
          </a:stretch>
        </p:blipFill>
        <p:spPr>
          <a:xfrm>
            <a:off x="8032652" y="140688"/>
            <a:ext cx="3983282" cy="3766704"/>
          </a:xfrm>
          <a:prstGeom prst="rect">
            <a:avLst/>
          </a:prstGeom>
        </p:spPr>
      </p:pic>
    </p:spTree>
    <p:extLst>
      <p:ext uri="{BB962C8B-B14F-4D97-AF65-F5344CB8AC3E}">
        <p14:creationId xmlns:p14="http://schemas.microsoft.com/office/powerpoint/2010/main" val="2090489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214AB-781B-2954-BBD7-139C6821A700}"/>
              </a:ext>
            </a:extLst>
          </p:cNvPr>
          <p:cNvSpPr>
            <a:spLocks noGrp="1"/>
          </p:cNvSpPr>
          <p:nvPr>
            <p:ph type="title"/>
          </p:nvPr>
        </p:nvSpPr>
        <p:spPr/>
        <p:txBody>
          <a:bodyPr/>
          <a:lstStyle/>
          <a:p>
            <a:r>
              <a:rPr lang="en-US" b="1" dirty="0">
                <a:solidFill>
                  <a:srgbClr val="FF0000"/>
                </a:solidFill>
              </a:rPr>
              <a:t>Working Principle of </a:t>
            </a:r>
            <a:r>
              <a:rPr lang="en-US" b="1" dirty="0" err="1">
                <a:solidFill>
                  <a:srgbClr val="FF0000"/>
                </a:solidFill>
              </a:rPr>
              <a:t>Adaboost</a:t>
            </a:r>
            <a:endParaRPr lang="en-IN" b="1" dirty="0">
              <a:solidFill>
                <a:srgbClr val="FF0000"/>
              </a:solidFill>
            </a:endParaRPr>
          </a:p>
        </p:txBody>
      </p:sp>
      <p:pic>
        <p:nvPicPr>
          <p:cNvPr id="4" name="Picture 3">
            <a:extLst>
              <a:ext uri="{FF2B5EF4-FFF2-40B4-BE49-F238E27FC236}">
                <a16:creationId xmlns:a16="http://schemas.microsoft.com/office/drawing/2014/main" id="{FA9D1B79-95AA-5CD6-7AE5-FCEC9588DA02}"/>
              </a:ext>
            </a:extLst>
          </p:cNvPr>
          <p:cNvPicPr>
            <a:picLocks noChangeAspect="1"/>
          </p:cNvPicPr>
          <p:nvPr/>
        </p:nvPicPr>
        <p:blipFill>
          <a:blip r:embed="rId2"/>
          <a:stretch>
            <a:fillRect/>
          </a:stretch>
        </p:blipFill>
        <p:spPr>
          <a:xfrm>
            <a:off x="2433696" y="2194656"/>
            <a:ext cx="6258241" cy="4025066"/>
          </a:xfrm>
          <a:prstGeom prst="rect">
            <a:avLst/>
          </a:prstGeom>
        </p:spPr>
      </p:pic>
    </p:spTree>
    <p:extLst>
      <p:ext uri="{BB962C8B-B14F-4D97-AF65-F5344CB8AC3E}">
        <p14:creationId xmlns:p14="http://schemas.microsoft.com/office/powerpoint/2010/main" val="20310620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EAE550D-1FB7-59A6-6F53-FF8C7B238C58}"/>
              </a:ext>
            </a:extLst>
          </p:cNvPr>
          <p:cNvSpPr txBox="1"/>
          <p:nvPr/>
        </p:nvSpPr>
        <p:spPr>
          <a:xfrm>
            <a:off x="508247" y="166001"/>
            <a:ext cx="6094520" cy="584775"/>
          </a:xfrm>
          <a:prstGeom prst="rect">
            <a:avLst/>
          </a:prstGeom>
          <a:noFill/>
        </p:spPr>
        <p:txBody>
          <a:bodyPr wrap="square">
            <a:spAutoFit/>
          </a:bodyPr>
          <a:lstStyle/>
          <a:p>
            <a:r>
              <a:rPr lang="en-IN" sz="3200" dirty="0">
                <a:solidFill>
                  <a:srgbClr val="FF0000"/>
                </a:solidFill>
              </a:rPr>
              <a:t>Training Dataset</a:t>
            </a:r>
          </a:p>
        </p:txBody>
      </p:sp>
      <p:graphicFrame>
        <p:nvGraphicFramePr>
          <p:cNvPr id="6" name="Table 5">
            <a:extLst>
              <a:ext uri="{FF2B5EF4-FFF2-40B4-BE49-F238E27FC236}">
                <a16:creationId xmlns:a16="http://schemas.microsoft.com/office/drawing/2014/main" id="{C2AC2601-1E21-6269-EC85-92CD7B71F857}"/>
              </a:ext>
            </a:extLst>
          </p:cNvPr>
          <p:cNvGraphicFramePr>
            <a:graphicFrameLocks noGrp="1"/>
          </p:cNvGraphicFramePr>
          <p:nvPr>
            <p:extLst>
              <p:ext uri="{D42A27DB-BD31-4B8C-83A1-F6EECF244321}">
                <p14:modId xmlns:p14="http://schemas.microsoft.com/office/powerpoint/2010/main" val="731682370"/>
              </p:ext>
            </p:extLst>
          </p:nvPr>
        </p:nvGraphicFramePr>
        <p:xfrm>
          <a:off x="660648" y="879906"/>
          <a:ext cx="5216370" cy="2743200"/>
        </p:xfrm>
        <a:graphic>
          <a:graphicData uri="http://schemas.openxmlformats.org/drawingml/2006/table">
            <a:tbl>
              <a:tblPr/>
              <a:tblGrid>
                <a:gridCol w="1738790">
                  <a:extLst>
                    <a:ext uri="{9D8B030D-6E8A-4147-A177-3AD203B41FA5}">
                      <a16:colId xmlns:a16="http://schemas.microsoft.com/office/drawing/2014/main" val="1057668598"/>
                    </a:ext>
                  </a:extLst>
                </a:gridCol>
                <a:gridCol w="1738790">
                  <a:extLst>
                    <a:ext uri="{9D8B030D-6E8A-4147-A177-3AD203B41FA5}">
                      <a16:colId xmlns:a16="http://schemas.microsoft.com/office/drawing/2014/main" val="3196611187"/>
                    </a:ext>
                  </a:extLst>
                </a:gridCol>
                <a:gridCol w="1738790">
                  <a:extLst>
                    <a:ext uri="{9D8B030D-6E8A-4147-A177-3AD203B41FA5}">
                      <a16:colId xmlns:a16="http://schemas.microsoft.com/office/drawing/2014/main" val="1246934486"/>
                    </a:ext>
                  </a:extLst>
                </a:gridCol>
              </a:tblGrid>
              <a:tr h="0">
                <a:tc>
                  <a:txBody>
                    <a:bodyPr/>
                    <a:lstStyle/>
                    <a:p>
                      <a:pPr>
                        <a:buNone/>
                      </a:pPr>
                      <a:r>
                        <a:rPr lang="en-IN" sz="2400"/>
                        <a:t>Sample</a:t>
                      </a:r>
                    </a:p>
                  </a:txBody>
                  <a:tcPr anchor="ctr">
                    <a:lnL>
                      <a:noFill/>
                    </a:lnL>
                    <a:lnR>
                      <a:noFill/>
                    </a:lnR>
                    <a:lnT>
                      <a:noFill/>
                    </a:lnT>
                    <a:lnB>
                      <a:noFill/>
                    </a:lnB>
                    <a:noFill/>
                  </a:tcPr>
                </a:tc>
                <a:tc>
                  <a:txBody>
                    <a:bodyPr/>
                    <a:lstStyle/>
                    <a:p>
                      <a:pPr>
                        <a:buNone/>
                      </a:pPr>
                      <a:r>
                        <a:rPr lang="en-IN" sz="2400"/>
                        <a:t>x</a:t>
                      </a:r>
                    </a:p>
                  </a:txBody>
                  <a:tcPr anchor="ctr">
                    <a:lnL>
                      <a:noFill/>
                    </a:lnL>
                    <a:lnR>
                      <a:noFill/>
                    </a:lnR>
                    <a:lnT>
                      <a:noFill/>
                    </a:lnT>
                    <a:lnB>
                      <a:noFill/>
                    </a:lnB>
                    <a:noFill/>
                  </a:tcPr>
                </a:tc>
                <a:tc>
                  <a:txBody>
                    <a:bodyPr/>
                    <a:lstStyle/>
                    <a:p>
                      <a:pPr>
                        <a:buNone/>
                      </a:pPr>
                      <a:r>
                        <a:rPr lang="en-IN" sz="2400"/>
                        <a:t>y</a:t>
                      </a:r>
                    </a:p>
                  </a:txBody>
                  <a:tcPr anchor="ctr">
                    <a:lnL>
                      <a:noFill/>
                    </a:lnL>
                    <a:lnR>
                      <a:noFill/>
                    </a:lnR>
                    <a:lnT>
                      <a:noFill/>
                    </a:lnT>
                    <a:lnB>
                      <a:noFill/>
                    </a:lnB>
                    <a:noFill/>
                  </a:tcPr>
                </a:tc>
                <a:extLst>
                  <a:ext uri="{0D108BD9-81ED-4DB2-BD59-A6C34878D82A}">
                    <a16:rowId xmlns:a16="http://schemas.microsoft.com/office/drawing/2014/main" val="2071093526"/>
                  </a:ext>
                </a:extLst>
              </a:tr>
              <a:tr h="0">
                <a:tc>
                  <a:txBody>
                    <a:bodyPr/>
                    <a:lstStyle/>
                    <a:p>
                      <a:pPr>
                        <a:buNone/>
                      </a:pPr>
                      <a:r>
                        <a:rPr lang="en-IN" sz="240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2223326497"/>
                  </a:ext>
                </a:extLst>
              </a:tr>
              <a:tr h="0">
                <a:tc>
                  <a:txBody>
                    <a:bodyPr/>
                    <a:lstStyle/>
                    <a:p>
                      <a:pPr>
                        <a:buNone/>
                      </a:pPr>
                      <a:r>
                        <a:rPr lang="en-IN" sz="2400"/>
                        <a:t>2</a:t>
                      </a:r>
                    </a:p>
                  </a:txBody>
                  <a:tcPr anchor="ctr">
                    <a:lnL>
                      <a:noFill/>
                    </a:lnL>
                    <a:lnR>
                      <a:noFill/>
                    </a:lnR>
                    <a:lnT>
                      <a:noFill/>
                    </a:lnT>
                    <a:lnB>
                      <a:noFill/>
                    </a:lnB>
                    <a:noFill/>
                  </a:tcPr>
                </a:tc>
                <a:tc>
                  <a:txBody>
                    <a:bodyPr/>
                    <a:lstStyle/>
                    <a:p>
                      <a:pPr>
                        <a:buNone/>
                      </a:pPr>
                      <a:r>
                        <a:rPr lang="en-IN" sz="2400"/>
                        <a:t>2</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3520420329"/>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a:t>3</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1051858058"/>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4</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1660173653"/>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a:t>5</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416446240"/>
                  </a:ext>
                </a:extLst>
              </a:tr>
            </a:tbl>
          </a:graphicData>
        </a:graphic>
      </p:graphicFrame>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E8AC5BA-0F96-C75A-779F-A496C346B201}"/>
                  </a:ext>
                </a:extLst>
              </p:cNvPr>
              <p:cNvSpPr txBox="1"/>
              <p:nvPr/>
            </p:nvSpPr>
            <p:spPr>
              <a:xfrm>
                <a:off x="6096000" y="879906"/>
                <a:ext cx="6094520" cy="1894173"/>
              </a:xfrm>
              <a:prstGeom prst="rect">
                <a:avLst/>
              </a:prstGeom>
              <a:noFill/>
              <a:ln>
                <a:solidFill>
                  <a:schemeClr val="bg1"/>
                </a:solidFill>
              </a:ln>
            </p:spPr>
            <p:txBody>
              <a:bodyPr wrap="square">
                <a:spAutoFit/>
              </a:bodyPr>
              <a:lstStyle/>
              <a:p>
                <a:pPr>
                  <a:buNone/>
                </a:pPr>
                <a:r>
                  <a:rPr lang="en-IN" sz="2400" dirty="0"/>
                  <a:t>Number of samples</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𝑁</m:t>
                      </m:r>
                      <m:r>
                        <a:rPr lang="en-IN" sz="2400" i="0">
                          <a:latin typeface="Cambria Math" panose="02040503050406030204" pitchFamily="18" charset="0"/>
                        </a:rPr>
                        <m:t>=5</m:t>
                      </m:r>
                    </m:oMath>
                  </m:oMathPara>
                </a14:m>
                <a:endParaRPr lang="en-IN" sz="2400" dirty="0"/>
              </a:p>
              <a:p>
                <a:pPr>
                  <a:buNone/>
                </a:pPr>
                <a:r>
                  <a:rPr lang="en-IN" sz="2400" dirty="0"/>
                  <a:t>Initial weights</a:t>
                </a:r>
              </a:p>
              <a:p>
                <a:pPr>
                  <a:buNone/>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r>
                        <a:rPr lang="ar-AE" sz="2400" i="0">
                          <a:latin typeface="Cambria Math" panose="02040503050406030204" pitchFamily="18" charset="0"/>
                        </a:rPr>
                        <m:t>=</m:t>
                      </m:r>
                      <m:f>
                        <m:fPr>
                          <m:ctrlPr>
                            <a:rPr lang="ar-AE" sz="2400" i="1">
                              <a:latin typeface="Cambria Math" panose="02040503050406030204" pitchFamily="18" charset="0"/>
                            </a:rPr>
                          </m:ctrlPr>
                        </m:fPr>
                        <m:num>
                          <m:r>
                            <a:rPr lang="ar-AE" sz="2400" i="0">
                              <a:latin typeface="Cambria Math" panose="02040503050406030204" pitchFamily="18" charset="0"/>
                            </a:rPr>
                            <m:t>1</m:t>
                          </m:r>
                        </m:num>
                        <m:den>
                          <m:r>
                            <a:rPr lang="ar-AE" sz="2400" i="0">
                              <a:latin typeface="Cambria Math" panose="02040503050406030204" pitchFamily="18" charset="0"/>
                            </a:rPr>
                            <m:t>5</m:t>
                          </m:r>
                        </m:den>
                      </m:f>
                      <m:r>
                        <a:rPr lang="ar-AE" sz="2400" i="0">
                          <a:latin typeface="Cambria Math" panose="02040503050406030204" pitchFamily="18" charset="0"/>
                        </a:rPr>
                        <m:t>=</m:t>
                      </m:r>
                      <m:r>
                        <a:rPr lang="ar-AE" sz="2400" i="0">
                          <a:latin typeface="Cambria Math" panose="02040503050406030204" pitchFamily="18" charset="0"/>
                        </a:rPr>
                        <m:t>0</m:t>
                      </m:r>
                      <m:r>
                        <a:rPr lang="ar-AE" sz="2400" i="0">
                          <a:latin typeface="Cambria Math" panose="02040503050406030204" pitchFamily="18" charset="0"/>
                        </a:rPr>
                        <m:t>.</m:t>
                      </m:r>
                      <m:r>
                        <a:rPr lang="ar-AE" sz="2400" i="0">
                          <a:latin typeface="Cambria Math" panose="02040503050406030204" pitchFamily="18" charset="0"/>
                        </a:rPr>
                        <m:t>2</m:t>
                      </m:r>
                    </m:oMath>
                  </m:oMathPara>
                </a14:m>
                <a:endParaRPr lang="ar-AE" dirty="0"/>
              </a:p>
            </p:txBody>
          </p:sp>
        </mc:Choice>
        <mc:Fallback xmlns="">
          <p:sp>
            <p:nvSpPr>
              <p:cNvPr id="8" name="TextBox 7">
                <a:extLst>
                  <a:ext uri="{FF2B5EF4-FFF2-40B4-BE49-F238E27FC236}">
                    <a16:creationId xmlns:a16="http://schemas.microsoft.com/office/drawing/2014/main" id="{AE8AC5BA-0F96-C75A-779F-A496C346B201}"/>
                  </a:ext>
                </a:extLst>
              </p:cNvPr>
              <p:cNvSpPr txBox="1">
                <a:spLocks noRot="1" noChangeAspect="1" noMove="1" noResize="1" noEditPoints="1" noAdjustHandles="1" noChangeArrowheads="1" noChangeShapeType="1" noTextEdit="1"/>
              </p:cNvSpPr>
              <p:nvPr/>
            </p:nvSpPr>
            <p:spPr>
              <a:xfrm>
                <a:off x="6096000" y="879906"/>
                <a:ext cx="6094520" cy="1894173"/>
              </a:xfrm>
              <a:prstGeom prst="rect">
                <a:avLst/>
              </a:prstGeom>
              <a:blipFill>
                <a:blip r:embed="rId2"/>
                <a:stretch>
                  <a:fillRect l="-1397" t="-2236"/>
                </a:stretch>
              </a:blipFill>
              <a:ln>
                <a:solidFill>
                  <a:schemeClr val="bg1"/>
                </a:solidFill>
              </a:ln>
            </p:spPr>
            <p:txBody>
              <a:bodyPr/>
              <a:lstStyle/>
              <a:p>
                <a:r>
                  <a:rPr lang="en-IN">
                    <a:noFill/>
                  </a:rPr>
                  <a:t> </a:t>
                </a:r>
              </a:p>
            </p:txBody>
          </p:sp>
        </mc:Fallback>
      </mc:AlternateContent>
      <p:graphicFrame>
        <p:nvGraphicFramePr>
          <p:cNvPr id="9" name="Table 8">
            <a:extLst>
              <a:ext uri="{FF2B5EF4-FFF2-40B4-BE49-F238E27FC236}">
                <a16:creationId xmlns:a16="http://schemas.microsoft.com/office/drawing/2014/main" id="{A2436AAD-4545-58E0-059A-3D55D3F7014E}"/>
              </a:ext>
            </a:extLst>
          </p:cNvPr>
          <p:cNvGraphicFramePr>
            <a:graphicFrameLocks noGrp="1"/>
          </p:cNvGraphicFramePr>
          <p:nvPr>
            <p:extLst>
              <p:ext uri="{D42A27DB-BD31-4B8C-83A1-F6EECF244321}">
                <p14:modId xmlns:p14="http://schemas.microsoft.com/office/powerpoint/2010/main" val="18796655"/>
              </p:ext>
            </p:extLst>
          </p:nvPr>
        </p:nvGraphicFramePr>
        <p:xfrm>
          <a:off x="660647" y="3967679"/>
          <a:ext cx="7444668" cy="2743200"/>
        </p:xfrm>
        <a:graphic>
          <a:graphicData uri="http://schemas.openxmlformats.org/drawingml/2006/table">
            <a:tbl>
              <a:tblPr/>
              <a:tblGrid>
                <a:gridCol w="1861167">
                  <a:extLst>
                    <a:ext uri="{9D8B030D-6E8A-4147-A177-3AD203B41FA5}">
                      <a16:colId xmlns:a16="http://schemas.microsoft.com/office/drawing/2014/main" val="2640734471"/>
                    </a:ext>
                  </a:extLst>
                </a:gridCol>
                <a:gridCol w="1861167">
                  <a:extLst>
                    <a:ext uri="{9D8B030D-6E8A-4147-A177-3AD203B41FA5}">
                      <a16:colId xmlns:a16="http://schemas.microsoft.com/office/drawing/2014/main" val="1560320298"/>
                    </a:ext>
                  </a:extLst>
                </a:gridCol>
                <a:gridCol w="1861167">
                  <a:extLst>
                    <a:ext uri="{9D8B030D-6E8A-4147-A177-3AD203B41FA5}">
                      <a16:colId xmlns:a16="http://schemas.microsoft.com/office/drawing/2014/main" val="1567308943"/>
                    </a:ext>
                  </a:extLst>
                </a:gridCol>
                <a:gridCol w="1861167">
                  <a:extLst>
                    <a:ext uri="{9D8B030D-6E8A-4147-A177-3AD203B41FA5}">
                      <a16:colId xmlns:a16="http://schemas.microsoft.com/office/drawing/2014/main" val="736952278"/>
                    </a:ext>
                  </a:extLst>
                </a:gridCol>
              </a:tblGrid>
              <a:tr h="0">
                <a:tc>
                  <a:txBody>
                    <a:bodyPr/>
                    <a:lstStyle/>
                    <a:p>
                      <a:pPr>
                        <a:buNone/>
                      </a:pPr>
                      <a:r>
                        <a:rPr lang="en-IN" sz="2400" dirty="0"/>
                        <a:t>Sample</a:t>
                      </a:r>
                    </a:p>
                  </a:txBody>
                  <a:tcPr anchor="ctr">
                    <a:lnL>
                      <a:noFill/>
                    </a:lnL>
                    <a:lnR>
                      <a:noFill/>
                    </a:lnR>
                    <a:lnT>
                      <a:noFill/>
                    </a:lnT>
                    <a:lnB>
                      <a:noFill/>
                    </a:lnB>
                    <a:noFill/>
                  </a:tcPr>
                </a:tc>
                <a:tc>
                  <a:txBody>
                    <a:bodyPr/>
                    <a:lstStyle/>
                    <a:p>
                      <a:pPr>
                        <a:buNone/>
                      </a:pPr>
                      <a:r>
                        <a:rPr lang="en-IN" sz="2400"/>
                        <a:t>x</a:t>
                      </a:r>
                    </a:p>
                  </a:txBody>
                  <a:tcPr anchor="ctr">
                    <a:lnL>
                      <a:noFill/>
                    </a:lnL>
                    <a:lnR>
                      <a:noFill/>
                    </a:lnR>
                    <a:lnT>
                      <a:noFill/>
                    </a:lnT>
                    <a:lnB>
                      <a:noFill/>
                    </a:lnB>
                    <a:noFill/>
                  </a:tcPr>
                </a:tc>
                <a:tc>
                  <a:txBody>
                    <a:bodyPr/>
                    <a:lstStyle/>
                    <a:p>
                      <a:pPr>
                        <a:buNone/>
                      </a:pPr>
                      <a:r>
                        <a:rPr lang="en-IN" sz="2400"/>
                        <a:t>y</a:t>
                      </a:r>
                    </a:p>
                  </a:txBody>
                  <a:tcPr anchor="ctr">
                    <a:lnL>
                      <a:noFill/>
                    </a:lnL>
                    <a:lnR>
                      <a:noFill/>
                    </a:lnR>
                    <a:lnT>
                      <a:noFill/>
                    </a:lnT>
                    <a:lnB>
                      <a:noFill/>
                    </a:lnB>
                    <a:noFill/>
                  </a:tcPr>
                </a:tc>
                <a:tc>
                  <a:txBody>
                    <a:bodyPr/>
                    <a:lstStyle/>
                    <a:p>
                      <a:pPr>
                        <a:buNone/>
                      </a:pPr>
                      <a:r>
                        <a:rPr lang="en-IN" sz="2400" dirty="0"/>
                        <a:t>Weight</a:t>
                      </a:r>
                    </a:p>
                  </a:txBody>
                  <a:tcPr anchor="ctr">
                    <a:lnL>
                      <a:noFill/>
                    </a:lnL>
                    <a:lnR>
                      <a:noFill/>
                    </a:lnR>
                    <a:lnT>
                      <a:noFill/>
                    </a:lnT>
                    <a:lnB>
                      <a:noFill/>
                    </a:lnB>
                    <a:noFill/>
                  </a:tcPr>
                </a:tc>
                <a:extLst>
                  <a:ext uri="{0D108BD9-81ED-4DB2-BD59-A6C34878D82A}">
                    <a16:rowId xmlns:a16="http://schemas.microsoft.com/office/drawing/2014/main" val="3208773303"/>
                  </a:ext>
                </a:extLst>
              </a:tr>
              <a:tr h="0">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0.2</a:t>
                      </a:r>
                    </a:p>
                  </a:txBody>
                  <a:tcPr anchor="ctr">
                    <a:lnL>
                      <a:noFill/>
                    </a:lnL>
                    <a:lnR>
                      <a:noFill/>
                    </a:lnR>
                    <a:lnT>
                      <a:noFill/>
                    </a:lnT>
                    <a:lnB>
                      <a:noFill/>
                    </a:lnB>
                    <a:noFill/>
                  </a:tcPr>
                </a:tc>
                <a:extLst>
                  <a:ext uri="{0D108BD9-81ED-4DB2-BD59-A6C34878D82A}">
                    <a16:rowId xmlns:a16="http://schemas.microsoft.com/office/drawing/2014/main" val="3460176254"/>
                  </a:ext>
                </a:extLst>
              </a:tr>
              <a:tr h="0">
                <a:tc>
                  <a:txBody>
                    <a:bodyPr/>
                    <a:lstStyle/>
                    <a:p>
                      <a:pPr>
                        <a:buNone/>
                      </a:pPr>
                      <a:r>
                        <a:rPr lang="en-IN" sz="2400"/>
                        <a:t>2</a:t>
                      </a:r>
                    </a:p>
                  </a:txBody>
                  <a:tcPr anchor="ctr">
                    <a:lnL>
                      <a:noFill/>
                    </a:lnL>
                    <a:lnR>
                      <a:noFill/>
                    </a:lnR>
                    <a:lnT>
                      <a:noFill/>
                    </a:lnT>
                    <a:lnB>
                      <a:noFill/>
                    </a:lnB>
                    <a:noFill/>
                  </a:tcPr>
                </a:tc>
                <a:tc>
                  <a:txBody>
                    <a:bodyPr/>
                    <a:lstStyle/>
                    <a:p>
                      <a:pPr>
                        <a:buNone/>
                      </a:pPr>
                      <a:r>
                        <a:rPr lang="en-IN" sz="2400"/>
                        <a:t>2</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0.2</a:t>
                      </a:r>
                    </a:p>
                  </a:txBody>
                  <a:tcPr anchor="ctr">
                    <a:lnL>
                      <a:noFill/>
                    </a:lnL>
                    <a:lnR>
                      <a:noFill/>
                    </a:lnR>
                    <a:lnT>
                      <a:noFill/>
                    </a:lnT>
                    <a:lnB>
                      <a:noFill/>
                    </a:lnB>
                    <a:noFill/>
                  </a:tcPr>
                </a:tc>
                <a:extLst>
                  <a:ext uri="{0D108BD9-81ED-4DB2-BD59-A6C34878D82A}">
                    <a16:rowId xmlns:a16="http://schemas.microsoft.com/office/drawing/2014/main" val="3297388825"/>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a:t>3</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0.2</a:t>
                      </a:r>
                    </a:p>
                  </a:txBody>
                  <a:tcPr anchor="ctr">
                    <a:lnL>
                      <a:noFill/>
                    </a:lnL>
                    <a:lnR>
                      <a:noFill/>
                    </a:lnR>
                    <a:lnT>
                      <a:noFill/>
                    </a:lnT>
                    <a:lnB>
                      <a:noFill/>
                    </a:lnB>
                    <a:noFill/>
                  </a:tcPr>
                </a:tc>
                <a:extLst>
                  <a:ext uri="{0D108BD9-81ED-4DB2-BD59-A6C34878D82A}">
                    <a16:rowId xmlns:a16="http://schemas.microsoft.com/office/drawing/2014/main" val="652875905"/>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4</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0.2</a:t>
                      </a:r>
                    </a:p>
                  </a:txBody>
                  <a:tcPr anchor="ctr">
                    <a:lnL>
                      <a:noFill/>
                    </a:lnL>
                    <a:lnR>
                      <a:noFill/>
                    </a:lnR>
                    <a:lnT>
                      <a:noFill/>
                    </a:lnT>
                    <a:lnB>
                      <a:noFill/>
                    </a:lnB>
                    <a:noFill/>
                  </a:tcPr>
                </a:tc>
                <a:extLst>
                  <a:ext uri="{0D108BD9-81ED-4DB2-BD59-A6C34878D82A}">
                    <a16:rowId xmlns:a16="http://schemas.microsoft.com/office/drawing/2014/main" val="2292696084"/>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a:t>5</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0.2</a:t>
                      </a:r>
                    </a:p>
                  </a:txBody>
                  <a:tcPr anchor="ctr">
                    <a:lnL>
                      <a:noFill/>
                    </a:lnL>
                    <a:lnR>
                      <a:noFill/>
                    </a:lnR>
                    <a:lnT>
                      <a:noFill/>
                    </a:lnT>
                    <a:lnB>
                      <a:noFill/>
                    </a:lnB>
                    <a:noFill/>
                  </a:tcPr>
                </a:tc>
                <a:extLst>
                  <a:ext uri="{0D108BD9-81ED-4DB2-BD59-A6C34878D82A}">
                    <a16:rowId xmlns:a16="http://schemas.microsoft.com/office/drawing/2014/main" val="2395435989"/>
                  </a:ext>
                </a:extLst>
              </a:tr>
            </a:tbl>
          </a:graphicData>
        </a:graphic>
      </p:graphicFrame>
    </p:spTree>
    <p:extLst>
      <p:ext uri="{BB962C8B-B14F-4D97-AF65-F5344CB8AC3E}">
        <p14:creationId xmlns:p14="http://schemas.microsoft.com/office/powerpoint/2010/main" val="41261745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37E16E-1E0C-10F2-7004-9C9D61631E5A}"/>
              </a:ext>
            </a:extLst>
          </p:cNvPr>
          <p:cNvSpPr txBox="1"/>
          <p:nvPr/>
        </p:nvSpPr>
        <p:spPr>
          <a:xfrm>
            <a:off x="739066" y="494476"/>
            <a:ext cx="6094520" cy="523220"/>
          </a:xfrm>
          <a:prstGeom prst="rect">
            <a:avLst/>
          </a:prstGeom>
          <a:noFill/>
        </p:spPr>
        <p:txBody>
          <a:bodyPr wrap="square">
            <a:spAutoFit/>
          </a:bodyPr>
          <a:lstStyle/>
          <a:p>
            <a:r>
              <a:rPr lang="en-IN" sz="2800" dirty="0"/>
              <a:t>ITERATION 1</a:t>
            </a:r>
          </a:p>
        </p:txBody>
      </p:sp>
      <p:sp>
        <p:nvSpPr>
          <p:cNvPr id="7" name="TextBox 6">
            <a:extLst>
              <a:ext uri="{FF2B5EF4-FFF2-40B4-BE49-F238E27FC236}">
                <a16:creationId xmlns:a16="http://schemas.microsoft.com/office/drawing/2014/main" id="{6148A6A4-8199-B713-3F98-7120FB6FB17B}"/>
              </a:ext>
            </a:extLst>
          </p:cNvPr>
          <p:cNvSpPr txBox="1"/>
          <p:nvPr/>
        </p:nvSpPr>
        <p:spPr>
          <a:xfrm>
            <a:off x="578158" y="1090282"/>
            <a:ext cx="3877322" cy="1569660"/>
          </a:xfrm>
          <a:prstGeom prst="rect">
            <a:avLst/>
          </a:prstGeom>
          <a:noFill/>
        </p:spPr>
        <p:txBody>
          <a:bodyPr wrap="square">
            <a:spAutoFit/>
          </a:bodyPr>
          <a:lstStyle/>
          <a:p>
            <a:pPr>
              <a:buNone/>
            </a:pPr>
            <a:r>
              <a:rPr lang="en-US" sz="2400" b="1" dirty="0">
                <a:solidFill>
                  <a:srgbClr val="FF0000"/>
                </a:solidFill>
              </a:rPr>
              <a:t>Step 1: Train Decision Stump</a:t>
            </a:r>
          </a:p>
          <a:p>
            <a:pPr>
              <a:buNone/>
            </a:pPr>
            <a:r>
              <a:rPr lang="en-US" sz="2400" dirty="0"/>
              <a:t>Consider stump</a:t>
            </a:r>
          </a:p>
          <a:p>
            <a:pPr rtl="0">
              <a:buNone/>
            </a:pPr>
            <a:r>
              <a:rPr lang="en-US" sz="2400" dirty="0">
                <a:latin typeface="Courier New" panose="02070309020205020404" pitchFamily="49" charset="0"/>
              </a:rPr>
              <a:t>x &lt; 4.5 → -1</a:t>
            </a:r>
            <a:br>
              <a:rPr lang="en-US" sz="2400" dirty="0">
                <a:latin typeface="Courier New" panose="02070309020205020404" pitchFamily="49" charset="0"/>
              </a:rPr>
            </a:br>
            <a:r>
              <a:rPr lang="en-US" sz="2400" dirty="0">
                <a:latin typeface="Courier New" panose="02070309020205020404" pitchFamily="49" charset="0"/>
              </a:rPr>
              <a:t>x ≥ 4.5 → +1</a:t>
            </a:r>
          </a:p>
        </p:txBody>
      </p:sp>
      <p:sp>
        <p:nvSpPr>
          <p:cNvPr id="11" name="TextBox 10">
            <a:extLst>
              <a:ext uri="{FF2B5EF4-FFF2-40B4-BE49-F238E27FC236}">
                <a16:creationId xmlns:a16="http://schemas.microsoft.com/office/drawing/2014/main" id="{48A702A2-5C23-AC21-DCC3-57A56C3CA0A3}"/>
              </a:ext>
            </a:extLst>
          </p:cNvPr>
          <p:cNvSpPr txBox="1"/>
          <p:nvPr/>
        </p:nvSpPr>
        <p:spPr>
          <a:xfrm>
            <a:off x="5417598" y="190841"/>
            <a:ext cx="2510161" cy="523220"/>
          </a:xfrm>
          <a:prstGeom prst="rect">
            <a:avLst/>
          </a:prstGeom>
          <a:noFill/>
        </p:spPr>
        <p:txBody>
          <a:bodyPr wrap="square">
            <a:spAutoFit/>
          </a:bodyPr>
          <a:lstStyle/>
          <a:p>
            <a:r>
              <a:rPr lang="en-IN" sz="2800" dirty="0"/>
              <a:t>Predictions</a:t>
            </a:r>
            <a:endParaRPr lang="en-IN" dirty="0"/>
          </a:p>
        </p:txBody>
      </p:sp>
      <p:graphicFrame>
        <p:nvGraphicFramePr>
          <p:cNvPr id="12" name="Table 11">
            <a:extLst>
              <a:ext uri="{FF2B5EF4-FFF2-40B4-BE49-F238E27FC236}">
                <a16:creationId xmlns:a16="http://schemas.microsoft.com/office/drawing/2014/main" id="{2B0902B8-89FF-3275-19D8-7083913F9384}"/>
              </a:ext>
            </a:extLst>
          </p:cNvPr>
          <p:cNvGraphicFramePr>
            <a:graphicFrameLocks noGrp="1"/>
          </p:cNvGraphicFramePr>
          <p:nvPr>
            <p:extLst>
              <p:ext uri="{D42A27DB-BD31-4B8C-83A1-F6EECF244321}">
                <p14:modId xmlns:p14="http://schemas.microsoft.com/office/powerpoint/2010/main" val="1468281024"/>
              </p:ext>
            </p:extLst>
          </p:nvPr>
        </p:nvGraphicFramePr>
        <p:xfrm>
          <a:off x="5539666" y="732112"/>
          <a:ext cx="6567256" cy="2438400"/>
        </p:xfrm>
        <a:graphic>
          <a:graphicData uri="http://schemas.openxmlformats.org/drawingml/2006/table">
            <a:tbl>
              <a:tblPr/>
              <a:tblGrid>
                <a:gridCol w="1500326">
                  <a:extLst>
                    <a:ext uri="{9D8B030D-6E8A-4147-A177-3AD203B41FA5}">
                      <a16:colId xmlns:a16="http://schemas.microsoft.com/office/drawing/2014/main" val="2122838803"/>
                    </a:ext>
                  </a:extLst>
                </a:gridCol>
                <a:gridCol w="1535837">
                  <a:extLst>
                    <a:ext uri="{9D8B030D-6E8A-4147-A177-3AD203B41FA5}">
                      <a16:colId xmlns:a16="http://schemas.microsoft.com/office/drawing/2014/main" val="352116334"/>
                    </a:ext>
                  </a:extLst>
                </a:gridCol>
                <a:gridCol w="1269507">
                  <a:extLst>
                    <a:ext uri="{9D8B030D-6E8A-4147-A177-3AD203B41FA5}">
                      <a16:colId xmlns:a16="http://schemas.microsoft.com/office/drawing/2014/main" val="1814194266"/>
                    </a:ext>
                  </a:extLst>
                </a:gridCol>
                <a:gridCol w="2261586">
                  <a:extLst>
                    <a:ext uri="{9D8B030D-6E8A-4147-A177-3AD203B41FA5}">
                      <a16:colId xmlns:a16="http://schemas.microsoft.com/office/drawing/2014/main" val="1340310804"/>
                    </a:ext>
                  </a:extLst>
                </a:gridCol>
              </a:tblGrid>
              <a:tr h="0">
                <a:tc>
                  <a:txBody>
                    <a:bodyPr/>
                    <a:lstStyle/>
                    <a:p>
                      <a:pPr>
                        <a:buNone/>
                      </a:pPr>
                      <a:r>
                        <a:rPr lang="en-IN" sz="2400" dirty="0"/>
                        <a:t>Sample</a:t>
                      </a:r>
                    </a:p>
                  </a:txBody>
                  <a:tcPr anchor="ctr">
                    <a:lnL>
                      <a:noFill/>
                    </a:lnL>
                    <a:lnR>
                      <a:noFill/>
                    </a:lnR>
                    <a:lnT>
                      <a:noFill/>
                    </a:lnT>
                    <a:lnB>
                      <a:noFill/>
                    </a:lnB>
                    <a:noFill/>
                  </a:tcPr>
                </a:tc>
                <a:tc>
                  <a:txBody>
                    <a:bodyPr/>
                    <a:lstStyle/>
                    <a:p>
                      <a:pPr>
                        <a:buNone/>
                      </a:pPr>
                      <a:r>
                        <a:rPr lang="en-IN" sz="2400" dirty="0"/>
                        <a:t>x</a:t>
                      </a:r>
                    </a:p>
                  </a:txBody>
                  <a:tcPr anchor="ctr">
                    <a:lnL>
                      <a:noFill/>
                    </a:lnL>
                    <a:lnR>
                      <a:noFill/>
                    </a:lnR>
                    <a:lnT>
                      <a:noFill/>
                    </a:lnT>
                    <a:lnB>
                      <a:noFill/>
                    </a:lnB>
                    <a:noFill/>
                  </a:tcPr>
                </a:tc>
                <a:tc>
                  <a:txBody>
                    <a:bodyPr/>
                    <a:lstStyle/>
                    <a:p>
                      <a:pPr>
                        <a:buNone/>
                      </a:pPr>
                      <a:r>
                        <a:rPr lang="en-IN" sz="2400" dirty="0"/>
                        <a:t>True y</a:t>
                      </a:r>
                    </a:p>
                  </a:txBody>
                  <a:tcPr anchor="ctr">
                    <a:lnL>
                      <a:noFill/>
                    </a:lnL>
                    <a:lnR>
                      <a:noFill/>
                    </a:lnR>
                    <a:lnT>
                      <a:noFill/>
                    </a:lnT>
                    <a:lnB>
                      <a:noFill/>
                    </a:lnB>
                    <a:noFill/>
                  </a:tcPr>
                </a:tc>
                <a:tc>
                  <a:txBody>
                    <a:bodyPr/>
                    <a:lstStyle/>
                    <a:p>
                      <a:pPr>
                        <a:buNone/>
                      </a:pPr>
                      <a:r>
                        <a:rPr lang="en-IN" sz="2400" dirty="0"/>
                        <a:t>Prediction</a:t>
                      </a:r>
                    </a:p>
                  </a:txBody>
                  <a:tcPr anchor="ctr">
                    <a:lnL>
                      <a:noFill/>
                    </a:lnL>
                    <a:lnR>
                      <a:noFill/>
                    </a:lnR>
                    <a:lnT>
                      <a:noFill/>
                    </a:lnT>
                    <a:lnB>
                      <a:noFill/>
                    </a:lnB>
                    <a:noFill/>
                  </a:tcPr>
                </a:tc>
                <a:extLst>
                  <a:ext uri="{0D108BD9-81ED-4DB2-BD59-A6C34878D82A}">
                    <a16:rowId xmlns:a16="http://schemas.microsoft.com/office/drawing/2014/main" val="265304231"/>
                  </a:ext>
                </a:extLst>
              </a:tr>
              <a:tr h="0">
                <a:tc>
                  <a:txBody>
                    <a:bodyPr/>
                    <a:lstStyle/>
                    <a:p>
                      <a:pPr>
                        <a:buNone/>
                      </a:pPr>
                      <a:r>
                        <a:rPr lang="en-IN" sz="2000" dirty="0"/>
                        <a:t>1</a:t>
                      </a:r>
                    </a:p>
                  </a:txBody>
                  <a:tcPr anchor="ctr">
                    <a:lnL>
                      <a:noFill/>
                    </a:lnL>
                    <a:lnR>
                      <a:noFill/>
                    </a:lnR>
                    <a:lnT>
                      <a:noFill/>
                    </a:lnT>
                    <a:lnB>
                      <a:noFill/>
                    </a:lnB>
                    <a:noFill/>
                  </a:tcPr>
                </a:tc>
                <a:tc>
                  <a:txBody>
                    <a:bodyPr/>
                    <a:lstStyle/>
                    <a:p>
                      <a:pPr>
                        <a:buNone/>
                      </a:pPr>
                      <a:r>
                        <a:rPr lang="en-IN" sz="2000"/>
                        <a:t>1</a:t>
                      </a:r>
                    </a:p>
                  </a:txBody>
                  <a:tcPr anchor="ctr">
                    <a:lnL>
                      <a:noFill/>
                    </a:lnL>
                    <a:lnR>
                      <a:noFill/>
                    </a:lnR>
                    <a:lnT>
                      <a:noFill/>
                    </a:lnT>
                    <a:lnB>
                      <a:noFill/>
                    </a:lnB>
                    <a:noFill/>
                  </a:tcPr>
                </a:tc>
                <a:tc>
                  <a:txBody>
                    <a:bodyPr/>
                    <a:lstStyle/>
                    <a:p>
                      <a:pPr>
                        <a:buNone/>
                      </a:pPr>
                      <a:r>
                        <a:rPr lang="en-IN" sz="2000">
                          <a:highlight>
                            <a:srgbClr val="FFFF00"/>
                          </a:highlight>
                        </a:rPr>
                        <a:t>+1</a:t>
                      </a:r>
                    </a:p>
                  </a:txBody>
                  <a:tcPr anchor="ctr">
                    <a:lnL>
                      <a:noFill/>
                    </a:lnL>
                    <a:lnR>
                      <a:noFill/>
                    </a:lnR>
                    <a:lnT>
                      <a:noFill/>
                    </a:lnT>
                    <a:lnB>
                      <a:noFill/>
                    </a:lnB>
                    <a:noFill/>
                  </a:tcPr>
                </a:tc>
                <a:tc>
                  <a:txBody>
                    <a:bodyPr/>
                    <a:lstStyle/>
                    <a:p>
                      <a:pPr>
                        <a:buNone/>
                      </a:pPr>
                      <a:r>
                        <a:rPr lang="en-IN" sz="2000" dirty="0">
                          <a:highlight>
                            <a:srgbClr val="FFFF00"/>
                          </a:highlight>
                        </a:rPr>
                        <a:t>-1</a:t>
                      </a:r>
                    </a:p>
                  </a:txBody>
                  <a:tcPr anchor="ctr">
                    <a:lnL>
                      <a:noFill/>
                    </a:lnL>
                    <a:lnR>
                      <a:noFill/>
                    </a:lnR>
                    <a:lnT>
                      <a:noFill/>
                    </a:lnT>
                    <a:lnB>
                      <a:noFill/>
                    </a:lnB>
                    <a:noFill/>
                  </a:tcPr>
                </a:tc>
                <a:extLst>
                  <a:ext uri="{0D108BD9-81ED-4DB2-BD59-A6C34878D82A}">
                    <a16:rowId xmlns:a16="http://schemas.microsoft.com/office/drawing/2014/main" val="2952014113"/>
                  </a:ext>
                </a:extLst>
              </a:tr>
              <a:tr h="0">
                <a:tc>
                  <a:txBody>
                    <a:bodyPr/>
                    <a:lstStyle/>
                    <a:p>
                      <a:pPr>
                        <a:buNone/>
                      </a:pPr>
                      <a:r>
                        <a:rPr lang="en-IN" sz="2000"/>
                        <a:t>2</a:t>
                      </a:r>
                    </a:p>
                  </a:txBody>
                  <a:tcPr anchor="ctr">
                    <a:lnL>
                      <a:noFill/>
                    </a:lnL>
                    <a:lnR>
                      <a:noFill/>
                    </a:lnR>
                    <a:lnT>
                      <a:noFill/>
                    </a:lnT>
                    <a:lnB>
                      <a:noFill/>
                    </a:lnB>
                    <a:noFill/>
                  </a:tcPr>
                </a:tc>
                <a:tc>
                  <a:txBody>
                    <a:bodyPr/>
                    <a:lstStyle/>
                    <a:p>
                      <a:pPr>
                        <a:buNone/>
                      </a:pPr>
                      <a:r>
                        <a:rPr lang="en-IN" sz="2000" dirty="0"/>
                        <a:t>2</a:t>
                      </a:r>
                    </a:p>
                  </a:txBody>
                  <a:tcPr anchor="ctr">
                    <a:lnL>
                      <a:noFill/>
                    </a:lnL>
                    <a:lnR>
                      <a:noFill/>
                    </a:lnR>
                    <a:lnT>
                      <a:noFill/>
                    </a:lnT>
                    <a:lnB>
                      <a:noFill/>
                    </a:lnB>
                    <a:noFill/>
                  </a:tcPr>
                </a:tc>
                <a:tc>
                  <a:txBody>
                    <a:bodyPr/>
                    <a:lstStyle/>
                    <a:p>
                      <a:pPr>
                        <a:buNone/>
                      </a:pPr>
                      <a:r>
                        <a:rPr lang="en-IN" sz="2000">
                          <a:highlight>
                            <a:srgbClr val="FFFF00"/>
                          </a:highlight>
                        </a:rPr>
                        <a:t>+1</a:t>
                      </a:r>
                    </a:p>
                  </a:txBody>
                  <a:tcPr anchor="ctr">
                    <a:lnL>
                      <a:noFill/>
                    </a:lnL>
                    <a:lnR>
                      <a:noFill/>
                    </a:lnR>
                    <a:lnT>
                      <a:noFill/>
                    </a:lnT>
                    <a:lnB>
                      <a:noFill/>
                    </a:lnB>
                    <a:noFill/>
                  </a:tcPr>
                </a:tc>
                <a:tc>
                  <a:txBody>
                    <a:bodyPr/>
                    <a:lstStyle/>
                    <a:p>
                      <a:pPr>
                        <a:buNone/>
                      </a:pPr>
                      <a:r>
                        <a:rPr lang="en-IN" sz="2000" dirty="0">
                          <a:highlight>
                            <a:srgbClr val="FFFF00"/>
                          </a:highlight>
                        </a:rPr>
                        <a:t>-1</a:t>
                      </a:r>
                    </a:p>
                  </a:txBody>
                  <a:tcPr anchor="ctr">
                    <a:lnL>
                      <a:noFill/>
                    </a:lnL>
                    <a:lnR>
                      <a:noFill/>
                    </a:lnR>
                    <a:lnT>
                      <a:noFill/>
                    </a:lnT>
                    <a:lnB>
                      <a:noFill/>
                    </a:lnB>
                    <a:noFill/>
                  </a:tcPr>
                </a:tc>
                <a:extLst>
                  <a:ext uri="{0D108BD9-81ED-4DB2-BD59-A6C34878D82A}">
                    <a16:rowId xmlns:a16="http://schemas.microsoft.com/office/drawing/2014/main" val="4001901640"/>
                  </a:ext>
                </a:extLst>
              </a:tr>
              <a:tr h="0">
                <a:tc>
                  <a:txBody>
                    <a:bodyPr/>
                    <a:lstStyle/>
                    <a:p>
                      <a:pPr>
                        <a:buNone/>
                      </a:pPr>
                      <a:r>
                        <a:rPr lang="en-IN" sz="2000"/>
                        <a:t>3</a:t>
                      </a:r>
                    </a:p>
                  </a:txBody>
                  <a:tcPr anchor="ctr">
                    <a:lnL>
                      <a:noFill/>
                    </a:lnL>
                    <a:lnR>
                      <a:noFill/>
                    </a:lnR>
                    <a:lnT>
                      <a:noFill/>
                    </a:lnT>
                    <a:lnB>
                      <a:noFill/>
                    </a:lnB>
                    <a:noFill/>
                  </a:tcPr>
                </a:tc>
                <a:tc>
                  <a:txBody>
                    <a:bodyPr/>
                    <a:lstStyle/>
                    <a:p>
                      <a:pPr>
                        <a:buNone/>
                      </a:pPr>
                      <a:r>
                        <a:rPr lang="en-IN" sz="2000" dirty="0"/>
                        <a:t>3</a:t>
                      </a:r>
                    </a:p>
                  </a:txBody>
                  <a:tcPr anchor="ctr">
                    <a:lnL>
                      <a:noFill/>
                    </a:lnL>
                    <a:lnR>
                      <a:noFill/>
                    </a:lnR>
                    <a:lnT>
                      <a:noFill/>
                    </a:lnT>
                    <a:lnB>
                      <a:noFill/>
                    </a:lnB>
                    <a:noFill/>
                  </a:tcPr>
                </a:tc>
                <a:tc>
                  <a:txBody>
                    <a:bodyPr/>
                    <a:lstStyle/>
                    <a:p>
                      <a:pPr>
                        <a:buNone/>
                      </a:pPr>
                      <a:r>
                        <a:rPr lang="en-IN" sz="2000"/>
                        <a:t>-1</a:t>
                      </a:r>
                    </a:p>
                  </a:txBody>
                  <a:tcPr anchor="ctr">
                    <a:lnL>
                      <a:noFill/>
                    </a:lnL>
                    <a:lnR>
                      <a:noFill/>
                    </a:lnR>
                    <a:lnT>
                      <a:noFill/>
                    </a:lnT>
                    <a:lnB>
                      <a:noFill/>
                    </a:lnB>
                    <a:noFill/>
                  </a:tcPr>
                </a:tc>
                <a:tc>
                  <a:txBody>
                    <a:bodyPr/>
                    <a:lstStyle/>
                    <a:p>
                      <a:pPr>
                        <a:buNone/>
                      </a:pPr>
                      <a:r>
                        <a:rPr lang="en-IN" sz="2000"/>
                        <a:t>-1</a:t>
                      </a:r>
                    </a:p>
                  </a:txBody>
                  <a:tcPr anchor="ctr">
                    <a:lnL>
                      <a:noFill/>
                    </a:lnL>
                    <a:lnR>
                      <a:noFill/>
                    </a:lnR>
                    <a:lnT>
                      <a:noFill/>
                    </a:lnT>
                    <a:lnB>
                      <a:noFill/>
                    </a:lnB>
                    <a:noFill/>
                  </a:tcPr>
                </a:tc>
                <a:extLst>
                  <a:ext uri="{0D108BD9-81ED-4DB2-BD59-A6C34878D82A}">
                    <a16:rowId xmlns:a16="http://schemas.microsoft.com/office/drawing/2014/main" val="23827810"/>
                  </a:ext>
                </a:extLst>
              </a:tr>
              <a:tr h="0">
                <a:tc>
                  <a:txBody>
                    <a:bodyPr/>
                    <a:lstStyle/>
                    <a:p>
                      <a:pPr>
                        <a:buNone/>
                      </a:pPr>
                      <a:r>
                        <a:rPr lang="en-IN" sz="2000"/>
                        <a:t>4</a:t>
                      </a:r>
                    </a:p>
                  </a:txBody>
                  <a:tcPr anchor="ctr">
                    <a:lnL>
                      <a:noFill/>
                    </a:lnL>
                    <a:lnR>
                      <a:noFill/>
                    </a:lnR>
                    <a:lnT>
                      <a:noFill/>
                    </a:lnT>
                    <a:lnB>
                      <a:noFill/>
                    </a:lnB>
                    <a:noFill/>
                  </a:tcPr>
                </a:tc>
                <a:tc>
                  <a:txBody>
                    <a:bodyPr/>
                    <a:lstStyle/>
                    <a:p>
                      <a:pPr>
                        <a:buNone/>
                      </a:pPr>
                      <a:r>
                        <a:rPr lang="en-IN" sz="2000"/>
                        <a:t>4</a:t>
                      </a:r>
                    </a:p>
                  </a:txBody>
                  <a:tcPr anchor="ctr">
                    <a:lnL>
                      <a:noFill/>
                    </a:lnL>
                    <a:lnR>
                      <a:noFill/>
                    </a:lnR>
                    <a:lnT>
                      <a:noFill/>
                    </a:lnT>
                    <a:lnB>
                      <a:noFill/>
                    </a:lnB>
                    <a:noFill/>
                  </a:tcPr>
                </a:tc>
                <a:tc>
                  <a:txBody>
                    <a:bodyPr/>
                    <a:lstStyle/>
                    <a:p>
                      <a:pPr>
                        <a:buNone/>
                      </a:pPr>
                      <a:r>
                        <a:rPr lang="en-IN" sz="2000" dirty="0"/>
                        <a:t>-1</a:t>
                      </a:r>
                    </a:p>
                  </a:txBody>
                  <a:tcPr anchor="ctr">
                    <a:lnL>
                      <a:noFill/>
                    </a:lnL>
                    <a:lnR>
                      <a:noFill/>
                    </a:lnR>
                    <a:lnT>
                      <a:noFill/>
                    </a:lnT>
                    <a:lnB>
                      <a:noFill/>
                    </a:lnB>
                    <a:noFill/>
                  </a:tcPr>
                </a:tc>
                <a:tc>
                  <a:txBody>
                    <a:bodyPr/>
                    <a:lstStyle/>
                    <a:p>
                      <a:pPr>
                        <a:buNone/>
                      </a:pPr>
                      <a:r>
                        <a:rPr lang="en-IN" sz="2000"/>
                        <a:t>-1</a:t>
                      </a:r>
                    </a:p>
                  </a:txBody>
                  <a:tcPr anchor="ctr">
                    <a:lnL>
                      <a:noFill/>
                    </a:lnL>
                    <a:lnR>
                      <a:noFill/>
                    </a:lnR>
                    <a:lnT>
                      <a:noFill/>
                    </a:lnT>
                    <a:lnB>
                      <a:noFill/>
                    </a:lnB>
                    <a:noFill/>
                  </a:tcPr>
                </a:tc>
                <a:extLst>
                  <a:ext uri="{0D108BD9-81ED-4DB2-BD59-A6C34878D82A}">
                    <a16:rowId xmlns:a16="http://schemas.microsoft.com/office/drawing/2014/main" val="2010965016"/>
                  </a:ext>
                </a:extLst>
              </a:tr>
              <a:tr h="0">
                <a:tc>
                  <a:txBody>
                    <a:bodyPr/>
                    <a:lstStyle/>
                    <a:p>
                      <a:pPr>
                        <a:buNone/>
                      </a:pPr>
                      <a:r>
                        <a:rPr lang="en-IN" sz="2000"/>
                        <a:t>5</a:t>
                      </a:r>
                    </a:p>
                  </a:txBody>
                  <a:tcPr anchor="ctr">
                    <a:lnL>
                      <a:noFill/>
                    </a:lnL>
                    <a:lnR>
                      <a:noFill/>
                    </a:lnR>
                    <a:lnT>
                      <a:noFill/>
                    </a:lnT>
                    <a:lnB>
                      <a:noFill/>
                    </a:lnB>
                    <a:noFill/>
                  </a:tcPr>
                </a:tc>
                <a:tc>
                  <a:txBody>
                    <a:bodyPr/>
                    <a:lstStyle/>
                    <a:p>
                      <a:pPr>
                        <a:buNone/>
                      </a:pPr>
                      <a:r>
                        <a:rPr lang="en-IN" sz="2000"/>
                        <a:t>5</a:t>
                      </a:r>
                    </a:p>
                  </a:txBody>
                  <a:tcPr anchor="ctr">
                    <a:lnL>
                      <a:noFill/>
                    </a:lnL>
                    <a:lnR>
                      <a:noFill/>
                    </a:lnR>
                    <a:lnT>
                      <a:noFill/>
                    </a:lnT>
                    <a:lnB>
                      <a:noFill/>
                    </a:lnB>
                    <a:noFill/>
                  </a:tcPr>
                </a:tc>
                <a:tc>
                  <a:txBody>
                    <a:bodyPr/>
                    <a:lstStyle/>
                    <a:p>
                      <a:pPr>
                        <a:buNone/>
                      </a:pPr>
                      <a:r>
                        <a:rPr lang="en-IN" sz="2000" dirty="0"/>
                        <a:t>+1</a:t>
                      </a:r>
                    </a:p>
                  </a:txBody>
                  <a:tcPr anchor="ctr">
                    <a:lnL>
                      <a:noFill/>
                    </a:lnL>
                    <a:lnR>
                      <a:noFill/>
                    </a:lnR>
                    <a:lnT>
                      <a:noFill/>
                    </a:lnT>
                    <a:lnB>
                      <a:noFill/>
                    </a:lnB>
                    <a:noFill/>
                  </a:tcPr>
                </a:tc>
                <a:tc>
                  <a:txBody>
                    <a:bodyPr/>
                    <a:lstStyle/>
                    <a:p>
                      <a:pPr>
                        <a:buNone/>
                      </a:pPr>
                      <a:r>
                        <a:rPr lang="en-IN" sz="2000" dirty="0"/>
                        <a:t>+1</a:t>
                      </a:r>
                    </a:p>
                  </a:txBody>
                  <a:tcPr anchor="ctr">
                    <a:lnL>
                      <a:noFill/>
                    </a:lnL>
                    <a:lnR>
                      <a:noFill/>
                    </a:lnR>
                    <a:lnT>
                      <a:noFill/>
                    </a:lnT>
                    <a:lnB>
                      <a:noFill/>
                    </a:lnB>
                    <a:noFill/>
                  </a:tcPr>
                </a:tc>
                <a:extLst>
                  <a:ext uri="{0D108BD9-81ED-4DB2-BD59-A6C34878D82A}">
                    <a16:rowId xmlns:a16="http://schemas.microsoft.com/office/drawing/2014/main" val="4004243549"/>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B4D6869-D0EA-DF42-63D8-83462587818A}"/>
                  </a:ext>
                </a:extLst>
              </p:cNvPr>
              <p:cNvSpPr txBox="1"/>
              <p:nvPr/>
            </p:nvSpPr>
            <p:spPr>
              <a:xfrm>
                <a:off x="578158" y="3761419"/>
                <a:ext cx="5112428" cy="2677656"/>
              </a:xfrm>
              <a:prstGeom prst="rect">
                <a:avLst/>
              </a:prstGeom>
              <a:noFill/>
            </p:spPr>
            <p:txBody>
              <a:bodyPr wrap="square">
                <a:spAutoFit/>
              </a:bodyPr>
              <a:lstStyle/>
              <a:p>
                <a:pPr>
                  <a:buNone/>
                </a:pPr>
                <a:r>
                  <a:rPr lang="en-US" sz="2400" b="1" dirty="0">
                    <a:solidFill>
                      <a:srgbClr val="FF0000"/>
                    </a:solidFill>
                  </a:rPr>
                  <a:t>Step 2: </a:t>
                </a:r>
                <a:r>
                  <a:rPr lang="en-IN" sz="2400" b="1" dirty="0">
                    <a:solidFill>
                      <a:srgbClr val="FF0000"/>
                    </a:solidFill>
                  </a:rPr>
                  <a:t>Weighted Error</a:t>
                </a:r>
              </a:p>
              <a:p>
                <a:pPr>
                  <a:buNone/>
                </a:pPr>
                <a:r>
                  <a:rPr lang="en-IN" sz="2400" dirty="0"/>
                  <a:t>Misclassified samples</a:t>
                </a:r>
              </a:p>
              <a:p>
                <a:pPr>
                  <a:buFont typeface="Arial" panose="020B0604020202020204" pitchFamily="34" charset="0"/>
                  <a:buChar char="•"/>
                </a:pPr>
                <a:r>
                  <a:rPr lang="en-IN" sz="2400" dirty="0"/>
                  <a:t>Sample 1</a:t>
                </a:r>
              </a:p>
              <a:p>
                <a:pPr>
                  <a:buFont typeface="Arial" panose="020B0604020202020204" pitchFamily="34" charset="0"/>
                  <a:buChar char="•"/>
                </a:pPr>
                <a:r>
                  <a:rPr lang="en-IN" sz="2400" dirty="0"/>
                  <a:t>Sample 2</a:t>
                </a:r>
              </a:p>
              <a:p>
                <a:endParaRPr lang="en-IN" sz="2400" dirty="0"/>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𝑒𝑟𝑟𝑜𝑟</m:t>
                      </m:r>
                      <m:r>
                        <a:rPr lang="en-IN" sz="2400" i="0">
                          <a:latin typeface="Cambria Math" panose="02040503050406030204" pitchFamily="18" charset="0"/>
                        </a:rPr>
                        <m:t>=0.2+0.2</m:t>
                      </m:r>
                    </m:oMath>
                  </m:oMathPara>
                </a14:m>
                <a:endParaRPr lang="en-IN" sz="2400" dirty="0"/>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𝑒𝑟𝑟𝑜𝑟</m:t>
                      </m:r>
                      <m:r>
                        <a:rPr lang="en-IN" sz="2400" i="0">
                          <a:latin typeface="Cambria Math" panose="02040503050406030204" pitchFamily="18" charset="0"/>
                        </a:rPr>
                        <m:t>=0.4</m:t>
                      </m:r>
                    </m:oMath>
                  </m:oMathPara>
                </a14:m>
                <a:endParaRPr lang="en-IN" sz="2400" dirty="0"/>
              </a:p>
            </p:txBody>
          </p:sp>
        </mc:Choice>
        <mc:Fallback xmlns="">
          <p:sp>
            <p:nvSpPr>
              <p:cNvPr id="14" name="TextBox 13">
                <a:extLst>
                  <a:ext uri="{FF2B5EF4-FFF2-40B4-BE49-F238E27FC236}">
                    <a16:creationId xmlns:a16="http://schemas.microsoft.com/office/drawing/2014/main" id="{DB4D6869-D0EA-DF42-63D8-83462587818A}"/>
                  </a:ext>
                </a:extLst>
              </p:cNvPr>
              <p:cNvSpPr txBox="1">
                <a:spLocks noRot="1" noChangeAspect="1" noMove="1" noResize="1" noEditPoints="1" noAdjustHandles="1" noChangeArrowheads="1" noChangeShapeType="1" noTextEdit="1"/>
              </p:cNvSpPr>
              <p:nvPr/>
            </p:nvSpPr>
            <p:spPr>
              <a:xfrm>
                <a:off x="578158" y="3761419"/>
                <a:ext cx="5112428" cy="2677656"/>
              </a:xfrm>
              <a:prstGeom prst="rect">
                <a:avLst/>
              </a:prstGeom>
              <a:blipFill>
                <a:blip r:embed="rId2"/>
                <a:stretch>
                  <a:fillRect l="-1909" t="-1822"/>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366D08DB-A630-E56D-751E-9FE9809CF7D1}"/>
                  </a:ext>
                </a:extLst>
              </p:cNvPr>
              <p:cNvSpPr txBox="1"/>
              <p:nvPr/>
            </p:nvSpPr>
            <p:spPr>
              <a:xfrm>
                <a:off x="5417598" y="3716254"/>
                <a:ext cx="6094520" cy="2728696"/>
              </a:xfrm>
              <a:prstGeom prst="rect">
                <a:avLst/>
              </a:prstGeom>
              <a:noFill/>
            </p:spPr>
            <p:txBody>
              <a:bodyPr wrap="square">
                <a:spAutoFit/>
              </a:bodyPr>
              <a:lstStyle/>
              <a:p>
                <a:pPr>
                  <a:buNone/>
                </a:pPr>
                <a:r>
                  <a:rPr lang="en-IN" sz="2400" b="1" dirty="0">
                    <a:solidFill>
                      <a:srgbClr val="FF0000"/>
                    </a:solidFill>
                  </a:rPr>
                  <a:t>Step 3: Classifier Weight</a:t>
                </a:r>
              </a:p>
              <a:p>
                <a:pPr>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𝛼</m:t>
                          </m:r>
                        </m:e>
                        <m:sub>
                          <m:r>
                            <a:rPr lang="ar-AE" sz="2000" i="0">
                              <a:latin typeface="Cambria Math" panose="02040503050406030204" pitchFamily="18" charset="0"/>
                            </a:rPr>
                            <m:t>1</m:t>
                          </m:r>
                        </m:sub>
                      </m:sSub>
                      <m:r>
                        <a:rPr lang="ar-AE" sz="2000" i="0">
                          <a:latin typeface="Cambria Math" panose="02040503050406030204" pitchFamily="18" charset="0"/>
                        </a:rPr>
                        <m:t>=</m:t>
                      </m:r>
                      <m:f>
                        <m:fPr>
                          <m:ctrlPr>
                            <a:rPr lang="ar-AE" sz="2000" i="1">
                              <a:latin typeface="Cambria Math" panose="02040503050406030204" pitchFamily="18" charset="0"/>
                            </a:rPr>
                          </m:ctrlPr>
                        </m:fPr>
                        <m:num>
                          <m:r>
                            <a:rPr lang="ar-AE" sz="2000" i="0">
                              <a:latin typeface="Cambria Math" panose="02040503050406030204" pitchFamily="18" charset="0"/>
                            </a:rPr>
                            <m:t>1</m:t>
                          </m:r>
                        </m:num>
                        <m:den>
                          <m:r>
                            <a:rPr lang="ar-AE" sz="2000" i="0">
                              <a:latin typeface="Cambria Math" panose="02040503050406030204" pitchFamily="18" charset="0"/>
                            </a:rPr>
                            <m:t>2</m:t>
                          </m:r>
                        </m:den>
                      </m:f>
                      <m:func>
                        <m:funcPr>
                          <m:ctrlPr>
                            <a:rPr lang="ar-AE" sz="2000" i="1">
                              <a:latin typeface="Cambria Math" panose="02040503050406030204" pitchFamily="18" charset="0"/>
                            </a:rPr>
                          </m:ctrlPr>
                        </m:funcPr>
                        <m:fName>
                          <m:r>
                            <m:rPr>
                              <m:sty m:val="p"/>
                            </m:rPr>
                            <a:rPr lang="en-IN" sz="2000" i="0">
                              <a:latin typeface="Cambria Math" panose="02040503050406030204" pitchFamily="18" charset="0"/>
                            </a:rPr>
                            <m:t>ln</m:t>
                          </m:r>
                        </m:fName>
                        <m:e>
                          <m:d>
                            <m:dPr>
                              <m:ctrlPr>
                                <a:rPr lang="ar-AE" sz="2000" i="1">
                                  <a:latin typeface="Cambria Math" panose="02040503050406030204" pitchFamily="18" charset="0"/>
                                </a:rPr>
                              </m:ctrlPr>
                            </m:dPr>
                            <m:e>
                              <m:f>
                                <m:fPr>
                                  <m:ctrlPr>
                                    <a:rPr lang="ar-AE" sz="2000" i="1">
                                      <a:latin typeface="Cambria Math" panose="02040503050406030204" pitchFamily="18" charset="0"/>
                                    </a:rPr>
                                  </m:ctrlPr>
                                </m:fPr>
                                <m:num>
                                  <m:r>
                                    <a:rPr lang="ar-AE" sz="2000" i="0">
                                      <a:latin typeface="Cambria Math" panose="02040503050406030204" pitchFamily="18" charset="0"/>
                                    </a:rPr>
                                    <m:t>1</m:t>
                                  </m:r>
                                  <m:r>
                                    <a:rPr lang="ar-AE" sz="2000" i="0">
                                      <a:latin typeface="Cambria Math" panose="02040503050406030204" pitchFamily="18" charset="0"/>
                                    </a:rPr>
                                    <m:t>−</m:t>
                                  </m:r>
                                  <m:r>
                                    <a:rPr lang="ar-AE" sz="2000" i="1">
                                      <a:latin typeface="Cambria Math" panose="02040503050406030204" pitchFamily="18" charset="0"/>
                                    </a:rPr>
                                    <m:t>𝑒𝑟𝑟𝑜𝑟</m:t>
                                  </m:r>
                                </m:num>
                                <m:den>
                                  <m:r>
                                    <a:rPr lang="ar-AE" sz="2000" i="1">
                                      <a:latin typeface="Cambria Math" panose="02040503050406030204" pitchFamily="18" charset="0"/>
                                    </a:rPr>
                                    <m:t>𝑒𝑟𝑟𝑜𝑟</m:t>
                                  </m:r>
                                </m:den>
                              </m:f>
                            </m:e>
                          </m:d>
                        </m:e>
                      </m:func>
                    </m:oMath>
                  </m:oMathPara>
                </a14:m>
                <a:endParaRPr lang="ar-AE" sz="2000" dirty="0"/>
              </a:p>
              <a:p>
                <a:pPr>
                  <a:buNone/>
                </a:pPr>
                <a14:m>
                  <m:oMathPara xmlns:m="http://schemas.openxmlformats.org/officeDocument/2006/math">
                    <m:oMathParaPr>
                      <m:jc m:val="centerGroup"/>
                    </m:oMathParaPr>
                    <m:oMath xmlns:m="http://schemas.openxmlformats.org/officeDocument/2006/math">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i="0">
                              <a:latin typeface="Cambria Math" panose="02040503050406030204" pitchFamily="18" charset="0"/>
                            </a:rPr>
                            <m:t>1</m:t>
                          </m:r>
                        </m:num>
                        <m:den>
                          <m:r>
                            <a:rPr lang="ar-AE" sz="2000" i="0">
                              <a:latin typeface="Cambria Math" panose="02040503050406030204" pitchFamily="18" charset="0"/>
                            </a:rPr>
                            <m:t>2</m:t>
                          </m:r>
                        </m:den>
                      </m:f>
                      <m:func>
                        <m:funcPr>
                          <m:ctrlPr>
                            <a:rPr lang="ar-AE" sz="2000" i="1">
                              <a:latin typeface="Cambria Math" panose="02040503050406030204" pitchFamily="18" charset="0"/>
                            </a:rPr>
                          </m:ctrlPr>
                        </m:funcPr>
                        <m:fName>
                          <m:r>
                            <m:rPr>
                              <m:sty m:val="p"/>
                            </m:rPr>
                            <a:rPr lang="en-IN" sz="2000" i="0">
                              <a:latin typeface="Cambria Math" panose="02040503050406030204" pitchFamily="18" charset="0"/>
                            </a:rPr>
                            <m:t>ln</m:t>
                          </m:r>
                        </m:fName>
                        <m:e>
                          <m:d>
                            <m:dPr>
                              <m:ctrlPr>
                                <a:rPr lang="ar-AE" sz="2000" i="1">
                                  <a:latin typeface="Cambria Math" panose="02040503050406030204" pitchFamily="18" charset="0"/>
                                </a:rPr>
                              </m:ctrlPr>
                            </m:dPr>
                            <m:e>
                              <m:f>
                                <m:fPr>
                                  <m:ctrlPr>
                                    <a:rPr lang="ar-AE" sz="2000" i="1">
                                      <a:latin typeface="Cambria Math" panose="02040503050406030204" pitchFamily="18" charset="0"/>
                                    </a:rPr>
                                  </m:ctrlPr>
                                </m:fPr>
                                <m:num>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6</m:t>
                                  </m:r>
                                </m:num>
                                <m:den>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4</m:t>
                                  </m:r>
                                </m:den>
                              </m:f>
                            </m:e>
                          </m:d>
                        </m:e>
                      </m:func>
                    </m:oMath>
                  </m:oMathPara>
                </a14:m>
                <a:endParaRPr lang="ar-AE" sz="2000" dirty="0"/>
              </a:p>
              <a:p>
                <a:pPr>
                  <a:buNone/>
                </a:pPr>
                <a14:m>
                  <m:oMathPara xmlns:m="http://schemas.openxmlformats.org/officeDocument/2006/math">
                    <m:oMathParaPr>
                      <m:jc m:val="centerGroup"/>
                    </m:oMathParaPr>
                    <m:oMath xmlns:m="http://schemas.openxmlformats.org/officeDocument/2006/math">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i="0">
                              <a:latin typeface="Cambria Math" panose="02040503050406030204" pitchFamily="18" charset="0"/>
                            </a:rPr>
                            <m:t>1</m:t>
                          </m:r>
                        </m:num>
                        <m:den>
                          <m:r>
                            <a:rPr lang="ar-AE" sz="2000" i="0">
                              <a:latin typeface="Cambria Math" panose="02040503050406030204" pitchFamily="18" charset="0"/>
                            </a:rPr>
                            <m:t>2</m:t>
                          </m:r>
                        </m:den>
                      </m:f>
                      <m:r>
                        <m:rPr>
                          <m:sty m:val="p"/>
                        </m:rPr>
                        <a:rPr lang="en-IN" sz="2000" i="0">
                          <a:latin typeface="Cambria Math" panose="02040503050406030204" pitchFamily="18" charset="0"/>
                        </a:rPr>
                        <m:t>ln</m:t>
                      </m:r>
                      <m:r>
                        <a:rPr lang="en-IN" sz="2000" i="0">
                          <a:latin typeface="Cambria Math" panose="02040503050406030204" pitchFamily="18" charset="0"/>
                        </a:rPr>
                        <m:t>⁡</m:t>
                      </m:r>
                      <m:d>
                        <m:dPr>
                          <m:ctrlPr>
                            <a:rPr lang="ar-AE" sz="2000" i="1">
                              <a:latin typeface="Cambria Math" panose="02040503050406030204" pitchFamily="18" charset="0"/>
                            </a:rPr>
                          </m:ctrlPr>
                        </m:dPr>
                        <m:e>
                          <m:r>
                            <a:rPr lang="ar-AE" sz="2000" i="0">
                              <a:latin typeface="Cambria Math" panose="02040503050406030204" pitchFamily="18" charset="0"/>
                            </a:rPr>
                            <m:t>1</m:t>
                          </m:r>
                          <m:r>
                            <a:rPr lang="ar-AE" sz="2000" i="0">
                              <a:latin typeface="Cambria Math" panose="02040503050406030204" pitchFamily="18" charset="0"/>
                            </a:rPr>
                            <m:t>.</m:t>
                          </m:r>
                          <m:r>
                            <a:rPr lang="ar-AE" sz="2000" i="0">
                              <a:latin typeface="Cambria Math" panose="02040503050406030204" pitchFamily="18" charset="0"/>
                            </a:rPr>
                            <m:t>5</m:t>
                          </m:r>
                        </m:e>
                      </m:d>
                    </m:oMath>
                  </m:oMathPara>
                </a14:m>
                <a:endParaRPr lang="ar-AE" sz="2000" dirty="0"/>
              </a:p>
              <a:p>
                <a:pPr>
                  <a:buNone/>
                </a:pPr>
                <a14:m>
                  <m:oMathPara xmlns:m="http://schemas.openxmlformats.org/officeDocument/2006/math">
                    <m:oMathParaPr>
                      <m:jc m:val="centerGroup"/>
                    </m:oMathParaPr>
                    <m:oMath xmlns:m="http://schemas.openxmlformats.org/officeDocument/2006/math">
                      <m:sSub>
                        <m:sSubPr>
                          <m:ctrlPr>
                            <a:rPr lang="ar-AE" sz="2000" i="1">
                              <a:latin typeface="Cambria Math" panose="02040503050406030204" pitchFamily="18" charset="0"/>
                            </a:rPr>
                          </m:ctrlPr>
                        </m:sSubPr>
                        <m:e>
                          <m:r>
                            <a:rPr lang="ar-AE" sz="2000" i="1">
                              <a:latin typeface="Cambria Math" panose="02040503050406030204" pitchFamily="18" charset="0"/>
                            </a:rPr>
                            <m:t>𝛼</m:t>
                          </m:r>
                        </m:e>
                        <m:sub>
                          <m:r>
                            <a:rPr lang="ar-AE" sz="2000" i="0">
                              <a:latin typeface="Cambria Math" panose="02040503050406030204" pitchFamily="18" charset="0"/>
                            </a:rPr>
                            <m:t>1</m:t>
                          </m:r>
                        </m:sub>
                      </m:sSub>
                      <m:r>
                        <a:rPr lang="ar-AE" sz="2000" i="0">
                          <a:latin typeface="Cambria Math" panose="02040503050406030204" pitchFamily="18" charset="0"/>
                        </a:rPr>
                        <m:t>=</m:t>
                      </m:r>
                      <m:r>
                        <a:rPr lang="ar-AE" sz="2000" i="0">
                          <a:latin typeface="Cambria Math" panose="02040503050406030204" pitchFamily="18" charset="0"/>
                        </a:rPr>
                        <m:t>0</m:t>
                      </m:r>
                      <m:r>
                        <a:rPr lang="ar-AE" sz="2000" i="0">
                          <a:latin typeface="Cambria Math" panose="02040503050406030204" pitchFamily="18" charset="0"/>
                        </a:rPr>
                        <m:t>.</m:t>
                      </m:r>
                      <m:r>
                        <a:rPr lang="ar-AE" sz="2000" i="0">
                          <a:latin typeface="Cambria Math" panose="02040503050406030204" pitchFamily="18" charset="0"/>
                        </a:rPr>
                        <m:t>203</m:t>
                      </m:r>
                    </m:oMath>
                  </m:oMathPara>
                </a14:m>
                <a:endParaRPr lang="ar-AE" sz="2000" dirty="0"/>
              </a:p>
            </p:txBody>
          </p:sp>
        </mc:Choice>
        <mc:Fallback xmlns="">
          <p:sp>
            <p:nvSpPr>
              <p:cNvPr id="16" name="TextBox 15">
                <a:extLst>
                  <a:ext uri="{FF2B5EF4-FFF2-40B4-BE49-F238E27FC236}">
                    <a16:creationId xmlns:a16="http://schemas.microsoft.com/office/drawing/2014/main" id="{366D08DB-A630-E56D-751E-9FE9809CF7D1}"/>
                  </a:ext>
                </a:extLst>
              </p:cNvPr>
              <p:cNvSpPr txBox="1">
                <a:spLocks noRot="1" noChangeAspect="1" noMove="1" noResize="1" noEditPoints="1" noAdjustHandles="1" noChangeArrowheads="1" noChangeShapeType="1" noTextEdit="1"/>
              </p:cNvSpPr>
              <p:nvPr/>
            </p:nvSpPr>
            <p:spPr>
              <a:xfrm>
                <a:off x="5417598" y="3716254"/>
                <a:ext cx="6094520" cy="2728696"/>
              </a:xfrm>
              <a:prstGeom prst="rect">
                <a:avLst/>
              </a:prstGeom>
              <a:blipFill>
                <a:blip r:embed="rId3"/>
                <a:stretch>
                  <a:fillRect l="-1602" t="-1790"/>
                </a:stretch>
              </a:blipFill>
            </p:spPr>
            <p:txBody>
              <a:bodyPr/>
              <a:lstStyle/>
              <a:p>
                <a:r>
                  <a:rPr lang="en-IN">
                    <a:noFill/>
                  </a:rPr>
                  <a:t> </a:t>
                </a:r>
              </a:p>
            </p:txBody>
          </p:sp>
        </mc:Fallback>
      </mc:AlternateContent>
    </p:spTree>
    <p:extLst>
      <p:ext uri="{BB962C8B-B14F-4D97-AF65-F5344CB8AC3E}">
        <p14:creationId xmlns:p14="http://schemas.microsoft.com/office/powerpoint/2010/main" val="3990634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7703322-482A-F352-2EE1-CA65DF882FF5}"/>
              </a:ext>
            </a:extLst>
          </p:cNvPr>
          <p:cNvSpPr txBox="1"/>
          <p:nvPr/>
        </p:nvSpPr>
        <p:spPr>
          <a:xfrm>
            <a:off x="836023" y="546854"/>
            <a:ext cx="6096000" cy="523220"/>
          </a:xfrm>
          <a:prstGeom prst="rect">
            <a:avLst/>
          </a:prstGeom>
          <a:noFill/>
        </p:spPr>
        <p:txBody>
          <a:bodyPr wrap="square">
            <a:spAutoFit/>
          </a:bodyPr>
          <a:lstStyle/>
          <a:p>
            <a:pPr>
              <a:buNone/>
            </a:pPr>
            <a:r>
              <a:rPr lang="en-IN" sz="2800" b="1" dirty="0">
                <a:solidFill>
                  <a:srgbClr val="FF0000"/>
                </a:solidFill>
              </a:rPr>
              <a:t>Update Weights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4AB43FA-8E5B-1482-3055-99B0F53A2BEC}"/>
                  </a:ext>
                </a:extLst>
              </p:cNvPr>
              <p:cNvSpPr txBox="1"/>
              <p:nvPr/>
            </p:nvSpPr>
            <p:spPr>
              <a:xfrm>
                <a:off x="1062446" y="1345442"/>
                <a:ext cx="6096000" cy="1235146"/>
              </a:xfrm>
              <a:prstGeom prst="rect">
                <a:avLst/>
              </a:prstGeom>
              <a:noFill/>
            </p:spPr>
            <p:txBody>
              <a:bodyPr wrap="square">
                <a:spAutoFit/>
              </a:bodyPr>
              <a:lstStyle/>
              <a:p>
                <a:pPr>
                  <a:buNone/>
                </a:pPr>
                <a:r>
                  <a:rPr lang="en-IN" sz="2400" dirty="0"/>
                  <a:t>Formula</a:t>
                </a:r>
              </a:p>
              <a:p>
                <a:pPr>
                  <a:buNone/>
                </a:pPr>
                <a14:m>
                  <m:oMathPara xmlns:m="http://schemas.openxmlformats.org/officeDocument/2006/math">
                    <m:oMathParaPr>
                      <m:jc m:val="centerGroup"/>
                    </m:oMathParaPr>
                    <m:oMath xmlns:m="http://schemas.openxmlformats.org/officeDocument/2006/math">
                      <m:sSubSup>
                        <m:sSubSupPr>
                          <m:ctrlPr>
                            <a:rPr lang="ar-AE" sz="2400" i="1">
                              <a:latin typeface="Cambria Math" panose="02040503050406030204" pitchFamily="18" charset="0"/>
                            </a:rPr>
                          </m:ctrlPr>
                        </m:sSubSupPr>
                        <m:e>
                          <m:r>
                            <a:rPr lang="ar-AE" sz="2400" i="1">
                              <a:latin typeface="Cambria Math" panose="02040503050406030204" pitchFamily="18" charset="0"/>
                            </a:rPr>
                            <m:t>𝑤</m:t>
                          </m:r>
                        </m:e>
                        <m:sub>
                          <m:r>
                            <a:rPr lang="ar-AE" sz="2400" i="1">
                              <a:latin typeface="Cambria Math" panose="02040503050406030204" pitchFamily="18" charset="0"/>
                            </a:rPr>
                            <m:t>𝑖</m:t>
                          </m:r>
                        </m:sub>
                        <m:sup>
                          <m:r>
                            <a:rPr lang="ar-AE" sz="2400" i="1">
                              <a:latin typeface="Cambria Math" panose="02040503050406030204" pitchFamily="18" charset="0"/>
                            </a:rPr>
                            <m:t>𝑛𝑒𝑤</m:t>
                          </m:r>
                        </m:sup>
                      </m:sSubSup>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sSup>
                        <m:sSupPr>
                          <m:ctrlPr>
                            <a:rPr lang="ar-AE" sz="2400" i="1">
                              <a:latin typeface="Cambria Math" panose="02040503050406030204" pitchFamily="18" charset="0"/>
                            </a:rPr>
                          </m:ctrlPr>
                        </m:sSupPr>
                        <m:e>
                          <m:r>
                            <a:rPr lang="ar-AE" sz="2400" i="1">
                              <a:latin typeface="Cambria Math" panose="02040503050406030204" pitchFamily="18" charset="0"/>
                            </a:rPr>
                            <m:t>𝑒</m:t>
                          </m:r>
                        </m:e>
                        <m:sup>
                          <m:r>
                            <a:rPr lang="ar-AE" sz="2400" i="0">
                              <a:latin typeface="Cambria Math" panose="02040503050406030204" pitchFamily="18" charset="0"/>
                            </a:rPr>
                            <m:t>−</m:t>
                          </m:r>
                          <m:r>
                            <a:rPr lang="ar-AE" sz="2400" i="1">
                              <a:latin typeface="Cambria Math" panose="02040503050406030204" pitchFamily="18" charset="0"/>
                            </a:rPr>
                            <m:t>𝛼</m:t>
                          </m:r>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e>
                          </m:d>
                        </m:sup>
                      </m:sSup>
                    </m:oMath>
                  </m:oMathPara>
                </a14:m>
                <a:endParaRPr lang="ar-AE" sz="2400" dirty="0"/>
              </a:p>
              <a:p>
                <a:pPr>
                  <a:buNone/>
                </a:pPr>
                <a:r>
                  <a:rPr lang="en-IN" sz="2400" b="1" dirty="0"/>
                  <a:t>Compute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𝑦</m:t>
                        </m:r>
                      </m:e>
                      <m:sub>
                        <m:r>
                          <a:rPr lang="ar-AE" sz="2400" i="1">
                            <a:latin typeface="Cambria Math" panose="02040503050406030204" pitchFamily="18" charset="0"/>
                          </a:rPr>
                          <m:t>𝑖</m:t>
                        </m:r>
                      </m:sub>
                    </m:sSub>
                    <m:sSub>
                      <m:sSubPr>
                        <m:ctrlPr>
                          <a:rPr lang="ar-AE" sz="2400" i="1">
                            <a:latin typeface="Cambria Math" panose="02040503050406030204" pitchFamily="18" charset="0"/>
                          </a:rPr>
                        </m:ctrlPr>
                      </m:sSubPr>
                      <m:e>
                        <m:r>
                          <a:rPr lang="ar-AE" sz="2400" i="1">
                            <a:latin typeface="Cambria Math" panose="02040503050406030204" pitchFamily="18" charset="0"/>
                          </a:rPr>
                          <m:t>h</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e>
                    </m:d>
                  </m:oMath>
                </a14:m>
                <a:endParaRPr lang="ar-AE" sz="2400" b="1" dirty="0"/>
              </a:p>
            </p:txBody>
          </p:sp>
        </mc:Choice>
        <mc:Fallback xmlns="">
          <p:sp>
            <p:nvSpPr>
              <p:cNvPr id="11" name="TextBox 10">
                <a:extLst>
                  <a:ext uri="{FF2B5EF4-FFF2-40B4-BE49-F238E27FC236}">
                    <a16:creationId xmlns:a16="http://schemas.microsoft.com/office/drawing/2014/main" id="{64AB43FA-8E5B-1482-3055-99B0F53A2BEC}"/>
                  </a:ext>
                </a:extLst>
              </p:cNvPr>
              <p:cNvSpPr txBox="1">
                <a:spLocks noRot="1" noChangeAspect="1" noMove="1" noResize="1" noEditPoints="1" noAdjustHandles="1" noChangeArrowheads="1" noChangeShapeType="1" noTextEdit="1"/>
              </p:cNvSpPr>
              <p:nvPr/>
            </p:nvSpPr>
            <p:spPr>
              <a:xfrm>
                <a:off x="1062446" y="1345442"/>
                <a:ext cx="6096000" cy="1235146"/>
              </a:xfrm>
              <a:prstGeom prst="rect">
                <a:avLst/>
              </a:prstGeom>
              <a:blipFill>
                <a:blip r:embed="rId2"/>
                <a:stretch>
                  <a:fillRect l="-1500" t="-3960" b="-10891"/>
                </a:stretch>
              </a:blipFill>
            </p:spPr>
            <p:txBody>
              <a:bodyPr/>
              <a:lstStyle/>
              <a:p>
                <a:r>
                  <a:rPr lang="en-IN">
                    <a:noFill/>
                  </a:rPr>
                  <a:t> </a:t>
                </a:r>
              </a:p>
            </p:txBody>
          </p:sp>
        </mc:Fallback>
      </mc:AlternateContent>
      <p:graphicFrame>
        <p:nvGraphicFramePr>
          <p:cNvPr id="12" name="Table 11">
            <a:extLst>
              <a:ext uri="{FF2B5EF4-FFF2-40B4-BE49-F238E27FC236}">
                <a16:creationId xmlns:a16="http://schemas.microsoft.com/office/drawing/2014/main" id="{3D137BB4-8BC8-008C-9A05-EFAECE41A60F}"/>
              </a:ext>
            </a:extLst>
          </p:cNvPr>
          <p:cNvGraphicFramePr>
            <a:graphicFrameLocks noGrp="1"/>
          </p:cNvGraphicFramePr>
          <p:nvPr>
            <p:extLst>
              <p:ext uri="{D42A27DB-BD31-4B8C-83A1-F6EECF244321}">
                <p14:modId xmlns:p14="http://schemas.microsoft.com/office/powerpoint/2010/main" val="3973090138"/>
              </p:ext>
            </p:extLst>
          </p:nvPr>
        </p:nvGraphicFramePr>
        <p:xfrm>
          <a:off x="6096000" y="546854"/>
          <a:ext cx="5057504" cy="2194560"/>
        </p:xfrm>
        <a:graphic>
          <a:graphicData uri="http://schemas.openxmlformats.org/drawingml/2006/table">
            <a:tbl>
              <a:tblPr/>
              <a:tblGrid>
                <a:gridCol w="1264376">
                  <a:extLst>
                    <a:ext uri="{9D8B030D-6E8A-4147-A177-3AD203B41FA5}">
                      <a16:colId xmlns:a16="http://schemas.microsoft.com/office/drawing/2014/main" val="1551793661"/>
                    </a:ext>
                  </a:extLst>
                </a:gridCol>
                <a:gridCol w="1264376">
                  <a:extLst>
                    <a:ext uri="{9D8B030D-6E8A-4147-A177-3AD203B41FA5}">
                      <a16:colId xmlns:a16="http://schemas.microsoft.com/office/drawing/2014/main" val="568251530"/>
                    </a:ext>
                  </a:extLst>
                </a:gridCol>
                <a:gridCol w="1264376">
                  <a:extLst>
                    <a:ext uri="{9D8B030D-6E8A-4147-A177-3AD203B41FA5}">
                      <a16:colId xmlns:a16="http://schemas.microsoft.com/office/drawing/2014/main" val="1042005598"/>
                    </a:ext>
                  </a:extLst>
                </a:gridCol>
                <a:gridCol w="1264376">
                  <a:extLst>
                    <a:ext uri="{9D8B030D-6E8A-4147-A177-3AD203B41FA5}">
                      <a16:colId xmlns:a16="http://schemas.microsoft.com/office/drawing/2014/main" val="1260031534"/>
                    </a:ext>
                  </a:extLst>
                </a:gridCol>
              </a:tblGrid>
              <a:tr h="0">
                <a:tc>
                  <a:txBody>
                    <a:bodyPr/>
                    <a:lstStyle/>
                    <a:p>
                      <a:pPr>
                        <a:buNone/>
                      </a:pPr>
                      <a:r>
                        <a:rPr lang="en-IN" b="1" dirty="0"/>
                        <a:t>Sample</a:t>
                      </a:r>
                    </a:p>
                  </a:txBody>
                  <a:tcPr anchor="ctr">
                    <a:lnL>
                      <a:noFill/>
                    </a:lnL>
                    <a:lnR>
                      <a:noFill/>
                    </a:lnR>
                    <a:lnT>
                      <a:noFill/>
                    </a:lnT>
                    <a:lnB>
                      <a:noFill/>
                    </a:lnB>
                    <a:noFill/>
                  </a:tcPr>
                </a:tc>
                <a:tc>
                  <a:txBody>
                    <a:bodyPr/>
                    <a:lstStyle/>
                    <a:p>
                      <a:pPr>
                        <a:buNone/>
                      </a:pPr>
                      <a:r>
                        <a:rPr lang="en-IN" b="1" dirty="0"/>
                        <a:t>y</a:t>
                      </a:r>
                    </a:p>
                  </a:txBody>
                  <a:tcPr anchor="ctr">
                    <a:lnL>
                      <a:noFill/>
                    </a:lnL>
                    <a:lnR>
                      <a:noFill/>
                    </a:lnR>
                    <a:lnT>
                      <a:noFill/>
                    </a:lnT>
                    <a:lnB>
                      <a:noFill/>
                    </a:lnB>
                    <a:noFill/>
                  </a:tcPr>
                </a:tc>
                <a:tc>
                  <a:txBody>
                    <a:bodyPr/>
                    <a:lstStyle/>
                    <a:p>
                      <a:pPr>
                        <a:buNone/>
                      </a:pPr>
                      <a:r>
                        <a:rPr lang="en-IN" b="1" dirty="0"/>
                        <a:t>h(x)</a:t>
                      </a:r>
                    </a:p>
                  </a:txBody>
                  <a:tcPr anchor="ctr">
                    <a:lnL>
                      <a:noFill/>
                    </a:lnL>
                    <a:lnR>
                      <a:noFill/>
                    </a:lnR>
                    <a:lnT>
                      <a:noFill/>
                    </a:lnT>
                    <a:lnB>
                      <a:noFill/>
                    </a:lnB>
                    <a:noFill/>
                  </a:tcPr>
                </a:tc>
                <a:tc>
                  <a:txBody>
                    <a:bodyPr/>
                    <a:lstStyle/>
                    <a:p>
                      <a:pPr>
                        <a:buNone/>
                      </a:pPr>
                      <a:r>
                        <a:rPr lang="en-IN" b="1" dirty="0"/>
                        <a:t>(y h(x))</a:t>
                      </a:r>
                    </a:p>
                  </a:txBody>
                  <a:tcPr anchor="ctr">
                    <a:lnL>
                      <a:noFill/>
                    </a:lnL>
                    <a:lnR>
                      <a:noFill/>
                    </a:lnR>
                    <a:lnT>
                      <a:noFill/>
                    </a:lnT>
                    <a:lnB>
                      <a:noFill/>
                    </a:lnB>
                    <a:noFill/>
                  </a:tcPr>
                </a:tc>
                <a:extLst>
                  <a:ext uri="{0D108BD9-81ED-4DB2-BD59-A6C34878D82A}">
                    <a16:rowId xmlns:a16="http://schemas.microsoft.com/office/drawing/2014/main" val="1329517764"/>
                  </a:ext>
                </a:extLst>
              </a:tr>
              <a:tr h="0">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2372602755"/>
                  </a:ext>
                </a:extLst>
              </a:tr>
              <a:tr h="0">
                <a:tc>
                  <a:txBody>
                    <a:bodyPr/>
                    <a:lstStyle/>
                    <a:p>
                      <a:pPr>
                        <a:buNone/>
                      </a:pPr>
                      <a:r>
                        <a:rPr lang="en-IN"/>
                        <a:t>2</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4207194296"/>
                  </a:ext>
                </a:extLst>
              </a:tr>
              <a:tr h="0">
                <a:tc>
                  <a:txBody>
                    <a:bodyPr/>
                    <a:lstStyle/>
                    <a:p>
                      <a:pPr>
                        <a:buNone/>
                      </a:pPr>
                      <a:r>
                        <a:rPr lang="en-IN"/>
                        <a:t>3</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1783925118"/>
                  </a:ext>
                </a:extLst>
              </a:tr>
              <a:tr h="0">
                <a:tc>
                  <a:txBody>
                    <a:bodyPr/>
                    <a:lstStyle/>
                    <a:p>
                      <a:pPr>
                        <a:buNone/>
                      </a:pPr>
                      <a:r>
                        <a:rPr lang="en-IN"/>
                        <a:t>4</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extLst>
                  <a:ext uri="{0D108BD9-81ED-4DB2-BD59-A6C34878D82A}">
                    <a16:rowId xmlns:a16="http://schemas.microsoft.com/office/drawing/2014/main" val="2046856948"/>
                  </a:ext>
                </a:extLst>
              </a:tr>
              <a:tr h="0">
                <a:tc>
                  <a:txBody>
                    <a:bodyPr/>
                    <a:lstStyle/>
                    <a:p>
                      <a:pPr>
                        <a:buNone/>
                      </a:pPr>
                      <a:r>
                        <a:rPr lang="en-IN"/>
                        <a:t>5</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a:t>+1</a:t>
                      </a:r>
                    </a:p>
                  </a:txBody>
                  <a:tcPr anchor="ctr">
                    <a:lnL>
                      <a:noFill/>
                    </a:lnL>
                    <a:lnR>
                      <a:noFill/>
                    </a:lnR>
                    <a:lnT>
                      <a:noFill/>
                    </a:lnT>
                    <a:lnB>
                      <a:noFill/>
                    </a:lnB>
                    <a:noFill/>
                  </a:tcPr>
                </a:tc>
                <a:tc>
                  <a:txBody>
                    <a:bodyPr/>
                    <a:lstStyle/>
                    <a:p>
                      <a:pPr>
                        <a:buNone/>
                      </a:pPr>
                      <a:r>
                        <a:rPr lang="en-IN" dirty="0"/>
                        <a:t>+1</a:t>
                      </a:r>
                    </a:p>
                  </a:txBody>
                  <a:tcPr anchor="ctr">
                    <a:lnL>
                      <a:noFill/>
                    </a:lnL>
                    <a:lnR>
                      <a:noFill/>
                    </a:lnR>
                    <a:lnT>
                      <a:noFill/>
                    </a:lnT>
                    <a:lnB>
                      <a:noFill/>
                    </a:lnB>
                    <a:noFill/>
                  </a:tcPr>
                </a:tc>
                <a:extLst>
                  <a:ext uri="{0D108BD9-81ED-4DB2-BD59-A6C34878D82A}">
                    <a16:rowId xmlns:a16="http://schemas.microsoft.com/office/drawing/2014/main" val="3721631168"/>
                  </a:ext>
                </a:extLst>
              </a:tr>
            </a:tbl>
          </a:graphicData>
        </a:graphic>
      </p:graphicFrame>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AABDDE-BF39-562B-5E07-3AC98968A800}"/>
                  </a:ext>
                </a:extLst>
              </p:cNvPr>
              <p:cNvSpPr txBox="1"/>
              <p:nvPr/>
            </p:nvSpPr>
            <p:spPr>
              <a:xfrm>
                <a:off x="655864" y="3248297"/>
                <a:ext cx="5300799" cy="2677656"/>
              </a:xfrm>
              <a:prstGeom prst="rect">
                <a:avLst/>
              </a:prstGeom>
              <a:noFill/>
            </p:spPr>
            <p:txBody>
              <a:bodyPr wrap="square">
                <a:spAutoFit/>
              </a:bodyPr>
              <a:lstStyle/>
              <a:p>
                <a:pPr>
                  <a:buNone/>
                </a:pPr>
                <a:r>
                  <a:rPr lang="en-IN" sz="2800" b="1" dirty="0"/>
                  <a:t>Misclassified samples (1,2)</a:t>
                </a:r>
              </a:p>
              <a:p>
                <a:pPr>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𝑤</m:t>
                      </m:r>
                      <m:r>
                        <a:rPr lang="en-IN" sz="2800" i="0">
                          <a:latin typeface="Cambria Math" panose="02040503050406030204" pitchFamily="18" charset="0"/>
                        </a:rPr>
                        <m:t>=</m:t>
                      </m:r>
                      <m:r>
                        <a:rPr lang="en-IN" sz="2800" i="0">
                          <a:latin typeface="Cambria Math" panose="02040503050406030204" pitchFamily="18" charset="0"/>
                        </a:rPr>
                        <m:t>0</m:t>
                      </m:r>
                      <m:r>
                        <a:rPr lang="en-IN" sz="2800" i="0">
                          <a:latin typeface="Cambria Math" panose="02040503050406030204" pitchFamily="18" charset="0"/>
                        </a:rPr>
                        <m:t>.</m:t>
                      </m:r>
                      <m:r>
                        <a:rPr lang="en-IN" sz="2800" i="0">
                          <a:latin typeface="Cambria Math" panose="02040503050406030204" pitchFamily="18" charset="0"/>
                        </a:rPr>
                        <m:t>2</m:t>
                      </m:r>
                      <m:sSup>
                        <m:sSupPr>
                          <m:ctrlPr>
                            <a:rPr lang="ar-AE" sz="2800" i="1">
                              <a:latin typeface="Cambria Math" panose="02040503050406030204" pitchFamily="18" charset="0"/>
                            </a:rPr>
                          </m:ctrlPr>
                        </m:sSupPr>
                        <m:e>
                          <m:r>
                            <a:rPr lang="ar-AE" sz="2800" i="1">
                              <a:latin typeface="Cambria Math" panose="02040503050406030204" pitchFamily="18" charset="0"/>
                            </a:rPr>
                            <m:t>𝑒</m:t>
                          </m:r>
                        </m:e>
                        <m:sup>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203</m:t>
                          </m:r>
                        </m:sup>
                      </m:sSup>
                    </m:oMath>
                  </m:oMathPara>
                </a14:m>
                <a:endParaRPr lang="ar-AE" sz="2800" dirty="0"/>
              </a:p>
              <a:p>
                <a:pPr>
                  <a:buNone/>
                </a:pPr>
                <a14:m>
                  <m:oMathPara xmlns:m="http://schemas.openxmlformats.org/officeDocument/2006/math">
                    <m:oMathParaPr>
                      <m:jc m:val="centerGroup"/>
                    </m:oMathParaPr>
                    <m:oMath xmlns:m="http://schemas.openxmlformats.org/officeDocument/2006/math">
                      <m:r>
                        <a:rPr lang="ar-AE" sz="280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m:t>
                      </m:r>
                      <m:d>
                        <m:dPr>
                          <m:ctrlPr>
                            <a:rPr lang="ar-AE" sz="2800" i="1">
                              <a:latin typeface="Cambria Math" panose="02040503050406030204" pitchFamily="18" charset="0"/>
                            </a:rPr>
                          </m:ctrlPr>
                        </m:dPr>
                        <m:e>
                          <m:r>
                            <a:rPr lang="ar-AE" sz="2800" i="0">
                              <a:latin typeface="Cambria Math" panose="02040503050406030204" pitchFamily="18" charset="0"/>
                            </a:rPr>
                            <m:t>1</m:t>
                          </m:r>
                          <m:r>
                            <a:rPr lang="ar-AE" sz="2800" i="0">
                              <a:latin typeface="Cambria Math" panose="02040503050406030204" pitchFamily="18" charset="0"/>
                            </a:rPr>
                            <m:t>.</m:t>
                          </m:r>
                          <m:r>
                            <a:rPr lang="ar-AE" sz="2800" i="0">
                              <a:latin typeface="Cambria Math" panose="02040503050406030204" pitchFamily="18" charset="0"/>
                            </a:rPr>
                            <m:t>225</m:t>
                          </m:r>
                        </m:e>
                      </m:d>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245</m:t>
                      </m:r>
                    </m:oMath>
                  </m:oMathPara>
                </a14:m>
                <a:endParaRPr lang="ar-AE" sz="2800" dirty="0"/>
              </a:p>
              <a:p>
                <a:pPr>
                  <a:buNone/>
                </a:pPr>
                <a:r>
                  <a:rPr lang="en-IN" sz="2800" b="1" dirty="0"/>
                  <a:t>Correct samples (3,4,5)</a:t>
                </a:r>
              </a:p>
              <a:p>
                <a:pPr>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𝑤</m:t>
                      </m:r>
                      <m:r>
                        <a:rPr lang="en-IN" sz="2800" i="0">
                          <a:latin typeface="Cambria Math" panose="02040503050406030204" pitchFamily="18" charset="0"/>
                        </a:rPr>
                        <m:t>=</m:t>
                      </m:r>
                      <m:r>
                        <a:rPr lang="en-IN" sz="2800" i="0">
                          <a:latin typeface="Cambria Math" panose="02040503050406030204" pitchFamily="18" charset="0"/>
                        </a:rPr>
                        <m:t>0</m:t>
                      </m:r>
                      <m:r>
                        <a:rPr lang="en-IN" sz="2800" i="0">
                          <a:latin typeface="Cambria Math" panose="02040503050406030204" pitchFamily="18" charset="0"/>
                        </a:rPr>
                        <m:t>.</m:t>
                      </m:r>
                      <m:r>
                        <a:rPr lang="en-IN" sz="2800" i="0">
                          <a:latin typeface="Cambria Math" panose="02040503050406030204" pitchFamily="18" charset="0"/>
                        </a:rPr>
                        <m:t>2</m:t>
                      </m:r>
                      <m:sSup>
                        <m:sSupPr>
                          <m:ctrlPr>
                            <a:rPr lang="ar-AE" sz="2800" i="1">
                              <a:latin typeface="Cambria Math" panose="02040503050406030204" pitchFamily="18" charset="0"/>
                            </a:rPr>
                          </m:ctrlPr>
                        </m:sSupPr>
                        <m:e>
                          <m:r>
                            <a:rPr lang="ar-AE" sz="2800" i="1">
                              <a:latin typeface="Cambria Math" panose="02040503050406030204" pitchFamily="18" charset="0"/>
                            </a:rPr>
                            <m:t>𝑒</m:t>
                          </m:r>
                        </m:e>
                        <m:sup>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203</m:t>
                          </m:r>
                        </m:sup>
                      </m:sSup>
                    </m:oMath>
                  </m:oMathPara>
                </a14:m>
                <a:endParaRPr lang="ar-AE" sz="2800" dirty="0"/>
              </a:p>
              <a:p>
                <a:pPr>
                  <a:buNone/>
                </a:pPr>
                <a14:m>
                  <m:oMathPara xmlns:m="http://schemas.openxmlformats.org/officeDocument/2006/math">
                    <m:oMathParaPr>
                      <m:jc m:val="centerGroup"/>
                    </m:oMathParaPr>
                    <m:oMath xmlns:m="http://schemas.openxmlformats.org/officeDocument/2006/math">
                      <m:r>
                        <a:rPr lang="ar-AE" sz="280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m:t>
                      </m:r>
                      <m:d>
                        <m:dPr>
                          <m:ctrlPr>
                            <a:rPr lang="ar-AE" sz="2800" i="1">
                              <a:latin typeface="Cambria Math" panose="02040503050406030204" pitchFamily="18" charset="0"/>
                            </a:rPr>
                          </m:ctrlPr>
                        </m:dPr>
                        <m:e>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816</m:t>
                          </m:r>
                        </m:e>
                      </m:d>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163</m:t>
                      </m:r>
                    </m:oMath>
                  </m:oMathPara>
                </a14:m>
                <a:endParaRPr lang="ar-AE" sz="2800" dirty="0"/>
              </a:p>
            </p:txBody>
          </p:sp>
        </mc:Choice>
        <mc:Fallback xmlns="">
          <p:sp>
            <p:nvSpPr>
              <p:cNvPr id="14" name="TextBox 13">
                <a:extLst>
                  <a:ext uri="{FF2B5EF4-FFF2-40B4-BE49-F238E27FC236}">
                    <a16:creationId xmlns:a16="http://schemas.microsoft.com/office/drawing/2014/main" id="{4EAABDDE-BF39-562B-5E07-3AC98968A800}"/>
                  </a:ext>
                </a:extLst>
              </p:cNvPr>
              <p:cNvSpPr txBox="1">
                <a:spLocks noRot="1" noChangeAspect="1" noMove="1" noResize="1" noEditPoints="1" noAdjustHandles="1" noChangeArrowheads="1" noChangeShapeType="1" noTextEdit="1"/>
              </p:cNvSpPr>
              <p:nvPr/>
            </p:nvSpPr>
            <p:spPr>
              <a:xfrm>
                <a:off x="655864" y="3248297"/>
                <a:ext cx="5300799" cy="2677656"/>
              </a:xfrm>
              <a:prstGeom prst="rect">
                <a:avLst/>
              </a:prstGeom>
              <a:blipFill>
                <a:blip r:embed="rId3"/>
                <a:stretch>
                  <a:fillRect l="-2417" t="-2278"/>
                </a:stretch>
              </a:blipFill>
            </p:spPr>
            <p:txBody>
              <a:bodyPr/>
              <a:lstStyle/>
              <a:p>
                <a:r>
                  <a:rPr lang="en-IN">
                    <a:noFill/>
                  </a:rPr>
                  <a:t> </a:t>
                </a:r>
              </a:p>
            </p:txBody>
          </p:sp>
        </mc:Fallback>
      </mc:AlternateContent>
      <p:sp>
        <p:nvSpPr>
          <p:cNvPr id="16" name="TextBox 15">
            <a:extLst>
              <a:ext uri="{FF2B5EF4-FFF2-40B4-BE49-F238E27FC236}">
                <a16:creationId xmlns:a16="http://schemas.microsoft.com/office/drawing/2014/main" id="{23B3912E-1D5B-4EC3-6E2E-2183057846DD}"/>
              </a:ext>
            </a:extLst>
          </p:cNvPr>
          <p:cNvSpPr txBox="1"/>
          <p:nvPr/>
        </p:nvSpPr>
        <p:spPr>
          <a:xfrm>
            <a:off x="6096000" y="3148343"/>
            <a:ext cx="4389120" cy="461665"/>
          </a:xfrm>
          <a:prstGeom prst="rect">
            <a:avLst/>
          </a:prstGeom>
          <a:noFill/>
        </p:spPr>
        <p:txBody>
          <a:bodyPr wrap="square">
            <a:spAutoFit/>
          </a:bodyPr>
          <a:lstStyle/>
          <a:p>
            <a:r>
              <a:rPr lang="en-IN" sz="2400" dirty="0">
                <a:solidFill>
                  <a:srgbClr val="FF0000"/>
                </a:solidFill>
              </a:rPr>
              <a:t>Normalized weights</a:t>
            </a:r>
          </a:p>
        </p:txBody>
      </p:sp>
      <p:graphicFrame>
        <p:nvGraphicFramePr>
          <p:cNvPr id="17" name="Table 16">
            <a:extLst>
              <a:ext uri="{FF2B5EF4-FFF2-40B4-BE49-F238E27FC236}">
                <a16:creationId xmlns:a16="http://schemas.microsoft.com/office/drawing/2014/main" id="{21411BB9-D3FF-A695-44AD-C1AA3245D6C5}"/>
              </a:ext>
            </a:extLst>
          </p:cNvPr>
          <p:cNvGraphicFramePr>
            <a:graphicFrameLocks noGrp="1"/>
          </p:cNvGraphicFramePr>
          <p:nvPr>
            <p:extLst>
              <p:ext uri="{D42A27DB-BD31-4B8C-83A1-F6EECF244321}">
                <p14:modId xmlns:p14="http://schemas.microsoft.com/office/powerpoint/2010/main" val="282415369"/>
              </p:ext>
            </p:extLst>
          </p:nvPr>
        </p:nvGraphicFramePr>
        <p:xfrm>
          <a:off x="6096000" y="3835832"/>
          <a:ext cx="5057506" cy="2194560"/>
        </p:xfrm>
        <a:graphic>
          <a:graphicData uri="http://schemas.openxmlformats.org/drawingml/2006/table">
            <a:tbl>
              <a:tblPr/>
              <a:tblGrid>
                <a:gridCol w="2528753">
                  <a:extLst>
                    <a:ext uri="{9D8B030D-6E8A-4147-A177-3AD203B41FA5}">
                      <a16:colId xmlns:a16="http://schemas.microsoft.com/office/drawing/2014/main" val="4217599796"/>
                    </a:ext>
                  </a:extLst>
                </a:gridCol>
                <a:gridCol w="2528753">
                  <a:extLst>
                    <a:ext uri="{9D8B030D-6E8A-4147-A177-3AD203B41FA5}">
                      <a16:colId xmlns:a16="http://schemas.microsoft.com/office/drawing/2014/main" val="3708881719"/>
                    </a:ext>
                  </a:extLst>
                </a:gridCol>
              </a:tblGrid>
              <a:tr h="0">
                <a:tc>
                  <a:txBody>
                    <a:bodyPr/>
                    <a:lstStyle/>
                    <a:p>
                      <a:pPr>
                        <a:buNone/>
                      </a:pPr>
                      <a:r>
                        <a:rPr lang="en-IN" b="1" dirty="0"/>
                        <a:t>Sample</a:t>
                      </a:r>
                    </a:p>
                  </a:txBody>
                  <a:tcPr anchor="ctr">
                    <a:lnL>
                      <a:noFill/>
                    </a:lnL>
                    <a:lnR>
                      <a:noFill/>
                    </a:lnR>
                    <a:lnT>
                      <a:noFill/>
                    </a:lnT>
                    <a:lnB>
                      <a:noFill/>
                    </a:lnB>
                    <a:noFill/>
                  </a:tcPr>
                </a:tc>
                <a:tc>
                  <a:txBody>
                    <a:bodyPr/>
                    <a:lstStyle/>
                    <a:p>
                      <a:pPr>
                        <a:buNone/>
                      </a:pPr>
                      <a:r>
                        <a:rPr lang="en-IN" b="1" dirty="0"/>
                        <a:t>Weight</a:t>
                      </a:r>
                    </a:p>
                  </a:txBody>
                  <a:tcPr anchor="ctr">
                    <a:lnL>
                      <a:noFill/>
                    </a:lnL>
                    <a:lnR>
                      <a:noFill/>
                    </a:lnR>
                    <a:lnT>
                      <a:noFill/>
                    </a:lnT>
                    <a:lnB>
                      <a:noFill/>
                    </a:lnB>
                    <a:noFill/>
                  </a:tcPr>
                </a:tc>
                <a:extLst>
                  <a:ext uri="{0D108BD9-81ED-4DB2-BD59-A6C34878D82A}">
                    <a16:rowId xmlns:a16="http://schemas.microsoft.com/office/drawing/2014/main" val="1364110471"/>
                  </a:ext>
                </a:extLst>
              </a:tr>
              <a:tr h="0">
                <a:tc>
                  <a:txBody>
                    <a:bodyPr/>
                    <a:lstStyle/>
                    <a:p>
                      <a:pPr>
                        <a:buNone/>
                      </a:pPr>
                      <a:r>
                        <a:rPr lang="en-IN" dirty="0"/>
                        <a:t>1</a:t>
                      </a:r>
                    </a:p>
                  </a:txBody>
                  <a:tcPr anchor="ctr">
                    <a:lnL>
                      <a:noFill/>
                    </a:lnL>
                    <a:lnR>
                      <a:noFill/>
                    </a:lnR>
                    <a:lnT>
                      <a:noFill/>
                    </a:lnT>
                    <a:lnB>
                      <a:noFill/>
                    </a:lnB>
                    <a:noFill/>
                  </a:tcPr>
                </a:tc>
                <a:tc>
                  <a:txBody>
                    <a:bodyPr/>
                    <a:lstStyle/>
                    <a:p>
                      <a:pPr>
                        <a:buNone/>
                      </a:pPr>
                      <a:r>
                        <a:rPr lang="en-IN" dirty="0">
                          <a:solidFill>
                            <a:srgbClr val="FF0000"/>
                          </a:solidFill>
                        </a:rPr>
                        <a:t>0.245</a:t>
                      </a:r>
                    </a:p>
                  </a:txBody>
                  <a:tcPr anchor="ctr">
                    <a:lnL>
                      <a:noFill/>
                    </a:lnL>
                    <a:lnR>
                      <a:noFill/>
                    </a:lnR>
                    <a:lnT>
                      <a:noFill/>
                    </a:lnT>
                    <a:lnB>
                      <a:noFill/>
                    </a:lnB>
                    <a:noFill/>
                  </a:tcPr>
                </a:tc>
                <a:extLst>
                  <a:ext uri="{0D108BD9-81ED-4DB2-BD59-A6C34878D82A}">
                    <a16:rowId xmlns:a16="http://schemas.microsoft.com/office/drawing/2014/main" val="728119896"/>
                  </a:ext>
                </a:extLst>
              </a:tr>
              <a:tr h="0">
                <a:tc>
                  <a:txBody>
                    <a:bodyPr/>
                    <a:lstStyle/>
                    <a:p>
                      <a:pPr>
                        <a:buNone/>
                      </a:pPr>
                      <a:r>
                        <a:rPr lang="en-IN" dirty="0"/>
                        <a:t>2</a:t>
                      </a:r>
                    </a:p>
                  </a:txBody>
                  <a:tcPr anchor="ctr">
                    <a:lnL>
                      <a:noFill/>
                    </a:lnL>
                    <a:lnR>
                      <a:noFill/>
                    </a:lnR>
                    <a:lnT>
                      <a:noFill/>
                    </a:lnT>
                    <a:lnB>
                      <a:noFill/>
                    </a:lnB>
                    <a:noFill/>
                  </a:tcPr>
                </a:tc>
                <a:tc>
                  <a:txBody>
                    <a:bodyPr/>
                    <a:lstStyle/>
                    <a:p>
                      <a:pPr>
                        <a:buNone/>
                      </a:pPr>
                      <a:r>
                        <a:rPr lang="en-IN" dirty="0">
                          <a:solidFill>
                            <a:srgbClr val="FF0000"/>
                          </a:solidFill>
                        </a:rPr>
                        <a:t>0.245</a:t>
                      </a:r>
                    </a:p>
                  </a:txBody>
                  <a:tcPr anchor="ctr">
                    <a:lnL>
                      <a:noFill/>
                    </a:lnL>
                    <a:lnR>
                      <a:noFill/>
                    </a:lnR>
                    <a:lnT>
                      <a:noFill/>
                    </a:lnT>
                    <a:lnB>
                      <a:noFill/>
                    </a:lnB>
                    <a:noFill/>
                  </a:tcPr>
                </a:tc>
                <a:extLst>
                  <a:ext uri="{0D108BD9-81ED-4DB2-BD59-A6C34878D82A}">
                    <a16:rowId xmlns:a16="http://schemas.microsoft.com/office/drawing/2014/main" val="2432772359"/>
                  </a:ext>
                </a:extLst>
              </a:tr>
              <a:tr h="0">
                <a:tc>
                  <a:txBody>
                    <a:bodyPr/>
                    <a:lstStyle/>
                    <a:p>
                      <a:pPr>
                        <a:buNone/>
                      </a:pPr>
                      <a:r>
                        <a:rPr lang="en-IN"/>
                        <a:t>3</a:t>
                      </a:r>
                    </a:p>
                  </a:txBody>
                  <a:tcPr anchor="ctr">
                    <a:lnL>
                      <a:noFill/>
                    </a:lnL>
                    <a:lnR>
                      <a:noFill/>
                    </a:lnR>
                    <a:lnT>
                      <a:noFill/>
                    </a:lnT>
                    <a:lnB>
                      <a:noFill/>
                    </a:lnB>
                    <a:noFill/>
                  </a:tcPr>
                </a:tc>
                <a:tc>
                  <a:txBody>
                    <a:bodyPr/>
                    <a:lstStyle/>
                    <a:p>
                      <a:pPr>
                        <a:buNone/>
                      </a:pPr>
                      <a:r>
                        <a:rPr lang="en-IN" dirty="0"/>
                        <a:t>0.163</a:t>
                      </a:r>
                    </a:p>
                  </a:txBody>
                  <a:tcPr anchor="ctr">
                    <a:lnL>
                      <a:noFill/>
                    </a:lnL>
                    <a:lnR>
                      <a:noFill/>
                    </a:lnR>
                    <a:lnT>
                      <a:noFill/>
                    </a:lnT>
                    <a:lnB>
                      <a:noFill/>
                    </a:lnB>
                    <a:noFill/>
                  </a:tcPr>
                </a:tc>
                <a:extLst>
                  <a:ext uri="{0D108BD9-81ED-4DB2-BD59-A6C34878D82A}">
                    <a16:rowId xmlns:a16="http://schemas.microsoft.com/office/drawing/2014/main" val="857061104"/>
                  </a:ext>
                </a:extLst>
              </a:tr>
              <a:tr h="0">
                <a:tc>
                  <a:txBody>
                    <a:bodyPr/>
                    <a:lstStyle/>
                    <a:p>
                      <a:pPr>
                        <a:buNone/>
                      </a:pPr>
                      <a:r>
                        <a:rPr lang="en-IN"/>
                        <a:t>4</a:t>
                      </a:r>
                    </a:p>
                  </a:txBody>
                  <a:tcPr anchor="ctr">
                    <a:lnL>
                      <a:noFill/>
                    </a:lnL>
                    <a:lnR>
                      <a:noFill/>
                    </a:lnR>
                    <a:lnT>
                      <a:noFill/>
                    </a:lnT>
                    <a:lnB>
                      <a:noFill/>
                    </a:lnB>
                    <a:noFill/>
                  </a:tcPr>
                </a:tc>
                <a:tc>
                  <a:txBody>
                    <a:bodyPr/>
                    <a:lstStyle/>
                    <a:p>
                      <a:pPr>
                        <a:buNone/>
                      </a:pPr>
                      <a:r>
                        <a:rPr lang="en-IN" dirty="0"/>
                        <a:t>0.163</a:t>
                      </a:r>
                    </a:p>
                  </a:txBody>
                  <a:tcPr anchor="ctr">
                    <a:lnL>
                      <a:noFill/>
                    </a:lnL>
                    <a:lnR>
                      <a:noFill/>
                    </a:lnR>
                    <a:lnT>
                      <a:noFill/>
                    </a:lnT>
                    <a:lnB>
                      <a:noFill/>
                    </a:lnB>
                    <a:noFill/>
                  </a:tcPr>
                </a:tc>
                <a:extLst>
                  <a:ext uri="{0D108BD9-81ED-4DB2-BD59-A6C34878D82A}">
                    <a16:rowId xmlns:a16="http://schemas.microsoft.com/office/drawing/2014/main" val="2723053523"/>
                  </a:ext>
                </a:extLst>
              </a:tr>
              <a:tr h="0">
                <a:tc>
                  <a:txBody>
                    <a:bodyPr/>
                    <a:lstStyle/>
                    <a:p>
                      <a:pPr>
                        <a:buNone/>
                      </a:pPr>
                      <a:r>
                        <a:rPr lang="en-IN"/>
                        <a:t>5</a:t>
                      </a:r>
                    </a:p>
                  </a:txBody>
                  <a:tcPr anchor="ctr">
                    <a:lnL>
                      <a:noFill/>
                    </a:lnL>
                    <a:lnR>
                      <a:noFill/>
                    </a:lnR>
                    <a:lnT>
                      <a:noFill/>
                    </a:lnT>
                    <a:lnB>
                      <a:noFill/>
                    </a:lnB>
                    <a:noFill/>
                  </a:tcPr>
                </a:tc>
                <a:tc>
                  <a:txBody>
                    <a:bodyPr/>
                    <a:lstStyle/>
                    <a:p>
                      <a:pPr>
                        <a:buNone/>
                      </a:pPr>
                      <a:r>
                        <a:rPr lang="en-IN" dirty="0"/>
                        <a:t>0.163</a:t>
                      </a:r>
                    </a:p>
                  </a:txBody>
                  <a:tcPr anchor="ctr">
                    <a:lnL>
                      <a:noFill/>
                    </a:lnL>
                    <a:lnR>
                      <a:noFill/>
                    </a:lnR>
                    <a:lnT>
                      <a:noFill/>
                    </a:lnT>
                    <a:lnB>
                      <a:noFill/>
                    </a:lnB>
                    <a:noFill/>
                  </a:tcPr>
                </a:tc>
                <a:extLst>
                  <a:ext uri="{0D108BD9-81ED-4DB2-BD59-A6C34878D82A}">
                    <a16:rowId xmlns:a16="http://schemas.microsoft.com/office/drawing/2014/main" val="2000496818"/>
                  </a:ext>
                </a:extLst>
              </a:tr>
            </a:tbl>
          </a:graphicData>
        </a:graphic>
      </p:graphicFrame>
      <p:sp>
        <p:nvSpPr>
          <p:cNvPr id="19" name="TextBox 18">
            <a:extLst>
              <a:ext uri="{FF2B5EF4-FFF2-40B4-BE49-F238E27FC236}">
                <a16:creationId xmlns:a16="http://schemas.microsoft.com/office/drawing/2014/main" id="{C5CA93F6-809C-5513-44CB-932D256C92E4}"/>
              </a:ext>
            </a:extLst>
          </p:cNvPr>
          <p:cNvSpPr txBox="1"/>
          <p:nvPr/>
        </p:nvSpPr>
        <p:spPr>
          <a:xfrm>
            <a:off x="5721531" y="6215621"/>
            <a:ext cx="6096000" cy="369332"/>
          </a:xfrm>
          <a:prstGeom prst="rect">
            <a:avLst/>
          </a:prstGeom>
          <a:noFill/>
        </p:spPr>
        <p:txBody>
          <a:bodyPr wrap="square">
            <a:spAutoFit/>
          </a:bodyPr>
          <a:lstStyle/>
          <a:p>
            <a:r>
              <a:rPr lang="en-US" dirty="0"/>
              <a:t>So </a:t>
            </a:r>
            <a:r>
              <a:rPr lang="en-US" b="1" dirty="0"/>
              <a:t>samples 1 and 2 now have highest importance</a:t>
            </a:r>
            <a:r>
              <a:rPr lang="en-US" dirty="0"/>
              <a:t>.</a:t>
            </a:r>
            <a:endParaRPr lang="en-IN" dirty="0"/>
          </a:p>
        </p:txBody>
      </p:sp>
    </p:spTree>
    <p:extLst>
      <p:ext uri="{BB962C8B-B14F-4D97-AF65-F5344CB8AC3E}">
        <p14:creationId xmlns:p14="http://schemas.microsoft.com/office/powerpoint/2010/main" val="3978869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4089641-C9BA-E825-A520-C669F8C115E1}"/>
              </a:ext>
            </a:extLst>
          </p:cNvPr>
          <p:cNvSpPr txBox="1"/>
          <p:nvPr/>
        </p:nvSpPr>
        <p:spPr>
          <a:xfrm>
            <a:off x="2821577" y="549368"/>
            <a:ext cx="6096000" cy="1569660"/>
          </a:xfrm>
          <a:prstGeom prst="rect">
            <a:avLst/>
          </a:prstGeom>
          <a:noFill/>
          <a:ln>
            <a:solidFill>
              <a:schemeClr val="accent1"/>
            </a:solidFill>
          </a:ln>
        </p:spPr>
        <p:txBody>
          <a:bodyPr wrap="square">
            <a:spAutoFit/>
          </a:bodyPr>
          <a:lstStyle/>
          <a:p>
            <a:pPr>
              <a:buNone/>
            </a:pPr>
            <a:r>
              <a:rPr lang="en-US" sz="2400" dirty="0"/>
              <a:t>Now we train using </a:t>
            </a:r>
            <a:r>
              <a:rPr lang="en-US" sz="2400" b="1" dirty="0"/>
              <a:t>updated weights</a:t>
            </a:r>
            <a:r>
              <a:rPr lang="en-US" sz="2400" dirty="0"/>
              <a:t>.</a:t>
            </a:r>
          </a:p>
          <a:p>
            <a:pPr>
              <a:buNone/>
            </a:pPr>
            <a:r>
              <a:rPr lang="en-US" sz="2400" dirty="0"/>
              <a:t>Consider stump</a:t>
            </a:r>
          </a:p>
          <a:p>
            <a:pPr rtl="0">
              <a:buNone/>
            </a:pPr>
            <a:r>
              <a:rPr lang="en-US" sz="2400" dirty="0">
                <a:latin typeface="Courier New" panose="02070309020205020404" pitchFamily="49" charset="0"/>
              </a:rPr>
              <a:t>x &lt; 2.5 → +1</a:t>
            </a:r>
            <a:br>
              <a:rPr lang="en-US" sz="2400" dirty="0">
                <a:latin typeface="Courier New" panose="02070309020205020404" pitchFamily="49" charset="0"/>
              </a:rPr>
            </a:br>
            <a:r>
              <a:rPr lang="en-US" sz="2400" dirty="0">
                <a:latin typeface="Courier New" panose="02070309020205020404" pitchFamily="49" charset="0"/>
              </a:rPr>
              <a:t>x ≥ 2.5 → -1</a:t>
            </a:r>
          </a:p>
        </p:txBody>
      </p:sp>
      <p:pic>
        <p:nvPicPr>
          <p:cNvPr id="6" name="Picture 5"/>
          <p:cNvPicPr>
            <a:picLocks noChangeAspect="1"/>
          </p:cNvPicPr>
          <p:nvPr/>
        </p:nvPicPr>
        <p:blipFill>
          <a:blip r:embed="rId2"/>
          <a:stretch>
            <a:fillRect/>
          </a:stretch>
        </p:blipFill>
        <p:spPr>
          <a:xfrm>
            <a:off x="1513883" y="2258099"/>
            <a:ext cx="8788357" cy="4474911"/>
          </a:xfrm>
          <a:prstGeom prst="rect">
            <a:avLst/>
          </a:prstGeom>
        </p:spPr>
      </p:pic>
    </p:spTree>
    <p:extLst>
      <p:ext uri="{BB962C8B-B14F-4D97-AF65-F5344CB8AC3E}">
        <p14:creationId xmlns:p14="http://schemas.microsoft.com/office/powerpoint/2010/main" val="12933327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051768-E410-8246-1A2C-0B4FB946ED9C}"/>
              </a:ext>
            </a:extLst>
          </p:cNvPr>
          <p:cNvPicPr>
            <a:picLocks noChangeAspect="1"/>
          </p:cNvPicPr>
          <p:nvPr/>
        </p:nvPicPr>
        <p:blipFill>
          <a:blip r:embed="rId2"/>
          <a:stretch>
            <a:fillRect/>
          </a:stretch>
        </p:blipFill>
        <p:spPr>
          <a:xfrm>
            <a:off x="967462" y="845050"/>
            <a:ext cx="9857989" cy="5167899"/>
          </a:xfrm>
          <a:prstGeom prst="rect">
            <a:avLst/>
          </a:prstGeom>
        </p:spPr>
      </p:pic>
    </p:spTree>
    <p:extLst>
      <p:ext uri="{BB962C8B-B14F-4D97-AF65-F5344CB8AC3E}">
        <p14:creationId xmlns:p14="http://schemas.microsoft.com/office/powerpoint/2010/main" val="3738557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21D0-2006-76CA-60A6-9A7088276636}"/>
              </a:ext>
            </a:extLst>
          </p:cNvPr>
          <p:cNvSpPr>
            <a:spLocks noGrp="1"/>
          </p:cNvSpPr>
          <p:nvPr>
            <p:ph type="title"/>
          </p:nvPr>
        </p:nvSpPr>
        <p:spPr>
          <a:xfrm>
            <a:off x="838200" y="365126"/>
            <a:ext cx="10515600" cy="653778"/>
          </a:xfrm>
        </p:spPr>
        <p:txBody>
          <a:bodyPr>
            <a:normAutofit fontScale="90000"/>
          </a:bodyPr>
          <a:lstStyle/>
          <a:p>
            <a:r>
              <a:rPr lang="en-US" b="1" dirty="0">
                <a:solidFill>
                  <a:srgbClr val="FF0000"/>
                </a:solidFill>
              </a:rPr>
              <a:t>Stacking</a:t>
            </a:r>
            <a:endParaRPr lang="en-IN" b="1" dirty="0">
              <a:solidFill>
                <a:srgbClr val="FF0000"/>
              </a:solidFill>
            </a:endParaRPr>
          </a:p>
        </p:txBody>
      </p:sp>
      <p:sp>
        <p:nvSpPr>
          <p:cNvPr id="3" name="Content Placeholder 2">
            <a:extLst>
              <a:ext uri="{FF2B5EF4-FFF2-40B4-BE49-F238E27FC236}">
                <a16:creationId xmlns:a16="http://schemas.microsoft.com/office/drawing/2014/main" id="{E007E246-BFCF-5FC9-28F6-D7DABD6E11FC}"/>
              </a:ext>
            </a:extLst>
          </p:cNvPr>
          <p:cNvSpPr>
            <a:spLocks noGrp="1"/>
          </p:cNvSpPr>
          <p:nvPr>
            <p:ph idx="1"/>
          </p:nvPr>
        </p:nvSpPr>
        <p:spPr>
          <a:xfrm>
            <a:off x="759823" y="1407614"/>
            <a:ext cx="10515600" cy="3678192"/>
          </a:xfrm>
        </p:spPr>
        <p:txBody>
          <a:bodyPr>
            <a:normAutofit/>
          </a:bodyPr>
          <a:lstStyle/>
          <a:p>
            <a:r>
              <a:rPr lang="en-US" sz="3200" b="1" dirty="0"/>
              <a:t>Stacking</a:t>
            </a:r>
            <a:r>
              <a:rPr lang="en-US" sz="3200" dirty="0"/>
              <a:t> is an </a:t>
            </a:r>
            <a:r>
              <a:rPr lang="en-US" sz="3200" b="1" dirty="0"/>
              <a:t>ensemble learning technique</a:t>
            </a:r>
            <a:r>
              <a:rPr lang="en-US" sz="3200" dirty="0"/>
              <a:t> where multiple different models are trained, and their predictions are used as inputs to another model (called a </a:t>
            </a:r>
            <a:r>
              <a:rPr lang="en-US" sz="3200" b="1" dirty="0"/>
              <a:t>meta-model</a:t>
            </a:r>
            <a:r>
              <a:rPr lang="en-US" sz="3200" dirty="0"/>
              <a:t>) that learns how to combine them.</a:t>
            </a:r>
          </a:p>
          <a:p>
            <a:r>
              <a:rPr lang="en-US" sz="3200" dirty="0"/>
              <a:t>So instead of simple voting, stacking </a:t>
            </a:r>
            <a:r>
              <a:rPr lang="en-US" sz="3200" b="1" dirty="0"/>
              <a:t>learns the best way to combine models</a:t>
            </a:r>
            <a:r>
              <a:rPr lang="en-US" sz="3200" dirty="0"/>
              <a:t>.</a:t>
            </a:r>
          </a:p>
          <a:p>
            <a:pPr>
              <a:buNone/>
            </a:pPr>
            <a:endParaRPr lang="en-US" dirty="0"/>
          </a:p>
        </p:txBody>
      </p:sp>
    </p:spTree>
    <p:extLst>
      <p:ext uri="{BB962C8B-B14F-4D97-AF65-F5344CB8AC3E}">
        <p14:creationId xmlns:p14="http://schemas.microsoft.com/office/powerpoint/2010/main" val="40565286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9E2633B-59B5-D057-F20A-D13AB950391E}"/>
              </a:ext>
            </a:extLst>
          </p:cNvPr>
          <p:cNvPicPr>
            <a:picLocks noChangeAspect="1"/>
          </p:cNvPicPr>
          <p:nvPr/>
        </p:nvPicPr>
        <p:blipFill>
          <a:blip r:embed="rId2"/>
          <a:stretch>
            <a:fillRect/>
          </a:stretch>
        </p:blipFill>
        <p:spPr>
          <a:xfrm>
            <a:off x="3728707" y="556811"/>
            <a:ext cx="4734586" cy="5744377"/>
          </a:xfrm>
          <a:prstGeom prst="rect">
            <a:avLst/>
          </a:prstGeom>
        </p:spPr>
      </p:pic>
    </p:spTree>
    <p:extLst>
      <p:ext uri="{BB962C8B-B14F-4D97-AF65-F5344CB8AC3E}">
        <p14:creationId xmlns:p14="http://schemas.microsoft.com/office/powerpoint/2010/main" val="34728008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7567D4-3D48-E48E-3FFF-1330B7D5372B}"/>
              </a:ext>
            </a:extLst>
          </p:cNvPr>
          <p:cNvSpPr txBox="1"/>
          <p:nvPr/>
        </p:nvSpPr>
        <p:spPr>
          <a:xfrm>
            <a:off x="426720" y="373520"/>
            <a:ext cx="10267406" cy="523220"/>
          </a:xfrm>
          <a:prstGeom prst="rect">
            <a:avLst/>
          </a:prstGeom>
          <a:noFill/>
        </p:spPr>
        <p:txBody>
          <a:bodyPr wrap="square">
            <a:spAutoFit/>
          </a:bodyPr>
          <a:lstStyle/>
          <a:p>
            <a:r>
              <a:rPr lang="en-US" sz="2800" dirty="0"/>
              <a:t>Suppose we want to predict </a:t>
            </a:r>
            <a:r>
              <a:rPr lang="en-US" sz="2800" b="1" dirty="0"/>
              <a:t>whether a student will pass an exam</a:t>
            </a:r>
            <a:r>
              <a:rPr lang="en-US" sz="2800" dirty="0"/>
              <a:t>.</a:t>
            </a:r>
            <a:endParaRPr lang="en-IN" sz="2800" dirty="0"/>
          </a:p>
        </p:txBody>
      </p:sp>
      <p:graphicFrame>
        <p:nvGraphicFramePr>
          <p:cNvPr id="6" name="Table 5">
            <a:extLst>
              <a:ext uri="{FF2B5EF4-FFF2-40B4-BE49-F238E27FC236}">
                <a16:creationId xmlns:a16="http://schemas.microsoft.com/office/drawing/2014/main" id="{850B6603-A384-805F-25A7-821D2C5688D4}"/>
              </a:ext>
            </a:extLst>
          </p:cNvPr>
          <p:cNvGraphicFramePr>
            <a:graphicFrameLocks noGrp="1"/>
          </p:cNvGraphicFramePr>
          <p:nvPr>
            <p:extLst>
              <p:ext uri="{D42A27DB-BD31-4B8C-83A1-F6EECF244321}">
                <p14:modId xmlns:p14="http://schemas.microsoft.com/office/powerpoint/2010/main" val="984941993"/>
              </p:ext>
            </p:extLst>
          </p:nvPr>
        </p:nvGraphicFramePr>
        <p:xfrm>
          <a:off x="542109" y="1234440"/>
          <a:ext cx="9150532" cy="2743200"/>
        </p:xfrm>
        <a:graphic>
          <a:graphicData uri="http://schemas.openxmlformats.org/drawingml/2006/table">
            <a:tbl>
              <a:tblPr/>
              <a:tblGrid>
                <a:gridCol w="2287633">
                  <a:extLst>
                    <a:ext uri="{9D8B030D-6E8A-4147-A177-3AD203B41FA5}">
                      <a16:colId xmlns:a16="http://schemas.microsoft.com/office/drawing/2014/main" val="3821934702"/>
                    </a:ext>
                  </a:extLst>
                </a:gridCol>
                <a:gridCol w="2287633">
                  <a:extLst>
                    <a:ext uri="{9D8B030D-6E8A-4147-A177-3AD203B41FA5}">
                      <a16:colId xmlns:a16="http://schemas.microsoft.com/office/drawing/2014/main" val="1863053907"/>
                    </a:ext>
                  </a:extLst>
                </a:gridCol>
                <a:gridCol w="2287633">
                  <a:extLst>
                    <a:ext uri="{9D8B030D-6E8A-4147-A177-3AD203B41FA5}">
                      <a16:colId xmlns:a16="http://schemas.microsoft.com/office/drawing/2014/main" val="1521990520"/>
                    </a:ext>
                  </a:extLst>
                </a:gridCol>
                <a:gridCol w="2287633">
                  <a:extLst>
                    <a:ext uri="{9D8B030D-6E8A-4147-A177-3AD203B41FA5}">
                      <a16:colId xmlns:a16="http://schemas.microsoft.com/office/drawing/2014/main" val="88366294"/>
                    </a:ext>
                  </a:extLst>
                </a:gridCol>
              </a:tblGrid>
              <a:tr h="0">
                <a:tc>
                  <a:txBody>
                    <a:bodyPr/>
                    <a:lstStyle/>
                    <a:p>
                      <a:pPr>
                        <a:buNone/>
                      </a:pPr>
                      <a:r>
                        <a:rPr lang="en-IN" sz="2400" dirty="0"/>
                        <a:t>Student</a:t>
                      </a:r>
                    </a:p>
                  </a:txBody>
                  <a:tcPr anchor="ctr">
                    <a:lnL>
                      <a:noFill/>
                    </a:lnL>
                    <a:lnR>
                      <a:noFill/>
                    </a:lnR>
                    <a:lnT>
                      <a:noFill/>
                    </a:lnT>
                    <a:lnB>
                      <a:noFill/>
                    </a:lnB>
                    <a:noFill/>
                  </a:tcPr>
                </a:tc>
                <a:tc>
                  <a:txBody>
                    <a:bodyPr/>
                    <a:lstStyle/>
                    <a:p>
                      <a:pPr>
                        <a:buNone/>
                      </a:pPr>
                      <a:r>
                        <a:rPr lang="en-IN" sz="2400"/>
                        <a:t>Study Hours</a:t>
                      </a:r>
                    </a:p>
                  </a:txBody>
                  <a:tcPr anchor="ctr">
                    <a:lnL>
                      <a:noFill/>
                    </a:lnL>
                    <a:lnR>
                      <a:noFill/>
                    </a:lnR>
                    <a:lnT>
                      <a:noFill/>
                    </a:lnT>
                    <a:lnB>
                      <a:noFill/>
                    </a:lnB>
                    <a:noFill/>
                  </a:tcPr>
                </a:tc>
                <a:tc>
                  <a:txBody>
                    <a:bodyPr/>
                    <a:lstStyle/>
                    <a:p>
                      <a:pPr>
                        <a:buNone/>
                      </a:pPr>
                      <a:r>
                        <a:rPr lang="en-IN" sz="2400" dirty="0"/>
                        <a:t>Attendance</a:t>
                      </a:r>
                    </a:p>
                  </a:txBody>
                  <a:tcPr anchor="ctr">
                    <a:lnL>
                      <a:noFill/>
                    </a:lnL>
                    <a:lnR>
                      <a:noFill/>
                    </a:lnR>
                    <a:lnT>
                      <a:noFill/>
                    </a:lnT>
                    <a:lnB>
                      <a:noFill/>
                    </a:lnB>
                    <a:noFill/>
                  </a:tcPr>
                </a:tc>
                <a:tc>
                  <a:txBody>
                    <a:bodyPr/>
                    <a:lstStyle/>
                    <a:p>
                      <a:pPr>
                        <a:buNone/>
                      </a:pPr>
                      <a:r>
                        <a:rPr lang="en-IN" sz="2400" dirty="0"/>
                        <a:t>Pass (y)</a:t>
                      </a:r>
                    </a:p>
                  </a:txBody>
                  <a:tcPr anchor="ctr">
                    <a:lnL>
                      <a:noFill/>
                    </a:lnL>
                    <a:lnR>
                      <a:noFill/>
                    </a:lnR>
                    <a:lnT>
                      <a:noFill/>
                    </a:lnT>
                    <a:lnB>
                      <a:noFill/>
                    </a:lnB>
                    <a:noFill/>
                  </a:tcPr>
                </a:tc>
                <a:extLst>
                  <a:ext uri="{0D108BD9-81ED-4DB2-BD59-A6C34878D82A}">
                    <a16:rowId xmlns:a16="http://schemas.microsoft.com/office/drawing/2014/main" val="2829675032"/>
                  </a:ext>
                </a:extLst>
              </a:tr>
              <a:tr h="0">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2</a:t>
                      </a:r>
                    </a:p>
                  </a:txBody>
                  <a:tcPr anchor="ctr">
                    <a:lnL>
                      <a:noFill/>
                    </a:lnL>
                    <a:lnR>
                      <a:noFill/>
                    </a:lnR>
                    <a:lnT>
                      <a:noFill/>
                    </a:lnT>
                    <a:lnB>
                      <a:noFill/>
                    </a:lnB>
                    <a:noFill/>
                  </a:tcPr>
                </a:tc>
                <a:tc>
                  <a:txBody>
                    <a:bodyPr/>
                    <a:lstStyle/>
                    <a:p>
                      <a:pPr>
                        <a:buNone/>
                      </a:pPr>
                      <a:r>
                        <a:rPr lang="en-IN" sz="2400"/>
                        <a:t>60</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extLst>
                  <a:ext uri="{0D108BD9-81ED-4DB2-BD59-A6C34878D82A}">
                    <a16:rowId xmlns:a16="http://schemas.microsoft.com/office/drawing/2014/main" val="2558696705"/>
                  </a:ext>
                </a:extLst>
              </a:tr>
              <a:tr h="0">
                <a:tc>
                  <a:txBody>
                    <a:bodyPr/>
                    <a:lstStyle/>
                    <a:p>
                      <a:pPr>
                        <a:buNone/>
                      </a:pPr>
                      <a:r>
                        <a:rPr lang="en-IN" sz="2400" dirty="0"/>
                        <a:t>2</a:t>
                      </a:r>
                    </a:p>
                  </a:txBody>
                  <a:tcPr anchor="ctr">
                    <a:lnL>
                      <a:noFill/>
                    </a:lnL>
                    <a:lnR>
                      <a:noFill/>
                    </a:lnR>
                    <a:lnT>
                      <a:noFill/>
                    </a:lnT>
                    <a:lnB>
                      <a:noFill/>
                    </a:lnB>
                    <a:noFill/>
                  </a:tcPr>
                </a:tc>
                <a:tc>
                  <a:txBody>
                    <a:bodyPr/>
                    <a:lstStyle/>
                    <a:p>
                      <a:pPr>
                        <a:buNone/>
                      </a:pPr>
                      <a:r>
                        <a:rPr lang="en-IN" sz="2400" dirty="0"/>
                        <a:t>3</a:t>
                      </a:r>
                    </a:p>
                  </a:txBody>
                  <a:tcPr anchor="ctr">
                    <a:lnL>
                      <a:noFill/>
                    </a:lnL>
                    <a:lnR>
                      <a:noFill/>
                    </a:lnR>
                    <a:lnT>
                      <a:noFill/>
                    </a:lnT>
                    <a:lnB>
                      <a:noFill/>
                    </a:lnB>
                    <a:noFill/>
                  </a:tcPr>
                </a:tc>
                <a:tc>
                  <a:txBody>
                    <a:bodyPr/>
                    <a:lstStyle/>
                    <a:p>
                      <a:pPr>
                        <a:buNone/>
                      </a:pPr>
                      <a:r>
                        <a:rPr lang="en-IN" sz="2400"/>
                        <a:t>65</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extLst>
                  <a:ext uri="{0D108BD9-81ED-4DB2-BD59-A6C34878D82A}">
                    <a16:rowId xmlns:a16="http://schemas.microsoft.com/office/drawing/2014/main" val="1367800011"/>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dirty="0"/>
                        <a:t>5</a:t>
                      </a:r>
                    </a:p>
                  </a:txBody>
                  <a:tcPr anchor="ctr">
                    <a:lnL>
                      <a:noFill/>
                    </a:lnL>
                    <a:lnR>
                      <a:noFill/>
                    </a:lnR>
                    <a:lnT>
                      <a:noFill/>
                    </a:lnT>
                    <a:lnB>
                      <a:noFill/>
                    </a:lnB>
                    <a:noFill/>
                  </a:tcPr>
                </a:tc>
                <a:tc>
                  <a:txBody>
                    <a:bodyPr/>
                    <a:lstStyle/>
                    <a:p>
                      <a:pPr>
                        <a:buNone/>
                      </a:pPr>
                      <a:r>
                        <a:rPr lang="en-IN" sz="2400"/>
                        <a:t>70</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1475721512"/>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6</a:t>
                      </a:r>
                    </a:p>
                  </a:txBody>
                  <a:tcPr anchor="ctr">
                    <a:lnL>
                      <a:noFill/>
                    </a:lnL>
                    <a:lnR>
                      <a:noFill/>
                    </a:lnR>
                    <a:lnT>
                      <a:noFill/>
                    </a:lnT>
                    <a:lnB>
                      <a:noFill/>
                    </a:lnB>
                    <a:noFill/>
                  </a:tcPr>
                </a:tc>
                <a:tc>
                  <a:txBody>
                    <a:bodyPr/>
                    <a:lstStyle/>
                    <a:p>
                      <a:pPr>
                        <a:buNone/>
                      </a:pPr>
                      <a:r>
                        <a:rPr lang="en-IN" sz="2400" dirty="0"/>
                        <a:t>80</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extLst>
                  <a:ext uri="{0D108BD9-81ED-4DB2-BD59-A6C34878D82A}">
                    <a16:rowId xmlns:a16="http://schemas.microsoft.com/office/drawing/2014/main" val="4221003113"/>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a:t>7</a:t>
                      </a:r>
                    </a:p>
                  </a:txBody>
                  <a:tcPr anchor="ctr">
                    <a:lnL>
                      <a:noFill/>
                    </a:lnL>
                    <a:lnR>
                      <a:noFill/>
                    </a:lnR>
                    <a:lnT>
                      <a:noFill/>
                    </a:lnT>
                    <a:lnB>
                      <a:noFill/>
                    </a:lnB>
                    <a:noFill/>
                  </a:tcPr>
                </a:tc>
                <a:tc>
                  <a:txBody>
                    <a:bodyPr/>
                    <a:lstStyle/>
                    <a:p>
                      <a:pPr>
                        <a:buNone/>
                      </a:pPr>
                      <a:r>
                        <a:rPr lang="en-IN" sz="2400" dirty="0"/>
                        <a:t>85</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1043357718"/>
                  </a:ext>
                </a:extLst>
              </a:tr>
            </a:tbl>
          </a:graphicData>
        </a:graphic>
      </p:graphicFrame>
      <p:sp>
        <p:nvSpPr>
          <p:cNvPr id="8" name="TextBox 7">
            <a:extLst>
              <a:ext uri="{FF2B5EF4-FFF2-40B4-BE49-F238E27FC236}">
                <a16:creationId xmlns:a16="http://schemas.microsoft.com/office/drawing/2014/main" id="{41E05BE1-2D09-3187-3B6E-0D9C8F697743}"/>
              </a:ext>
            </a:extLst>
          </p:cNvPr>
          <p:cNvSpPr txBox="1"/>
          <p:nvPr/>
        </p:nvSpPr>
        <p:spPr>
          <a:xfrm>
            <a:off x="778412" y="4315340"/>
            <a:ext cx="7106194" cy="2000548"/>
          </a:xfrm>
          <a:prstGeom prst="rect">
            <a:avLst/>
          </a:prstGeom>
          <a:noFill/>
        </p:spPr>
        <p:txBody>
          <a:bodyPr wrap="square">
            <a:spAutoFit/>
          </a:bodyPr>
          <a:lstStyle/>
          <a:p>
            <a:pPr>
              <a:buNone/>
            </a:pPr>
            <a:r>
              <a:rPr lang="en-US" sz="2800" b="1" dirty="0">
                <a:solidFill>
                  <a:srgbClr val="FF0000"/>
                </a:solidFill>
              </a:rPr>
              <a:t>Step 1 — Train Base Models</a:t>
            </a:r>
          </a:p>
          <a:p>
            <a:pPr>
              <a:buNone/>
            </a:pPr>
            <a:r>
              <a:rPr lang="en-US" sz="2400" dirty="0"/>
              <a:t>We train three models:</a:t>
            </a:r>
          </a:p>
          <a:p>
            <a:pPr marL="342900" indent="-342900">
              <a:buFont typeface="Arial" panose="020B0604020202020204" pitchFamily="34" charset="0"/>
              <a:buChar char="•"/>
            </a:pPr>
            <a:r>
              <a:rPr lang="en-US" sz="2400" b="1" dirty="0"/>
              <a:t>Decision Tree</a:t>
            </a:r>
            <a:endParaRPr lang="en-US" sz="2400" dirty="0"/>
          </a:p>
          <a:p>
            <a:pPr marL="342900" indent="-342900">
              <a:buFont typeface="Arial" panose="020B0604020202020204" pitchFamily="34" charset="0"/>
              <a:buChar char="•"/>
            </a:pPr>
            <a:r>
              <a:rPr lang="en-US" sz="2400" b="1" dirty="0"/>
              <a:t>SVM</a:t>
            </a:r>
            <a:endParaRPr lang="en-US" sz="2400" dirty="0"/>
          </a:p>
          <a:p>
            <a:pPr marL="342900" indent="-342900">
              <a:buFont typeface="Arial" panose="020B0604020202020204" pitchFamily="34" charset="0"/>
              <a:buChar char="•"/>
            </a:pPr>
            <a:r>
              <a:rPr lang="en-US" sz="2400" b="1" dirty="0"/>
              <a:t>Logistic Regression</a:t>
            </a:r>
            <a:endParaRPr lang="en-US" sz="2400" dirty="0"/>
          </a:p>
        </p:txBody>
      </p:sp>
    </p:spTree>
    <p:extLst>
      <p:ext uri="{BB962C8B-B14F-4D97-AF65-F5344CB8AC3E}">
        <p14:creationId xmlns:p14="http://schemas.microsoft.com/office/powerpoint/2010/main" val="27865442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ED3E9BE-7424-EA92-9F98-F92AABCE7BAC}"/>
              </a:ext>
            </a:extLst>
          </p:cNvPr>
          <p:cNvSpPr txBox="1"/>
          <p:nvPr/>
        </p:nvSpPr>
        <p:spPr>
          <a:xfrm>
            <a:off x="783772" y="478023"/>
            <a:ext cx="7872548" cy="954107"/>
          </a:xfrm>
          <a:prstGeom prst="rect">
            <a:avLst/>
          </a:prstGeom>
          <a:noFill/>
        </p:spPr>
        <p:txBody>
          <a:bodyPr wrap="square">
            <a:spAutoFit/>
          </a:bodyPr>
          <a:lstStyle/>
          <a:p>
            <a:pPr>
              <a:buNone/>
            </a:pPr>
            <a:r>
              <a:rPr lang="en-US" sz="2800" b="1" dirty="0">
                <a:solidFill>
                  <a:srgbClr val="FF0000"/>
                </a:solidFill>
              </a:rPr>
              <a:t>Step 2 — Base Model Predictions</a:t>
            </a:r>
          </a:p>
          <a:p>
            <a:pPr>
              <a:buNone/>
            </a:pPr>
            <a:r>
              <a:rPr lang="en-US" sz="2800" dirty="0"/>
              <a:t>After training, each model predicts outcomes.</a:t>
            </a:r>
          </a:p>
        </p:txBody>
      </p:sp>
      <p:graphicFrame>
        <p:nvGraphicFramePr>
          <p:cNvPr id="6" name="Table 5">
            <a:extLst>
              <a:ext uri="{FF2B5EF4-FFF2-40B4-BE49-F238E27FC236}">
                <a16:creationId xmlns:a16="http://schemas.microsoft.com/office/drawing/2014/main" id="{3F6E4CE7-19FE-9400-12B4-DA63529DA045}"/>
              </a:ext>
            </a:extLst>
          </p:cNvPr>
          <p:cNvGraphicFramePr>
            <a:graphicFrameLocks noGrp="1"/>
          </p:cNvGraphicFramePr>
          <p:nvPr>
            <p:extLst>
              <p:ext uri="{D42A27DB-BD31-4B8C-83A1-F6EECF244321}">
                <p14:modId xmlns:p14="http://schemas.microsoft.com/office/powerpoint/2010/main" val="1966972842"/>
              </p:ext>
            </p:extLst>
          </p:nvPr>
        </p:nvGraphicFramePr>
        <p:xfrm>
          <a:off x="716280" y="1702231"/>
          <a:ext cx="7717535" cy="2743200"/>
        </p:xfrm>
        <a:graphic>
          <a:graphicData uri="http://schemas.openxmlformats.org/drawingml/2006/table">
            <a:tbl>
              <a:tblPr/>
              <a:tblGrid>
                <a:gridCol w="1543507">
                  <a:extLst>
                    <a:ext uri="{9D8B030D-6E8A-4147-A177-3AD203B41FA5}">
                      <a16:colId xmlns:a16="http://schemas.microsoft.com/office/drawing/2014/main" val="128265977"/>
                    </a:ext>
                  </a:extLst>
                </a:gridCol>
                <a:gridCol w="1543507">
                  <a:extLst>
                    <a:ext uri="{9D8B030D-6E8A-4147-A177-3AD203B41FA5}">
                      <a16:colId xmlns:a16="http://schemas.microsoft.com/office/drawing/2014/main" val="2489830733"/>
                    </a:ext>
                  </a:extLst>
                </a:gridCol>
                <a:gridCol w="1543507">
                  <a:extLst>
                    <a:ext uri="{9D8B030D-6E8A-4147-A177-3AD203B41FA5}">
                      <a16:colId xmlns:a16="http://schemas.microsoft.com/office/drawing/2014/main" val="3827506017"/>
                    </a:ext>
                  </a:extLst>
                </a:gridCol>
                <a:gridCol w="1543507">
                  <a:extLst>
                    <a:ext uri="{9D8B030D-6E8A-4147-A177-3AD203B41FA5}">
                      <a16:colId xmlns:a16="http://schemas.microsoft.com/office/drawing/2014/main" val="2633133265"/>
                    </a:ext>
                  </a:extLst>
                </a:gridCol>
                <a:gridCol w="1543507">
                  <a:extLst>
                    <a:ext uri="{9D8B030D-6E8A-4147-A177-3AD203B41FA5}">
                      <a16:colId xmlns:a16="http://schemas.microsoft.com/office/drawing/2014/main" val="4197572162"/>
                    </a:ext>
                  </a:extLst>
                </a:gridCol>
              </a:tblGrid>
              <a:tr h="0">
                <a:tc>
                  <a:txBody>
                    <a:bodyPr/>
                    <a:lstStyle/>
                    <a:p>
                      <a:pPr>
                        <a:buNone/>
                      </a:pPr>
                      <a:r>
                        <a:rPr lang="en-IN" sz="2400" b="1" dirty="0"/>
                        <a:t>Student</a:t>
                      </a:r>
                    </a:p>
                  </a:txBody>
                  <a:tcPr anchor="ctr">
                    <a:lnL>
                      <a:noFill/>
                    </a:lnL>
                    <a:lnR>
                      <a:noFill/>
                    </a:lnR>
                    <a:lnT>
                      <a:noFill/>
                    </a:lnT>
                    <a:lnB>
                      <a:noFill/>
                    </a:lnB>
                    <a:noFill/>
                  </a:tcPr>
                </a:tc>
                <a:tc>
                  <a:txBody>
                    <a:bodyPr/>
                    <a:lstStyle/>
                    <a:p>
                      <a:pPr>
                        <a:buNone/>
                      </a:pPr>
                      <a:r>
                        <a:rPr lang="en-IN" sz="2400" b="1" dirty="0"/>
                        <a:t>Tree</a:t>
                      </a:r>
                    </a:p>
                  </a:txBody>
                  <a:tcPr anchor="ctr">
                    <a:lnL>
                      <a:noFill/>
                    </a:lnL>
                    <a:lnR>
                      <a:noFill/>
                    </a:lnR>
                    <a:lnT>
                      <a:noFill/>
                    </a:lnT>
                    <a:lnB>
                      <a:noFill/>
                    </a:lnB>
                    <a:noFill/>
                  </a:tcPr>
                </a:tc>
                <a:tc>
                  <a:txBody>
                    <a:bodyPr/>
                    <a:lstStyle/>
                    <a:p>
                      <a:pPr>
                        <a:buNone/>
                      </a:pPr>
                      <a:r>
                        <a:rPr lang="en-IN" sz="2400" b="1" dirty="0"/>
                        <a:t>SVM</a:t>
                      </a:r>
                    </a:p>
                  </a:txBody>
                  <a:tcPr anchor="ctr">
                    <a:lnL>
                      <a:noFill/>
                    </a:lnL>
                    <a:lnR>
                      <a:noFill/>
                    </a:lnR>
                    <a:lnT>
                      <a:noFill/>
                    </a:lnT>
                    <a:lnB>
                      <a:noFill/>
                    </a:lnB>
                    <a:noFill/>
                  </a:tcPr>
                </a:tc>
                <a:tc>
                  <a:txBody>
                    <a:bodyPr/>
                    <a:lstStyle/>
                    <a:p>
                      <a:pPr>
                        <a:buNone/>
                      </a:pPr>
                      <a:r>
                        <a:rPr lang="en-IN" sz="2400" b="1" dirty="0"/>
                        <a:t>Logistic</a:t>
                      </a:r>
                    </a:p>
                  </a:txBody>
                  <a:tcPr anchor="ctr">
                    <a:lnL>
                      <a:noFill/>
                    </a:lnL>
                    <a:lnR>
                      <a:noFill/>
                    </a:lnR>
                    <a:lnT>
                      <a:noFill/>
                    </a:lnT>
                    <a:lnB>
                      <a:noFill/>
                    </a:lnB>
                    <a:noFill/>
                  </a:tcPr>
                </a:tc>
                <a:tc>
                  <a:txBody>
                    <a:bodyPr/>
                    <a:lstStyle/>
                    <a:p>
                      <a:pPr>
                        <a:buNone/>
                      </a:pPr>
                      <a:r>
                        <a:rPr lang="en-IN" sz="2400" b="1" dirty="0"/>
                        <a:t>True y</a:t>
                      </a:r>
                    </a:p>
                  </a:txBody>
                  <a:tcPr anchor="ctr">
                    <a:lnL>
                      <a:noFill/>
                    </a:lnL>
                    <a:lnR>
                      <a:noFill/>
                    </a:lnR>
                    <a:lnT>
                      <a:noFill/>
                    </a:lnT>
                    <a:lnB>
                      <a:noFill/>
                    </a:lnB>
                    <a:noFill/>
                  </a:tcPr>
                </a:tc>
                <a:extLst>
                  <a:ext uri="{0D108BD9-81ED-4DB2-BD59-A6C34878D82A}">
                    <a16:rowId xmlns:a16="http://schemas.microsoft.com/office/drawing/2014/main" val="3111352557"/>
                  </a:ext>
                </a:extLst>
              </a:tr>
              <a:tr h="0">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extLst>
                  <a:ext uri="{0D108BD9-81ED-4DB2-BD59-A6C34878D82A}">
                    <a16:rowId xmlns:a16="http://schemas.microsoft.com/office/drawing/2014/main" val="3588825260"/>
                  </a:ext>
                </a:extLst>
              </a:tr>
              <a:tr h="0">
                <a:tc>
                  <a:txBody>
                    <a:bodyPr/>
                    <a:lstStyle/>
                    <a:p>
                      <a:pPr>
                        <a:buNone/>
                      </a:pPr>
                      <a:r>
                        <a:rPr lang="en-IN" sz="2400"/>
                        <a:t>2</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dirty="0"/>
                        <a:t>0</a:t>
                      </a:r>
                    </a:p>
                  </a:txBody>
                  <a:tcPr anchor="ctr">
                    <a:lnL>
                      <a:noFill/>
                    </a:lnL>
                    <a:lnR>
                      <a:noFill/>
                    </a:lnR>
                    <a:lnT>
                      <a:noFill/>
                    </a:lnT>
                    <a:lnB>
                      <a:noFill/>
                    </a:lnB>
                    <a:noFill/>
                  </a:tcPr>
                </a:tc>
                <a:extLst>
                  <a:ext uri="{0D108BD9-81ED-4DB2-BD59-A6C34878D82A}">
                    <a16:rowId xmlns:a16="http://schemas.microsoft.com/office/drawing/2014/main" val="849199170"/>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1007641962"/>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3085662627"/>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3295584300"/>
                  </a:ext>
                </a:extLst>
              </a:tr>
            </a:tbl>
          </a:graphicData>
        </a:graphic>
      </p:graphicFrame>
      <p:sp>
        <p:nvSpPr>
          <p:cNvPr id="8" name="TextBox 7">
            <a:extLst>
              <a:ext uri="{FF2B5EF4-FFF2-40B4-BE49-F238E27FC236}">
                <a16:creationId xmlns:a16="http://schemas.microsoft.com/office/drawing/2014/main" id="{BE2B38A1-7DB5-74C3-C5AF-B34ACEF2C218}"/>
              </a:ext>
            </a:extLst>
          </p:cNvPr>
          <p:cNvSpPr txBox="1"/>
          <p:nvPr/>
        </p:nvSpPr>
        <p:spPr>
          <a:xfrm>
            <a:off x="1793964" y="4786437"/>
            <a:ext cx="9213670" cy="1384995"/>
          </a:xfrm>
          <a:prstGeom prst="rect">
            <a:avLst/>
          </a:prstGeom>
          <a:noFill/>
        </p:spPr>
        <p:txBody>
          <a:bodyPr wrap="square">
            <a:spAutoFit/>
          </a:bodyPr>
          <a:lstStyle/>
          <a:p>
            <a:pPr marL="457200" indent="-457200">
              <a:buFont typeface="Arial" panose="020B0604020202020204" pitchFamily="34" charset="0"/>
              <a:buChar char="•"/>
            </a:pPr>
            <a:r>
              <a:rPr lang="en-IN" sz="2800" b="1" dirty="0"/>
              <a:t>The above predictions become Meta Dataset for Meta Model</a:t>
            </a:r>
          </a:p>
          <a:p>
            <a:pPr marL="457200" indent="-457200">
              <a:buFont typeface="Arial" panose="020B0604020202020204" pitchFamily="34" charset="0"/>
              <a:buChar char="•"/>
            </a:pPr>
            <a:r>
              <a:rPr lang="en-IN" sz="2800" b="1" dirty="0"/>
              <a:t>Train Meta Model on this new dataset.</a:t>
            </a:r>
          </a:p>
        </p:txBody>
      </p:sp>
    </p:spTree>
    <p:extLst>
      <p:ext uri="{BB962C8B-B14F-4D97-AF65-F5344CB8AC3E}">
        <p14:creationId xmlns:p14="http://schemas.microsoft.com/office/powerpoint/2010/main" val="1914162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2D73DA4-BC99-D052-BA9F-DAA4AC667472}"/>
                  </a:ext>
                </a:extLst>
              </p:cNvPr>
              <p:cNvSpPr txBox="1"/>
              <p:nvPr/>
            </p:nvSpPr>
            <p:spPr>
              <a:xfrm>
                <a:off x="783771" y="330927"/>
                <a:ext cx="10572206" cy="5347490"/>
              </a:xfrm>
              <a:prstGeom prst="rect">
                <a:avLst/>
              </a:prstGeom>
              <a:noFill/>
            </p:spPr>
            <p:txBody>
              <a:bodyPr wrap="square">
                <a:spAutoFit/>
              </a:bodyPr>
              <a:lstStyle/>
              <a:p>
                <a:pPr>
                  <a:buNone/>
                </a:pPr>
                <a:r>
                  <a:rPr lang="en-IN" sz="2800" b="1" dirty="0">
                    <a:solidFill>
                      <a:srgbClr val="FF0000"/>
                    </a:solidFill>
                  </a:rPr>
                  <a:t>Train Meta Model</a:t>
                </a:r>
              </a:p>
              <a:p>
                <a:pPr>
                  <a:buNone/>
                </a:pPr>
                <a:endParaRPr lang="en-IN" sz="2800" b="1" dirty="0">
                  <a:solidFill>
                    <a:srgbClr val="FF0000"/>
                  </a:solidFill>
                </a:endParaRPr>
              </a:p>
              <a:p>
                <a:pPr>
                  <a:buNone/>
                </a:pPr>
                <a:r>
                  <a:rPr lang="en-IN" sz="2400" dirty="0"/>
                  <a:t>Suppose the meta model is </a:t>
                </a:r>
                <a:r>
                  <a:rPr lang="en-IN" sz="2400" b="1" dirty="0"/>
                  <a:t>logistic regression</a:t>
                </a:r>
                <a:r>
                  <a:rPr lang="en-IN" sz="2400" dirty="0"/>
                  <a:t>.</a:t>
                </a:r>
              </a:p>
              <a:p>
                <a:pPr>
                  <a:buNone/>
                </a:pPr>
                <a:r>
                  <a:rPr lang="en-IN" sz="2400" dirty="0"/>
                  <a:t>The model tries to learn</a:t>
                </a:r>
              </a:p>
              <a:p>
                <a:pPr>
                  <a:buNone/>
                </a:pPr>
                <a:endParaRPr lang="en-IN" sz="2400" dirty="0"/>
              </a:p>
              <a:p>
                <a:pPr lvl="5"/>
                <a14:m>
                  <m:oMath xmlns:m="http://schemas.openxmlformats.org/officeDocument/2006/math">
                    <m:r>
                      <a:rPr lang="en-IN" sz="2400" b="1" i="1">
                        <a:latin typeface="Cambria Math" panose="02040503050406030204" pitchFamily="18" charset="0"/>
                      </a:rPr>
                      <m:t>𝒚</m:t>
                    </m:r>
                    <m:r>
                      <a:rPr lang="en-IN" sz="2400" b="1" i="0">
                        <a:latin typeface="Cambria Math" panose="02040503050406030204" pitchFamily="18" charset="0"/>
                      </a:rPr>
                      <m:t>=</m:t>
                    </m:r>
                    <m:r>
                      <a:rPr lang="en-IN" sz="2400" b="1" i="1">
                        <a:latin typeface="Cambria Math" panose="02040503050406030204" pitchFamily="18" charset="0"/>
                      </a:rPr>
                      <m:t>𝒇</m:t>
                    </m:r>
                  </m:oMath>
                </a14:m>
                <a:r>
                  <a:rPr lang="en-IN" sz="2400" b="1" dirty="0"/>
                  <a:t>(Tree, SVM, Logistic)</a:t>
                </a:r>
              </a:p>
              <a:p>
                <a:pPr lvl="5"/>
                <a:endParaRPr lang="ar-AE" sz="2400" b="1" dirty="0"/>
              </a:p>
              <a:p>
                <a:pPr>
                  <a:buNone/>
                </a:pPr>
                <a:r>
                  <a:rPr lang="en-IN" sz="2400" dirty="0"/>
                  <a:t>For logistic regression:</a:t>
                </a:r>
              </a:p>
              <a:p>
                <a:pPr>
                  <a:buNone/>
                </a:pPr>
                <a14:m>
                  <m:oMathPara xmlns:m="http://schemas.openxmlformats.org/officeDocument/2006/math">
                    <m:oMathParaPr>
                      <m:jc m:val="centerGroup"/>
                    </m:oMathParaPr>
                    <m:oMath xmlns:m="http://schemas.openxmlformats.org/officeDocument/2006/math">
                      <m:r>
                        <a:rPr lang="en-IN" sz="2400" b="1" i="1">
                          <a:latin typeface="Cambria Math" panose="02040503050406030204" pitchFamily="18" charset="0"/>
                        </a:rPr>
                        <m:t>𝒛</m:t>
                      </m:r>
                      <m:r>
                        <a:rPr lang="en-IN" sz="2400" b="1" i="0">
                          <a:latin typeface="Cambria Math" panose="02040503050406030204" pitchFamily="18" charset="0"/>
                        </a:rPr>
                        <m:t>=</m:t>
                      </m:r>
                      <m:sSub>
                        <m:sSubPr>
                          <m:ctrlPr>
                            <a:rPr lang="ar-AE" sz="2400" b="1" i="1">
                              <a:latin typeface="Cambria Math" panose="02040503050406030204" pitchFamily="18" charset="0"/>
                            </a:rPr>
                          </m:ctrlPr>
                        </m:sSubPr>
                        <m:e>
                          <m:r>
                            <a:rPr lang="ar-AE" sz="2400" b="1" i="1">
                              <a:latin typeface="Cambria Math" panose="02040503050406030204" pitchFamily="18" charset="0"/>
                            </a:rPr>
                            <m:t>𝒘</m:t>
                          </m:r>
                        </m:e>
                        <m:sub>
                          <m:r>
                            <a:rPr lang="ar-AE" sz="2400" b="1" i="0">
                              <a:latin typeface="Cambria Math" panose="02040503050406030204" pitchFamily="18" charset="0"/>
                            </a:rPr>
                            <m:t>𝟏</m:t>
                          </m:r>
                        </m:sub>
                      </m:sSub>
                      <m:d>
                        <m:dPr>
                          <m:ctrlPr>
                            <a:rPr lang="ar-AE" sz="2400" b="1" i="1">
                              <a:latin typeface="Cambria Math" panose="02040503050406030204" pitchFamily="18" charset="0"/>
                            </a:rPr>
                          </m:ctrlPr>
                        </m:dPr>
                        <m:e>
                          <m:r>
                            <a:rPr lang="ar-AE" sz="2400" b="1" i="1">
                              <a:latin typeface="Cambria Math" panose="02040503050406030204" pitchFamily="18" charset="0"/>
                            </a:rPr>
                            <m:t>𝑻𝒓𝒆𝒆</m:t>
                          </m:r>
                        </m:e>
                      </m:d>
                      <m:r>
                        <a:rPr lang="ar-AE" sz="2400" b="1" i="0">
                          <a:latin typeface="Cambria Math" panose="02040503050406030204" pitchFamily="18" charset="0"/>
                        </a:rPr>
                        <m:t>+</m:t>
                      </m:r>
                      <m:sSub>
                        <m:sSubPr>
                          <m:ctrlPr>
                            <a:rPr lang="ar-AE" sz="2400" b="1" i="1">
                              <a:latin typeface="Cambria Math" panose="02040503050406030204" pitchFamily="18" charset="0"/>
                            </a:rPr>
                          </m:ctrlPr>
                        </m:sSubPr>
                        <m:e>
                          <m:r>
                            <a:rPr lang="ar-AE" sz="2400" b="1" i="1">
                              <a:latin typeface="Cambria Math" panose="02040503050406030204" pitchFamily="18" charset="0"/>
                            </a:rPr>
                            <m:t>𝒘</m:t>
                          </m:r>
                        </m:e>
                        <m:sub>
                          <m:r>
                            <a:rPr lang="ar-AE" sz="2400" b="1" i="0">
                              <a:latin typeface="Cambria Math" panose="02040503050406030204" pitchFamily="18" charset="0"/>
                            </a:rPr>
                            <m:t>𝟐</m:t>
                          </m:r>
                        </m:sub>
                      </m:sSub>
                      <m:d>
                        <m:dPr>
                          <m:ctrlPr>
                            <a:rPr lang="ar-AE" sz="2400" b="1" i="1">
                              <a:latin typeface="Cambria Math" panose="02040503050406030204" pitchFamily="18" charset="0"/>
                            </a:rPr>
                          </m:ctrlPr>
                        </m:dPr>
                        <m:e>
                          <m:r>
                            <a:rPr lang="ar-AE" sz="2400" b="1" i="1">
                              <a:latin typeface="Cambria Math" panose="02040503050406030204" pitchFamily="18" charset="0"/>
                            </a:rPr>
                            <m:t>𝑺𝑽𝑴</m:t>
                          </m:r>
                        </m:e>
                      </m:d>
                      <m:r>
                        <a:rPr lang="ar-AE" sz="2400" b="1" i="0">
                          <a:latin typeface="Cambria Math" panose="02040503050406030204" pitchFamily="18" charset="0"/>
                        </a:rPr>
                        <m:t>+</m:t>
                      </m:r>
                      <m:sSub>
                        <m:sSubPr>
                          <m:ctrlPr>
                            <a:rPr lang="ar-AE" sz="2400" b="1" i="1">
                              <a:latin typeface="Cambria Math" panose="02040503050406030204" pitchFamily="18" charset="0"/>
                            </a:rPr>
                          </m:ctrlPr>
                        </m:sSubPr>
                        <m:e>
                          <m:r>
                            <a:rPr lang="ar-AE" sz="2400" b="1" i="1">
                              <a:latin typeface="Cambria Math" panose="02040503050406030204" pitchFamily="18" charset="0"/>
                            </a:rPr>
                            <m:t>𝒘</m:t>
                          </m:r>
                        </m:e>
                        <m:sub>
                          <m:r>
                            <a:rPr lang="ar-AE" sz="2400" b="1" i="0">
                              <a:latin typeface="Cambria Math" panose="02040503050406030204" pitchFamily="18" charset="0"/>
                            </a:rPr>
                            <m:t>𝟑</m:t>
                          </m:r>
                        </m:sub>
                      </m:sSub>
                      <m:d>
                        <m:dPr>
                          <m:ctrlPr>
                            <a:rPr lang="ar-AE" sz="2400" b="1" i="1">
                              <a:latin typeface="Cambria Math" panose="02040503050406030204" pitchFamily="18" charset="0"/>
                            </a:rPr>
                          </m:ctrlPr>
                        </m:dPr>
                        <m:e>
                          <m:r>
                            <a:rPr lang="ar-AE" sz="2400" b="1" i="1">
                              <a:latin typeface="Cambria Math" panose="02040503050406030204" pitchFamily="18" charset="0"/>
                            </a:rPr>
                            <m:t>𝑳𝒐𝒈𝒊𝒔𝒕𝒊𝒄</m:t>
                          </m:r>
                        </m:e>
                      </m:d>
                      <m:r>
                        <a:rPr lang="ar-AE" sz="2400" b="1" i="0">
                          <a:latin typeface="Cambria Math" panose="02040503050406030204" pitchFamily="18" charset="0"/>
                        </a:rPr>
                        <m:t>+</m:t>
                      </m:r>
                      <m:r>
                        <a:rPr lang="ar-AE" sz="2400" b="1" i="1">
                          <a:latin typeface="Cambria Math" panose="02040503050406030204" pitchFamily="18" charset="0"/>
                        </a:rPr>
                        <m:t>𝒃</m:t>
                      </m:r>
                    </m:oMath>
                  </m:oMathPara>
                </a14:m>
                <a:endParaRPr lang="ar-AE" sz="2400" b="1" dirty="0"/>
              </a:p>
              <a:p>
                <a:pPr>
                  <a:buNone/>
                </a:pPr>
                <a:r>
                  <a:rPr lang="en-IN" sz="2400" dirty="0"/>
                  <a:t>Then</a:t>
                </a:r>
              </a:p>
              <a:p>
                <a:pPr>
                  <a:buNone/>
                </a:pPr>
                <a14:m>
                  <m:oMathPara xmlns:m="http://schemas.openxmlformats.org/officeDocument/2006/math">
                    <m:oMathParaPr>
                      <m:jc m:val="centerGroup"/>
                    </m:oMathParaPr>
                    <m:oMath xmlns:m="http://schemas.openxmlformats.org/officeDocument/2006/math">
                      <m:r>
                        <a:rPr lang="en-IN" sz="2400" i="1">
                          <a:latin typeface="Cambria Math" panose="02040503050406030204" pitchFamily="18" charset="0"/>
                        </a:rPr>
                        <m:t>𝑃</m:t>
                      </m:r>
                      <m:d>
                        <m:dPr>
                          <m:ctrlPr>
                            <a:rPr lang="ar-AE" sz="2400" i="1">
                              <a:latin typeface="Cambria Math" panose="02040503050406030204" pitchFamily="18" charset="0"/>
                            </a:rPr>
                          </m:ctrlPr>
                        </m:dPr>
                        <m:e>
                          <m:r>
                            <a:rPr lang="ar-AE" sz="2400" i="1">
                              <a:latin typeface="Cambria Math" panose="02040503050406030204" pitchFamily="18" charset="0"/>
                            </a:rPr>
                            <m:t>𝑦</m:t>
                          </m:r>
                          <m:r>
                            <a:rPr lang="ar-AE" sz="2400" i="0">
                              <a:latin typeface="Cambria Math" panose="02040503050406030204" pitchFamily="18" charset="0"/>
                            </a:rPr>
                            <m:t>=</m:t>
                          </m:r>
                          <m:r>
                            <a:rPr lang="ar-AE" sz="2400" i="0">
                              <a:latin typeface="Cambria Math" panose="02040503050406030204" pitchFamily="18" charset="0"/>
                            </a:rPr>
                            <m:t>1</m:t>
                          </m:r>
                        </m:e>
                      </m:d>
                      <m:r>
                        <a:rPr lang="ar-AE" sz="2400" i="0">
                          <a:latin typeface="Cambria Math" panose="02040503050406030204" pitchFamily="18" charset="0"/>
                        </a:rPr>
                        <m:t>=</m:t>
                      </m:r>
                      <m:f>
                        <m:fPr>
                          <m:ctrlPr>
                            <a:rPr lang="ar-AE" sz="2400" i="1">
                              <a:latin typeface="Cambria Math" panose="02040503050406030204" pitchFamily="18" charset="0"/>
                            </a:rPr>
                          </m:ctrlPr>
                        </m:fPr>
                        <m:num>
                          <m:r>
                            <a:rPr lang="ar-AE" sz="2400" i="0">
                              <a:latin typeface="Cambria Math" panose="02040503050406030204" pitchFamily="18" charset="0"/>
                            </a:rPr>
                            <m:t>1</m:t>
                          </m:r>
                        </m:num>
                        <m:den>
                          <m:r>
                            <a:rPr lang="ar-AE" sz="2400" i="0">
                              <a:latin typeface="Cambria Math" panose="02040503050406030204" pitchFamily="18" charset="0"/>
                            </a:rPr>
                            <m:t>1</m:t>
                          </m:r>
                          <m:r>
                            <a:rPr lang="ar-AE" sz="2400" i="0">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𝑒</m:t>
                              </m:r>
                            </m:e>
                            <m:sup>
                              <m:r>
                                <a:rPr lang="ar-AE" sz="2400" i="0">
                                  <a:latin typeface="Cambria Math" panose="02040503050406030204" pitchFamily="18" charset="0"/>
                                </a:rPr>
                                <m:t>−</m:t>
                              </m:r>
                              <m:r>
                                <a:rPr lang="ar-AE" sz="2400" i="1">
                                  <a:latin typeface="Cambria Math" panose="02040503050406030204" pitchFamily="18" charset="0"/>
                                </a:rPr>
                                <m:t>𝑧</m:t>
                              </m:r>
                            </m:sup>
                          </m:sSup>
                        </m:den>
                      </m:f>
                    </m:oMath>
                  </m:oMathPara>
                </a14:m>
                <a:endParaRPr lang="en-IN" sz="2400" dirty="0"/>
              </a:p>
              <a:p>
                <a:pPr>
                  <a:buNone/>
                </a:pPr>
                <a:endParaRPr lang="ar-AE" sz="2400" dirty="0"/>
              </a:p>
              <a:p>
                <a:pPr>
                  <a:buNone/>
                </a:pPr>
                <a:r>
                  <a:rPr lang="en-IN" sz="2400" dirty="0"/>
                  <a:t>During training the algorithm learns </a:t>
                </a:r>
                <a:r>
                  <a:rPr lang="en-IN" sz="2400" b="1" dirty="0"/>
                  <a:t>weights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0">
                            <a:latin typeface="Cambria Math" panose="02040503050406030204" pitchFamily="18" charset="0"/>
                          </a:rPr>
                          <m:t>1</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0">
                            <a:latin typeface="Cambria Math" panose="02040503050406030204" pitchFamily="18" charset="0"/>
                          </a:rPr>
                          <m:t>2</m:t>
                        </m:r>
                      </m:sub>
                    </m:sSub>
                    <m:r>
                      <a:rPr lang="ar-AE" sz="2400" i="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0">
                            <a:latin typeface="Cambria Math" panose="02040503050406030204" pitchFamily="18" charset="0"/>
                          </a:rPr>
                          <m:t>3</m:t>
                        </m:r>
                      </m:sub>
                    </m:sSub>
                  </m:oMath>
                </a14:m>
                <a:r>
                  <a:rPr lang="ar-AE" sz="2400" dirty="0"/>
                  <a:t>.</a:t>
                </a:r>
              </a:p>
            </p:txBody>
          </p:sp>
        </mc:Choice>
        <mc:Fallback xmlns="">
          <p:sp>
            <p:nvSpPr>
              <p:cNvPr id="5" name="TextBox 4">
                <a:extLst>
                  <a:ext uri="{FF2B5EF4-FFF2-40B4-BE49-F238E27FC236}">
                    <a16:creationId xmlns:a16="http://schemas.microsoft.com/office/drawing/2014/main" id="{72D73DA4-BC99-D052-BA9F-DAA4AC667472}"/>
                  </a:ext>
                </a:extLst>
              </p:cNvPr>
              <p:cNvSpPr txBox="1">
                <a:spLocks noRot="1" noChangeAspect="1" noMove="1" noResize="1" noEditPoints="1" noAdjustHandles="1" noChangeArrowheads="1" noChangeShapeType="1" noTextEdit="1"/>
              </p:cNvSpPr>
              <p:nvPr/>
            </p:nvSpPr>
            <p:spPr>
              <a:xfrm>
                <a:off x="783771" y="330927"/>
                <a:ext cx="10572206" cy="5347490"/>
              </a:xfrm>
              <a:prstGeom prst="rect">
                <a:avLst/>
              </a:prstGeom>
              <a:blipFill>
                <a:blip r:embed="rId2"/>
                <a:stretch>
                  <a:fillRect l="-1211" t="-1026" b="-1710"/>
                </a:stretch>
              </a:blipFill>
            </p:spPr>
            <p:txBody>
              <a:bodyPr/>
              <a:lstStyle/>
              <a:p>
                <a:r>
                  <a:rPr lang="en-IN">
                    <a:noFill/>
                  </a:rPr>
                  <a:t> </a:t>
                </a:r>
              </a:p>
            </p:txBody>
          </p:sp>
        </mc:Fallback>
      </mc:AlternateContent>
    </p:spTree>
    <p:extLst>
      <p:ext uri="{BB962C8B-B14F-4D97-AF65-F5344CB8AC3E}">
        <p14:creationId xmlns:p14="http://schemas.microsoft.com/office/powerpoint/2010/main" val="2585320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07BDB08-8D64-9719-0002-F620CFC98359}"/>
              </a:ext>
            </a:extLst>
          </p:cNvPr>
          <p:cNvGraphicFramePr>
            <a:graphicFrameLocks noGrp="1"/>
          </p:cNvGraphicFramePr>
          <p:nvPr>
            <p:extLst>
              <p:ext uri="{D42A27DB-BD31-4B8C-83A1-F6EECF244321}">
                <p14:modId xmlns:p14="http://schemas.microsoft.com/office/powerpoint/2010/main" val="3892817527"/>
              </p:ext>
            </p:extLst>
          </p:nvPr>
        </p:nvGraphicFramePr>
        <p:xfrm>
          <a:off x="698863" y="1484516"/>
          <a:ext cx="7104018" cy="914400"/>
        </p:xfrm>
        <a:graphic>
          <a:graphicData uri="http://schemas.openxmlformats.org/drawingml/2006/table">
            <a:tbl>
              <a:tblPr/>
              <a:tblGrid>
                <a:gridCol w="2368006">
                  <a:extLst>
                    <a:ext uri="{9D8B030D-6E8A-4147-A177-3AD203B41FA5}">
                      <a16:colId xmlns:a16="http://schemas.microsoft.com/office/drawing/2014/main" val="1255915956"/>
                    </a:ext>
                  </a:extLst>
                </a:gridCol>
                <a:gridCol w="2368006">
                  <a:extLst>
                    <a:ext uri="{9D8B030D-6E8A-4147-A177-3AD203B41FA5}">
                      <a16:colId xmlns:a16="http://schemas.microsoft.com/office/drawing/2014/main" val="866179521"/>
                    </a:ext>
                  </a:extLst>
                </a:gridCol>
                <a:gridCol w="2368006">
                  <a:extLst>
                    <a:ext uri="{9D8B030D-6E8A-4147-A177-3AD203B41FA5}">
                      <a16:colId xmlns:a16="http://schemas.microsoft.com/office/drawing/2014/main" val="3927400287"/>
                    </a:ext>
                  </a:extLst>
                </a:gridCol>
              </a:tblGrid>
              <a:tr h="0">
                <a:tc>
                  <a:txBody>
                    <a:bodyPr/>
                    <a:lstStyle/>
                    <a:p>
                      <a:pPr>
                        <a:buNone/>
                      </a:pPr>
                      <a:r>
                        <a:rPr lang="en-IN" sz="2400"/>
                        <a:t>Tree</a:t>
                      </a:r>
                    </a:p>
                  </a:txBody>
                  <a:tcPr anchor="ctr">
                    <a:lnL>
                      <a:noFill/>
                    </a:lnL>
                    <a:lnR>
                      <a:noFill/>
                    </a:lnR>
                    <a:lnT>
                      <a:noFill/>
                    </a:lnT>
                    <a:lnB>
                      <a:noFill/>
                    </a:lnB>
                    <a:noFill/>
                  </a:tcPr>
                </a:tc>
                <a:tc>
                  <a:txBody>
                    <a:bodyPr/>
                    <a:lstStyle/>
                    <a:p>
                      <a:pPr>
                        <a:buNone/>
                      </a:pPr>
                      <a:r>
                        <a:rPr lang="en-IN" sz="2400" dirty="0"/>
                        <a:t>SVM</a:t>
                      </a:r>
                    </a:p>
                  </a:txBody>
                  <a:tcPr anchor="ctr">
                    <a:lnL>
                      <a:noFill/>
                    </a:lnL>
                    <a:lnR>
                      <a:noFill/>
                    </a:lnR>
                    <a:lnT>
                      <a:noFill/>
                    </a:lnT>
                    <a:lnB>
                      <a:noFill/>
                    </a:lnB>
                    <a:noFill/>
                  </a:tcPr>
                </a:tc>
                <a:tc>
                  <a:txBody>
                    <a:bodyPr/>
                    <a:lstStyle/>
                    <a:p>
                      <a:pPr>
                        <a:buNone/>
                      </a:pPr>
                      <a:r>
                        <a:rPr lang="en-IN" sz="2400" dirty="0"/>
                        <a:t>Logistic</a:t>
                      </a:r>
                    </a:p>
                  </a:txBody>
                  <a:tcPr anchor="ctr">
                    <a:lnL>
                      <a:noFill/>
                    </a:lnL>
                    <a:lnR>
                      <a:noFill/>
                    </a:lnR>
                    <a:lnT>
                      <a:noFill/>
                    </a:lnT>
                    <a:lnB>
                      <a:noFill/>
                    </a:lnB>
                    <a:noFill/>
                  </a:tcPr>
                </a:tc>
                <a:extLst>
                  <a:ext uri="{0D108BD9-81ED-4DB2-BD59-A6C34878D82A}">
                    <a16:rowId xmlns:a16="http://schemas.microsoft.com/office/drawing/2014/main" val="246673090"/>
                  </a:ext>
                </a:extLst>
              </a:tr>
              <a:tr h="0">
                <a:tc>
                  <a:txBody>
                    <a:bodyPr/>
                    <a:lstStyle/>
                    <a:p>
                      <a:pPr>
                        <a:buNone/>
                      </a:pPr>
                      <a:r>
                        <a:rPr lang="en-IN" sz="2400"/>
                        <a:t>1</a:t>
                      </a:r>
                    </a:p>
                  </a:txBody>
                  <a:tcPr anchor="ctr">
                    <a:lnL>
                      <a:noFill/>
                    </a:lnL>
                    <a:lnR>
                      <a:noFill/>
                    </a:lnR>
                    <a:lnT>
                      <a:noFill/>
                    </a:lnT>
                    <a:lnB>
                      <a:noFill/>
                    </a:lnB>
                    <a:noFill/>
                  </a:tcPr>
                </a:tc>
                <a:tc>
                  <a:txBody>
                    <a:bodyPr/>
                    <a:lstStyle/>
                    <a:p>
                      <a:pPr>
                        <a:buNone/>
                      </a:pPr>
                      <a:r>
                        <a:rPr lang="en-IN" sz="2400"/>
                        <a:t>0</a:t>
                      </a:r>
                    </a:p>
                  </a:txBody>
                  <a:tcPr anchor="ctr">
                    <a:lnL>
                      <a:noFill/>
                    </a:lnL>
                    <a:lnR>
                      <a:noFill/>
                    </a:lnR>
                    <a:lnT>
                      <a:noFill/>
                    </a:lnT>
                    <a:lnB>
                      <a:noFill/>
                    </a:lnB>
                    <a:noFill/>
                  </a:tcPr>
                </a:tc>
                <a:tc>
                  <a:txBody>
                    <a:bodyPr/>
                    <a:lstStyle/>
                    <a:p>
                      <a:pPr>
                        <a:buNone/>
                      </a:pPr>
                      <a:r>
                        <a:rPr lang="en-IN" sz="2400" dirty="0"/>
                        <a:t>1</a:t>
                      </a:r>
                    </a:p>
                  </a:txBody>
                  <a:tcPr anchor="ctr">
                    <a:lnL>
                      <a:noFill/>
                    </a:lnL>
                    <a:lnR>
                      <a:noFill/>
                    </a:lnR>
                    <a:lnT>
                      <a:noFill/>
                    </a:lnT>
                    <a:lnB>
                      <a:noFill/>
                    </a:lnB>
                    <a:noFill/>
                  </a:tcPr>
                </a:tc>
                <a:extLst>
                  <a:ext uri="{0D108BD9-81ED-4DB2-BD59-A6C34878D82A}">
                    <a16:rowId xmlns:a16="http://schemas.microsoft.com/office/drawing/2014/main" val="1171351594"/>
                  </a:ext>
                </a:extLst>
              </a:tr>
            </a:tbl>
          </a:graphicData>
        </a:graphic>
      </p:graphicFrame>
      <p:sp>
        <p:nvSpPr>
          <p:cNvPr id="9" name="TextBox 8">
            <a:extLst>
              <a:ext uri="{FF2B5EF4-FFF2-40B4-BE49-F238E27FC236}">
                <a16:creationId xmlns:a16="http://schemas.microsoft.com/office/drawing/2014/main" id="{64A00AFA-C0E0-D132-78A0-2A1FC28677D0}"/>
              </a:ext>
            </a:extLst>
          </p:cNvPr>
          <p:cNvSpPr txBox="1"/>
          <p:nvPr/>
        </p:nvSpPr>
        <p:spPr>
          <a:xfrm>
            <a:off x="618309" y="478024"/>
            <a:ext cx="6096000" cy="892552"/>
          </a:xfrm>
          <a:prstGeom prst="rect">
            <a:avLst/>
          </a:prstGeom>
          <a:noFill/>
        </p:spPr>
        <p:txBody>
          <a:bodyPr wrap="square">
            <a:spAutoFit/>
          </a:bodyPr>
          <a:lstStyle/>
          <a:p>
            <a:pPr>
              <a:buNone/>
            </a:pPr>
            <a:r>
              <a:rPr lang="en-US" sz="2800" b="1" dirty="0">
                <a:solidFill>
                  <a:srgbClr val="FF0000"/>
                </a:solidFill>
              </a:rPr>
              <a:t>Final Prediction</a:t>
            </a:r>
          </a:p>
          <a:p>
            <a:pPr>
              <a:buNone/>
            </a:pPr>
            <a:r>
              <a:rPr lang="en-US" sz="2400" dirty="0"/>
              <a:t>New data point predictions: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792A9180-662D-C5F7-7156-DF90210B4C1E}"/>
                  </a:ext>
                </a:extLst>
              </p:cNvPr>
              <p:cNvSpPr txBox="1"/>
              <p:nvPr/>
            </p:nvSpPr>
            <p:spPr>
              <a:xfrm>
                <a:off x="618309" y="2896104"/>
                <a:ext cx="7811587" cy="3539430"/>
              </a:xfrm>
              <a:prstGeom prst="rect">
                <a:avLst/>
              </a:prstGeom>
              <a:noFill/>
              <a:ln>
                <a:solidFill>
                  <a:schemeClr val="accent1"/>
                </a:solidFill>
              </a:ln>
            </p:spPr>
            <p:txBody>
              <a:bodyPr wrap="square">
                <a:spAutoFit/>
              </a:bodyPr>
              <a:lstStyle/>
              <a:p>
                <a:pPr>
                  <a:buNone/>
                </a:pPr>
                <a:r>
                  <a:rPr lang="en-IN" sz="2800" dirty="0"/>
                  <a:t>Meta model computes</a:t>
                </a:r>
              </a:p>
              <a:p>
                <a:pPr>
                  <a:buNone/>
                </a:pPr>
                <a:endParaRPr lang="en-IN" sz="2800" dirty="0"/>
              </a:p>
              <a:p>
                <a:pPr>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𝑧</m:t>
                      </m:r>
                      <m:r>
                        <a:rPr lang="en-IN" sz="2800" i="0">
                          <a:latin typeface="Cambria Math" panose="02040503050406030204" pitchFamily="18" charset="0"/>
                        </a:rPr>
                        <m:t>=</m:t>
                      </m:r>
                      <m:r>
                        <a:rPr lang="en-IN" sz="2800" i="0">
                          <a:latin typeface="Cambria Math" panose="02040503050406030204" pitchFamily="18" charset="0"/>
                        </a:rPr>
                        <m:t>0</m:t>
                      </m:r>
                      <m:r>
                        <a:rPr lang="en-IN" sz="2800" i="0">
                          <a:latin typeface="Cambria Math" panose="02040503050406030204" pitchFamily="18" charset="0"/>
                        </a:rPr>
                        <m:t>.</m:t>
                      </m:r>
                      <m:r>
                        <a:rPr lang="en-IN" sz="2800" i="0">
                          <a:latin typeface="Cambria Math" panose="02040503050406030204" pitchFamily="18" charset="0"/>
                        </a:rPr>
                        <m:t>7</m:t>
                      </m:r>
                      <m:d>
                        <m:dPr>
                          <m:ctrlPr>
                            <a:rPr lang="ar-AE" sz="2800" i="1">
                              <a:latin typeface="Cambria Math" panose="02040503050406030204" pitchFamily="18" charset="0"/>
                            </a:rPr>
                          </m:ctrlPr>
                        </m:dPr>
                        <m:e>
                          <m:r>
                            <a:rPr lang="ar-AE" sz="2800" i="0">
                              <a:latin typeface="Cambria Math" panose="02040503050406030204" pitchFamily="18" charset="0"/>
                            </a:rPr>
                            <m:t>1</m:t>
                          </m:r>
                        </m:e>
                      </m:d>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2</m:t>
                      </m:r>
                      <m:d>
                        <m:dPr>
                          <m:ctrlPr>
                            <a:rPr lang="ar-AE" sz="2800" i="1">
                              <a:latin typeface="Cambria Math" panose="02040503050406030204" pitchFamily="18" charset="0"/>
                            </a:rPr>
                          </m:ctrlPr>
                        </m:dPr>
                        <m:e>
                          <m:r>
                            <a:rPr lang="ar-AE" sz="2800" i="0">
                              <a:latin typeface="Cambria Math" panose="02040503050406030204" pitchFamily="18" charset="0"/>
                            </a:rPr>
                            <m:t>0</m:t>
                          </m:r>
                        </m:e>
                      </m:d>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6</m:t>
                      </m:r>
                      <m:d>
                        <m:dPr>
                          <m:ctrlPr>
                            <a:rPr lang="ar-AE" sz="2800" i="1">
                              <a:latin typeface="Cambria Math" panose="02040503050406030204" pitchFamily="18" charset="0"/>
                            </a:rPr>
                          </m:ctrlPr>
                        </m:dPr>
                        <m:e>
                          <m:r>
                            <a:rPr lang="ar-AE" sz="2800" i="0">
                              <a:latin typeface="Cambria Math" panose="02040503050406030204" pitchFamily="18" charset="0"/>
                            </a:rPr>
                            <m:t>1</m:t>
                          </m:r>
                        </m:e>
                      </m:d>
                    </m:oMath>
                  </m:oMathPara>
                </a14:m>
                <a:endParaRPr lang="en-IN" sz="2800" dirty="0"/>
              </a:p>
              <a:p>
                <a:pPr>
                  <a:buNone/>
                </a:pPr>
                <a:endParaRPr lang="ar-AE" sz="2800" dirty="0"/>
              </a:p>
              <a:p>
                <a:pPr>
                  <a:buNone/>
                </a:pPr>
                <a14:m>
                  <m:oMathPara xmlns:m="http://schemas.openxmlformats.org/officeDocument/2006/math">
                    <m:oMathParaPr>
                      <m:jc m:val="centerGroup"/>
                    </m:oMathParaPr>
                    <m:oMath xmlns:m="http://schemas.openxmlformats.org/officeDocument/2006/math">
                      <m:r>
                        <a:rPr lang="ar-AE" sz="2800" i="1">
                          <a:latin typeface="Cambria Math" panose="02040503050406030204" pitchFamily="18" charset="0"/>
                        </a:rPr>
                        <m:t>𝑧</m:t>
                      </m:r>
                      <m:r>
                        <a:rPr lang="ar-AE" sz="2800" i="0">
                          <a:latin typeface="Cambria Math" panose="02040503050406030204" pitchFamily="18" charset="0"/>
                        </a:rPr>
                        <m:t>=</m:t>
                      </m:r>
                      <m:r>
                        <a:rPr lang="ar-AE" sz="2800" i="0">
                          <a:latin typeface="Cambria Math" panose="02040503050406030204" pitchFamily="18" charset="0"/>
                        </a:rPr>
                        <m:t>1</m:t>
                      </m:r>
                      <m:r>
                        <a:rPr lang="ar-AE" sz="2800" i="0">
                          <a:latin typeface="Cambria Math" panose="02040503050406030204" pitchFamily="18" charset="0"/>
                        </a:rPr>
                        <m:t>.</m:t>
                      </m:r>
                      <m:r>
                        <a:rPr lang="ar-AE" sz="2800" i="0">
                          <a:latin typeface="Cambria Math" panose="02040503050406030204" pitchFamily="18" charset="0"/>
                        </a:rPr>
                        <m:t>3</m:t>
                      </m:r>
                    </m:oMath>
                  </m:oMathPara>
                </a14:m>
                <a:endParaRPr lang="ar-AE" sz="2800" dirty="0"/>
              </a:p>
              <a:p>
                <a:pPr>
                  <a:buNone/>
                </a:pPr>
                <a:r>
                  <a:rPr lang="en-IN" sz="2800" dirty="0"/>
                  <a:t>Prediction</a:t>
                </a:r>
              </a:p>
              <a:p>
                <a:pPr>
                  <a:buNone/>
                </a:pPr>
                <a14:m>
                  <m:oMathPara xmlns:m="http://schemas.openxmlformats.org/officeDocument/2006/math">
                    <m:oMathParaPr>
                      <m:jc m:val="centerGroup"/>
                    </m:oMathParaPr>
                    <m:oMath xmlns:m="http://schemas.openxmlformats.org/officeDocument/2006/math">
                      <m:r>
                        <a:rPr lang="en-IN" sz="2800" i="1">
                          <a:latin typeface="Cambria Math" panose="02040503050406030204" pitchFamily="18" charset="0"/>
                        </a:rPr>
                        <m:t>𝑃</m:t>
                      </m:r>
                      <m:d>
                        <m:dPr>
                          <m:ctrlPr>
                            <a:rPr lang="ar-AE" sz="2800" i="1">
                              <a:latin typeface="Cambria Math" panose="02040503050406030204" pitchFamily="18" charset="0"/>
                            </a:rPr>
                          </m:ctrlPr>
                        </m:dPr>
                        <m:e>
                          <m:r>
                            <a:rPr lang="ar-AE" sz="2800" i="1">
                              <a:latin typeface="Cambria Math" panose="02040503050406030204" pitchFamily="18" charset="0"/>
                            </a:rPr>
                            <m:t>𝑦</m:t>
                          </m:r>
                          <m:r>
                            <a:rPr lang="ar-AE" sz="2800" i="0">
                              <a:latin typeface="Cambria Math" panose="02040503050406030204" pitchFamily="18" charset="0"/>
                            </a:rPr>
                            <m:t>=</m:t>
                          </m:r>
                          <m:r>
                            <a:rPr lang="ar-AE" sz="2800" i="0">
                              <a:latin typeface="Cambria Math" panose="02040503050406030204" pitchFamily="18" charset="0"/>
                            </a:rPr>
                            <m:t>1</m:t>
                          </m:r>
                        </m:e>
                      </m:d>
                      <m:r>
                        <a:rPr lang="ar-AE" sz="2800" i="0">
                          <a:latin typeface="Cambria Math" panose="02040503050406030204" pitchFamily="18" charset="0"/>
                        </a:rPr>
                        <m:t>=</m:t>
                      </m:r>
                      <m:r>
                        <a:rPr lang="ar-AE" sz="2800" i="0">
                          <a:latin typeface="Cambria Math" panose="02040503050406030204" pitchFamily="18" charset="0"/>
                        </a:rPr>
                        <m:t>0</m:t>
                      </m:r>
                      <m:r>
                        <a:rPr lang="ar-AE" sz="2800" i="0">
                          <a:latin typeface="Cambria Math" panose="02040503050406030204" pitchFamily="18" charset="0"/>
                        </a:rPr>
                        <m:t>.</m:t>
                      </m:r>
                      <m:r>
                        <a:rPr lang="ar-AE" sz="2800" i="0">
                          <a:latin typeface="Cambria Math" panose="02040503050406030204" pitchFamily="18" charset="0"/>
                        </a:rPr>
                        <m:t>79</m:t>
                      </m:r>
                    </m:oMath>
                  </m:oMathPara>
                </a14:m>
                <a:endParaRPr lang="ar-AE" sz="2800" dirty="0"/>
              </a:p>
              <a:p>
                <a:pPr>
                  <a:buNone/>
                </a:pPr>
                <a:r>
                  <a:rPr lang="en-IN" sz="2800" dirty="0"/>
                  <a:t>Final output = </a:t>
                </a:r>
                <a:r>
                  <a:rPr lang="en-IN" sz="2800" b="1" dirty="0"/>
                  <a:t>1</a:t>
                </a:r>
                <a:endParaRPr lang="en-IN" sz="2800" dirty="0"/>
              </a:p>
            </p:txBody>
          </p:sp>
        </mc:Choice>
        <mc:Fallback xmlns="">
          <p:sp>
            <p:nvSpPr>
              <p:cNvPr id="11" name="TextBox 10">
                <a:extLst>
                  <a:ext uri="{FF2B5EF4-FFF2-40B4-BE49-F238E27FC236}">
                    <a16:creationId xmlns:a16="http://schemas.microsoft.com/office/drawing/2014/main" id="{792A9180-662D-C5F7-7156-DF90210B4C1E}"/>
                  </a:ext>
                </a:extLst>
              </p:cNvPr>
              <p:cNvSpPr txBox="1">
                <a:spLocks noRot="1" noChangeAspect="1" noMove="1" noResize="1" noEditPoints="1" noAdjustHandles="1" noChangeArrowheads="1" noChangeShapeType="1" noTextEdit="1"/>
              </p:cNvSpPr>
              <p:nvPr/>
            </p:nvSpPr>
            <p:spPr>
              <a:xfrm>
                <a:off x="618309" y="2896104"/>
                <a:ext cx="7811587" cy="3539430"/>
              </a:xfrm>
              <a:prstGeom prst="rect">
                <a:avLst/>
              </a:prstGeom>
              <a:blipFill>
                <a:blip r:embed="rId2"/>
                <a:stretch>
                  <a:fillRect l="-1480" t="-1372" b="-3774"/>
                </a:stretch>
              </a:blipFill>
              <a:ln>
                <a:solidFill>
                  <a:schemeClr val="accent1"/>
                </a:solidFill>
              </a:ln>
            </p:spPr>
            <p:txBody>
              <a:bodyPr/>
              <a:lstStyle/>
              <a:p>
                <a:r>
                  <a:rPr lang="en-IN">
                    <a:noFill/>
                  </a:rPr>
                  <a:t> </a:t>
                </a:r>
              </a:p>
            </p:txBody>
          </p:sp>
        </mc:Fallback>
      </mc:AlternateContent>
    </p:spTree>
    <p:extLst>
      <p:ext uri="{BB962C8B-B14F-4D97-AF65-F5344CB8AC3E}">
        <p14:creationId xmlns:p14="http://schemas.microsoft.com/office/powerpoint/2010/main" val="66373606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622BE-194F-3ED1-4537-67FC30CEE731}"/>
              </a:ext>
            </a:extLst>
          </p:cNvPr>
          <p:cNvSpPr>
            <a:spLocks noGrp="1"/>
          </p:cNvSpPr>
          <p:nvPr>
            <p:ph type="title"/>
          </p:nvPr>
        </p:nvSpPr>
        <p:spPr/>
        <p:txBody>
          <a:bodyPr/>
          <a:lstStyle/>
          <a:p>
            <a:r>
              <a:rPr lang="en-US" b="1" dirty="0">
                <a:solidFill>
                  <a:srgbClr val="FF0000"/>
                </a:solidFill>
              </a:rPr>
              <a:t>Voting</a:t>
            </a:r>
            <a:endParaRPr lang="en-IN" b="1" dirty="0">
              <a:solidFill>
                <a:srgbClr val="FF0000"/>
              </a:solidFill>
            </a:endParaRPr>
          </a:p>
        </p:txBody>
      </p:sp>
      <p:sp>
        <p:nvSpPr>
          <p:cNvPr id="3" name="Content Placeholder 2">
            <a:extLst>
              <a:ext uri="{FF2B5EF4-FFF2-40B4-BE49-F238E27FC236}">
                <a16:creationId xmlns:a16="http://schemas.microsoft.com/office/drawing/2014/main" id="{AF676380-7410-65F2-8A40-2D0F64A61B70}"/>
              </a:ext>
            </a:extLst>
          </p:cNvPr>
          <p:cNvSpPr>
            <a:spLocks noGrp="1"/>
          </p:cNvSpPr>
          <p:nvPr>
            <p:ph idx="1"/>
          </p:nvPr>
        </p:nvSpPr>
        <p:spPr/>
        <p:txBody>
          <a:bodyPr>
            <a:normAutofit/>
          </a:bodyPr>
          <a:lstStyle/>
          <a:p>
            <a:pPr algn="just"/>
            <a:r>
              <a:rPr lang="en-US" dirty="0"/>
              <a:t>Voting combines multiple models’ outputs by majority (classification) or average (regression). </a:t>
            </a:r>
          </a:p>
          <a:p>
            <a:pPr algn="just"/>
            <a:r>
              <a:rPr lang="en-US" dirty="0"/>
              <a:t>It can be hard voting (final decision) or soft voting (based on predicted probabilities).</a:t>
            </a:r>
          </a:p>
          <a:p>
            <a:pPr algn="just"/>
            <a:r>
              <a:rPr lang="en-US" b="0" i="0" u="none" strike="noStrike" baseline="0" dirty="0"/>
              <a:t> In classification, a hard voting ensemble involves summing the votes for crisp class labels from other models and predicting the class with the most votes.</a:t>
            </a:r>
          </a:p>
          <a:p>
            <a:pPr algn="just"/>
            <a:r>
              <a:rPr lang="en-US" b="0" i="0" u="none" strike="noStrike" baseline="0" dirty="0"/>
              <a:t>A soft voting ensemble involves summing the predicted probabilities for class labels and predicting the class label with the largest sum probability.</a:t>
            </a:r>
            <a:endParaRPr lang="en-IN" dirty="0"/>
          </a:p>
        </p:txBody>
      </p:sp>
    </p:spTree>
    <p:extLst>
      <p:ext uri="{BB962C8B-B14F-4D97-AF65-F5344CB8AC3E}">
        <p14:creationId xmlns:p14="http://schemas.microsoft.com/office/powerpoint/2010/main" val="15917209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F7CB08-2210-7E1E-9B1C-EB0FF69452CD}"/>
              </a:ext>
            </a:extLst>
          </p:cNvPr>
          <p:cNvSpPr>
            <a:spLocks noGrp="1"/>
          </p:cNvSpPr>
          <p:nvPr>
            <p:ph type="title"/>
          </p:nvPr>
        </p:nvSpPr>
        <p:spPr/>
        <p:txBody>
          <a:bodyPr/>
          <a:lstStyle/>
          <a:p>
            <a:r>
              <a:rPr lang="en-US" dirty="0">
                <a:solidFill>
                  <a:srgbClr val="FF0000"/>
                </a:solidFill>
              </a:rPr>
              <a:t>Voting</a:t>
            </a:r>
            <a:endParaRPr lang="en-IN" dirty="0">
              <a:solidFill>
                <a:srgbClr val="FF0000"/>
              </a:solidFill>
            </a:endParaRPr>
          </a:p>
        </p:txBody>
      </p:sp>
      <p:pic>
        <p:nvPicPr>
          <p:cNvPr id="4" name="Picture 3">
            <a:extLst>
              <a:ext uri="{FF2B5EF4-FFF2-40B4-BE49-F238E27FC236}">
                <a16:creationId xmlns:a16="http://schemas.microsoft.com/office/drawing/2014/main" id="{FA122E58-A491-2EB6-C8FB-03C21217D515}"/>
              </a:ext>
            </a:extLst>
          </p:cNvPr>
          <p:cNvPicPr>
            <a:picLocks noChangeAspect="1"/>
          </p:cNvPicPr>
          <p:nvPr/>
        </p:nvPicPr>
        <p:blipFill>
          <a:blip r:embed="rId2"/>
          <a:stretch>
            <a:fillRect/>
          </a:stretch>
        </p:blipFill>
        <p:spPr>
          <a:xfrm>
            <a:off x="1645308" y="1690688"/>
            <a:ext cx="8022674" cy="4762646"/>
          </a:xfrm>
          <a:prstGeom prst="rect">
            <a:avLst/>
          </a:prstGeom>
        </p:spPr>
      </p:pic>
    </p:spTree>
    <p:extLst>
      <p:ext uri="{BB962C8B-B14F-4D97-AF65-F5344CB8AC3E}">
        <p14:creationId xmlns:p14="http://schemas.microsoft.com/office/powerpoint/2010/main" val="31867572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22D70-BE4B-1D02-D8AC-ABA5DD53D847}"/>
              </a:ext>
            </a:extLst>
          </p:cNvPr>
          <p:cNvSpPr>
            <a:spLocks noGrp="1"/>
          </p:cNvSpPr>
          <p:nvPr>
            <p:ph type="title"/>
          </p:nvPr>
        </p:nvSpPr>
        <p:spPr>
          <a:xfrm>
            <a:off x="838200" y="365125"/>
            <a:ext cx="10515600" cy="652017"/>
          </a:xfrm>
        </p:spPr>
        <p:txBody>
          <a:bodyPr>
            <a:normAutofit fontScale="90000"/>
          </a:bodyPr>
          <a:lstStyle/>
          <a:p>
            <a:r>
              <a:rPr lang="en-US" b="1">
                <a:solidFill>
                  <a:srgbClr val="FF0000"/>
                </a:solidFill>
              </a:rPr>
              <a:t>Soft voting </a:t>
            </a:r>
            <a:r>
              <a:rPr lang="en-US" b="1" dirty="0">
                <a:solidFill>
                  <a:srgbClr val="FF0000"/>
                </a:solidFill>
              </a:rPr>
              <a:t>in Classification</a:t>
            </a:r>
            <a:endParaRPr lang="en-IN" b="1" dirty="0">
              <a:solidFill>
                <a:srgbClr val="FF0000"/>
              </a:solidFill>
            </a:endParaRPr>
          </a:p>
        </p:txBody>
      </p:sp>
      <p:sp>
        <p:nvSpPr>
          <p:cNvPr id="3" name="Content Placeholder 2">
            <a:extLst>
              <a:ext uri="{FF2B5EF4-FFF2-40B4-BE49-F238E27FC236}">
                <a16:creationId xmlns:a16="http://schemas.microsoft.com/office/drawing/2014/main" id="{59D5367D-6C08-48B7-95F3-73362F975D74}"/>
              </a:ext>
            </a:extLst>
          </p:cNvPr>
          <p:cNvSpPr>
            <a:spLocks noGrp="1"/>
          </p:cNvSpPr>
          <p:nvPr>
            <p:ph idx="1"/>
          </p:nvPr>
        </p:nvSpPr>
        <p:spPr>
          <a:xfrm>
            <a:off x="663540" y="1322191"/>
            <a:ext cx="10515600" cy="773737"/>
          </a:xfrm>
          <a:solidFill>
            <a:schemeClr val="accent2">
              <a:lumMod val="20000"/>
              <a:lumOff val="80000"/>
            </a:schemeClr>
          </a:solidFill>
        </p:spPr>
        <p:txBody>
          <a:bodyPr>
            <a:normAutofit fontScale="92500"/>
          </a:bodyPr>
          <a:lstStyle/>
          <a:p>
            <a:pPr marL="0" indent="0" algn="l">
              <a:buNone/>
            </a:pPr>
            <a:r>
              <a:rPr lang="en-US" sz="2600" dirty="0"/>
              <a:t>In </a:t>
            </a:r>
            <a:r>
              <a:rPr lang="en-US" sz="2600" b="1" dirty="0"/>
              <a:t>Soft Voting</a:t>
            </a:r>
            <a:r>
              <a:rPr lang="en-US" sz="2600" dirty="0"/>
              <a:t>, multiple classifiers predict </a:t>
            </a:r>
            <a:r>
              <a:rPr lang="en-US" sz="2600" b="1" dirty="0"/>
              <a:t>probabilities</a:t>
            </a:r>
            <a:r>
              <a:rPr lang="en-US" sz="2600" dirty="0"/>
              <a:t> for each class. The </a:t>
            </a:r>
            <a:r>
              <a:rPr lang="en-US" sz="2600" b="1" dirty="0"/>
              <a:t>average (or weighted average)</a:t>
            </a:r>
            <a:r>
              <a:rPr lang="en-US" sz="2600" dirty="0"/>
              <a:t> of these probabilities is used to decide the final class.</a:t>
            </a:r>
          </a:p>
          <a:p>
            <a:pPr algn="l"/>
            <a:endParaRPr lang="en-IN" sz="3200" dirty="0"/>
          </a:p>
        </p:txBody>
      </p:sp>
      <p:sp>
        <p:nvSpPr>
          <p:cNvPr id="5" name="TextBox 4">
            <a:extLst>
              <a:ext uri="{FF2B5EF4-FFF2-40B4-BE49-F238E27FC236}">
                <a16:creationId xmlns:a16="http://schemas.microsoft.com/office/drawing/2014/main" id="{1CCBA3A1-35C2-D27E-1FE2-B7FE8D887F68}"/>
              </a:ext>
            </a:extLst>
          </p:cNvPr>
          <p:cNvSpPr txBox="1"/>
          <p:nvPr/>
        </p:nvSpPr>
        <p:spPr>
          <a:xfrm>
            <a:off x="838201" y="2400977"/>
            <a:ext cx="9962506" cy="830997"/>
          </a:xfrm>
          <a:prstGeom prst="rect">
            <a:avLst/>
          </a:prstGeom>
          <a:noFill/>
        </p:spPr>
        <p:txBody>
          <a:bodyPr wrap="square">
            <a:spAutoFit/>
          </a:bodyPr>
          <a:lstStyle/>
          <a:p>
            <a:r>
              <a:rPr lang="en-US" sz="2400" dirty="0"/>
              <a:t>Let’s say we have 3 classifiers predicting whether a patient has a disease (</a:t>
            </a:r>
            <a:r>
              <a:rPr lang="en-US" sz="2400" b="1" dirty="0"/>
              <a:t>Yes = 1</a:t>
            </a:r>
            <a:r>
              <a:rPr lang="en-US" sz="2400" dirty="0"/>
              <a:t>, </a:t>
            </a:r>
            <a:r>
              <a:rPr lang="en-US" sz="2400" b="1" dirty="0"/>
              <a:t>No = 0</a:t>
            </a:r>
            <a:r>
              <a:rPr lang="en-US" sz="2400" dirty="0"/>
              <a:t>). Here's how they assign </a:t>
            </a:r>
            <a:r>
              <a:rPr lang="en-US" sz="2400" b="1" dirty="0"/>
              <a:t>probabilities</a:t>
            </a:r>
            <a:r>
              <a:rPr lang="en-US" sz="2400" dirty="0"/>
              <a:t>:</a:t>
            </a:r>
            <a:endParaRPr lang="en-IN" sz="2400" dirty="0"/>
          </a:p>
        </p:txBody>
      </p:sp>
      <p:graphicFrame>
        <p:nvGraphicFramePr>
          <p:cNvPr id="6" name="Table 5">
            <a:extLst>
              <a:ext uri="{FF2B5EF4-FFF2-40B4-BE49-F238E27FC236}">
                <a16:creationId xmlns:a16="http://schemas.microsoft.com/office/drawing/2014/main" id="{C94DFD09-F479-98B2-3482-38D8A8E400C4}"/>
              </a:ext>
            </a:extLst>
          </p:cNvPr>
          <p:cNvGraphicFramePr>
            <a:graphicFrameLocks noGrp="1"/>
          </p:cNvGraphicFramePr>
          <p:nvPr>
            <p:extLst>
              <p:ext uri="{D42A27DB-BD31-4B8C-83A1-F6EECF244321}">
                <p14:modId xmlns:p14="http://schemas.microsoft.com/office/powerpoint/2010/main" val="2708613432"/>
              </p:ext>
            </p:extLst>
          </p:nvPr>
        </p:nvGraphicFramePr>
        <p:xfrm>
          <a:off x="1947809" y="3429000"/>
          <a:ext cx="8852898" cy="1828800"/>
        </p:xfrm>
        <a:graphic>
          <a:graphicData uri="http://schemas.openxmlformats.org/drawingml/2006/table">
            <a:tbl>
              <a:tblPr/>
              <a:tblGrid>
                <a:gridCol w="2950966">
                  <a:extLst>
                    <a:ext uri="{9D8B030D-6E8A-4147-A177-3AD203B41FA5}">
                      <a16:colId xmlns:a16="http://schemas.microsoft.com/office/drawing/2014/main" val="1264804928"/>
                    </a:ext>
                  </a:extLst>
                </a:gridCol>
                <a:gridCol w="2950966">
                  <a:extLst>
                    <a:ext uri="{9D8B030D-6E8A-4147-A177-3AD203B41FA5}">
                      <a16:colId xmlns:a16="http://schemas.microsoft.com/office/drawing/2014/main" val="3133386943"/>
                    </a:ext>
                  </a:extLst>
                </a:gridCol>
                <a:gridCol w="2950966">
                  <a:extLst>
                    <a:ext uri="{9D8B030D-6E8A-4147-A177-3AD203B41FA5}">
                      <a16:colId xmlns:a16="http://schemas.microsoft.com/office/drawing/2014/main" val="749140846"/>
                    </a:ext>
                  </a:extLst>
                </a:gridCol>
              </a:tblGrid>
              <a:tr h="0">
                <a:tc>
                  <a:txBody>
                    <a:bodyPr/>
                    <a:lstStyle/>
                    <a:p>
                      <a:r>
                        <a:rPr lang="en-IN" sz="2400" dirty="0"/>
                        <a:t>Classifier</a:t>
                      </a:r>
                    </a:p>
                  </a:txBody>
                  <a:tcPr anchor="ctr">
                    <a:lnL>
                      <a:noFill/>
                    </a:lnL>
                    <a:lnR>
                      <a:noFill/>
                    </a:lnR>
                    <a:lnT>
                      <a:noFill/>
                    </a:lnT>
                    <a:lnB>
                      <a:noFill/>
                    </a:lnB>
                    <a:noFill/>
                  </a:tcPr>
                </a:tc>
                <a:tc>
                  <a:txBody>
                    <a:bodyPr/>
                    <a:lstStyle/>
                    <a:p>
                      <a:r>
                        <a:rPr lang="en-IN" sz="2400"/>
                        <a:t>Prob(Yes)</a:t>
                      </a:r>
                    </a:p>
                  </a:txBody>
                  <a:tcPr anchor="ctr">
                    <a:lnL>
                      <a:noFill/>
                    </a:lnL>
                    <a:lnR>
                      <a:noFill/>
                    </a:lnR>
                    <a:lnT>
                      <a:noFill/>
                    </a:lnT>
                    <a:lnB>
                      <a:noFill/>
                    </a:lnB>
                    <a:noFill/>
                  </a:tcPr>
                </a:tc>
                <a:tc>
                  <a:txBody>
                    <a:bodyPr/>
                    <a:lstStyle/>
                    <a:p>
                      <a:r>
                        <a:rPr lang="en-IN" sz="2400"/>
                        <a:t>Prob(No)</a:t>
                      </a:r>
                    </a:p>
                  </a:txBody>
                  <a:tcPr anchor="ctr">
                    <a:lnL>
                      <a:noFill/>
                    </a:lnL>
                    <a:lnR>
                      <a:noFill/>
                    </a:lnR>
                    <a:lnT>
                      <a:noFill/>
                    </a:lnT>
                    <a:lnB>
                      <a:noFill/>
                    </a:lnB>
                    <a:noFill/>
                  </a:tcPr>
                </a:tc>
                <a:extLst>
                  <a:ext uri="{0D108BD9-81ED-4DB2-BD59-A6C34878D82A}">
                    <a16:rowId xmlns:a16="http://schemas.microsoft.com/office/drawing/2014/main" val="4168147657"/>
                  </a:ext>
                </a:extLst>
              </a:tr>
              <a:tr h="0">
                <a:tc>
                  <a:txBody>
                    <a:bodyPr/>
                    <a:lstStyle/>
                    <a:p>
                      <a:r>
                        <a:rPr lang="en-IN" sz="2400"/>
                        <a:t>Model A</a:t>
                      </a:r>
                    </a:p>
                  </a:txBody>
                  <a:tcPr anchor="ctr">
                    <a:lnL>
                      <a:noFill/>
                    </a:lnL>
                    <a:lnR>
                      <a:noFill/>
                    </a:lnR>
                    <a:lnT>
                      <a:noFill/>
                    </a:lnT>
                    <a:lnB>
                      <a:noFill/>
                    </a:lnB>
                    <a:noFill/>
                  </a:tcPr>
                </a:tc>
                <a:tc>
                  <a:txBody>
                    <a:bodyPr/>
                    <a:lstStyle/>
                    <a:p>
                      <a:r>
                        <a:rPr lang="en-IN" sz="2400" dirty="0"/>
                        <a:t>0.90</a:t>
                      </a:r>
                    </a:p>
                  </a:txBody>
                  <a:tcPr anchor="ctr">
                    <a:lnL>
                      <a:noFill/>
                    </a:lnL>
                    <a:lnR>
                      <a:noFill/>
                    </a:lnR>
                    <a:lnT>
                      <a:noFill/>
                    </a:lnT>
                    <a:lnB>
                      <a:noFill/>
                    </a:lnB>
                    <a:noFill/>
                  </a:tcPr>
                </a:tc>
                <a:tc>
                  <a:txBody>
                    <a:bodyPr/>
                    <a:lstStyle/>
                    <a:p>
                      <a:r>
                        <a:rPr lang="en-IN" sz="2400"/>
                        <a:t>0.10</a:t>
                      </a:r>
                    </a:p>
                  </a:txBody>
                  <a:tcPr anchor="ctr">
                    <a:lnL>
                      <a:noFill/>
                    </a:lnL>
                    <a:lnR>
                      <a:noFill/>
                    </a:lnR>
                    <a:lnT>
                      <a:noFill/>
                    </a:lnT>
                    <a:lnB>
                      <a:noFill/>
                    </a:lnB>
                    <a:noFill/>
                  </a:tcPr>
                </a:tc>
                <a:extLst>
                  <a:ext uri="{0D108BD9-81ED-4DB2-BD59-A6C34878D82A}">
                    <a16:rowId xmlns:a16="http://schemas.microsoft.com/office/drawing/2014/main" val="1394402508"/>
                  </a:ext>
                </a:extLst>
              </a:tr>
              <a:tr h="0">
                <a:tc>
                  <a:txBody>
                    <a:bodyPr/>
                    <a:lstStyle/>
                    <a:p>
                      <a:r>
                        <a:rPr lang="en-IN" sz="2400"/>
                        <a:t>Model B</a:t>
                      </a:r>
                    </a:p>
                  </a:txBody>
                  <a:tcPr anchor="ctr">
                    <a:lnL>
                      <a:noFill/>
                    </a:lnL>
                    <a:lnR>
                      <a:noFill/>
                    </a:lnR>
                    <a:lnT>
                      <a:noFill/>
                    </a:lnT>
                    <a:lnB>
                      <a:noFill/>
                    </a:lnB>
                    <a:noFill/>
                  </a:tcPr>
                </a:tc>
                <a:tc>
                  <a:txBody>
                    <a:bodyPr/>
                    <a:lstStyle/>
                    <a:p>
                      <a:r>
                        <a:rPr lang="en-IN" sz="2400" dirty="0"/>
                        <a:t>0.70</a:t>
                      </a:r>
                    </a:p>
                  </a:txBody>
                  <a:tcPr anchor="ctr">
                    <a:lnL>
                      <a:noFill/>
                    </a:lnL>
                    <a:lnR>
                      <a:noFill/>
                    </a:lnR>
                    <a:lnT>
                      <a:noFill/>
                    </a:lnT>
                    <a:lnB>
                      <a:noFill/>
                    </a:lnB>
                    <a:noFill/>
                  </a:tcPr>
                </a:tc>
                <a:tc>
                  <a:txBody>
                    <a:bodyPr/>
                    <a:lstStyle/>
                    <a:p>
                      <a:r>
                        <a:rPr lang="en-IN" sz="2400"/>
                        <a:t>0.30</a:t>
                      </a:r>
                    </a:p>
                  </a:txBody>
                  <a:tcPr anchor="ctr">
                    <a:lnL>
                      <a:noFill/>
                    </a:lnL>
                    <a:lnR>
                      <a:noFill/>
                    </a:lnR>
                    <a:lnT>
                      <a:noFill/>
                    </a:lnT>
                    <a:lnB>
                      <a:noFill/>
                    </a:lnB>
                    <a:noFill/>
                  </a:tcPr>
                </a:tc>
                <a:extLst>
                  <a:ext uri="{0D108BD9-81ED-4DB2-BD59-A6C34878D82A}">
                    <a16:rowId xmlns:a16="http://schemas.microsoft.com/office/drawing/2014/main" val="3314907622"/>
                  </a:ext>
                </a:extLst>
              </a:tr>
              <a:tr h="0">
                <a:tc>
                  <a:txBody>
                    <a:bodyPr/>
                    <a:lstStyle/>
                    <a:p>
                      <a:r>
                        <a:rPr lang="en-IN" sz="2400"/>
                        <a:t>Model C</a:t>
                      </a:r>
                    </a:p>
                  </a:txBody>
                  <a:tcPr anchor="ctr">
                    <a:lnL>
                      <a:noFill/>
                    </a:lnL>
                    <a:lnR>
                      <a:noFill/>
                    </a:lnR>
                    <a:lnT>
                      <a:noFill/>
                    </a:lnT>
                    <a:lnB>
                      <a:noFill/>
                    </a:lnB>
                    <a:noFill/>
                  </a:tcPr>
                </a:tc>
                <a:tc>
                  <a:txBody>
                    <a:bodyPr/>
                    <a:lstStyle/>
                    <a:p>
                      <a:r>
                        <a:rPr lang="en-IN" sz="2400" dirty="0"/>
                        <a:t>0.40</a:t>
                      </a:r>
                    </a:p>
                  </a:txBody>
                  <a:tcPr anchor="ctr">
                    <a:lnL>
                      <a:noFill/>
                    </a:lnL>
                    <a:lnR>
                      <a:noFill/>
                    </a:lnR>
                    <a:lnT>
                      <a:noFill/>
                    </a:lnT>
                    <a:lnB>
                      <a:noFill/>
                    </a:lnB>
                    <a:noFill/>
                  </a:tcPr>
                </a:tc>
                <a:tc>
                  <a:txBody>
                    <a:bodyPr/>
                    <a:lstStyle/>
                    <a:p>
                      <a:r>
                        <a:rPr lang="en-IN" sz="2400" dirty="0"/>
                        <a:t>0.60</a:t>
                      </a:r>
                    </a:p>
                  </a:txBody>
                  <a:tcPr anchor="ctr">
                    <a:lnL>
                      <a:noFill/>
                    </a:lnL>
                    <a:lnR>
                      <a:noFill/>
                    </a:lnR>
                    <a:lnT>
                      <a:noFill/>
                    </a:lnT>
                    <a:lnB>
                      <a:noFill/>
                    </a:lnB>
                    <a:noFill/>
                  </a:tcPr>
                </a:tc>
                <a:extLst>
                  <a:ext uri="{0D108BD9-81ED-4DB2-BD59-A6C34878D82A}">
                    <a16:rowId xmlns:a16="http://schemas.microsoft.com/office/drawing/2014/main" val="2213470057"/>
                  </a:ext>
                </a:extLst>
              </a:tr>
            </a:tbl>
          </a:graphicData>
        </a:graphic>
      </p:graphicFrame>
      <p:sp>
        <p:nvSpPr>
          <p:cNvPr id="9" name="TextBox 8">
            <a:extLst>
              <a:ext uri="{FF2B5EF4-FFF2-40B4-BE49-F238E27FC236}">
                <a16:creationId xmlns:a16="http://schemas.microsoft.com/office/drawing/2014/main" id="{481DE43F-2861-192D-3260-6D1DCC8CDAA2}"/>
              </a:ext>
            </a:extLst>
          </p:cNvPr>
          <p:cNvSpPr txBox="1"/>
          <p:nvPr/>
        </p:nvSpPr>
        <p:spPr>
          <a:xfrm>
            <a:off x="1839074" y="5517008"/>
            <a:ext cx="6834883" cy="1200329"/>
          </a:xfrm>
          <a:prstGeom prst="rect">
            <a:avLst/>
          </a:prstGeom>
          <a:solidFill>
            <a:schemeClr val="accent2">
              <a:lumMod val="20000"/>
              <a:lumOff val="80000"/>
            </a:schemeClr>
          </a:solidFill>
        </p:spPr>
        <p:txBody>
          <a:bodyPr wrap="square">
            <a:spAutoFit/>
          </a:bodyPr>
          <a:lstStyle/>
          <a:p>
            <a:pPr>
              <a:buFont typeface="Arial" panose="020B0604020202020204" pitchFamily="34" charset="0"/>
              <a:buChar char="•"/>
            </a:pPr>
            <a:r>
              <a:rPr lang="en-US" sz="2400" dirty="0"/>
              <a:t>Average Prob(Yes) = (0.90 + 0.70 + 0.40) / 3 = </a:t>
            </a:r>
            <a:r>
              <a:rPr lang="en-US" sz="2400" b="1" dirty="0"/>
              <a:t>0.67</a:t>
            </a:r>
            <a:endParaRPr lang="en-US" sz="2400" dirty="0"/>
          </a:p>
          <a:p>
            <a:pPr>
              <a:buFont typeface="Arial" panose="020B0604020202020204" pitchFamily="34" charset="0"/>
              <a:buChar char="•"/>
            </a:pPr>
            <a:r>
              <a:rPr lang="en-US" sz="2400" dirty="0"/>
              <a:t>Average Prob(No) = (0.10 + 0.30 + 0.60) / 3 = </a:t>
            </a:r>
            <a:r>
              <a:rPr lang="en-US" sz="2400" b="1" dirty="0"/>
              <a:t>0.33</a:t>
            </a:r>
            <a:endParaRPr lang="en-US" sz="2400" dirty="0"/>
          </a:p>
          <a:p>
            <a:r>
              <a:rPr lang="en-US" sz="2400" dirty="0"/>
              <a:t>🔚 Final prediction: </a:t>
            </a:r>
            <a:r>
              <a:rPr lang="en-US" sz="2400" b="1" dirty="0"/>
              <a:t>Yes (1)</a:t>
            </a:r>
            <a:r>
              <a:rPr lang="en-US" sz="2400" dirty="0"/>
              <a:t> because 0.67 &gt; 0.33.</a:t>
            </a:r>
          </a:p>
        </p:txBody>
      </p:sp>
    </p:spTree>
    <p:extLst>
      <p:ext uri="{BB962C8B-B14F-4D97-AF65-F5344CB8AC3E}">
        <p14:creationId xmlns:p14="http://schemas.microsoft.com/office/powerpoint/2010/main" val="18776254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pic>
        <p:nvPicPr>
          <p:cNvPr id="85" name="Google Shape;85;p18"/>
          <p:cNvPicPr preferRelativeResize="0"/>
          <p:nvPr/>
        </p:nvPicPr>
        <p:blipFill>
          <a:blip r:embed="rId3">
            <a:alphaModFix/>
          </a:blip>
          <a:stretch>
            <a:fillRect/>
          </a:stretch>
        </p:blipFill>
        <p:spPr>
          <a:xfrm>
            <a:off x="203200" y="203201"/>
            <a:ext cx="5918200" cy="6547167"/>
          </a:xfrm>
          <a:prstGeom prst="rect">
            <a:avLst/>
          </a:prstGeom>
          <a:noFill/>
          <a:ln w="9525" cap="flat" cmpd="sng">
            <a:solidFill>
              <a:schemeClr val="dk2"/>
            </a:solidFill>
            <a:prstDash val="solid"/>
            <a:round/>
            <a:headEnd type="none" w="sm" len="sm"/>
            <a:tailEnd type="none" w="sm" len="sm"/>
          </a:ln>
        </p:spPr>
      </p:pic>
      <p:pic>
        <p:nvPicPr>
          <p:cNvPr id="86" name="Google Shape;86;p18"/>
          <p:cNvPicPr preferRelativeResize="0"/>
          <p:nvPr/>
        </p:nvPicPr>
        <p:blipFill>
          <a:blip r:embed="rId4">
            <a:alphaModFix/>
          </a:blip>
          <a:stretch>
            <a:fillRect/>
          </a:stretch>
        </p:blipFill>
        <p:spPr>
          <a:xfrm>
            <a:off x="6324601" y="203201"/>
            <a:ext cx="5422900" cy="654716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384367"/>
            <a:ext cx="11360800" cy="763600"/>
          </a:xfrm>
        </p:spPr>
        <p:txBody>
          <a:bodyPr>
            <a:normAutofit/>
          </a:bodyPr>
          <a:lstStyle/>
          <a:p>
            <a:r>
              <a:rPr lang="en-IN" sz="3600" dirty="0">
                <a:solidFill>
                  <a:srgbClr val="FF0000"/>
                </a:solidFill>
              </a:rPr>
              <a:t>Unsupervised learning</a:t>
            </a:r>
          </a:p>
        </p:txBody>
      </p:sp>
      <p:sp>
        <p:nvSpPr>
          <p:cNvPr id="3" name="Text Placeholder 2"/>
          <p:cNvSpPr>
            <a:spLocks noGrp="1"/>
          </p:cNvSpPr>
          <p:nvPr>
            <p:ph type="body" idx="1"/>
          </p:nvPr>
        </p:nvSpPr>
        <p:spPr/>
        <p:txBody>
          <a:bodyPr/>
          <a:lstStyle/>
          <a:p>
            <a:r>
              <a:rPr lang="en-US" sz="2400" b="1" dirty="0">
                <a:solidFill>
                  <a:schemeClr val="tx1"/>
                </a:solidFill>
              </a:rPr>
              <a:t>Unsupervised learning</a:t>
            </a:r>
            <a:r>
              <a:rPr lang="en-US" sz="2400" dirty="0">
                <a:solidFill>
                  <a:schemeClr val="tx1"/>
                </a:solidFill>
              </a:rPr>
              <a:t> is a type of machine learning where the model learns patterns from </a:t>
            </a:r>
            <a:r>
              <a:rPr lang="en-US" sz="2400" b="1" dirty="0">
                <a:solidFill>
                  <a:schemeClr val="tx1"/>
                </a:solidFill>
              </a:rPr>
              <a:t>unlabeled data</a:t>
            </a:r>
            <a:r>
              <a:rPr lang="en-US" sz="2400" dirty="0">
                <a:solidFill>
                  <a:schemeClr val="tx1"/>
                </a:solidFill>
              </a:rPr>
              <a:t> — meaning, the data doesn't have predefined categories or outputs.</a:t>
            </a:r>
          </a:p>
          <a:p>
            <a:pPr marL="152396" indent="0">
              <a:buNone/>
            </a:pPr>
            <a:endParaRPr lang="en-US" sz="2400" dirty="0">
              <a:solidFill>
                <a:schemeClr val="tx1"/>
              </a:solidFill>
            </a:endParaRPr>
          </a:p>
          <a:p>
            <a:r>
              <a:rPr lang="en-US" sz="2400" dirty="0">
                <a:solidFill>
                  <a:schemeClr val="tx1"/>
                </a:solidFill>
              </a:rPr>
              <a:t>Instead of being told what the "right answer" is (like in supervised learning), the model tries to:</a:t>
            </a:r>
          </a:p>
          <a:p>
            <a:pPr lvl="1"/>
            <a:r>
              <a:rPr lang="en-US" sz="2467" b="1" dirty="0">
                <a:solidFill>
                  <a:schemeClr val="tx1"/>
                </a:solidFill>
              </a:rPr>
              <a:t>Discover hidden structures</a:t>
            </a:r>
            <a:r>
              <a:rPr lang="en-US" sz="2467" dirty="0">
                <a:solidFill>
                  <a:schemeClr val="tx1"/>
                </a:solidFill>
              </a:rPr>
              <a:t> (e.g., clusters, groups)</a:t>
            </a:r>
          </a:p>
          <a:p>
            <a:pPr lvl="1"/>
            <a:r>
              <a:rPr lang="en-US" sz="2467" b="1" dirty="0">
                <a:solidFill>
                  <a:schemeClr val="tx1"/>
                </a:solidFill>
              </a:rPr>
              <a:t>Find patterns, similarities, or differences</a:t>
            </a:r>
            <a:endParaRPr lang="en-US" sz="2467" dirty="0">
              <a:solidFill>
                <a:schemeClr val="tx1"/>
              </a:solidFill>
            </a:endParaRPr>
          </a:p>
          <a:p>
            <a:pPr lvl="1"/>
            <a:r>
              <a:rPr lang="en-US" sz="2467" b="1" dirty="0">
                <a:solidFill>
                  <a:schemeClr val="tx1"/>
                </a:solidFill>
              </a:rPr>
              <a:t>Reduce the dimensionality</a:t>
            </a:r>
            <a:r>
              <a:rPr lang="en-US" sz="2467" dirty="0">
                <a:solidFill>
                  <a:schemeClr val="tx1"/>
                </a:solidFill>
              </a:rPr>
              <a:t> of the data to make it easier to understand</a:t>
            </a:r>
          </a:p>
          <a:p>
            <a:endParaRPr lang="en-IN" dirty="0"/>
          </a:p>
        </p:txBody>
      </p:sp>
    </p:spTree>
    <p:extLst>
      <p:ext uri="{BB962C8B-B14F-4D97-AF65-F5344CB8AC3E}">
        <p14:creationId xmlns:p14="http://schemas.microsoft.com/office/powerpoint/2010/main" val="422188031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196175"/>
            <a:ext cx="11360800" cy="763600"/>
          </a:xfrm>
        </p:spPr>
        <p:txBody>
          <a:bodyPr>
            <a:normAutofit/>
          </a:bodyPr>
          <a:lstStyle/>
          <a:p>
            <a:r>
              <a:rPr lang="en-US" sz="3600" dirty="0">
                <a:solidFill>
                  <a:srgbClr val="FF0000"/>
                </a:solidFill>
              </a:rPr>
              <a:t>Example</a:t>
            </a:r>
            <a:endParaRPr lang="en-IN" sz="3600" dirty="0">
              <a:solidFill>
                <a:srgbClr val="FF0000"/>
              </a:solidFill>
            </a:endParaRPr>
          </a:p>
        </p:txBody>
      </p:sp>
      <p:sp>
        <p:nvSpPr>
          <p:cNvPr id="3" name="Text Placeholder 2"/>
          <p:cNvSpPr>
            <a:spLocks noGrp="1"/>
          </p:cNvSpPr>
          <p:nvPr>
            <p:ph type="body" idx="1"/>
          </p:nvPr>
        </p:nvSpPr>
        <p:spPr>
          <a:xfrm>
            <a:off x="415600" y="969632"/>
            <a:ext cx="11360800" cy="1541556"/>
          </a:xfrm>
          <a:ln>
            <a:solidFill>
              <a:schemeClr val="accent1"/>
            </a:solidFill>
          </a:ln>
        </p:spPr>
        <p:txBody>
          <a:bodyPr>
            <a:noAutofit/>
          </a:bodyPr>
          <a:lstStyle/>
          <a:p>
            <a:pPr marL="152396" indent="0">
              <a:buNone/>
            </a:pPr>
            <a:r>
              <a:rPr lang="en-US" sz="2400" dirty="0">
                <a:solidFill>
                  <a:schemeClr val="tx1"/>
                </a:solidFill>
              </a:rPr>
              <a:t>If you give an unsupervised model a lot of pictures of animals without labels, it might figure out by itself that some images are "cats" and others are "dogs" — purely based on patterns like size, shape, fur texture, </a:t>
            </a:r>
            <a:r>
              <a:rPr lang="en-US" sz="2400" dirty="0" err="1">
                <a:solidFill>
                  <a:schemeClr val="tx1"/>
                </a:solidFill>
              </a:rPr>
              <a:t>etc</a:t>
            </a:r>
            <a:endParaRPr lang="en-IN" sz="2400" dirty="0">
              <a:solidFill>
                <a:schemeClr val="tx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429826577"/>
              </p:ext>
            </p:extLst>
          </p:nvPr>
        </p:nvGraphicFramePr>
        <p:xfrm>
          <a:off x="415925" y="2874009"/>
          <a:ext cx="11360150" cy="3383280"/>
        </p:xfrm>
        <a:graphic>
          <a:graphicData uri="http://schemas.openxmlformats.org/drawingml/2006/table">
            <a:tbl>
              <a:tblPr/>
              <a:tblGrid>
                <a:gridCol w="5680075">
                  <a:extLst>
                    <a:ext uri="{9D8B030D-6E8A-4147-A177-3AD203B41FA5}">
                      <a16:colId xmlns:a16="http://schemas.microsoft.com/office/drawing/2014/main" val="20000"/>
                    </a:ext>
                  </a:extLst>
                </a:gridCol>
                <a:gridCol w="5680075">
                  <a:extLst>
                    <a:ext uri="{9D8B030D-6E8A-4147-A177-3AD203B41FA5}">
                      <a16:colId xmlns:a16="http://schemas.microsoft.com/office/drawing/2014/main" val="20001"/>
                    </a:ext>
                  </a:extLst>
                </a:gridCol>
              </a:tblGrid>
              <a:tr h="0">
                <a:tc>
                  <a:txBody>
                    <a:bodyPr/>
                    <a:lstStyle/>
                    <a:p>
                      <a:r>
                        <a:rPr lang="en-IN" sz="2400" dirty="0">
                          <a:solidFill>
                            <a:srgbClr val="0070C0"/>
                          </a:solidFill>
                        </a:rPr>
                        <a:t>Real-World Problem</a:t>
                      </a:r>
                    </a:p>
                  </a:txBody>
                  <a:tcPr anchor="ctr">
                    <a:lnL>
                      <a:noFill/>
                    </a:lnL>
                    <a:lnR>
                      <a:noFill/>
                    </a:lnR>
                    <a:lnT>
                      <a:noFill/>
                    </a:lnT>
                    <a:lnB>
                      <a:noFill/>
                    </a:lnB>
                  </a:tcPr>
                </a:tc>
                <a:tc>
                  <a:txBody>
                    <a:bodyPr/>
                    <a:lstStyle/>
                    <a:p>
                      <a:r>
                        <a:rPr lang="en-IN" sz="2400" dirty="0">
                          <a:solidFill>
                            <a:srgbClr val="0070C0"/>
                          </a:solidFill>
                        </a:rPr>
                        <a:t>Unsupervised Learning Application</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sz="2400" dirty="0"/>
                        <a:t>Organizing a photo album</a:t>
                      </a:r>
                    </a:p>
                  </a:txBody>
                  <a:tcPr anchor="ctr">
                    <a:lnL>
                      <a:noFill/>
                    </a:lnL>
                    <a:lnR>
                      <a:noFill/>
                    </a:lnR>
                    <a:lnT>
                      <a:noFill/>
                    </a:lnT>
                    <a:lnB>
                      <a:noFill/>
                    </a:lnB>
                  </a:tcPr>
                </a:tc>
                <a:tc>
                  <a:txBody>
                    <a:bodyPr/>
                    <a:lstStyle/>
                    <a:p>
                      <a:r>
                        <a:rPr lang="en-IN" sz="2400"/>
                        <a:t>Clustering similar faces/images together</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sz="2400" dirty="0"/>
                        <a:t>Customer segmentation in business</a:t>
                      </a:r>
                    </a:p>
                  </a:txBody>
                  <a:tcPr anchor="ctr">
                    <a:lnL>
                      <a:noFill/>
                    </a:lnL>
                    <a:lnR>
                      <a:noFill/>
                    </a:lnR>
                    <a:lnT>
                      <a:noFill/>
                    </a:lnT>
                    <a:lnB>
                      <a:noFill/>
                    </a:lnB>
                  </a:tcPr>
                </a:tc>
                <a:tc>
                  <a:txBody>
                    <a:bodyPr/>
                    <a:lstStyle/>
                    <a:p>
                      <a:r>
                        <a:rPr lang="en-US" sz="2400"/>
                        <a:t>Grouping customers based on buying behavior</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US" sz="2400"/>
                        <a:t>Detecting unusual credit card usage</a:t>
                      </a:r>
                    </a:p>
                  </a:txBody>
                  <a:tcPr anchor="ctr">
                    <a:lnL>
                      <a:noFill/>
                    </a:lnL>
                    <a:lnR>
                      <a:noFill/>
                    </a:lnR>
                    <a:lnT>
                      <a:noFill/>
                    </a:lnT>
                    <a:lnB>
                      <a:noFill/>
                    </a:lnB>
                  </a:tcPr>
                </a:tc>
                <a:tc>
                  <a:txBody>
                    <a:bodyPr/>
                    <a:lstStyle/>
                    <a:p>
                      <a:r>
                        <a:rPr lang="en-US" sz="2400" dirty="0"/>
                        <a:t>Anomaly detection (flagging strange transactions)</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sz="2400" dirty="0"/>
                        <a:t>Genetics research</a:t>
                      </a:r>
                    </a:p>
                  </a:txBody>
                  <a:tcPr anchor="ctr">
                    <a:lnL>
                      <a:noFill/>
                    </a:lnL>
                    <a:lnR>
                      <a:noFill/>
                    </a:lnR>
                    <a:lnT>
                      <a:noFill/>
                    </a:lnT>
                    <a:lnB>
                      <a:noFill/>
                    </a:lnB>
                  </a:tcPr>
                </a:tc>
                <a:tc>
                  <a:txBody>
                    <a:bodyPr/>
                    <a:lstStyle/>
                    <a:p>
                      <a:r>
                        <a:rPr lang="en-US" sz="2400" dirty="0"/>
                        <a:t>Finding hidden structures in DNA sequences</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9650344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rgbClr val="FF0000"/>
                </a:solidFill>
              </a:rPr>
              <a:t>Common techniques in unsupervised learning:</a:t>
            </a:r>
            <a:endParaRPr lang="en-IN" sz="3600" dirty="0">
              <a:solidFill>
                <a:srgbClr val="FF0000"/>
              </a:solidFill>
            </a:endParaRPr>
          </a:p>
        </p:txBody>
      </p:sp>
      <p:sp>
        <p:nvSpPr>
          <p:cNvPr id="3" name="Text Placeholder 2"/>
          <p:cNvSpPr>
            <a:spLocks noGrp="1"/>
          </p:cNvSpPr>
          <p:nvPr>
            <p:ph type="body" idx="1"/>
          </p:nvPr>
        </p:nvSpPr>
        <p:spPr>
          <a:xfrm>
            <a:off x="415600" y="1856094"/>
            <a:ext cx="11360800" cy="4713518"/>
          </a:xfrm>
        </p:spPr>
        <p:txBody>
          <a:bodyPr/>
          <a:lstStyle/>
          <a:p>
            <a:r>
              <a:rPr lang="en-IN" sz="3200" b="1" dirty="0">
                <a:solidFill>
                  <a:schemeClr val="tx1"/>
                </a:solidFill>
                <a:latin typeface="Calibri" panose="020F0502020204030204" pitchFamily="34" charset="0"/>
                <a:cs typeface="Calibri" panose="020F0502020204030204" pitchFamily="34" charset="0"/>
              </a:rPr>
              <a:t>Clustering</a:t>
            </a:r>
            <a:r>
              <a:rPr lang="en-IN" sz="3200" dirty="0">
                <a:solidFill>
                  <a:schemeClr val="tx1"/>
                </a:solidFill>
                <a:latin typeface="Calibri" panose="020F0502020204030204" pitchFamily="34" charset="0"/>
                <a:cs typeface="Calibri" panose="020F0502020204030204" pitchFamily="34" charset="0"/>
              </a:rPr>
              <a:t> (e.g., K-Means, DBSCAN) — grouping similar data points</a:t>
            </a:r>
          </a:p>
          <a:p>
            <a:r>
              <a:rPr lang="en-IN" sz="3200" b="1" dirty="0">
                <a:solidFill>
                  <a:schemeClr val="tx1"/>
                </a:solidFill>
                <a:latin typeface="Calibri" panose="020F0502020204030204" pitchFamily="34" charset="0"/>
                <a:cs typeface="Calibri" panose="020F0502020204030204" pitchFamily="34" charset="0"/>
              </a:rPr>
              <a:t>Dimensionality reduction</a:t>
            </a:r>
            <a:r>
              <a:rPr lang="en-IN" sz="3200" dirty="0">
                <a:solidFill>
                  <a:schemeClr val="tx1"/>
                </a:solidFill>
                <a:latin typeface="Calibri" panose="020F0502020204030204" pitchFamily="34" charset="0"/>
                <a:cs typeface="Calibri" panose="020F0502020204030204" pitchFamily="34" charset="0"/>
              </a:rPr>
              <a:t> (e.g., PCA, t-SNE) — simplifying data without losing important information</a:t>
            </a:r>
          </a:p>
          <a:p>
            <a:r>
              <a:rPr lang="en-IN" sz="3200" b="1" dirty="0">
                <a:solidFill>
                  <a:schemeClr val="tx1"/>
                </a:solidFill>
                <a:latin typeface="Calibri" panose="020F0502020204030204" pitchFamily="34" charset="0"/>
                <a:cs typeface="Calibri" panose="020F0502020204030204" pitchFamily="34" charset="0"/>
              </a:rPr>
              <a:t>Anomaly detection</a:t>
            </a:r>
            <a:r>
              <a:rPr lang="en-IN" sz="3200" dirty="0">
                <a:solidFill>
                  <a:schemeClr val="tx1"/>
                </a:solidFill>
                <a:latin typeface="Calibri" panose="020F0502020204030204" pitchFamily="34" charset="0"/>
                <a:cs typeface="Calibri" panose="020F0502020204030204" pitchFamily="34" charset="0"/>
              </a:rPr>
              <a:t> — identifying unusual data points</a:t>
            </a:r>
          </a:p>
          <a:p>
            <a:r>
              <a:rPr lang="en-IN" sz="3200" b="1" dirty="0">
                <a:solidFill>
                  <a:schemeClr val="tx1"/>
                </a:solidFill>
                <a:latin typeface="Calibri" panose="020F0502020204030204" pitchFamily="34" charset="0"/>
                <a:cs typeface="Calibri" panose="020F0502020204030204" pitchFamily="34" charset="0"/>
              </a:rPr>
              <a:t>Association rules</a:t>
            </a:r>
            <a:r>
              <a:rPr lang="en-IN" sz="3200" dirty="0">
                <a:solidFill>
                  <a:schemeClr val="tx1"/>
                </a:solidFill>
                <a:latin typeface="Calibri" panose="020F0502020204030204" pitchFamily="34" charset="0"/>
                <a:cs typeface="Calibri" panose="020F0502020204030204" pitchFamily="34" charset="0"/>
              </a:rPr>
              <a:t> (e.g., Market Basket Analysis) — finding relationships between variables</a:t>
            </a:r>
          </a:p>
          <a:p>
            <a:endParaRPr lang="en-IN" dirty="0"/>
          </a:p>
        </p:txBody>
      </p:sp>
    </p:spTree>
    <p:extLst>
      <p:ext uri="{BB962C8B-B14F-4D97-AF65-F5344CB8AC3E}">
        <p14:creationId xmlns:p14="http://schemas.microsoft.com/office/powerpoint/2010/main" val="60303563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600" dirty="0">
                <a:solidFill>
                  <a:srgbClr val="FF0000"/>
                </a:solidFill>
              </a:rPr>
              <a:t>Introduction to Clustering</a:t>
            </a:r>
          </a:p>
        </p:txBody>
      </p:sp>
      <p:sp>
        <p:nvSpPr>
          <p:cNvPr id="3" name="Text Placeholder 2"/>
          <p:cNvSpPr>
            <a:spLocks noGrp="1"/>
          </p:cNvSpPr>
          <p:nvPr>
            <p:ph type="body" idx="1"/>
          </p:nvPr>
        </p:nvSpPr>
        <p:spPr/>
        <p:txBody>
          <a:bodyPr>
            <a:normAutofit/>
          </a:bodyPr>
          <a:lstStyle/>
          <a:p>
            <a:r>
              <a:rPr lang="en-US" sz="2400" b="1" dirty="0">
                <a:solidFill>
                  <a:schemeClr val="tx1"/>
                </a:solidFill>
              </a:rPr>
              <a:t>Clustering</a:t>
            </a:r>
            <a:r>
              <a:rPr lang="en-US" sz="2400" dirty="0">
                <a:solidFill>
                  <a:schemeClr val="tx1"/>
                </a:solidFill>
              </a:rPr>
              <a:t> is a type of </a:t>
            </a:r>
            <a:r>
              <a:rPr lang="en-US" sz="2400" b="1" dirty="0">
                <a:solidFill>
                  <a:schemeClr val="tx1"/>
                </a:solidFill>
              </a:rPr>
              <a:t>unsupervised learning</a:t>
            </a:r>
            <a:r>
              <a:rPr lang="en-US" sz="2400" dirty="0">
                <a:solidFill>
                  <a:schemeClr val="tx1"/>
                </a:solidFill>
              </a:rPr>
              <a:t> where the goal is to </a:t>
            </a:r>
            <a:r>
              <a:rPr lang="en-US" sz="2400" b="1" dirty="0">
                <a:solidFill>
                  <a:schemeClr val="tx1"/>
                </a:solidFill>
              </a:rPr>
              <a:t>group similar data points together</a:t>
            </a:r>
            <a:r>
              <a:rPr lang="en-US" sz="2400" dirty="0">
                <a:solidFill>
                  <a:schemeClr val="tx1"/>
                </a:solidFill>
              </a:rPr>
              <a:t> based on their features — </a:t>
            </a:r>
            <a:r>
              <a:rPr lang="en-US" sz="2400" b="1" dirty="0">
                <a:solidFill>
                  <a:schemeClr val="tx1"/>
                </a:solidFill>
              </a:rPr>
              <a:t>without</a:t>
            </a:r>
            <a:r>
              <a:rPr lang="en-US" sz="2400" dirty="0">
                <a:solidFill>
                  <a:schemeClr val="tx1"/>
                </a:solidFill>
              </a:rPr>
              <a:t> having any predefined labels.</a:t>
            </a:r>
            <a:endParaRPr lang="en-IN" sz="2400" dirty="0">
              <a:solidFill>
                <a:schemeClr val="tx1"/>
              </a:solidFill>
            </a:endParaRPr>
          </a:p>
        </p:txBody>
      </p:sp>
      <p:sp>
        <p:nvSpPr>
          <p:cNvPr id="4" name="Rectangle 3"/>
          <p:cNvSpPr/>
          <p:nvPr/>
        </p:nvSpPr>
        <p:spPr>
          <a:xfrm>
            <a:off x="4185211" y="3218209"/>
            <a:ext cx="2452048" cy="1569660"/>
          </a:xfrm>
          <a:prstGeom prst="rect">
            <a:avLst/>
          </a:prstGeom>
          <a:ln>
            <a:solidFill>
              <a:schemeClr val="accent1"/>
            </a:solidFill>
          </a:ln>
        </p:spPr>
        <p:txBody>
          <a:bodyPr wrap="square">
            <a:spAutoFit/>
          </a:bodyPr>
          <a:lstStyle/>
          <a:p>
            <a:r>
              <a:rPr lang="en-IN" sz="3200" b="1" dirty="0"/>
              <a:t> . .       . . .</a:t>
            </a:r>
          </a:p>
          <a:p>
            <a:r>
              <a:rPr lang="en-IN" sz="3200" b="1" dirty="0"/>
              <a:t> .   .     .   .</a:t>
            </a:r>
          </a:p>
          <a:p>
            <a:r>
              <a:rPr lang="en-IN" sz="3200" b="1" dirty="0"/>
              <a:t>    .       .</a:t>
            </a:r>
          </a:p>
        </p:txBody>
      </p:sp>
      <p:sp>
        <p:nvSpPr>
          <p:cNvPr id="5" name="Rectangle 4"/>
          <p:cNvSpPr/>
          <p:nvPr/>
        </p:nvSpPr>
        <p:spPr>
          <a:xfrm>
            <a:off x="887104" y="5577432"/>
            <a:ext cx="10140287" cy="830997"/>
          </a:xfrm>
          <a:prstGeom prst="rect">
            <a:avLst/>
          </a:prstGeom>
          <a:solidFill>
            <a:schemeClr val="accent3">
              <a:lumMod val="20000"/>
              <a:lumOff val="80000"/>
            </a:schemeClr>
          </a:solidFill>
          <a:ln>
            <a:solidFill>
              <a:schemeClr val="accent1"/>
            </a:solidFill>
          </a:ln>
        </p:spPr>
        <p:txBody>
          <a:bodyPr wrap="square">
            <a:spAutoFit/>
          </a:bodyPr>
          <a:lstStyle/>
          <a:p>
            <a:r>
              <a:rPr lang="en-US" sz="2400" dirty="0"/>
              <a:t>A clustering algorithm would group the left side dots into one cluster and the right-side dots into another cluster — without you telling it anything!</a:t>
            </a:r>
            <a:endParaRPr lang="en-IN" sz="2400" dirty="0"/>
          </a:p>
        </p:txBody>
      </p:sp>
    </p:spTree>
    <p:extLst>
      <p:ext uri="{BB962C8B-B14F-4D97-AF65-F5344CB8AC3E}">
        <p14:creationId xmlns:p14="http://schemas.microsoft.com/office/powerpoint/2010/main" val="2056276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304" y="307326"/>
            <a:ext cx="11360800" cy="763600"/>
          </a:xfrm>
        </p:spPr>
        <p:txBody>
          <a:bodyPr>
            <a:normAutofit/>
          </a:bodyPr>
          <a:lstStyle/>
          <a:p>
            <a:r>
              <a:rPr lang="en-US" sz="3200" b="1" dirty="0">
                <a:solidFill>
                  <a:srgbClr val="FF0000"/>
                </a:solidFill>
              </a:rPr>
              <a:t>  </a:t>
            </a:r>
            <a:r>
              <a:rPr lang="en-US" sz="3200" b="1" dirty="0">
                <a:solidFill>
                  <a:srgbClr val="FF0000"/>
                </a:solidFill>
                <a:latin typeface="Calibri" panose="020F0502020204030204" pitchFamily="34" charset="0"/>
                <a:cs typeface="Calibri" panose="020F0502020204030204" pitchFamily="34" charset="0"/>
              </a:rPr>
              <a:t>How clustering works (basic idea)</a:t>
            </a:r>
            <a:endParaRPr lang="en-IN" sz="3200" b="1" dirty="0">
              <a:solidFill>
                <a:srgbClr val="FF0000"/>
              </a:solidFill>
              <a:latin typeface="Calibri" panose="020F0502020204030204" pitchFamily="34" charset="0"/>
              <a:cs typeface="Calibri" panose="020F0502020204030204" pitchFamily="34" charset="0"/>
            </a:endParaRPr>
          </a:p>
        </p:txBody>
      </p:sp>
      <p:sp>
        <p:nvSpPr>
          <p:cNvPr id="4" name="Rectangle 1"/>
          <p:cNvSpPr>
            <a:spLocks noGrp="1" noChangeArrowheads="1"/>
          </p:cNvSpPr>
          <p:nvPr>
            <p:ph type="body" idx="1"/>
          </p:nvPr>
        </p:nvSpPr>
        <p:spPr bwMode="auto">
          <a:xfrm>
            <a:off x="552076" y="1062536"/>
            <a:ext cx="8736687" cy="136652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r>
              <a:rPr lang="en-US" sz="2400" dirty="0">
                <a:solidFill>
                  <a:schemeClr val="tx1"/>
                </a:solidFill>
              </a:rPr>
              <a:t>You give the model a set of points.</a:t>
            </a:r>
          </a:p>
          <a:p>
            <a:r>
              <a:rPr lang="en-US" sz="2400" dirty="0">
                <a:solidFill>
                  <a:schemeClr val="tx1"/>
                </a:solidFill>
              </a:rPr>
              <a:t>The model measures </a:t>
            </a:r>
            <a:r>
              <a:rPr lang="en-US" sz="2400" b="1" dirty="0">
                <a:solidFill>
                  <a:schemeClr val="tx1"/>
                </a:solidFill>
              </a:rPr>
              <a:t>how close</a:t>
            </a:r>
            <a:r>
              <a:rPr lang="en-US" sz="2400" dirty="0">
                <a:solidFill>
                  <a:schemeClr val="tx1"/>
                </a:solidFill>
              </a:rPr>
              <a:t> or </a:t>
            </a:r>
            <a:r>
              <a:rPr lang="en-US" sz="2400" b="1" dirty="0">
                <a:solidFill>
                  <a:schemeClr val="tx1"/>
                </a:solidFill>
              </a:rPr>
              <a:t>similar</a:t>
            </a:r>
            <a:r>
              <a:rPr lang="en-US" sz="2400" dirty="0">
                <a:solidFill>
                  <a:schemeClr val="tx1"/>
                </a:solidFill>
              </a:rPr>
              <a:t> the points are.</a:t>
            </a:r>
          </a:p>
          <a:p>
            <a:r>
              <a:rPr lang="en-US" sz="2400" dirty="0">
                <a:solidFill>
                  <a:schemeClr val="tx1"/>
                </a:solidFill>
              </a:rPr>
              <a:t>It </a:t>
            </a:r>
            <a:r>
              <a:rPr lang="en-US" sz="2400" b="1" dirty="0">
                <a:solidFill>
                  <a:schemeClr val="tx1"/>
                </a:solidFill>
              </a:rPr>
              <a:t>groups</a:t>
            </a:r>
            <a:r>
              <a:rPr lang="en-US" sz="2400" dirty="0">
                <a:solidFill>
                  <a:schemeClr val="tx1"/>
                </a:solidFill>
              </a:rPr>
              <a:t> points that are </a:t>
            </a:r>
            <a:r>
              <a:rPr lang="en-US" sz="2400" b="1" dirty="0">
                <a:solidFill>
                  <a:schemeClr val="tx1"/>
                </a:solidFill>
              </a:rPr>
              <a:t>more alike</a:t>
            </a:r>
            <a:r>
              <a:rPr lang="en-US" sz="2400" dirty="0">
                <a:solidFill>
                  <a:schemeClr val="tx1"/>
                </a:solidFill>
              </a:rPr>
              <a:t> into clusters.</a:t>
            </a:r>
          </a:p>
        </p:txBody>
      </p:sp>
      <p:graphicFrame>
        <p:nvGraphicFramePr>
          <p:cNvPr id="5" name="Table 4"/>
          <p:cNvGraphicFramePr>
            <a:graphicFrameLocks noGrp="1"/>
          </p:cNvGraphicFramePr>
          <p:nvPr>
            <p:extLst>
              <p:ext uri="{D42A27DB-BD31-4B8C-83A1-F6EECF244321}">
                <p14:modId xmlns:p14="http://schemas.microsoft.com/office/powerpoint/2010/main" val="1651998244"/>
              </p:ext>
            </p:extLst>
          </p:nvPr>
        </p:nvGraphicFramePr>
        <p:xfrm>
          <a:off x="552076" y="3416264"/>
          <a:ext cx="11360150" cy="3347777"/>
        </p:xfrm>
        <a:graphic>
          <a:graphicData uri="http://schemas.openxmlformats.org/drawingml/2006/table">
            <a:tbl>
              <a:tblPr/>
              <a:tblGrid>
                <a:gridCol w="3991789">
                  <a:extLst>
                    <a:ext uri="{9D8B030D-6E8A-4147-A177-3AD203B41FA5}">
                      <a16:colId xmlns:a16="http://schemas.microsoft.com/office/drawing/2014/main" val="20000"/>
                    </a:ext>
                  </a:extLst>
                </a:gridCol>
                <a:gridCol w="7368361">
                  <a:extLst>
                    <a:ext uri="{9D8B030D-6E8A-4147-A177-3AD203B41FA5}">
                      <a16:colId xmlns:a16="http://schemas.microsoft.com/office/drawing/2014/main" val="20001"/>
                    </a:ext>
                  </a:extLst>
                </a:gridCol>
              </a:tblGrid>
              <a:tr h="509120">
                <a:tc>
                  <a:txBody>
                    <a:bodyPr/>
                    <a:lstStyle/>
                    <a:p>
                      <a:r>
                        <a:rPr lang="en-IN" sz="2400" dirty="0">
                          <a:solidFill>
                            <a:srgbClr val="0070C0"/>
                          </a:solidFill>
                        </a:rPr>
                        <a:t>Algorithm</a:t>
                      </a:r>
                    </a:p>
                  </a:txBody>
                  <a:tcPr anchor="ctr">
                    <a:lnL>
                      <a:noFill/>
                    </a:lnL>
                    <a:lnR>
                      <a:noFill/>
                    </a:lnR>
                    <a:lnT>
                      <a:noFill/>
                    </a:lnT>
                    <a:lnB>
                      <a:noFill/>
                    </a:lnB>
                  </a:tcPr>
                </a:tc>
                <a:tc>
                  <a:txBody>
                    <a:bodyPr/>
                    <a:lstStyle/>
                    <a:p>
                      <a:r>
                        <a:rPr lang="en-IN" sz="2400" b="0" i="0" u="none" strike="noStrike" cap="none" dirty="0">
                          <a:solidFill>
                            <a:srgbClr val="0070C0"/>
                          </a:solidFill>
                          <a:latin typeface="+mn-lt"/>
                          <a:ea typeface="+mn-ea"/>
                          <a:cs typeface="+mn-cs"/>
                          <a:sym typeface="Arial"/>
                        </a:rPr>
                        <a:t>What it does</a:t>
                      </a:r>
                    </a:p>
                  </a:txBody>
                  <a:tcPr anchor="ctr">
                    <a:lnL>
                      <a:noFill/>
                    </a:lnL>
                    <a:lnR>
                      <a:noFill/>
                    </a:lnR>
                    <a:lnT>
                      <a:noFill/>
                    </a:lnT>
                    <a:lnB>
                      <a:noFill/>
                    </a:lnB>
                  </a:tcPr>
                </a:tc>
                <a:extLst>
                  <a:ext uri="{0D108BD9-81ED-4DB2-BD59-A6C34878D82A}">
                    <a16:rowId xmlns:a16="http://schemas.microsoft.com/office/drawing/2014/main" val="10000"/>
                  </a:ext>
                </a:extLst>
              </a:tr>
              <a:tr h="735537">
                <a:tc>
                  <a:txBody>
                    <a:bodyPr/>
                    <a:lstStyle/>
                    <a:p>
                      <a:r>
                        <a:rPr lang="en-IN" sz="2400" b="1" dirty="0">
                          <a:latin typeface="Calibri" panose="020F0502020204030204" pitchFamily="34" charset="0"/>
                          <a:cs typeface="Calibri" panose="020F0502020204030204" pitchFamily="34" charset="0"/>
                        </a:rPr>
                        <a:t>K-Means</a:t>
                      </a:r>
                      <a:endParaRPr lang="en-IN"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Divides data into 'k' groups, tries to minimize the distance inside each group</a:t>
                      </a:r>
                    </a:p>
                  </a:txBody>
                  <a:tcPr anchor="ctr">
                    <a:lnL>
                      <a:noFill/>
                    </a:lnL>
                    <a:lnR>
                      <a:noFill/>
                    </a:lnR>
                    <a:lnT>
                      <a:noFill/>
                    </a:lnT>
                    <a:lnB>
                      <a:noFill/>
                    </a:lnB>
                  </a:tcPr>
                </a:tc>
                <a:extLst>
                  <a:ext uri="{0D108BD9-81ED-4DB2-BD59-A6C34878D82A}">
                    <a16:rowId xmlns:a16="http://schemas.microsoft.com/office/drawing/2014/main" val="10001"/>
                  </a:ext>
                </a:extLst>
              </a:tr>
              <a:tr h="418680">
                <a:tc>
                  <a:txBody>
                    <a:bodyPr/>
                    <a:lstStyle/>
                    <a:p>
                      <a:r>
                        <a:rPr lang="en-IN" sz="2400" b="1" dirty="0">
                          <a:latin typeface="Calibri" panose="020F0502020204030204" pitchFamily="34" charset="0"/>
                          <a:cs typeface="Calibri" panose="020F0502020204030204" pitchFamily="34" charset="0"/>
                        </a:rPr>
                        <a:t>Hierarchical Clustering</a:t>
                      </a:r>
                      <a:endParaRPr lang="en-IN"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Builds a tree of clusters based on distance</a:t>
                      </a:r>
                    </a:p>
                  </a:txBody>
                  <a:tcPr anchor="ctr">
                    <a:lnL>
                      <a:noFill/>
                    </a:lnL>
                    <a:lnR>
                      <a:noFill/>
                    </a:lnR>
                    <a:lnT>
                      <a:noFill/>
                    </a:lnT>
                    <a:lnB>
                      <a:noFill/>
                    </a:lnB>
                  </a:tcPr>
                </a:tc>
                <a:extLst>
                  <a:ext uri="{0D108BD9-81ED-4DB2-BD59-A6C34878D82A}">
                    <a16:rowId xmlns:a16="http://schemas.microsoft.com/office/drawing/2014/main" val="10002"/>
                  </a:ext>
                </a:extLst>
              </a:tr>
              <a:tr h="735537">
                <a:tc>
                  <a:txBody>
                    <a:bodyPr/>
                    <a:lstStyle/>
                    <a:p>
                      <a:r>
                        <a:rPr lang="en-IN" sz="2400" b="1">
                          <a:latin typeface="Calibri" panose="020F0502020204030204" pitchFamily="34" charset="0"/>
                          <a:cs typeface="Calibri" panose="020F0502020204030204" pitchFamily="34" charset="0"/>
                        </a:rPr>
                        <a:t>DBSCAN</a:t>
                      </a:r>
                      <a:endParaRPr lang="en-IN" sz="240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Groups closely packed points and marks others as noise</a:t>
                      </a:r>
                    </a:p>
                  </a:txBody>
                  <a:tcPr anchor="ctr">
                    <a:lnL>
                      <a:noFill/>
                    </a:lnL>
                    <a:lnR>
                      <a:noFill/>
                    </a:lnR>
                    <a:lnT>
                      <a:noFill/>
                    </a:lnT>
                    <a:lnB>
                      <a:noFill/>
                    </a:lnB>
                  </a:tcPr>
                </a:tc>
                <a:extLst>
                  <a:ext uri="{0D108BD9-81ED-4DB2-BD59-A6C34878D82A}">
                    <a16:rowId xmlns:a16="http://schemas.microsoft.com/office/drawing/2014/main" val="10003"/>
                  </a:ext>
                </a:extLst>
              </a:tr>
              <a:tr h="735537">
                <a:tc>
                  <a:txBody>
                    <a:bodyPr/>
                    <a:lstStyle/>
                    <a:p>
                      <a:r>
                        <a:rPr lang="en-IN" sz="2400" b="1" dirty="0">
                          <a:latin typeface="Calibri" panose="020F0502020204030204" pitchFamily="34" charset="0"/>
                          <a:cs typeface="Calibri" panose="020F0502020204030204" pitchFamily="34" charset="0"/>
                        </a:rPr>
                        <a:t>Mean Shift</a:t>
                      </a:r>
                      <a:endParaRPr lang="en-IN" sz="2400" dirty="0">
                        <a:latin typeface="Calibri" panose="020F0502020204030204" pitchFamily="34" charset="0"/>
                        <a:cs typeface="Calibri" panose="020F0502020204030204" pitchFamily="34" charset="0"/>
                      </a:endParaRPr>
                    </a:p>
                  </a:txBody>
                  <a:tcPr anchor="ctr">
                    <a:lnL>
                      <a:noFill/>
                    </a:lnL>
                    <a:lnR>
                      <a:noFill/>
                    </a:lnR>
                    <a:lnT>
                      <a:noFill/>
                    </a:lnT>
                    <a:lnB>
                      <a:noFill/>
                    </a:lnB>
                  </a:tcPr>
                </a:tc>
                <a:tc>
                  <a:txBody>
                    <a:bodyPr/>
                    <a:lstStyle/>
                    <a:p>
                      <a:r>
                        <a:rPr lang="en-US" sz="2400" dirty="0">
                          <a:latin typeface="Calibri" panose="020F0502020204030204" pitchFamily="34" charset="0"/>
                          <a:cs typeface="Calibri" panose="020F0502020204030204" pitchFamily="34" charset="0"/>
                        </a:rPr>
                        <a:t>Finds clusters by shifting points toward the highest data density</a:t>
                      </a:r>
                    </a:p>
                  </a:txBody>
                  <a:tcPr anchor="ctr">
                    <a:lnL>
                      <a:noFill/>
                    </a:lnL>
                    <a:lnR>
                      <a:noFill/>
                    </a:lnR>
                    <a:lnT>
                      <a:noFill/>
                    </a:lnT>
                    <a:lnB>
                      <a:noFill/>
                    </a:lnB>
                  </a:tcPr>
                </a:tc>
                <a:extLst>
                  <a:ext uri="{0D108BD9-81ED-4DB2-BD59-A6C34878D82A}">
                    <a16:rowId xmlns:a16="http://schemas.microsoft.com/office/drawing/2014/main" val="10004"/>
                  </a:ext>
                </a:extLst>
              </a:tr>
            </a:tbl>
          </a:graphicData>
        </a:graphic>
      </p:graphicFrame>
      <p:sp>
        <p:nvSpPr>
          <p:cNvPr id="6" name="Rectangle 2"/>
          <p:cNvSpPr>
            <a:spLocks noChangeArrowheads="1"/>
          </p:cNvSpPr>
          <p:nvPr/>
        </p:nvSpPr>
        <p:spPr bwMode="auto">
          <a:xfrm>
            <a:off x="552076" y="2661054"/>
            <a:ext cx="6408281"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800" b="1" i="0" u="none" strike="noStrike" cap="none" normalizeH="0" baseline="0" dirty="0">
                <a:ln>
                  <a:noFill/>
                </a:ln>
                <a:solidFill>
                  <a:srgbClr val="FF0000"/>
                </a:solidFill>
                <a:effectLst/>
                <a:latin typeface="Arial" panose="020B0604020202020204" pitchFamily="34" charset="0"/>
              </a:rPr>
              <a:t>Common Clustering Algorithms</a:t>
            </a:r>
          </a:p>
        </p:txBody>
      </p:sp>
    </p:spTree>
    <p:extLst>
      <p:ext uri="{BB962C8B-B14F-4D97-AF65-F5344CB8AC3E}">
        <p14:creationId xmlns:p14="http://schemas.microsoft.com/office/powerpoint/2010/main" val="13990257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0066" y="197582"/>
            <a:ext cx="11360800" cy="763600"/>
          </a:xfrm>
        </p:spPr>
        <p:txBody>
          <a:bodyPr>
            <a:normAutofit/>
          </a:bodyPr>
          <a:lstStyle/>
          <a:p>
            <a:r>
              <a:rPr lang="en-US" sz="3600" dirty="0">
                <a:solidFill>
                  <a:srgbClr val="FF0000"/>
                </a:solidFill>
              </a:rPr>
              <a:t>Applications</a:t>
            </a:r>
            <a:endParaRPr lang="en-IN" sz="3600" dirty="0">
              <a:solidFill>
                <a:srgbClr val="FF0000"/>
              </a:solidFill>
            </a:endParaRPr>
          </a:p>
        </p:txBody>
      </p:sp>
      <p:sp>
        <p:nvSpPr>
          <p:cNvPr id="3" name="Text Placeholder 2"/>
          <p:cNvSpPr>
            <a:spLocks noGrp="1"/>
          </p:cNvSpPr>
          <p:nvPr>
            <p:ph type="body" idx="1"/>
          </p:nvPr>
        </p:nvSpPr>
        <p:spPr>
          <a:xfrm>
            <a:off x="320066" y="1234868"/>
            <a:ext cx="11360800" cy="5425550"/>
          </a:xfrm>
        </p:spPr>
        <p:txBody>
          <a:bodyPr>
            <a:noAutofit/>
          </a:bodyPr>
          <a:lstStyle/>
          <a:p>
            <a:r>
              <a:rPr lang="en-US" sz="2000" b="1" dirty="0">
                <a:solidFill>
                  <a:schemeClr val="tx1"/>
                </a:solidFill>
                <a:latin typeface="Calibri" panose="020F0502020204030204" pitchFamily="34" charset="0"/>
                <a:cs typeface="Calibri" panose="020F0502020204030204" pitchFamily="34" charset="0"/>
              </a:rPr>
              <a:t>Document Classification</a:t>
            </a:r>
            <a:r>
              <a:rPr lang="en-US" sz="2000" dirty="0">
                <a:solidFill>
                  <a:schemeClr val="tx1"/>
                </a:solidFill>
                <a:latin typeface="Calibri" panose="020F0502020204030204" pitchFamily="34" charset="0"/>
                <a:cs typeface="Calibri" panose="020F0502020204030204" pitchFamily="34" charset="0"/>
              </a:rPr>
              <a:t>: Using k-means clustering, we can divide documents into various clusters based on their content, topics, and tags. </a:t>
            </a:r>
          </a:p>
          <a:p>
            <a:r>
              <a:rPr lang="en-US" sz="2000" b="1" dirty="0">
                <a:solidFill>
                  <a:schemeClr val="tx1"/>
                </a:solidFill>
                <a:latin typeface="Calibri" panose="020F0502020204030204" pitchFamily="34" charset="0"/>
                <a:cs typeface="Calibri" panose="020F0502020204030204" pitchFamily="34" charset="0"/>
              </a:rPr>
              <a:t>Customer segmentation</a:t>
            </a:r>
            <a:r>
              <a:rPr lang="en-US" sz="2000" dirty="0">
                <a:solidFill>
                  <a:schemeClr val="tx1"/>
                </a:solidFill>
                <a:latin typeface="Calibri" panose="020F0502020204030204" pitchFamily="34" charset="0"/>
                <a:cs typeface="Calibri" panose="020F0502020204030204" pitchFamily="34" charset="0"/>
              </a:rPr>
              <a:t>: Supermarkets and e-commerce websites divide their customers into various clusters based on their transaction data and demography. This helps the business to target appropriate customers with relevant products to increase sales. </a:t>
            </a:r>
          </a:p>
          <a:p>
            <a:r>
              <a:rPr lang="en-US" sz="2000" b="1" dirty="0">
                <a:solidFill>
                  <a:schemeClr val="tx1"/>
                </a:solidFill>
                <a:latin typeface="Calibri" panose="020F0502020204030204" pitchFamily="34" charset="0"/>
                <a:cs typeface="Calibri" panose="020F0502020204030204" pitchFamily="34" charset="0"/>
              </a:rPr>
              <a:t>Cyber profiling</a:t>
            </a:r>
            <a:r>
              <a:rPr lang="en-US" sz="2000" dirty="0">
                <a:solidFill>
                  <a:schemeClr val="tx1"/>
                </a:solidFill>
                <a:latin typeface="Calibri" panose="020F0502020204030204" pitchFamily="34" charset="0"/>
                <a:cs typeface="Calibri" panose="020F0502020204030204" pitchFamily="34" charset="0"/>
              </a:rPr>
              <a:t>: In cyber profiling, we collect  data from individuals as well as groups to identify their relationships. With k-means clustering, we can easily make clusters of people based on their connection to each other to identify any available patterns. </a:t>
            </a:r>
          </a:p>
          <a:p>
            <a:r>
              <a:rPr lang="en-US" sz="2000" b="1" dirty="0">
                <a:solidFill>
                  <a:schemeClr val="tx1"/>
                </a:solidFill>
                <a:latin typeface="Calibri" panose="020F0502020204030204" pitchFamily="34" charset="0"/>
                <a:cs typeface="Calibri" panose="020F0502020204030204" pitchFamily="34" charset="0"/>
              </a:rPr>
              <a:t>Image segmentation</a:t>
            </a:r>
            <a:r>
              <a:rPr lang="en-US" sz="2000" dirty="0">
                <a:solidFill>
                  <a:schemeClr val="tx1"/>
                </a:solidFill>
                <a:latin typeface="Calibri" panose="020F0502020204030204" pitchFamily="34" charset="0"/>
                <a:cs typeface="Calibri" panose="020F0502020204030204" pitchFamily="34" charset="0"/>
              </a:rPr>
              <a:t>: We can use k-means clustering to perform image segmentation by grouping similar pixels into clusters.</a:t>
            </a:r>
          </a:p>
          <a:p>
            <a:r>
              <a:rPr lang="en-US" sz="2000" b="1" dirty="0">
                <a:solidFill>
                  <a:schemeClr val="tx1"/>
                </a:solidFill>
                <a:latin typeface="Calibri" panose="020F0502020204030204" pitchFamily="34" charset="0"/>
                <a:cs typeface="Calibri" panose="020F0502020204030204" pitchFamily="34" charset="0"/>
              </a:rPr>
              <a:t>Fraud detection in banking and insurance</a:t>
            </a:r>
            <a:r>
              <a:rPr lang="en-US" sz="2000" dirty="0">
                <a:solidFill>
                  <a:schemeClr val="tx1"/>
                </a:solidFill>
                <a:latin typeface="Calibri" panose="020F0502020204030204" pitchFamily="34" charset="0"/>
                <a:cs typeface="Calibri" panose="020F0502020204030204" pitchFamily="34" charset="0"/>
              </a:rPr>
              <a:t>: By using historical data on frauds, banks and insurance agencies can predict potential frauds by the application of k-means clustering. </a:t>
            </a:r>
          </a:p>
          <a:p>
            <a:endParaRPr lang="en-IN" sz="2400" dirty="0">
              <a:solidFill>
                <a:schemeClr val="tx1"/>
              </a:solidFill>
            </a:endParaRPr>
          </a:p>
        </p:txBody>
      </p:sp>
    </p:spTree>
    <p:extLst>
      <p:ext uri="{BB962C8B-B14F-4D97-AF65-F5344CB8AC3E}">
        <p14:creationId xmlns:p14="http://schemas.microsoft.com/office/powerpoint/2010/main" val="39896354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C407C-089E-D710-1E84-05834E6733E7}"/>
              </a:ext>
            </a:extLst>
          </p:cNvPr>
          <p:cNvSpPr>
            <a:spLocks noGrp="1"/>
          </p:cNvSpPr>
          <p:nvPr>
            <p:ph type="title"/>
          </p:nvPr>
        </p:nvSpPr>
        <p:spPr/>
        <p:txBody>
          <a:bodyPr>
            <a:normAutofit/>
          </a:bodyPr>
          <a:lstStyle/>
          <a:p>
            <a:r>
              <a:rPr lang="en-US" sz="3200" b="1" dirty="0">
                <a:solidFill>
                  <a:srgbClr val="FF0000"/>
                </a:solidFill>
              </a:rPr>
              <a:t>K-MEANS CLUSTERING</a:t>
            </a:r>
            <a:endParaRPr lang="en-IN" sz="3200" b="1" dirty="0">
              <a:solidFill>
                <a:srgbClr val="FF0000"/>
              </a:solidFill>
            </a:endParaRPr>
          </a:p>
        </p:txBody>
      </p:sp>
      <p:sp>
        <p:nvSpPr>
          <p:cNvPr id="3" name="Text Placeholder 2">
            <a:extLst>
              <a:ext uri="{FF2B5EF4-FFF2-40B4-BE49-F238E27FC236}">
                <a16:creationId xmlns:a16="http://schemas.microsoft.com/office/drawing/2014/main" id="{676BCA84-889F-C852-B2D7-E6F43472DCB5}"/>
              </a:ext>
            </a:extLst>
          </p:cNvPr>
          <p:cNvSpPr>
            <a:spLocks noGrp="1"/>
          </p:cNvSpPr>
          <p:nvPr>
            <p:ph type="body" idx="1"/>
          </p:nvPr>
        </p:nvSpPr>
        <p:spPr/>
        <p:txBody>
          <a:bodyPr>
            <a:normAutofit fontScale="92500" lnSpcReduction="10000"/>
          </a:bodyPr>
          <a:lstStyle/>
          <a:p>
            <a:pPr algn="just"/>
            <a:r>
              <a:rPr lang="en-US" sz="2800" dirty="0">
                <a:solidFill>
                  <a:schemeClr val="tx1"/>
                </a:solidFill>
                <a:latin typeface="Calibri" panose="020F0502020204030204" pitchFamily="34" charset="0"/>
                <a:cs typeface="Calibri" panose="020F0502020204030204" pitchFamily="34" charset="0"/>
              </a:rPr>
              <a:t>K-means clustering is an unsupervised machine learning algorithm used to group data points into clusters based on their similarity</a:t>
            </a:r>
          </a:p>
          <a:p>
            <a:pPr marL="152396" indent="0" algn="just">
              <a:buNone/>
            </a:pPr>
            <a:endParaRPr lang="en-US" sz="2800" dirty="0">
              <a:solidFill>
                <a:schemeClr val="tx1"/>
              </a:solidFill>
              <a:latin typeface="Calibri" panose="020F0502020204030204" pitchFamily="34" charset="0"/>
              <a:cs typeface="Calibri" panose="020F0502020204030204" pitchFamily="34" charset="0"/>
            </a:endParaRPr>
          </a:p>
          <a:p>
            <a:pPr algn="just"/>
            <a:r>
              <a:rPr lang="en-US" sz="2800" dirty="0">
                <a:solidFill>
                  <a:schemeClr val="tx1"/>
                </a:solidFill>
                <a:latin typeface="Calibri" panose="020F0502020204030204" pitchFamily="34" charset="0"/>
                <a:cs typeface="Calibri" panose="020F0502020204030204" pitchFamily="34" charset="0"/>
              </a:rPr>
              <a:t>The algorithm works by iteratively assigning data points to the nearest cluster centroid (</a:t>
            </a:r>
            <a:r>
              <a:rPr lang="en-US" sz="2800" b="0" i="0" dirty="0">
                <a:solidFill>
                  <a:srgbClr val="545D7E"/>
                </a:solidFill>
                <a:effectLst/>
                <a:latin typeface="Calibri" panose="020F0502020204030204" pitchFamily="34" charset="0"/>
                <a:cs typeface="Calibri" panose="020F0502020204030204" pitchFamily="34" charset="0"/>
              </a:rPr>
              <a:t>The mean of the data points within each cluster, serving as the center of the cluster) </a:t>
            </a:r>
            <a:r>
              <a:rPr lang="en-US" sz="2800" dirty="0">
                <a:solidFill>
                  <a:schemeClr val="tx1"/>
                </a:solidFill>
                <a:latin typeface="Calibri" panose="020F0502020204030204" pitchFamily="34" charset="0"/>
                <a:cs typeface="Calibri" panose="020F0502020204030204" pitchFamily="34" charset="0"/>
              </a:rPr>
              <a:t>, and then recalculating the centroid positions until the clusters stabilize</a:t>
            </a:r>
          </a:p>
          <a:p>
            <a:pPr algn="just"/>
            <a:endParaRPr lang="en-US" sz="2800" dirty="0">
              <a:solidFill>
                <a:schemeClr val="tx1"/>
              </a:solidFill>
              <a:latin typeface="Calibri" panose="020F0502020204030204" pitchFamily="34" charset="0"/>
              <a:cs typeface="Calibri" panose="020F0502020204030204" pitchFamily="34" charset="0"/>
            </a:endParaRPr>
          </a:p>
          <a:p>
            <a:pPr algn="just"/>
            <a:r>
              <a:rPr lang="en-US" sz="2800" dirty="0">
                <a:solidFill>
                  <a:schemeClr val="tx1"/>
                </a:solidFill>
                <a:latin typeface="Calibri" panose="020F0502020204030204" pitchFamily="34" charset="0"/>
                <a:cs typeface="Calibri" panose="020F0502020204030204" pitchFamily="34" charset="0"/>
              </a:rPr>
              <a:t>The goal is to minimize the distance between data points and their assigned cluster centroids</a:t>
            </a:r>
            <a:r>
              <a:rPr lang="en-US" sz="2800" b="0" i="0" dirty="0">
                <a:solidFill>
                  <a:srgbClr val="001D35"/>
                </a:solidFill>
                <a:effectLst/>
                <a:latin typeface="Google Sans"/>
              </a:rPr>
              <a:t>. </a:t>
            </a:r>
            <a:endParaRPr lang="en-IN" sz="2800" dirty="0">
              <a:solidFill>
                <a:schemeClr val="tx1"/>
              </a:solidFill>
            </a:endParaRPr>
          </a:p>
        </p:txBody>
      </p:sp>
    </p:spTree>
    <p:extLst>
      <p:ext uri="{BB962C8B-B14F-4D97-AF65-F5344CB8AC3E}">
        <p14:creationId xmlns:p14="http://schemas.microsoft.com/office/powerpoint/2010/main" val="69012095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B6ED3-BF30-47C2-8171-6BFABE9BC93B}"/>
              </a:ext>
            </a:extLst>
          </p:cNvPr>
          <p:cNvSpPr>
            <a:spLocks noGrp="1"/>
          </p:cNvSpPr>
          <p:nvPr>
            <p:ph type="title"/>
          </p:nvPr>
        </p:nvSpPr>
        <p:spPr>
          <a:xfrm>
            <a:off x="415600" y="213539"/>
            <a:ext cx="11360800" cy="763600"/>
          </a:xfrm>
        </p:spPr>
        <p:txBody>
          <a:bodyPr/>
          <a:lstStyle/>
          <a:p>
            <a:r>
              <a:rPr lang="en-US" sz="2800" b="1" dirty="0">
                <a:solidFill>
                  <a:srgbClr val="FF0000"/>
                </a:solidFill>
              </a:rPr>
              <a:t>K-MEANS CLUSTERING</a:t>
            </a:r>
            <a:endParaRPr lang="en-IN" dirty="0"/>
          </a:p>
        </p:txBody>
      </p:sp>
      <p:sp>
        <p:nvSpPr>
          <p:cNvPr id="4" name="Rectangle 1">
            <a:extLst>
              <a:ext uri="{FF2B5EF4-FFF2-40B4-BE49-F238E27FC236}">
                <a16:creationId xmlns:a16="http://schemas.microsoft.com/office/drawing/2014/main" id="{A5EFF95A-FA46-6BBD-AC20-08FDA8E34EF8}"/>
              </a:ext>
            </a:extLst>
          </p:cNvPr>
          <p:cNvSpPr>
            <a:spLocks noGrp="1" noChangeArrowheads="1"/>
          </p:cNvSpPr>
          <p:nvPr>
            <p:ph type="body" idx="1"/>
          </p:nvPr>
        </p:nvSpPr>
        <p:spPr bwMode="auto">
          <a:xfrm>
            <a:off x="415600" y="1176762"/>
            <a:ext cx="11360800" cy="568123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63480" rIns="0" bIns="12696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 Initialization</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1066785" lvl="1" indent="-457200" eaLnBrk="0" fontAlgn="base" hangingPunct="0">
              <a:lnSpc>
                <a:spcPct val="100000"/>
              </a:lnSpc>
              <a:spcBef>
                <a:spcPct val="0"/>
              </a:spcBef>
              <a:spcAft>
                <a:spcPct val="0"/>
              </a:spcAft>
              <a:buClrTx/>
              <a:buSzTx/>
            </a:pPr>
            <a:r>
              <a:rPr kumimoji="0" lang="en-US" altLang="en-US" sz="2867"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algorithm starts by randomly selecting k data points as initial cluster centroids.</a:t>
            </a:r>
          </a:p>
          <a:p>
            <a:pPr marL="0" indent="0" eaLnBrk="0" fontAlgn="base" hangingPunct="0">
              <a:lnSpc>
                <a:spcPct val="100000"/>
              </a:lnSpc>
              <a:spcBef>
                <a:spcPct val="0"/>
              </a:spcBef>
              <a:spcAft>
                <a:spcPct val="0"/>
              </a:spcAft>
              <a:buClrTx/>
              <a:buSzTx/>
              <a:buNone/>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 Assignment:</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1066785" lvl="1" indent="-457200" eaLnBrk="0" fontAlgn="base" hangingPunct="0">
              <a:lnSpc>
                <a:spcPct val="100000"/>
              </a:lnSpc>
              <a:spcBef>
                <a:spcPct val="0"/>
              </a:spcBef>
              <a:spcAft>
                <a:spcPct val="0"/>
              </a:spcAft>
              <a:buClrTx/>
              <a:buSzTx/>
            </a:pPr>
            <a:r>
              <a:rPr kumimoji="0" lang="en-US" altLang="en-US" sz="2867"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Each data point is assigned to the closest centroid, creating k clusters.</a:t>
            </a:r>
          </a:p>
          <a:p>
            <a:pPr marL="0" indent="0" eaLnBrk="0" fontAlgn="base" hangingPunct="0">
              <a:lnSpc>
                <a:spcPct val="100000"/>
              </a:lnSpc>
              <a:spcBef>
                <a:spcPct val="0"/>
              </a:spcBef>
              <a:spcAft>
                <a:spcPct val="0"/>
              </a:spcAft>
              <a:buClrTx/>
              <a:buSzTx/>
              <a:buNone/>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 Update</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1066785" lvl="1" indent="-457200" eaLnBrk="0" fontAlgn="base" hangingPunct="0">
              <a:lnSpc>
                <a:spcPct val="100000"/>
              </a:lnSpc>
              <a:spcBef>
                <a:spcPct val="0"/>
              </a:spcBef>
              <a:spcAft>
                <a:spcPct val="0"/>
              </a:spcAft>
              <a:buClrTx/>
              <a:buSzTx/>
            </a:pPr>
            <a:r>
              <a:rPr kumimoji="0" lang="en-US" altLang="en-US" sz="2867"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The centroids are recalculated as the mean of all data points assigned to each cluster.</a:t>
            </a:r>
          </a:p>
          <a:p>
            <a:pPr marL="0" indent="0" eaLnBrk="0" fontAlgn="base" hangingPunct="0">
              <a:lnSpc>
                <a:spcPct val="100000"/>
              </a:lnSpc>
              <a:spcBef>
                <a:spcPct val="0"/>
              </a:spcBef>
              <a:spcAft>
                <a:spcPct val="0"/>
              </a:spcAft>
              <a:buClrTx/>
              <a:buSzTx/>
              <a:buNone/>
            </a:pPr>
            <a:r>
              <a:rPr kumimoji="0" lang="en-US" altLang="en-US" sz="28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4. Iteration:</a:t>
            </a:r>
            <a:endParaRPr kumimoji="0" lang="en-US" altLang="en-US" sz="28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a:p>
            <a:pPr marL="609585" lvl="1" indent="0" eaLnBrk="0" fontAlgn="base" hangingPunct="0">
              <a:lnSpc>
                <a:spcPct val="100000"/>
              </a:lnSpc>
              <a:spcBef>
                <a:spcPct val="0"/>
              </a:spcBef>
              <a:spcAft>
                <a:spcPct val="0"/>
              </a:spcAft>
              <a:buClrTx/>
              <a:buSzTx/>
              <a:buNone/>
            </a:pPr>
            <a:r>
              <a:rPr kumimoji="0" lang="en-US" altLang="en-US" sz="2867" b="0" i="0" u="none" strike="noStrike" cap="none" normalizeH="0" baseline="0" dirty="0">
                <a:ln>
                  <a:noFill/>
                </a:ln>
                <a:solidFill>
                  <a:schemeClr val="tx1"/>
                </a:solidFill>
                <a:effectLst/>
                <a:latin typeface="Calibri" panose="020F0502020204030204" pitchFamily="34" charset="0"/>
                <a:cs typeface="Calibri" panose="020F0502020204030204" pitchFamily="34" charset="0"/>
              </a:rPr>
              <a:t>Steps 2 and 3 are repeated until the cluster assignments no longer change significantly.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0327640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420" y="293116"/>
            <a:ext cx="11360800" cy="763600"/>
          </a:xfrm>
        </p:spPr>
        <p:txBody>
          <a:bodyPr>
            <a:normAutofit fontScale="90000"/>
          </a:bodyPr>
          <a:lstStyle/>
          <a:p>
            <a:r>
              <a:rPr lang="en-IN" b="1" dirty="0">
                <a:solidFill>
                  <a:srgbClr val="FF0000"/>
                </a:solidFill>
              </a:rPr>
              <a:t>K-means Clustering Numerical Example</a:t>
            </a:r>
            <a:br>
              <a:rPr lang="en-IN" b="1" dirty="0"/>
            </a:b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794029981"/>
              </p:ext>
            </p:extLst>
          </p:nvPr>
        </p:nvGraphicFramePr>
        <p:xfrm>
          <a:off x="512047" y="1056716"/>
          <a:ext cx="6584788" cy="5496800"/>
        </p:xfrm>
        <a:graphic>
          <a:graphicData uri="http://schemas.openxmlformats.org/drawingml/2006/table">
            <a:tbl>
              <a:tblPr/>
              <a:tblGrid>
                <a:gridCol w="3292394">
                  <a:extLst>
                    <a:ext uri="{9D8B030D-6E8A-4147-A177-3AD203B41FA5}">
                      <a16:colId xmlns:a16="http://schemas.microsoft.com/office/drawing/2014/main" val="20000"/>
                    </a:ext>
                  </a:extLst>
                </a:gridCol>
                <a:gridCol w="3292394">
                  <a:extLst>
                    <a:ext uri="{9D8B030D-6E8A-4147-A177-3AD203B41FA5}">
                      <a16:colId xmlns:a16="http://schemas.microsoft.com/office/drawing/2014/main" val="20001"/>
                    </a:ext>
                  </a:extLst>
                </a:gridCol>
              </a:tblGrid>
              <a:tr h="299742">
                <a:tc>
                  <a:txBody>
                    <a:bodyPr/>
                    <a:lstStyle/>
                    <a:p>
                      <a:pPr latinLnBrk="0"/>
                      <a:r>
                        <a:rPr lang="en-IN" sz="1800" b="1" dirty="0">
                          <a:effectLst/>
                        </a:rPr>
                        <a:t>Point</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b="1" dirty="0">
                          <a:effectLst/>
                        </a:rPr>
                        <a:t>Coordinates</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99742">
                <a:tc>
                  <a:txBody>
                    <a:bodyPr/>
                    <a:lstStyle/>
                    <a:p>
                      <a:pPr latinLnBrk="0"/>
                      <a:r>
                        <a:rPr lang="en-IN" sz="1800" dirty="0">
                          <a:effectLst/>
                        </a:rPr>
                        <a:t>A1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(2,10)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9742">
                <a:tc>
                  <a:txBody>
                    <a:bodyPr/>
                    <a:lstStyle/>
                    <a:p>
                      <a:pPr latinLnBrk="0"/>
                      <a:r>
                        <a:rPr lang="en-IN" sz="1800" dirty="0">
                          <a:effectLst/>
                        </a:rPr>
                        <a:t>A2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(2,6)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99742">
                <a:tc>
                  <a:txBody>
                    <a:bodyPr/>
                    <a:lstStyle/>
                    <a:p>
                      <a:pPr latinLnBrk="0"/>
                      <a:r>
                        <a:rPr lang="en-IN" sz="1800" dirty="0">
                          <a:effectLst/>
                        </a:rPr>
                        <a:t>A3</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(11,11)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99742">
                <a:tc>
                  <a:txBody>
                    <a:bodyPr/>
                    <a:lstStyle/>
                    <a:p>
                      <a:pPr latinLnBrk="0"/>
                      <a:r>
                        <a:rPr lang="en-IN" sz="1800" dirty="0">
                          <a:effectLst/>
                        </a:rPr>
                        <a:t>A4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(6,9)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99742">
                <a:tc>
                  <a:txBody>
                    <a:bodyPr/>
                    <a:lstStyle/>
                    <a:p>
                      <a:pPr latinLnBrk="0"/>
                      <a:r>
                        <a:rPr lang="en-IN" sz="1800" dirty="0">
                          <a:effectLst/>
                        </a:rPr>
                        <a:t>A5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(6,4)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99742">
                <a:tc>
                  <a:txBody>
                    <a:bodyPr/>
                    <a:lstStyle/>
                    <a:p>
                      <a:pPr latinLnBrk="0"/>
                      <a:r>
                        <a:rPr lang="en-IN" sz="1800" dirty="0">
                          <a:effectLst/>
                        </a:rPr>
                        <a:t>A6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99742">
                <a:tc>
                  <a:txBody>
                    <a:bodyPr/>
                    <a:lstStyle/>
                    <a:p>
                      <a:pPr latinLnBrk="0"/>
                      <a:r>
                        <a:rPr lang="en-IN" sz="1800">
                          <a:effectLst/>
                        </a:rPr>
                        <a:t>A7</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(5,10)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99742">
                <a:tc>
                  <a:txBody>
                    <a:bodyPr/>
                    <a:lstStyle/>
                    <a:p>
                      <a:pPr latinLnBrk="0"/>
                      <a:r>
                        <a:rPr lang="en-IN" sz="1800">
                          <a:effectLst/>
                        </a:rPr>
                        <a:t>A8</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(4,9)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99742">
                <a:tc>
                  <a:txBody>
                    <a:bodyPr/>
                    <a:lstStyle/>
                    <a:p>
                      <a:pPr latinLnBrk="0"/>
                      <a:r>
                        <a:rPr lang="en-IN" sz="1800">
                          <a:effectLst/>
                        </a:rPr>
                        <a:t>A9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(10,12)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99742">
                <a:tc>
                  <a:txBody>
                    <a:bodyPr/>
                    <a:lstStyle/>
                    <a:p>
                      <a:pPr latinLnBrk="0"/>
                      <a:r>
                        <a:rPr lang="en-IN" sz="1800">
                          <a:effectLst/>
                        </a:rPr>
                        <a:t>A10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(7,5)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99742">
                <a:tc>
                  <a:txBody>
                    <a:bodyPr/>
                    <a:lstStyle/>
                    <a:p>
                      <a:pPr latinLnBrk="0"/>
                      <a:r>
                        <a:rPr lang="en-IN" sz="1800">
                          <a:effectLst/>
                        </a:rPr>
                        <a:t>A11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(9,11)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99742">
                <a:tc>
                  <a:txBody>
                    <a:bodyPr/>
                    <a:lstStyle/>
                    <a:p>
                      <a:pPr latinLnBrk="0"/>
                      <a:r>
                        <a:rPr lang="en-IN" sz="1800">
                          <a:effectLst/>
                        </a:rPr>
                        <a:t>A12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(4,6)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99742">
                <a:tc>
                  <a:txBody>
                    <a:bodyPr/>
                    <a:lstStyle/>
                    <a:p>
                      <a:pPr latinLnBrk="0"/>
                      <a:r>
                        <a:rPr lang="en-IN" sz="1800">
                          <a:effectLst/>
                        </a:rPr>
                        <a:t>A13</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(3,10)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99742">
                <a:tc>
                  <a:txBody>
                    <a:bodyPr/>
                    <a:lstStyle/>
                    <a:p>
                      <a:pPr latinLnBrk="0"/>
                      <a:r>
                        <a:rPr lang="en-IN" sz="1800">
                          <a:effectLst/>
                        </a:rPr>
                        <a:t>A14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(3,8)</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99742">
                <a:tc>
                  <a:txBody>
                    <a:bodyPr/>
                    <a:lstStyle/>
                    <a:p>
                      <a:pPr latinLnBrk="0"/>
                      <a:r>
                        <a:rPr lang="en-IN" sz="1800">
                          <a:effectLst/>
                        </a:rPr>
                        <a:t>A15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(6,11)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5" name="Rectangle 4"/>
          <p:cNvSpPr/>
          <p:nvPr/>
        </p:nvSpPr>
        <p:spPr>
          <a:xfrm>
            <a:off x="7383439" y="2836048"/>
            <a:ext cx="4283780" cy="1569660"/>
          </a:xfrm>
          <a:prstGeom prst="rect">
            <a:avLst/>
          </a:prstGeom>
        </p:spPr>
        <p:txBody>
          <a:bodyPr wrap="square">
            <a:spAutoFit/>
          </a:bodyPr>
          <a:lstStyle/>
          <a:p>
            <a:r>
              <a:rPr lang="en-US" sz="2400" dirty="0">
                <a:latin typeface="Calibri" panose="020F0502020204030204" pitchFamily="34" charset="0"/>
                <a:cs typeface="Calibri" panose="020F0502020204030204" pitchFamily="34" charset="0"/>
              </a:rPr>
              <a:t>We are also given the information that we need to make 3 clusters. It means we are given K=3</a:t>
            </a:r>
            <a:endParaRPr lang="en-IN"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0777047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1" y="336706"/>
            <a:ext cx="11360800" cy="763600"/>
          </a:xfrm>
        </p:spPr>
        <p:txBody>
          <a:bodyPr>
            <a:normAutofit fontScale="90000"/>
          </a:bodyPr>
          <a:lstStyle/>
          <a:p>
            <a:r>
              <a:rPr lang="en-IN" b="1" dirty="0">
                <a:solidFill>
                  <a:srgbClr val="FF0000"/>
                </a:solidFill>
              </a:rPr>
              <a:t>K-means Clustering Numerical Example</a:t>
            </a:r>
            <a:br>
              <a:rPr lang="en-IN" b="1" dirty="0"/>
            </a:b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522198019"/>
              </p:ext>
            </p:extLst>
          </p:nvPr>
        </p:nvGraphicFramePr>
        <p:xfrm>
          <a:off x="525697" y="1100306"/>
          <a:ext cx="6090934" cy="5496800"/>
        </p:xfrm>
        <a:graphic>
          <a:graphicData uri="http://schemas.openxmlformats.org/drawingml/2006/table">
            <a:tbl>
              <a:tblPr/>
              <a:tblGrid>
                <a:gridCol w="3045467">
                  <a:extLst>
                    <a:ext uri="{9D8B030D-6E8A-4147-A177-3AD203B41FA5}">
                      <a16:colId xmlns:a16="http://schemas.microsoft.com/office/drawing/2014/main" val="20000"/>
                    </a:ext>
                  </a:extLst>
                </a:gridCol>
                <a:gridCol w="3045467">
                  <a:extLst>
                    <a:ext uri="{9D8B030D-6E8A-4147-A177-3AD203B41FA5}">
                      <a16:colId xmlns:a16="http://schemas.microsoft.com/office/drawing/2014/main" val="20001"/>
                    </a:ext>
                  </a:extLst>
                </a:gridCol>
              </a:tblGrid>
              <a:tr h="284659">
                <a:tc>
                  <a:txBody>
                    <a:bodyPr/>
                    <a:lstStyle/>
                    <a:p>
                      <a:pPr latinLnBrk="0"/>
                      <a:r>
                        <a:rPr lang="en-IN" sz="1800" b="1" dirty="0">
                          <a:effectLst/>
                        </a:rPr>
                        <a:t>Point</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b="1" dirty="0">
                          <a:effectLst/>
                        </a:rPr>
                        <a:t>Coordinates</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84659">
                <a:tc>
                  <a:txBody>
                    <a:bodyPr/>
                    <a:lstStyle/>
                    <a:p>
                      <a:pPr latinLnBrk="0"/>
                      <a:r>
                        <a:rPr lang="en-IN" sz="1800" dirty="0">
                          <a:effectLst/>
                        </a:rPr>
                        <a:t>A1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(2,10)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4659">
                <a:tc>
                  <a:txBody>
                    <a:bodyPr/>
                    <a:lstStyle/>
                    <a:p>
                      <a:pPr latinLnBrk="0"/>
                      <a:r>
                        <a:rPr lang="en-IN" sz="1800" b="1" dirty="0">
                          <a:solidFill>
                            <a:srgbClr val="0070C0"/>
                          </a:solidFill>
                          <a:effectLst/>
                        </a:rPr>
                        <a:t>A2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b="1" dirty="0">
                          <a:solidFill>
                            <a:srgbClr val="0070C0"/>
                          </a:solidFill>
                          <a:effectLst/>
                        </a:rPr>
                        <a:t>(2,6)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4659">
                <a:tc>
                  <a:txBody>
                    <a:bodyPr/>
                    <a:lstStyle/>
                    <a:p>
                      <a:pPr latinLnBrk="0"/>
                      <a:r>
                        <a:rPr lang="en-IN" sz="1800" dirty="0">
                          <a:effectLst/>
                        </a:rPr>
                        <a:t>A3</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(11,11)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4659">
                <a:tc>
                  <a:txBody>
                    <a:bodyPr/>
                    <a:lstStyle/>
                    <a:p>
                      <a:pPr latinLnBrk="0"/>
                      <a:r>
                        <a:rPr lang="en-IN" sz="1800" dirty="0">
                          <a:effectLst/>
                        </a:rPr>
                        <a:t>A4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(6,9)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4659">
                <a:tc>
                  <a:txBody>
                    <a:bodyPr/>
                    <a:lstStyle/>
                    <a:p>
                      <a:pPr latinLnBrk="0"/>
                      <a:r>
                        <a:rPr lang="en-IN" sz="1800" dirty="0">
                          <a:effectLst/>
                        </a:rPr>
                        <a:t>A5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(6,4)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4659">
                <a:tc>
                  <a:txBody>
                    <a:bodyPr/>
                    <a:lstStyle/>
                    <a:p>
                      <a:pPr latinLnBrk="0"/>
                      <a:r>
                        <a:rPr lang="en-IN" sz="1800" dirty="0">
                          <a:effectLst/>
                        </a:rPr>
                        <a:t>A6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4659">
                <a:tc>
                  <a:txBody>
                    <a:bodyPr/>
                    <a:lstStyle/>
                    <a:p>
                      <a:pPr latinLnBrk="0"/>
                      <a:r>
                        <a:rPr lang="en-IN" sz="1800" b="1" dirty="0">
                          <a:solidFill>
                            <a:srgbClr val="0070C0"/>
                          </a:solidFill>
                          <a:effectLst/>
                        </a:rPr>
                        <a:t>A7</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b="1" dirty="0">
                          <a:solidFill>
                            <a:srgbClr val="0070C0"/>
                          </a:solidFill>
                          <a:effectLst/>
                        </a:rPr>
                        <a:t>(5,10)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4659">
                <a:tc>
                  <a:txBody>
                    <a:bodyPr/>
                    <a:lstStyle/>
                    <a:p>
                      <a:pPr latinLnBrk="0"/>
                      <a:r>
                        <a:rPr lang="en-IN" sz="1800" dirty="0">
                          <a:effectLst/>
                        </a:rPr>
                        <a:t>A8</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(4,9)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84659">
                <a:tc>
                  <a:txBody>
                    <a:bodyPr/>
                    <a:lstStyle/>
                    <a:p>
                      <a:pPr latinLnBrk="0"/>
                      <a:r>
                        <a:rPr lang="en-IN" sz="1800" dirty="0">
                          <a:effectLst/>
                        </a:rPr>
                        <a:t>A9</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(10,12)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4659">
                <a:tc>
                  <a:txBody>
                    <a:bodyPr/>
                    <a:lstStyle/>
                    <a:p>
                      <a:pPr latinLnBrk="0"/>
                      <a:r>
                        <a:rPr lang="en-IN" sz="1800" dirty="0">
                          <a:effectLst/>
                        </a:rPr>
                        <a:t>A10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(7,5)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84659">
                <a:tc>
                  <a:txBody>
                    <a:bodyPr/>
                    <a:lstStyle/>
                    <a:p>
                      <a:pPr latinLnBrk="0"/>
                      <a:r>
                        <a:rPr lang="en-IN" sz="1800" dirty="0">
                          <a:effectLst/>
                        </a:rPr>
                        <a:t>A11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a:effectLst/>
                        </a:rPr>
                        <a:t>(9,11)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84659">
                <a:tc>
                  <a:txBody>
                    <a:bodyPr/>
                    <a:lstStyle/>
                    <a:p>
                      <a:pPr latinLnBrk="0"/>
                      <a:r>
                        <a:rPr lang="en-IN" sz="1800" dirty="0">
                          <a:effectLst/>
                        </a:rPr>
                        <a:t>A12</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(4,6)</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84659">
                <a:tc>
                  <a:txBody>
                    <a:bodyPr/>
                    <a:lstStyle/>
                    <a:p>
                      <a:pPr latinLnBrk="0"/>
                      <a:r>
                        <a:rPr lang="en-IN" sz="1800">
                          <a:effectLst/>
                        </a:rPr>
                        <a:t>A13</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(3,10)</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84659">
                <a:tc>
                  <a:txBody>
                    <a:bodyPr/>
                    <a:lstStyle/>
                    <a:p>
                      <a:pPr latinLnBrk="0"/>
                      <a:r>
                        <a:rPr lang="en-IN" sz="1800">
                          <a:effectLst/>
                        </a:rPr>
                        <a:t>A14</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dirty="0">
                          <a:effectLst/>
                        </a:rPr>
                        <a:t>(3,8)</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84659">
                <a:tc>
                  <a:txBody>
                    <a:bodyPr/>
                    <a:lstStyle/>
                    <a:p>
                      <a:pPr latinLnBrk="0"/>
                      <a:r>
                        <a:rPr lang="en-IN" sz="1800" b="1" dirty="0">
                          <a:solidFill>
                            <a:srgbClr val="0070C0"/>
                          </a:solidFill>
                          <a:effectLst/>
                        </a:rPr>
                        <a:t>A15</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800" b="1" dirty="0">
                          <a:solidFill>
                            <a:srgbClr val="0070C0"/>
                          </a:solidFill>
                          <a:effectLst/>
                        </a:rPr>
                        <a:t>(6,11)</a:t>
                      </a:r>
                    </a:p>
                  </a:txBody>
                  <a:tcPr marL="69229" marR="69229" marT="34615" marB="34615"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6" name="Rectangle 5"/>
          <p:cNvSpPr/>
          <p:nvPr/>
        </p:nvSpPr>
        <p:spPr>
          <a:xfrm>
            <a:off x="6987654" y="1100306"/>
            <a:ext cx="4312693" cy="1938992"/>
          </a:xfrm>
          <a:prstGeom prst="rect">
            <a:avLst/>
          </a:prstGeom>
        </p:spPr>
        <p:txBody>
          <a:bodyPr wrap="square">
            <a:spAutoFit/>
          </a:bodyPr>
          <a:lstStyle/>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Randomly choose 3 centroids from the given data. </a:t>
            </a:r>
          </a:p>
          <a:p>
            <a:pPr marL="342900" indent="-342900">
              <a:buFont typeface="Arial" panose="020B0604020202020204" pitchFamily="34" charset="0"/>
              <a:buChar char="•"/>
            </a:pPr>
            <a:r>
              <a:rPr lang="en-US" sz="2400" dirty="0">
                <a:latin typeface="Calibri" panose="020F0502020204030204" pitchFamily="34" charset="0"/>
                <a:cs typeface="Calibri" panose="020F0502020204030204" pitchFamily="34" charset="0"/>
              </a:rPr>
              <a:t>Let us consider A2 (2,6), A7 (5,10), and A15 (6,11) as the centroids of the initial clusters</a:t>
            </a:r>
            <a:endParaRPr lang="en-IN" sz="2400" dirty="0">
              <a:latin typeface="Calibri" panose="020F0502020204030204" pitchFamily="34" charset="0"/>
              <a:cs typeface="Calibri" panose="020F0502020204030204" pitchFamily="34" charset="0"/>
            </a:endParaRPr>
          </a:p>
        </p:txBody>
      </p:sp>
      <p:sp>
        <p:nvSpPr>
          <p:cNvPr id="7" name="Rectangle 6"/>
          <p:cNvSpPr/>
          <p:nvPr/>
        </p:nvSpPr>
        <p:spPr>
          <a:xfrm>
            <a:off x="6987654" y="3200397"/>
            <a:ext cx="4940489" cy="3046988"/>
          </a:xfrm>
          <a:prstGeom prst="rect">
            <a:avLst/>
          </a:prstGeom>
          <a:solidFill>
            <a:schemeClr val="accent1">
              <a:lumMod val="20000"/>
              <a:lumOff val="80000"/>
            </a:schemeClr>
          </a:solidFill>
        </p:spPr>
        <p:txBody>
          <a:bodyPr wrap="square">
            <a:spAutoFit/>
          </a:bodyPr>
          <a:lstStyle/>
          <a:p>
            <a:r>
              <a:rPr lang="en-US" sz="2400" dirty="0">
                <a:latin typeface="Calibri" panose="020F0502020204030204" pitchFamily="34" charset="0"/>
                <a:cs typeface="Calibri" panose="020F0502020204030204" pitchFamily="34" charset="0"/>
              </a:rPr>
              <a:t>Centroid 1=(2,6) is associated with cluster 1.</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Centroid 2=(5,10) is associated with cluster 2.</a:t>
            </a:r>
          </a:p>
          <a:p>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Centroid 3=(6,11) is associated with cluster 3</a:t>
            </a:r>
            <a:r>
              <a:rPr lang="en-US" sz="2400" dirty="0">
                <a:solidFill>
                  <a:srgbClr val="2D3748"/>
                </a:solidFill>
                <a:latin typeface="Calibri" panose="020F0502020204030204" pitchFamily="34" charset="0"/>
                <a:cs typeface="Calibri" panose="020F0502020204030204" pitchFamily="34" charset="0"/>
              </a:rPr>
              <a:t>.</a:t>
            </a:r>
            <a:endParaRPr lang="en-US" sz="2400" b="0" i="0" dirty="0">
              <a:solidFill>
                <a:srgbClr val="2D3748"/>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48012690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069375765"/>
              </p:ext>
            </p:extLst>
          </p:nvPr>
        </p:nvGraphicFramePr>
        <p:xfrm>
          <a:off x="450374" y="354845"/>
          <a:ext cx="7643905" cy="6018655"/>
        </p:xfrm>
        <a:graphic>
          <a:graphicData uri="http://schemas.openxmlformats.org/drawingml/2006/table">
            <a:tbl>
              <a:tblPr/>
              <a:tblGrid>
                <a:gridCol w="1528781">
                  <a:extLst>
                    <a:ext uri="{9D8B030D-6E8A-4147-A177-3AD203B41FA5}">
                      <a16:colId xmlns:a16="http://schemas.microsoft.com/office/drawing/2014/main" val="20000"/>
                    </a:ext>
                  </a:extLst>
                </a:gridCol>
                <a:gridCol w="1528781">
                  <a:extLst>
                    <a:ext uri="{9D8B030D-6E8A-4147-A177-3AD203B41FA5}">
                      <a16:colId xmlns:a16="http://schemas.microsoft.com/office/drawing/2014/main" val="20001"/>
                    </a:ext>
                  </a:extLst>
                </a:gridCol>
                <a:gridCol w="1528781">
                  <a:extLst>
                    <a:ext uri="{9D8B030D-6E8A-4147-A177-3AD203B41FA5}">
                      <a16:colId xmlns:a16="http://schemas.microsoft.com/office/drawing/2014/main" val="20002"/>
                    </a:ext>
                  </a:extLst>
                </a:gridCol>
                <a:gridCol w="1528781">
                  <a:extLst>
                    <a:ext uri="{9D8B030D-6E8A-4147-A177-3AD203B41FA5}">
                      <a16:colId xmlns:a16="http://schemas.microsoft.com/office/drawing/2014/main" val="20003"/>
                    </a:ext>
                  </a:extLst>
                </a:gridCol>
                <a:gridCol w="1528781">
                  <a:extLst>
                    <a:ext uri="{9D8B030D-6E8A-4147-A177-3AD203B41FA5}">
                      <a16:colId xmlns:a16="http://schemas.microsoft.com/office/drawing/2014/main" val="20004"/>
                    </a:ext>
                  </a:extLst>
                </a:gridCol>
              </a:tblGrid>
              <a:tr h="1077340">
                <a:tc>
                  <a:txBody>
                    <a:bodyPr/>
                    <a:lstStyle/>
                    <a:p>
                      <a:pPr latinLnBrk="0"/>
                      <a:r>
                        <a:rPr lang="en-IN" sz="1600" b="1" dirty="0">
                          <a:effectLst/>
                        </a:rPr>
                        <a:t>Point</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1 (2,6)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2 (5,10)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3 (6,11)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b="1" dirty="0">
                          <a:effectLst/>
                        </a:rPr>
                        <a:t>Assigned Cluster</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421">
                <a:tc>
                  <a:txBody>
                    <a:bodyPr/>
                    <a:lstStyle/>
                    <a:p>
                      <a:pPr latinLnBrk="0"/>
                      <a:r>
                        <a:rPr lang="en-IN" sz="1600" dirty="0">
                          <a:effectLst/>
                        </a:rPr>
                        <a:t>A1 (2,10)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421">
                <a:tc>
                  <a:txBody>
                    <a:bodyPr/>
                    <a:lstStyle/>
                    <a:p>
                      <a:pPr latinLnBrk="0"/>
                      <a:r>
                        <a:rPr lang="en-IN" sz="1600" b="1" dirty="0">
                          <a:solidFill>
                            <a:srgbClr val="0070C0"/>
                          </a:solidFill>
                          <a:effectLst/>
                        </a:rPr>
                        <a:t>A2 (2,6)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6.403124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421">
                <a:tc>
                  <a:txBody>
                    <a:bodyPr/>
                    <a:lstStyle/>
                    <a:p>
                      <a:pPr latinLnBrk="0"/>
                      <a:r>
                        <a:rPr lang="en-IN" sz="1600" dirty="0">
                          <a:effectLst/>
                        </a:rPr>
                        <a:t>A3 (11,11)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10.29563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6.082763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421">
                <a:tc>
                  <a:txBody>
                    <a:bodyPr/>
                    <a:lstStyle/>
                    <a:p>
                      <a:pPr latinLnBrk="0"/>
                      <a:r>
                        <a:rPr lang="en-IN" sz="1600">
                          <a:effectLst/>
                        </a:rPr>
                        <a:t>A4 (6,9)</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1.414214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9421">
                <a:tc>
                  <a:txBody>
                    <a:bodyPr/>
                    <a:lstStyle/>
                    <a:p>
                      <a:pPr latinLnBrk="0"/>
                      <a:r>
                        <a:rPr lang="en-IN" sz="1600">
                          <a:effectLst/>
                        </a:rPr>
                        <a:t>A5 (6,4)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4.472136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6.082763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29421">
                <a:tc>
                  <a:txBody>
                    <a:bodyPr/>
                    <a:lstStyle/>
                    <a:p>
                      <a:pPr latinLnBrk="0"/>
                      <a:r>
                        <a:rPr lang="en-IN" sz="1600">
                          <a:effectLst/>
                        </a:rPr>
                        <a:t>A6 (1,2)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8.944272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10.29563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9421">
                <a:tc>
                  <a:txBody>
                    <a:bodyPr/>
                    <a:lstStyle/>
                    <a:p>
                      <a:pPr latinLnBrk="0"/>
                      <a:r>
                        <a:rPr lang="en-IN" sz="1600" b="1" dirty="0">
                          <a:solidFill>
                            <a:srgbClr val="0070C0"/>
                          </a:solidFill>
                          <a:effectLst/>
                        </a:rPr>
                        <a:t>A7 (5,10</a:t>
                      </a:r>
                      <a:r>
                        <a:rPr lang="en-IN" sz="1600" dirty="0">
                          <a:solidFill>
                            <a:srgbClr val="0070C0"/>
                          </a:solidFill>
                          <a:effectLst/>
                        </a:rPr>
                        <a:t>)</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1.414214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9421">
                <a:tc>
                  <a:txBody>
                    <a:bodyPr/>
                    <a:lstStyle/>
                    <a:p>
                      <a:pPr latinLnBrk="0"/>
                      <a:r>
                        <a:rPr lang="en-IN" sz="1600">
                          <a:effectLst/>
                        </a:rPr>
                        <a:t>A8 (4,9)</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3.605551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1.414214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2.828427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29421">
                <a:tc>
                  <a:txBody>
                    <a:bodyPr/>
                    <a:lstStyle/>
                    <a:p>
                      <a:pPr latinLnBrk="0"/>
                      <a:r>
                        <a:rPr lang="en-IN" sz="1600">
                          <a:effectLst/>
                        </a:rPr>
                        <a:t>A9 (10,12)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5.385165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29421">
                <a:tc>
                  <a:txBody>
                    <a:bodyPr/>
                    <a:lstStyle/>
                    <a:p>
                      <a:pPr latinLnBrk="0"/>
                      <a:r>
                        <a:rPr lang="en-IN" sz="1600">
                          <a:effectLst/>
                        </a:rPr>
                        <a:t>A10 (7,5)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5.09902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5.385165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6.082763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29421">
                <a:tc>
                  <a:txBody>
                    <a:bodyPr/>
                    <a:lstStyle/>
                    <a:p>
                      <a:pPr latinLnBrk="0"/>
                      <a:r>
                        <a:rPr lang="en-IN" sz="1600">
                          <a:effectLst/>
                        </a:rPr>
                        <a:t>A11 (9,11)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8.602325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29421">
                <a:tc>
                  <a:txBody>
                    <a:bodyPr/>
                    <a:lstStyle/>
                    <a:p>
                      <a:pPr latinLnBrk="0"/>
                      <a:r>
                        <a:rPr lang="en-IN" sz="1600">
                          <a:effectLst/>
                        </a:rPr>
                        <a:t>A12 (4,6)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5.385165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29421">
                <a:tc>
                  <a:txBody>
                    <a:bodyPr/>
                    <a:lstStyle/>
                    <a:p>
                      <a:pPr latinLnBrk="0"/>
                      <a:r>
                        <a:rPr lang="en-IN" sz="1600">
                          <a:effectLst/>
                        </a:rPr>
                        <a:t>A13 (3,10)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4.123106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3.162278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29421">
                <a:tc>
                  <a:txBody>
                    <a:bodyPr/>
                    <a:lstStyle/>
                    <a:p>
                      <a:pPr latinLnBrk="0"/>
                      <a:r>
                        <a:rPr lang="en-IN" sz="1600">
                          <a:effectLst/>
                        </a:rPr>
                        <a:t>A14 (3,8)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2.236068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2.828427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4.242641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329421">
                <a:tc>
                  <a:txBody>
                    <a:bodyPr/>
                    <a:lstStyle/>
                    <a:p>
                      <a:pPr latinLnBrk="0"/>
                      <a:r>
                        <a:rPr lang="en-IN" sz="1600" b="1" dirty="0">
                          <a:solidFill>
                            <a:srgbClr val="0070C0"/>
                          </a:solidFill>
                          <a:effectLst/>
                        </a:rPr>
                        <a:t>A15 (6,11)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6.403124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1.414214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5" name="Rectangle 4"/>
          <p:cNvSpPr/>
          <p:nvPr/>
        </p:nvSpPr>
        <p:spPr>
          <a:xfrm>
            <a:off x="8338783" y="1572609"/>
            <a:ext cx="3425588" cy="2554545"/>
          </a:xfrm>
          <a:prstGeom prst="rect">
            <a:avLst/>
          </a:prstGeom>
          <a:solidFill>
            <a:schemeClr val="accent1">
              <a:lumMod val="20000"/>
              <a:lumOff val="80000"/>
            </a:schemeClr>
          </a:solidFill>
        </p:spPr>
        <p:txBody>
          <a:bodyPr wrap="square">
            <a:spAutoFit/>
          </a:bodyPr>
          <a:lstStyle/>
          <a:p>
            <a:pPr marL="285750" indent="-285750">
              <a:buFont typeface="Arial" panose="020B0604020202020204" pitchFamily="34" charset="0"/>
              <a:buChar char="•"/>
            </a:pPr>
            <a:r>
              <a:rPr lang="en-US" sz="2000" b="1" dirty="0">
                <a:latin typeface="-apple-system"/>
              </a:rPr>
              <a:t>Find the Euclidean </a:t>
            </a:r>
            <a:r>
              <a:rPr lang="en-US" sz="2000" b="1" i="1" u="sng" dirty="0">
                <a:latin typeface="-apple-system"/>
              </a:rPr>
              <a:t>distance between each point and the centroids.</a:t>
            </a:r>
            <a:r>
              <a:rPr lang="en-US" sz="2000" i="1" u="sng" dirty="0">
                <a:latin typeface="-apple-system"/>
              </a:rPr>
              <a:t> </a:t>
            </a:r>
          </a:p>
          <a:p>
            <a:r>
              <a:rPr lang="en-US" sz="2000" dirty="0">
                <a:latin typeface="-apple-system"/>
              </a:rPr>
              <a:t>m</a:t>
            </a:r>
          </a:p>
          <a:p>
            <a:pPr marL="285750" indent="-285750">
              <a:buFont typeface="Arial" panose="020B0604020202020204" pitchFamily="34" charset="0"/>
              <a:buChar char="•"/>
            </a:pPr>
            <a:r>
              <a:rPr lang="en-US" sz="2000" dirty="0">
                <a:latin typeface="-apple-system"/>
              </a:rPr>
              <a:t>Based on the minimum distance of each point from the centroids, we will assign the points to a cluster</a:t>
            </a:r>
            <a:r>
              <a:rPr lang="en-US" dirty="0">
                <a:latin typeface="-apple-system"/>
              </a:rPr>
              <a:t>.</a:t>
            </a:r>
            <a:endParaRPr lang="en-IN" dirty="0"/>
          </a:p>
        </p:txBody>
      </p:sp>
      <p:sp>
        <p:nvSpPr>
          <p:cNvPr id="6" name="Rectangle 5"/>
          <p:cNvSpPr/>
          <p:nvPr/>
        </p:nvSpPr>
        <p:spPr>
          <a:xfrm>
            <a:off x="8830103" y="704271"/>
            <a:ext cx="2442948" cy="523220"/>
          </a:xfrm>
          <a:prstGeom prst="rect">
            <a:avLst/>
          </a:prstGeom>
        </p:spPr>
        <p:txBody>
          <a:bodyPr wrap="square">
            <a:spAutoFit/>
          </a:bodyPr>
          <a:lstStyle/>
          <a:p>
            <a:r>
              <a:rPr lang="en-US" sz="2800" dirty="0">
                <a:solidFill>
                  <a:srgbClr val="FF0000"/>
                </a:solidFill>
                <a:latin typeface="-apple-system"/>
              </a:rPr>
              <a:t>Iteration 1</a:t>
            </a:r>
            <a:endParaRPr lang="en-IN" sz="2800" dirty="0">
              <a:solidFill>
                <a:srgbClr val="FF0000"/>
              </a:solidFill>
            </a:endParaRPr>
          </a:p>
        </p:txBody>
      </p:sp>
      <p:sp>
        <p:nvSpPr>
          <p:cNvPr id="2" name="Rectangle 1"/>
          <p:cNvSpPr/>
          <p:nvPr/>
        </p:nvSpPr>
        <p:spPr>
          <a:xfrm>
            <a:off x="8598090" y="4817390"/>
            <a:ext cx="3593909" cy="954107"/>
          </a:xfrm>
          <a:prstGeom prst="rect">
            <a:avLst/>
          </a:prstGeom>
        </p:spPr>
        <p:txBody>
          <a:bodyPr wrap="square">
            <a:spAutoFit/>
          </a:bodyPr>
          <a:lstStyle/>
          <a:p>
            <a:r>
              <a:rPr lang="es-ES" sz="2400" i="1" dirty="0">
                <a:highlight>
                  <a:srgbClr val="FFFF00"/>
                </a:highlight>
                <a:latin typeface="KaTeX_Math"/>
              </a:rPr>
              <a:t>d</a:t>
            </a:r>
            <a:r>
              <a:rPr lang="es-ES" sz="2400" dirty="0">
                <a:highlight>
                  <a:srgbClr val="FFFF00"/>
                </a:highlight>
              </a:rPr>
              <a:t>=</a:t>
            </a:r>
            <a:r>
              <a:rPr lang="es-ES" sz="2000" dirty="0">
                <a:highlight>
                  <a:srgbClr val="FFFF00"/>
                </a:highlight>
              </a:rPr>
              <a:t>SQRT</a:t>
            </a:r>
            <a:r>
              <a:rPr lang="es-ES" sz="2400" dirty="0">
                <a:highlight>
                  <a:srgbClr val="FFFF00"/>
                </a:highlight>
                <a:latin typeface="KaTeX_Main"/>
              </a:rPr>
              <a:t>(</a:t>
            </a:r>
            <a:r>
              <a:rPr lang="es-ES" sz="2400" i="1" dirty="0">
                <a:highlight>
                  <a:srgbClr val="FFFF00"/>
                </a:highlight>
                <a:latin typeface="KaTeX_Math"/>
              </a:rPr>
              <a:t>x</a:t>
            </a:r>
            <a:r>
              <a:rPr lang="es-ES" sz="2400" baseline="-25000" dirty="0">
                <a:highlight>
                  <a:srgbClr val="FFFF00"/>
                </a:highlight>
                <a:latin typeface="KaTeX_Main"/>
              </a:rPr>
              <a:t>2</a:t>
            </a:r>
            <a:r>
              <a:rPr lang="es-ES" sz="2400" dirty="0">
                <a:highlight>
                  <a:srgbClr val="FFFF00"/>
                </a:highlight>
                <a:latin typeface="KaTeX_Main"/>
              </a:rPr>
              <a:t>​−</a:t>
            </a:r>
            <a:r>
              <a:rPr lang="es-ES" sz="2400" i="1" dirty="0">
                <a:highlight>
                  <a:srgbClr val="FFFF00"/>
                </a:highlight>
                <a:latin typeface="KaTeX_Math"/>
              </a:rPr>
              <a:t>x</a:t>
            </a:r>
            <a:r>
              <a:rPr lang="es-ES" sz="2400" baseline="-25000" dirty="0">
                <a:highlight>
                  <a:srgbClr val="FFFF00"/>
                </a:highlight>
                <a:latin typeface="KaTeX_Main"/>
              </a:rPr>
              <a:t>1</a:t>
            </a:r>
            <a:r>
              <a:rPr lang="es-ES" sz="2400" dirty="0">
                <a:highlight>
                  <a:srgbClr val="FFFF00"/>
                </a:highlight>
                <a:latin typeface="KaTeX_Main"/>
              </a:rPr>
              <a:t>​)</a:t>
            </a:r>
            <a:r>
              <a:rPr lang="es-ES" sz="2400" baseline="30000" dirty="0">
                <a:highlight>
                  <a:srgbClr val="FFFF00"/>
                </a:highlight>
                <a:latin typeface="KaTeX_Main"/>
              </a:rPr>
              <a:t>2</a:t>
            </a:r>
            <a:r>
              <a:rPr lang="es-ES" sz="2400" dirty="0">
                <a:highlight>
                  <a:srgbClr val="FFFF00"/>
                </a:highlight>
                <a:latin typeface="KaTeX_Main"/>
              </a:rPr>
              <a:t>+(</a:t>
            </a:r>
            <a:r>
              <a:rPr lang="es-ES" sz="2400" i="1" dirty="0">
                <a:highlight>
                  <a:srgbClr val="FFFF00"/>
                </a:highlight>
                <a:latin typeface="KaTeX_Math"/>
              </a:rPr>
              <a:t>y</a:t>
            </a:r>
            <a:r>
              <a:rPr lang="es-ES" sz="2400" baseline="-25000" dirty="0">
                <a:highlight>
                  <a:srgbClr val="FFFF00"/>
                </a:highlight>
                <a:latin typeface="KaTeX_Main"/>
              </a:rPr>
              <a:t>2</a:t>
            </a:r>
            <a:r>
              <a:rPr lang="es-ES" sz="2400" dirty="0">
                <a:highlight>
                  <a:srgbClr val="FFFF00"/>
                </a:highlight>
                <a:latin typeface="KaTeX_Main"/>
              </a:rPr>
              <a:t>​−</a:t>
            </a:r>
            <a:r>
              <a:rPr lang="es-ES" sz="2400" i="1" dirty="0">
                <a:highlight>
                  <a:srgbClr val="FFFF00"/>
                </a:highlight>
                <a:latin typeface="KaTeX_Math"/>
              </a:rPr>
              <a:t>y</a:t>
            </a:r>
            <a:r>
              <a:rPr lang="es-ES" sz="2400" baseline="-25000" dirty="0">
                <a:highlight>
                  <a:srgbClr val="FFFF00"/>
                </a:highlight>
                <a:latin typeface="KaTeX_Main"/>
              </a:rPr>
              <a:t>1</a:t>
            </a:r>
            <a:r>
              <a:rPr lang="es-ES" sz="2400" dirty="0">
                <a:highlight>
                  <a:srgbClr val="FFFF00"/>
                </a:highlight>
                <a:latin typeface="KaTeX_Main"/>
              </a:rPr>
              <a:t>​)</a:t>
            </a:r>
            <a:r>
              <a:rPr lang="es-ES" sz="2400" baseline="30000" dirty="0">
                <a:highlight>
                  <a:srgbClr val="FFFF00"/>
                </a:highlight>
                <a:latin typeface="KaTeX_Main"/>
              </a:rPr>
              <a:t>2</a:t>
            </a:r>
            <a:r>
              <a:rPr lang="es-ES" sz="2400" dirty="0">
                <a:highlight>
                  <a:srgbClr val="FFFF00"/>
                </a:highlight>
                <a:latin typeface="KaTeX_Main"/>
              </a:rPr>
              <a:t>​</a:t>
            </a:r>
            <a:br>
              <a:rPr lang="es-ES" sz="3200" dirty="0">
                <a:latin typeface="KaTeX_Main"/>
              </a:rPr>
            </a:br>
            <a:endParaRPr lang="en-IN" sz="3200" dirty="0"/>
          </a:p>
        </p:txBody>
      </p:sp>
    </p:spTree>
    <p:extLst>
      <p:ext uri="{BB962C8B-B14F-4D97-AF65-F5344CB8AC3E}">
        <p14:creationId xmlns:p14="http://schemas.microsoft.com/office/powerpoint/2010/main" val="18526292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15600" y="777922"/>
            <a:ext cx="11360800" cy="5313911"/>
          </a:xfrm>
        </p:spPr>
        <p:txBody>
          <a:bodyPr/>
          <a:lstStyle/>
          <a:p>
            <a:r>
              <a:rPr lang="en-US" sz="2400" dirty="0">
                <a:solidFill>
                  <a:schemeClr val="tx1"/>
                </a:solidFill>
              </a:rPr>
              <a:t>In cluster 1, we have 6 points i.e. A2 (2,6), A5 (6,4), A6 (1,2), A10 (7,5), A12 (4,6), A14 (3,8). To calculate the new centroid for cluster 1, we will find the mean of the x and y coordinates of each point in the cluster. Hence, </a:t>
            </a:r>
            <a:r>
              <a:rPr lang="en-US" sz="2400" dirty="0">
                <a:solidFill>
                  <a:srgbClr val="FF0000"/>
                </a:solidFill>
              </a:rPr>
              <a:t>the new centroid for cluster 1 is (3.833, 5.167).</a:t>
            </a:r>
          </a:p>
          <a:p>
            <a:endParaRPr lang="en-US" sz="2400" dirty="0">
              <a:solidFill>
                <a:srgbClr val="FF0000"/>
              </a:solidFill>
            </a:endParaRPr>
          </a:p>
          <a:p>
            <a:r>
              <a:rPr lang="en-US" sz="2400" dirty="0">
                <a:solidFill>
                  <a:schemeClr val="tx1"/>
                </a:solidFill>
              </a:rPr>
              <a:t>In cluster 2, we have 5 points i.e. A1 (2,10), A4 (6,9), A7 (5,10) , A8 (4,9), and A13 (3,10). Hence, </a:t>
            </a:r>
            <a:r>
              <a:rPr lang="en-US" sz="2400" b="1" dirty="0">
                <a:solidFill>
                  <a:schemeClr val="accent4">
                    <a:lumMod val="50000"/>
                  </a:schemeClr>
                </a:solidFill>
              </a:rPr>
              <a:t>the new centroid for cluster 2 is (4, 9.6)</a:t>
            </a:r>
            <a:r>
              <a:rPr lang="en-US" sz="2400" dirty="0">
                <a:solidFill>
                  <a:schemeClr val="tx1"/>
                </a:solidFill>
              </a:rPr>
              <a:t> </a:t>
            </a:r>
          </a:p>
          <a:p>
            <a:pPr marL="152396" indent="0">
              <a:buNone/>
            </a:pPr>
            <a:endParaRPr lang="en-US" sz="2400" dirty="0">
              <a:solidFill>
                <a:schemeClr val="tx1"/>
              </a:solidFill>
            </a:endParaRPr>
          </a:p>
          <a:p>
            <a:r>
              <a:rPr lang="en-US" sz="2400" dirty="0">
                <a:solidFill>
                  <a:schemeClr val="tx1"/>
                </a:solidFill>
              </a:rPr>
              <a:t>In cluster 3, we have 4 points i.e. A3 (11,11), A9 (10,12), A11 (9,11), and A15 (6,11). Hence, </a:t>
            </a:r>
            <a:r>
              <a:rPr lang="en-US" sz="2400" dirty="0">
                <a:solidFill>
                  <a:srgbClr val="0070C0"/>
                </a:solidFill>
              </a:rPr>
              <a:t>the new centroid for cluster 3 is (9, 11.25).</a:t>
            </a:r>
          </a:p>
          <a:p>
            <a:endParaRPr lang="en-IN" dirty="0"/>
          </a:p>
        </p:txBody>
      </p:sp>
    </p:spTree>
    <p:extLst>
      <p:ext uri="{BB962C8B-B14F-4D97-AF65-F5344CB8AC3E}">
        <p14:creationId xmlns:p14="http://schemas.microsoft.com/office/powerpoint/2010/main" val="293742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3839" y="321982"/>
            <a:ext cx="11360800" cy="1206567"/>
          </a:xfrm>
        </p:spPr>
        <p:txBody>
          <a:bodyPr>
            <a:normAutofit/>
          </a:bodyPr>
          <a:lstStyle/>
          <a:p>
            <a:pPr marL="152396" indent="0">
              <a:buNone/>
            </a:pPr>
            <a:r>
              <a:rPr lang="en-US" sz="2400" dirty="0">
                <a:solidFill>
                  <a:schemeClr val="tx1"/>
                </a:solidFill>
              </a:rPr>
              <a:t>Calculate the distance of each data point from the new centroids. Then, we will assign the points to clusters based on their distance from the centroids. </a:t>
            </a:r>
            <a:endParaRPr lang="en-IN" dirty="0">
              <a:solidFill>
                <a:schemeClr val="tx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2703704108"/>
              </p:ext>
            </p:extLst>
          </p:nvPr>
        </p:nvGraphicFramePr>
        <p:xfrm>
          <a:off x="1228301" y="1351126"/>
          <a:ext cx="7301550" cy="5363356"/>
        </p:xfrm>
        <a:graphic>
          <a:graphicData uri="http://schemas.openxmlformats.org/drawingml/2006/table">
            <a:tbl>
              <a:tblPr/>
              <a:tblGrid>
                <a:gridCol w="1282887">
                  <a:extLst>
                    <a:ext uri="{9D8B030D-6E8A-4147-A177-3AD203B41FA5}">
                      <a16:colId xmlns:a16="http://schemas.microsoft.com/office/drawing/2014/main" val="20000"/>
                    </a:ext>
                  </a:extLst>
                </a:gridCol>
                <a:gridCol w="1392072">
                  <a:extLst>
                    <a:ext uri="{9D8B030D-6E8A-4147-A177-3AD203B41FA5}">
                      <a16:colId xmlns:a16="http://schemas.microsoft.com/office/drawing/2014/main" val="20001"/>
                    </a:ext>
                  </a:extLst>
                </a:gridCol>
                <a:gridCol w="1705971">
                  <a:extLst>
                    <a:ext uri="{9D8B030D-6E8A-4147-A177-3AD203B41FA5}">
                      <a16:colId xmlns:a16="http://schemas.microsoft.com/office/drawing/2014/main" val="20002"/>
                    </a:ext>
                  </a:extLst>
                </a:gridCol>
                <a:gridCol w="1460310">
                  <a:extLst>
                    <a:ext uri="{9D8B030D-6E8A-4147-A177-3AD203B41FA5}">
                      <a16:colId xmlns:a16="http://schemas.microsoft.com/office/drawing/2014/main" val="20003"/>
                    </a:ext>
                  </a:extLst>
                </a:gridCol>
                <a:gridCol w="1460310">
                  <a:extLst>
                    <a:ext uri="{9D8B030D-6E8A-4147-A177-3AD203B41FA5}">
                      <a16:colId xmlns:a16="http://schemas.microsoft.com/office/drawing/2014/main" val="20004"/>
                    </a:ext>
                  </a:extLst>
                </a:gridCol>
              </a:tblGrid>
              <a:tr h="832516">
                <a:tc>
                  <a:txBody>
                    <a:bodyPr/>
                    <a:lstStyle/>
                    <a:p>
                      <a:pPr latinLnBrk="0"/>
                      <a:r>
                        <a:rPr lang="en-IN" sz="1400" b="1" dirty="0">
                          <a:solidFill>
                            <a:schemeClr val="tx1"/>
                          </a:solidFill>
                          <a:effectLst/>
                        </a:rPr>
                        <a:t>Point</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algn="ctr" latinLnBrk="0"/>
                      <a:r>
                        <a:rPr lang="en-US" sz="1400" b="1" dirty="0">
                          <a:solidFill>
                            <a:schemeClr val="tx1"/>
                          </a:solidFill>
                          <a:effectLst/>
                        </a:rPr>
                        <a:t>Distance from Centroid 1 (3.833, 5.167)</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algn="ctr" latinLnBrk="0"/>
                      <a:r>
                        <a:rPr lang="en-US" sz="1400" b="1" dirty="0">
                          <a:solidFill>
                            <a:schemeClr val="tx1"/>
                          </a:solidFill>
                          <a:effectLst/>
                        </a:rPr>
                        <a:t>Distance from centroid 2</a:t>
                      </a:r>
                    </a:p>
                    <a:p>
                      <a:pPr algn="ctr" latinLnBrk="0"/>
                      <a:r>
                        <a:rPr lang="en-US" sz="1400" b="1" dirty="0">
                          <a:solidFill>
                            <a:schemeClr val="tx1"/>
                          </a:solidFill>
                          <a:effectLst/>
                        </a:rPr>
                        <a:t> (4, 9.6) </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algn="ctr" latinLnBrk="0"/>
                      <a:r>
                        <a:rPr lang="en-US" sz="1400" b="1" dirty="0">
                          <a:solidFill>
                            <a:schemeClr val="tx1"/>
                          </a:solidFill>
                          <a:effectLst/>
                        </a:rPr>
                        <a:t>Distance from centroid 3 </a:t>
                      </a:r>
                    </a:p>
                    <a:p>
                      <a:pPr algn="ctr" latinLnBrk="0"/>
                      <a:r>
                        <a:rPr lang="en-US" sz="1400" b="1" dirty="0">
                          <a:solidFill>
                            <a:schemeClr val="tx1"/>
                          </a:solidFill>
                          <a:effectLst/>
                        </a:rPr>
                        <a:t>(9, 11.25)</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400" b="1" dirty="0">
                          <a:solidFill>
                            <a:schemeClr val="tx1"/>
                          </a:solidFill>
                          <a:effectLst/>
                        </a:rPr>
                        <a:t>Assigned Cluster</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83938">
                <a:tc>
                  <a:txBody>
                    <a:bodyPr/>
                    <a:lstStyle/>
                    <a:p>
                      <a:pPr latinLnBrk="0"/>
                      <a:r>
                        <a:rPr lang="en-IN" sz="1600" dirty="0">
                          <a:solidFill>
                            <a:schemeClr val="tx1"/>
                          </a:solidFill>
                          <a:effectLst/>
                        </a:rPr>
                        <a:t>A1 (2,10)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5.169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2.040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7.111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938">
                <a:tc>
                  <a:txBody>
                    <a:bodyPr/>
                    <a:lstStyle/>
                    <a:p>
                      <a:pPr latinLnBrk="0"/>
                      <a:r>
                        <a:rPr lang="en-IN" sz="1600" dirty="0">
                          <a:solidFill>
                            <a:schemeClr val="tx1"/>
                          </a:solidFill>
                          <a:effectLst/>
                        </a:rPr>
                        <a:t>A2 (2,6)</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2.013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4.118</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8.750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938">
                <a:tc>
                  <a:txBody>
                    <a:bodyPr/>
                    <a:lstStyle/>
                    <a:p>
                      <a:pPr latinLnBrk="0"/>
                      <a:r>
                        <a:rPr lang="en-IN" sz="1600" dirty="0">
                          <a:solidFill>
                            <a:schemeClr val="tx1"/>
                          </a:solidFill>
                          <a:effectLst/>
                        </a:rPr>
                        <a:t>A3 (11,11)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9.241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7.139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2.016</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938">
                <a:tc>
                  <a:txBody>
                    <a:bodyPr/>
                    <a:lstStyle/>
                    <a:p>
                      <a:pPr latinLnBrk="0"/>
                      <a:r>
                        <a:rPr lang="en-IN" sz="1600">
                          <a:solidFill>
                            <a:schemeClr val="tx1"/>
                          </a:solidFill>
                          <a:effectLst/>
                        </a:rPr>
                        <a:t>A4 (6,9)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4.403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2.088</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3.750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83938">
                <a:tc>
                  <a:txBody>
                    <a:bodyPr/>
                    <a:lstStyle/>
                    <a:p>
                      <a:pPr latinLnBrk="0"/>
                      <a:r>
                        <a:rPr lang="en-IN" sz="1600" dirty="0">
                          <a:solidFill>
                            <a:schemeClr val="tx1"/>
                          </a:solidFill>
                          <a:effectLst/>
                        </a:rPr>
                        <a:t>A5 (6,4)</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2.461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5.946</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7.846</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83938">
                <a:tc>
                  <a:txBody>
                    <a:bodyPr/>
                    <a:lstStyle/>
                    <a:p>
                      <a:pPr latinLnBrk="0"/>
                      <a:r>
                        <a:rPr lang="en-IN" sz="1600">
                          <a:solidFill>
                            <a:schemeClr val="tx1"/>
                          </a:solidFill>
                          <a:effectLst/>
                        </a:rPr>
                        <a:t>A6 (1,2)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4.249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8.171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12.230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83938">
                <a:tc>
                  <a:txBody>
                    <a:bodyPr/>
                    <a:lstStyle/>
                    <a:p>
                      <a:pPr latinLnBrk="0"/>
                      <a:r>
                        <a:rPr lang="en-IN" sz="1600">
                          <a:solidFill>
                            <a:schemeClr val="tx1"/>
                          </a:solidFill>
                          <a:effectLst/>
                        </a:rPr>
                        <a:t>A7 (5,10)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4.972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1.077</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4.191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83938">
                <a:tc>
                  <a:txBody>
                    <a:bodyPr/>
                    <a:lstStyle/>
                    <a:p>
                      <a:pPr latinLnBrk="0"/>
                      <a:r>
                        <a:rPr lang="en-IN" sz="1600">
                          <a:solidFill>
                            <a:schemeClr val="tx1"/>
                          </a:solidFill>
                          <a:effectLst/>
                        </a:rPr>
                        <a:t>A8 (4,9)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3.837</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0.600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5.483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83938">
                <a:tc>
                  <a:txBody>
                    <a:bodyPr/>
                    <a:lstStyle/>
                    <a:p>
                      <a:pPr latinLnBrk="0"/>
                      <a:r>
                        <a:rPr lang="en-IN" sz="1600">
                          <a:solidFill>
                            <a:schemeClr val="tx1"/>
                          </a:solidFill>
                          <a:effectLst/>
                        </a:rPr>
                        <a:t>A9 (10,12)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9.204</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6.462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1.250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283938">
                <a:tc>
                  <a:txBody>
                    <a:bodyPr/>
                    <a:lstStyle/>
                    <a:p>
                      <a:pPr latinLnBrk="0"/>
                      <a:r>
                        <a:rPr lang="en-IN" sz="1600">
                          <a:solidFill>
                            <a:schemeClr val="tx1"/>
                          </a:solidFill>
                          <a:effectLst/>
                        </a:rPr>
                        <a:t>A10 (7,5)</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3.171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5.492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6.562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83938">
                <a:tc>
                  <a:txBody>
                    <a:bodyPr/>
                    <a:lstStyle/>
                    <a:p>
                      <a:pPr latinLnBrk="0"/>
                      <a:r>
                        <a:rPr lang="en-IN" sz="1600">
                          <a:solidFill>
                            <a:schemeClr val="tx1"/>
                          </a:solidFill>
                          <a:effectLst/>
                        </a:rPr>
                        <a:t>A11 (9,11)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7.792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5.192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0.250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283938">
                <a:tc>
                  <a:txBody>
                    <a:bodyPr/>
                    <a:lstStyle/>
                    <a:p>
                      <a:pPr latinLnBrk="0"/>
                      <a:r>
                        <a:rPr lang="en-IN" sz="1600">
                          <a:solidFill>
                            <a:schemeClr val="tx1"/>
                          </a:solidFill>
                          <a:effectLst/>
                        </a:rPr>
                        <a:t>A12 (4,6)</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0.850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3.600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7.250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283938">
                <a:tc>
                  <a:txBody>
                    <a:bodyPr/>
                    <a:lstStyle/>
                    <a:p>
                      <a:pPr latinLnBrk="0"/>
                      <a:r>
                        <a:rPr lang="en-IN" sz="1600">
                          <a:solidFill>
                            <a:schemeClr val="tx1"/>
                          </a:solidFill>
                          <a:effectLst/>
                        </a:rPr>
                        <a:t>A13 (3,10)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4.904</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1.077</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6.129</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283938">
                <a:tc>
                  <a:txBody>
                    <a:bodyPr/>
                    <a:lstStyle/>
                    <a:p>
                      <a:pPr latinLnBrk="0"/>
                      <a:r>
                        <a:rPr lang="en-IN" sz="1600">
                          <a:solidFill>
                            <a:schemeClr val="tx1"/>
                          </a:solidFill>
                          <a:effectLst/>
                        </a:rPr>
                        <a:t>A14 (3,8)</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2.953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1.887</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6.824</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283938">
                <a:tc>
                  <a:txBody>
                    <a:bodyPr/>
                    <a:lstStyle/>
                    <a:p>
                      <a:pPr latinLnBrk="0"/>
                      <a:r>
                        <a:rPr lang="en-IN" sz="1600">
                          <a:solidFill>
                            <a:schemeClr val="tx1"/>
                          </a:solidFill>
                          <a:effectLst/>
                        </a:rPr>
                        <a:t>A15 (6,11)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6.223</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2.441</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solidFill>
                            <a:schemeClr val="tx1"/>
                          </a:solidFill>
                          <a:effectLst/>
                        </a:rPr>
                        <a:t>3.010</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solidFill>
                            <a:schemeClr val="tx1"/>
                          </a:solidFill>
                          <a:effectLst/>
                        </a:rPr>
                        <a:t>Cluster 2</a:t>
                      </a:r>
                    </a:p>
                  </a:txBody>
                  <a:tcPr marL="58215" marR="58215" marT="29108" marB="29108"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2" name="TextBox 1"/>
          <p:cNvSpPr txBox="1"/>
          <p:nvPr/>
        </p:nvSpPr>
        <p:spPr>
          <a:xfrm>
            <a:off x="9144000" y="3316406"/>
            <a:ext cx="2429301" cy="523220"/>
          </a:xfrm>
          <a:prstGeom prst="rect">
            <a:avLst/>
          </a:prstGeom>
          <a:noFill/>
        </p:spPr>
        <p:txBody>
          <a:bodyPr wrap="square" rtlCol="0">
            <a:spAutoFit/>
          </a:bodyPr>
          <a:lstStyle/>
          <a:p>
            <a:r>
              <a:rPr lang="en-US" sz="2800" dirty="0">
                <a:solidFill>
                  <a:srgbClr val="FF0000"/>
                </a:solidFill>
              </a:rPr>
              <a:t>Iteration 2</a:t>
            </a:r>
            <a:endParaRPr lang="en-IN" sz="2800" dirty="0">
              <a:solidFill>
                <a:srgbClr val="FF0000"/>
              </a:solidFill>
            </a:endParaRPr>
          </a:p>
        </p:txBody>
      </p:sp>
    </p:spTree>
    <p:extLst>
      <p:ext uri="{BB962C8B-B14F-4D97-AF65-F5344CB8AC3E}">
        <p14:creationId xmlns:p14="http://schemas.microsoft.com/office/powerpoint/2010/main" val="26584832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15600" y="272955"/>
            <a:ext cx="11360800" cy="5818878"/>
          </a:xfrm>
        </p:spPr>
        <p:txBody>
          <a:bodyPr/>
          <a:lstStyle/>
          <a:p>
            <a:r>
              <a:rPr lang="en-US" sz="2400" dirty="0">
                <a:solidFill>
                  <a:schemeClr val="tx1"/>
                </a:solidFill>
              </a:rPr>
              <a:t>In cluster 1, we have 5 points i.e. A2 (2,6), A5 (6,4), A6 (1,2), A10 (7,5), and A12 (4,6). To calculate the new centroid for cluster 1, we will find the mean of the x and y coordinates of each point in the cluster. Hence, </a:t>
            </a:r>
            <a:r>
              <a:rPr lang="en-US" sz="2400" dirty="0">
                <a:solidFill>
                  <a:srgbClr val="FF0000"/>
                </a:solidFill>
              </a:rPr>
              <a:t>the new centroid for cluster 1 is (4, 4.6).</a:t>
            </a:r>
          </a:p>
          <a:p>
            <a:endParaRPr lang="en-US" sz="2400" dirty="0">
              <a:solidFill>
                <a:srgbClr val="FF0000"/>
              </a:solidFill>
            </a:endParaRPr>
          </a:p>
          <a:p>
            <a:r>
              <a:rPr lang="en-US" sz="2400" dirty="0">
                <a:solidFill>
                  <a:schemeClr val="tx1"/>
                </a:solidFill>
              </a:rPr>
              <a:t>In cluster 2, we have 7 points i.e. A1 (2,10), A4 (6,9), A7 (5,10) , A8 (4,9), A13 (3,10), A14 (3,8), and A15 (6,11). Hence, </a:t>
            </a:r>
            <a:r>
              <a:rPr lang="en-US" sz="2400" b="1" dirty="0">
                <a:solidFill>
                  <a:schemeClr val="accent4">
                    <a:lumMod val="75000"/>
                  </a:schemeClr>
                </a:solidFill>
              </a:rPr>
              <a:t>the new centroid for cluster 2 is (4.143, 9.571) </a:t>
            </a:r>
          </a:p>
          <a:p>
            <a:endParaRPr lang="en-US" sz="2400" b="1" dirty="0">
              <a:solidFill>
                <a:schemeClr val="accent4">
                  <a:lumMod val="75000"/>
                </a:schemeClr>
              </a:solidFill>
            </a:endParaRPr>
          </a:p>
          <a:p>
            <a:r>
              <a:rPr lang="en-US" sz="2400" dirty="0">
                <a:solidFill>
                  <a:schemeClr val="tx1"/>
                </a:solidFill>
              </a:rPr>
              <a:t>In cluster 3, we have 3 points i.e. A3 (11,11), A9 (10,12), and A11 (9,11). Hence, </a:t>
            </a:r>
            <a:r>
              <a:rPr lang="en-US" sz="2400" dirty="0">
                <a:solidFill>
                  <a:srgbClr val="0070C0"/>
                </a:solidFill>
              </a:rPr>
              <a:t>the new centroid for cluster 3 is (10, 11.333).</a:t>
            </a:r>
          </a:p>
          <a:p>
            <a:endParaRPr lang="en-IN" dirty="0">
              <a:solidFill>
                <a:srgbClr val="0070C0"/>
              </a:solidFill>
            </a:endParaRPr>
          </a:p>
        </p:txBody>
      </p:sp>
    </p:spTree>
    <p:extLst>
      <p:ext uri="{BB962C8B-B14F-4D97-AF65-F5344CB8AC3E}">
        <p14:creationId xmlns:p14="http://schemas.microsoft.com/office/powerpoint/2010/main" val="25071431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1746969914"/>
              </p:ext>
            </p:extLst>
          </p:nvPr>
        </p:nvGraphicFramePr>
        <p:xfrm>
          <a:off x="1160061" y="245662"/>
          <a:ext cx="7874755" cy="6223373"/>
        </p:xfrm>
        <a:graphic>
          <a:graphicData uri="http://schemas.openxmlformats.org/drawingml/2006/table">
            <a:tbl>
              <a:tblPr/>
              <a:tblGrid>
                <a:gridCol w="1574951">
                  <a:extLst>
                    <a:ext uri="{9D8B030D-6E8A-4147-A177-3AD203B41FA5}">
                      <a16:colId xmlns:a16="http://schemas.microsoft.com/office/drawing/2014/main" val="20000"/>
                    </a:ext>
                  </a:extLst>
                </a:gridCol>
                <a:gridCol w="1574951">
                  <a:extLst>
                    <a:ext uri="{9D8B030D-6E8A-4147-A177-3AD203B41FA5}">
                      <a16:colId xmlns:a16="http://schemas.microsoft.com/office/drawing/2014/main" val="20001"/>
                    </a:ext>
                  </a:extLst>
                </a:gridCol>
                <a:gridCol w="1574951">
                  <a:extLst>
                    <a:ext uri="{9D8B030D-6E8A-4147-A177-3AD203B41FA5}">
                      <a16:colId xmlns:a16="http://schemas.microsoft.com/office/drawing/2014/main" val="20002"/>
                    </a:ext>
                  </a:extLst>
                </a:gridCol>
                <a:gridCol w="1574951">
                  <a:extLst>
                    <a:ext uri="{9D8B030D-6E8A-4147-A177-3AD203B41FA5}">
                      <a16:colId xmlns:a16="http://schemas.microsoft.com/office/drawing/2014/main" val="20003"/>
                    </a:ext>
                  </a:extLst>
                </a:gridCol>
                <a:gridCol w="1574951">
                  <a:extLst>
                    <a:ext uri="{9D8B030D-6E8A-4147-A177-3AD203B41FA5}">
                      <a16:colId xmlns:a16="http://schemas.microsoft.com/office/drawing/2014/main" val="20004"/>
                    </a:ext>
                  </a:extLst>
                </a:gridCol>
              </a:tblGrid>
              <a:tr h="1113983">
                <a:tc>
                  <a:txBody>
                    <a:bodyPr/>
                    <a:lstStyle/>
                    <a:p>
                      <a:pPr latinLnBrk="0"/>
                      <a:r>
                        <a:rPr lang="en-IN" sz="1600" b="1" dirty="0">
                          <a:effectLst/>
                        </a:rPr>
                        <a:t>Point</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1 </a:t>
                      </a:r>
                    </a:p>
                    <a:p>
                      <a:pPr latinLnBrk="0"/>
                      <a:r>
                        <a:rPr lang="en-US" sz="1600" b="1" dirty="0">
                          <a:effectLst/>
                        </a:rPr>
                        <a:t> (4, 4.6)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2  </a:t>
                      </a:r>
                    </a:p>
                    <a:p>
                      <a:pPr latinLnBrk="0"/>
                      <a:r>
                        <a:rPr lang="en-US" sz="1600" b="1" dirty="0">
                          <a:effectLst/>
                        </a:rPr>
                        <a:t>(4.143, 9.571)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US" sz="1600" b="1" dirty="0">
                          <a:effectLst/>
                        </a:rPr>
                        <a:t>Distance from centroid 3 </a:t>
                      </a:r>
                    </a:p>
                    <a:p>
                      <a:pPr latinLnBrk="0"/>
                      <a:r>
                        <a:rPr lang="en-US" sz="1600" b="1" dirty="0">
                          <a:effectLst/>
                        </a:rPr>
                        <a:t>(10, 11.333)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b="1" dirty="0">
                          <a:effectLst/>
                        </a:rPr>
                        <a:t>Assigned Cluster</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40626">
                <a:tc>
                  <a:txBody>
                    <a:bodyPr/>
                    <a:lstStyle/>
                    <a:p>
                      <a:pPr latinLnBrk="0"/>
                      <a:r>
                        <a:rPr lang="en-IN" sz="1600" dirty="0">
                          <a:effectLst/>
                        </a:rPr>
                        <a:t>A1 (2,10)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5.758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2.186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8.110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0626">
                <a:tc>
                  <a:txBody>
                    <a:bodyPr/>
                    <a:lstStyle/>
                    <a:p>
                      <a:pPr latinLnBrk="0"/>
                      <a:r>
                        <a:rPr lang="en-IN" sz="1600" dirty="0">
                          <a:effectLst/>
                        </a:rPr>
                        <a:t>A2 (2,6)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2.441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4.165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9.615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40626">
                <a:tc>
                  <a:txBody>
                    <a:bodyPr/>
                    <a:lstStyle/>
                    <a:p>
                      <a:pPr latinLnBrk="0"/>
                      <a:r>
                        <a:rPr lang="en-IN" sz="1600" dirty="0">
                          <a:effectLst/>
                        </a:rPr>
                        <a:t>A3 (11,11)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9.485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7.004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1.054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0626">
                <a:tc>
                  <a:txBody>
                    <a:bodyPr/>
                    <a:lstStyle/>
                    <a:p>
                      <a:pPr latinLnBrk="0"/>
                      <a:r>
                        <a:rPr lang="en-IN" sz="1600">
                          <a:effectLst/>
                        </a:rPr>
                        <a:t>A4 (6,9)</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4.833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1.943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4.631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40626">
                <a:tc>
                  <a:txBody>
                    <a:bodyPr/>
                    <a:lstStyle/>
                    <a:p>
                      <a:pPr latinLnBrk="0"/>
                      <a:r>
                        <a:rPr lang="en-IN" sz="1600">
                          <a:effectLst/>
                        </a:rPr>
                        <a:t>A5 (6,4)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2.088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5.872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8.353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0626">
                <a:tc>
                  <a:txBody>
                    <a:bodyPr/>
                    <a:lstStyle/>
                    <a:p>
                      <a:pPr latinLnBrk="0"/>
                      <a:r>
                        <a:rPr lang="en-IN" sz="1600">
                          <a:effectLst/>
                        </a:rPr>
                        <a:t>A6 (1,2)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3.970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8.197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12.966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40626">
                <a:tc>
                  <a:txBody>
                    <a:bodyPr/>
                    <a:lstStyle/>
                    <a:p>
                      <a:pPr latinLnBrk="0"/>
                      <a:r>
                        <a:rPr lang="en-IN" sz="1600">
                          <a:effectLst/>
                        </a:rPr>
                        <a:t>A7 (5,10)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5.492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0.958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5.175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40626">
                <a:tc>
                  <a:txBody>
                    <a:bodyPr/>
                    <a:lstStyle/>
                    <a:p>
                      <a:pPr latinLnBrk="0"/>
                      <a:r>
                        <a:rPr lang="en-IN" sz="1600">
                          <a:effectLst/>
                        </a:rPr>
                        <a:t>A8 (4,9)</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4.400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0.589</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6.438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340626">
                <a:tc>
                  <a:txBody>
                    <a:bodyPr/>
                    <a:lstStyle/>
                    <a:p>
                      <a:pPr latinLnBrk="0"/>
                      <a:r>
                        <a:rPr lang="en-IN" sz="1600">
                          <a:effectLst/>
                        </a:rPr>
                        <a:t>A9 (10,12)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9.527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6.341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0.667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40626">
                <a:tc>
                  <a:txBody>
                    <a:bodyPr/>
                    <a:lstStyle/>
                    <a:p>
                      <a:pPr latinLnBrk="0"/>
                      <a:r>
                        <a:rPr lang="en-IN" sz="1600">
                          <a:effectLst/>
                        </a:rPr>
                        <a:t>A10 (7,5)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3.027</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5.390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7.008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340626">
                <a:tc>
                  <a:txBody>
                    <a:bodyPr/>
                    <a:lstStyle/>
                    <a:p>
                      <a:pPr latinLnBrk="0"/>
                      <a:r>
                        <a:rPr lang="en-IN" sz="1600">
                          <a:effectLst/>
                        </a:rPr>
                        <a:t>A11 (9,11)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8.122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5.063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1.054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40626">
                <a:tc>
                  <a:txBody>
                    <a:bodyPr/>
                    <a:lstStyle/>
                    <a:p>
                      <a:pPr latinLnBrk="0"/>
                      <a:r>
                        <a:rPr lang="en-IN" sz="1600">
                          <a:effectLst/>
                        </a:rPr>
                        <a:t>A12 (4,6)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1.400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3.574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8.028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Cluster 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2"/>
                  </a:ext>
                </a:extLst>
              </a:tr>
              <a:tr h="340626">
                <a:tc>
                  <a:txBody>
                    <a:bodyPr/>
                    <a:lstStyle/>
                    <a:p>
                      <a:pPr latinLnBrk="0"/>
                      <a:r>
                        <a:rPr lang="en-IN" sz="1600">
                          <a:effectLst/>
                        </a:rPr>
                        <a:t>A13 (3,10)</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5.492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1.221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7.126</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40626">
                <a:tc>
                  <a:txBody>
                    <a:bodyPr/>
                    <a:lstStyle/>
                    <a:p>
                      <a:pPr latinLnBrk="0"/>
                      <a:r>
                        <a:rPr lang="en-IN" sz="1600">
                          <a:effectLst/>
                        </a:rPr>
                        <a:t>A14 (3,8)</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3.544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1.943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7.753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4"/>
                  </a:ext>
                </a:extLst>
              </a:tr>
              <a:tr h="340626">
                <a:tc>
                  <a:txBody>
                    <a:bodyPr/>
                    <a:lstStyle/>
                    <a:p>
                      <a:pPr latinLnBrk="0"/>
                      <a:r>
                        <a:rPr lang="en-IN" sz="1600">
                          <a:effectLst/>
                        </a:rPr>
                        <a:t>A15 (6,11)</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6.705</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2.343</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a:effectLst/>
                        </a:rPr>
                        <a:t>4.014</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tc>
                  <a:txBody>
                    <a:bodyPr/>
                    <a:lstStyle/>
                    <a:p>
                      <a:pPr latinLnBrk="0"/>
                      <a:r>
                        <a:rPr lang="en-IN" sz="1600" dirty="0">
                          <a:effectLst/>
                        </a:rPr>
                        <a:t>Cluster 2</a:t>
                      </a:r>
                    </a:p>
                  </a:txBody>
                  <a:tcPr marL="60627" marR="60627" marT="30313" marB="30313" anchor="ctr">
                    <a:lnL w="19050" cap="flat" cmpd="sng" algn="ctr">
                      <a:solidFill>
                        <a:srgbClr val="718096"/>
                      </a:solidFill>
                      <a:prstDash val="solid"/>
                      <a:round/>
                      <a:headEnd type="none" w="med" len="med"/>
                      <a:tailEnd type="none" w="med" len="med"/>
                    </a:lnL>
                    <a:lnR w="19050" cap="flat" cmpd="sng" algn="ctr">
                      <a:solidFill>
                        <a:srgbClr val="718096"/>
                      </a:solidFill>
                      <a:prstDash val="solid"/>
                      <a:round/>
                      <a:headEnd type="none" w="med" len="med"/>
                      <a:tailEnd type="none" w="med" len="med"/>
                    </a:lnR>
                    <a:lnT w="19050" cap="flat" cmpd="sng" algn="ctr">
                      <a:solidFill>
                        <a:srgbClr val="718096"/>
                      </a:solidFill>
                      <a:prstDash val="solid"/>
                      <a:round/>
                      <a:headEnd type="none" w="med" len="med"/>
                      <a:tailEnd type="none" w="med" len="med"/>
                    </a:lnT>
                    <a:lnB w="19050" cap="flat" cmpd="sng" algn="ctr">
                      <a:solidFill>
                        <a:srgbClr val="71809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3" name="TextBox 2"/>
          <p:cNvSpPr txBox="1"/>
          <p:nvPr/>
        </p:nvSpPr>
        <p:spPr>
          <a:xfrm>
            <a:off x="9498841" y="3357348"/>
            <a:ext cx="2429301" cy="523220"/>
          </a:xfrm>
          <a:prstGeom prst="rect">
            <a:avLst/>
          </a:prstGeom>
          <a:noFill/>
        </p:spPr>
        <p:txBody>
          <a:bodyPr wrap="square" rtlCol="0">
            <a:spAutoFit/>
          </a:bodyPr>
          <a:lstStyle/>
          <a:p>
            <a:r>
              <a:rPr lang="en-US" sz="2800" dirty="0">
                <a:solidFill>
                  <a:srgbClr val="FF0000"/>
                </a:solidFill>
              </a:rPr>
              <a:t>Iteration 3</a:t>
            </a:r>
            <a:endParaRPr lang="en-IN" sz="2800" dirty="0">
              <a:solidFill>
                <a:srgbClr val="FF0000"/>
              </a:solidFill>
            </a:endParaRPr>
          </a:p>
        </p:txBody>
      </p:sp>
    </p:spTree>
    <p:extLst>
      <p:ext uri="{BB962C8B-B14F-4D97-AF65-F5344CB8AC3E}">
        <p14:creationId xmlns:p14="http://schemas.microsoft.com/office/powerpoint/2010/main" val="30571117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83838" y="253743"/>
            <a:ext cx="11360800" cy="3622221"/>
          </a:xfrm>
        </p:spPr>
        <p:txBody>
          <a:bodyPr>
            <a:normAutofit lnSpcReduction="10000"/>
          </a:bodyPr>
          <a:lstStyle/>
          <a:p>
            <a:r>
              <a:rPr lang="en-US" dirty="0">
                <a:solidFill>
                  <a:schemeClr val="tx1"/>
                </a:solidFill>
              </a:rPr>
              <a:t>Now, we will calculate the new centroid for each cluster for the third iteration.</a:t>
            </a:r>
          </a:p>
          <a:p>
            <a:r>
              <a:rPr lang="en-US" dirty="0">
                <a:solidFill>
                  <a:schemeClr val="tx1"/>
                </a:solidFill>
              </a:rPr>
              <a:t>In cluster 1, we have 5 points i.e. A2 (2,6), A5 (6,4), A6 (1,2), A10 (7,5), and A12 (4,6). Hence, the new centroid for cluster 1 is (4, 4.6).</a:t>
            </a:r>
          </a:p>
          <a:p>
            <a:r>
              <a:rPr lang="en-US" dirty="0">
                <a:solidFill>
                  <a:schemeClr val="tx1"/>
                </a:solidFill>
              </a:rPr>
              <a:t>In cluster 2, we have 7 points i.e. A1 (2,10), A4 (6,9), A7 (5,10) , A8 (4,9), A13 (3,10), A14 (3,8), and A15 (6,11). Hence, the new centroid for cluster 2 is (4.143, 9.571) </a:t>
            </a:r>
          </a:p>
          <a:p>
            <a:r>
              <a:rPr lang="en-US" dirty="0">
                <a:solidFill>
                  <a:schemeClr val="tx1"/>
                </a:solidFill>
              </a:rPr>
              <a:t>In cluster 3, we have 3 points i.e. A3 (11,11), A9 (10,12), and A11 (9,11). Hence, the new centroid for cluster 3 is (10, 11.333).</a:t>
            </a:r>
          </a:p>
          <a:p>
            <a:r>
              <a:rPr lang="en-US" dirty="0">
                <a:solidFill>
                  <a:schemeClr val="tx1"/>
                </a:solidFill>
              </a:rPr>
              <a:t>Here, you can observe that no point has changed its cluster compared to the previous iteration. Due to this, the centroid also remains constant. Therefore, we will say that the clusters have been stabilized. Hence, the clusters obtained after the third iteration are the final clusters made from the given dataset. If we plot the clusters on a graph, the graph looks like as follows.</a:t>
            </a:r>
          </a:p>
          <a:p>
            <a:endParaRPr lang="en-IN" dirty="0"/>
          </a:p>
        </p:txBody>
      </p:sp>
      <p:pic>
        <p:nvPicPr>
          <p:cNvPr id="4" name="Picture 3"/>
          <p:cNvPicPr>
            <a:picLocks noChangeAspect="1"/>
          </p:cNvPicPr>
          <p:nvPr/>
        </p:nvPicPr>
        <p:blipFill>
          <a:blip r:embed="rId2"/>
          <a:stretch>
            <a:fillRect/>
          </a:stretch>
        </p:blipFill>
        <p:spPr>
          <a:xfrm>
            <a:off x="3006345" y="3633147"/>
            <a:ext cx="6529006" cy="3224853"/>
          </a:xfrm>
          <a:prstGeom prst="rect">
            <a:avLst/>
          </a:prstGeom>
        </p:spPr>
      </p:pic>
    </p:spTree>
    <p:extLst>
      <p:ext uri="{BB962C8B-B14F-4D97-AF65-F5344CB8AC3E}">
        <p14:creationId xmlns:p14="http://schemas.microsoft.com/office/powerpoint/2010/main" val="36411883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27D0-9D38-96A9-E3BF-9C404E8B5AC7}"/>
              </a:ext>
            </a:extLst>
          </p:cNvPr>
          <p:cNvSpPr>
            <a:spLocks noGrp="1"/>
          </p:cNvSpPr>
          <p:nvPr>
            <p:ph type="title"/>
          </p:nvPr>
        </p:nvSpPr>
        <p:spPr/>
        <p:txBody>
          <a:bodyPr/>
          <a:lstStyle/>
          <a:p>
            <a:r>
              <a:rPr lang="en-IN" dirty="0"/>
              <a:t>Given Dataset</a:t>
            </a:r>
          </a:p>
        </p:txBody>
      </p:sp>
      <p:graphicFrame>
        <p:nvGraphicFramePr>
          <p:cNvPr id="4" name="Table 3">
            <a:extLst>
              <a:ext uri="{FF2B5EF4-FFF2-40B4-BE49-F238E27FC236}">
                <a16:creationId xmlns:a16="http://schemas.microsoft.com/office/drawing/2014/main" id="{7B553A34-27DE-86A7-B8B6-7B3ACF3DC4B4}"/>
              </a:ext>
            </a:extLst>
          </p:cNvPr>
          <p:cNvGraphicFramePr>
            <a:graphicFrameLocks noGrp="1"/>
          </p:cNvGraphicFramePr>
          <p:nvPr>
            <p:extLst>
              <p:ext uri="{D42A27DB-BD31-4B8C-83A1-F6EECF244321}">
                <p14:modId xmlns:p14="http://schemas.microsoft.com/office/powerpoint/2010/main" val="21713974"/>
              </p:ext>
            </p:extLst>
          </p:nvPr>
        </p:nvGraphicFramePr>
        <p:xfrm>
          <a:off x="511720" y="1524000"/>
          <a:ext cx="9093834" cy="1905000"/>
        </p:xfrm>
        <a:graphic>
          <a:graphicData uri="http://schemas.openxmlformats.org/drawingml/2006/table">
            <a:tbl>
              <a:tblPr/>
              <a:tblGrid>
                <a:gridCol w="3031278">
                  <a:extLst>
                    <a:ext uri="{9D8B030D-6E8A-4147-A177-3AD203B41FA5}">
                      <a16:colId xmlns:a16="http://schemas.microsoft.com/office/drawing/2014/main" val="2195381453"/>
                    </a:ext>
                  </a:extLst>
                </a:gridCol>
                <a:gridCol w="3031278">
                  <a:extLst>
                    <a:ext uri="{9D8B030D-6E8A-4147-A177-3AD203B41FA5}">
                      <a16:colId xmlns:a16="http://schemas.microsoft.com/office/drawing/2014/main" val="2262601605"/>
                    </a:ext>
                  </a:extLst>
                </a:gridCol>
                <a:gridCol w="3031278">
                  <a:extLst>
                    <a:ext uri="{9D8B030D-6E8A-4147-A177-3AD203B41FA5}">
                      <a16:colId xmlns:a16="http://schemas.microsoft.com/office/drawing/2014/main" val="3883568067"/>
                    </a:ext>
                  </a:extLst>
                </a:gridCol>
              </a:tblGrid>
              <a:tr h="375984">
                <a:tc>
                  <a:txBody>
                    <a:bodyPr/>
                    <a:lstStyle/>
                    <a:p>
                      <a:pPr>
                        <a:buNone/>
                      </a:pPr>
                      <a:r>
                        <a:rPr lang="en-IN" sz="1900"/>
                        <a:t>Point</a:t>
                      </a:r>
                    </a:p>
                  </a:txBody>
                  <a:tcPr anchor="ctr">
                    <a:lnL>
                      <a:noFill/>
                    </a:lnL>
                    <a:lnR>
                      <a:noFill/>
                    </a:lnR>
                    <a:lnT>
                      <a:noFill/>
                    </a:lnT>
                    <a:lnB>
                      <a:noFill/>
                    </a:lnB>
                    <a:noFill/>
                  </a:tcPr>
                </a:tc>
                <a:tc>
                  <a:txBody>
                    <a:bodyPr/>
                    <a:lstStyle/>
                    <a:p>
                      <a:pPr>
                        <a:buNone/>
                      </a:pPr>
                      <a:r>
                        <a:rPr lang="en-IN" sz="1900"/>
                        <a:t>x</a:t>
                      </a:r>
                    </a:p>
                  </a:txBody>
                  <a:tcPr anchor="ctr">
                    <a:lnL>
                      <a:noFill/>
                    </a:lnL>
                    <a:lnR>
                      <a:noFill/>
                    </a:lnR>
                    <a:lnT>
                      <a:noFill/>
                    </a:lnT>
                    <a:lnB>
                      <a:noFill/>
                    </a:lnB>
                    <a:noFill/>
                  </a:tcPr>
                </a:tc>
                <a:tc>
                  <a:txBody>
                    <a:bodyPr/>
                    <a:lstStyle/>
                    <a:p>
                      <a:pPr>
                        <a:buNone/>
                      </a:pPr>
                      <a:r>
                        <a:rPr lang="en-IN" sz="1900"/>
                        <a:t>y</a:t>
                      </a:r>
                    </a:p>
                  </a:txBody>
                  <a:tcPr anchor="ctr">
                    <a:lnL>
                      <a:noFill/>
                    </a:lnL>
                    <a:lnR>
                      <a:noFill/>
                    </a:lnR>
                    <a:lnT>
                      <a:noFill/>
                    </a:lnT>
                    <a:lnB>
                      <a:noFill/>
                    </a:lnB>
                    <a:noFill/>
                  </a:tcPr>
                </a:tc>
                <a:extLst>
                  <a:ext uri="{0D108BD9-81ED-4DB2-BD59-A6C34878D82A}">
                    <a16:rowId xmlns:a16="http://schemas.microsoft.com/office/drawing/2014/main" val="2068253373"/>
                  </a:ext>
                </a:extLst>
              </a:tr>
              <a:tr h="375984">
                <a:tc>
                  <a:txBody>
                    <a:bodyPr/>
                    <a:lstStyle/>
                    <a:p>
                      <a:pPr>
                        <a:buNone/>
                      </a:pPr>
                      <a:r>
                        <a:rPr lang="en-IN" sz="1900"/>
                        <a:t>P1</a:t>
                      </a:r>
                    </a:p>
                  </a:txBody>
                  <a:tcPr anchor="ctr">
                    <a:lnL>
                      <a:noFill/>
                    </a:lnL>
                    <a:lnR>
                      <a:noFill/>
                    </a:lnR>
                    <a:lnT>
                      <a:noFill/>
                    </a:lnT>
                    <a:lnB>
                      <a:noFill/>
                    </a:lnB>
                    <a:noFill/>
                  </a:tcPr>
                </a:tc>
                <a:tc>
                  <a:txBody>
                    <a:bodyPr/>
                    <a:lstStyle/>
                    <a:p>
                      <a:pPr>
                        <a:buNone/>
                      </a:pPr>
                      <a:r>
                        <a:rPr lang="en-IN" sz="1900"/>
                        <a:t>1</a:t>
                      </a:r>
                    </a:p>
                  </a:txBody>
                  <a:tcPr anchor="ctr">
                    <a:lnL>
                      <a:noFill/>
                    </a:lnL>
                    <a:lnR>
                      <a:noFill/>
                    </a:lnR>
                    <a:lnT>
                      <a:noFill/>
                    </a:lnT>
                    <a:lnB>
                      <a:noFill/>
                    </a:lnB>
                    <a:noFill/>
                  </a:tcPr>
                </a:tc>
                <a:tc>
                  <a:txBody>
                    <a:bodyPr/>
                    <a:lstStyle/>
                    <a:p>
                      <a:pPr>
                        <a:buNone/>
                      </a:pPr>
                      <a:r>
                        <a:rPr lang="en-IN" sz="1900"/>
                        <a:t>1</a:t>
                      </a:r>
                    </a:p>
                  </a:txBody>
                  <a:tcPr anchor="ctr">
                    <a:lnL>
                      <a:noFill/>
                    </a:lnL>
                    <a:lnR>
                      <a:noFill/>
                    </a:lnR>
                    <a:lnT>
                      <a:noFill/>
                    </a:lnT>
                    <a:lnB>
                      <a:noFill/>
                    </a:lnB>
                    <a:noFill/>
                  </a:tcPr>
                </a:tc>
                <a:extLst>
                  <a:ext uri="{0D108BD9-81ED-4DB2-BD59-A6C34878D82A}">
                    <a16:rowId xmlns:a16="http://schemas.microsoft.com/office/drawing/2014/main" val="3997542941"/>
                  </a:ext>
                </a:extLst>
              </a:tr>
              <a:tr h="375984">
                <a:tc>
                  <a:txBody>
                    <a:bodyPr/>
                    <a:lstStyle/>
                    <a:p>
                      <a:pPr>
                        <a:buNone/>
                      </a:pPr>
                      <a:r>
                        <a:rPr lang="en-IN" sz="1900"/>
                        <a:t>P2</a:t>
                      </a:r>
                    </a:p>
                  </a:txBody>
                  <a:tcPr anchor="ctr">
                    <a:lnL>
                      <a:noFill/>
                    </a:lnL>
                    <a:lnR>
                      <a:noFill/>
                    </a:lnR>
                    <a:lnT>
                      <a:noFill/>
                    </a:lnT>
                    <a:lnB>
                      <a:noFill/>
                    </a:lnB>
                    <a:noFill/>
                  </a:tcPr>
                </a:tc>
                <a:tc>
                  <a:txBody>
                    <a:bodyPr/>
                    <a:lstStyle/>
                    <a:p>
                      <a:pPr>
                        <a:buNone/>
                      </a:pPr>
                      <a:r>
                        <a:rPr lang="en-IN" sz="1900"/>
                        <a:t>2</a:t>
                      </a:r>
                    </a:p>
                  </a:txBody>
                  <a:tcPr anchor="ctr">
                    <a:lnL>
                      <a:noFill/>
                    </a:lnL>
                    <a:lnR>
                      <a:noFill/>
                    </a:lnR>
                    <a:lnT>
                      <a:noFill/>
                    </a:lnT>
                    <a:lnB>
                      <a:noFill/>
                    </a:lnB>
                    <a:noFill/>
                  </a:tcPr>
                </a:tc>
                <a:tc>
                  <a:txBody>
                    <a:bodyPr/>
                    <a:lstStyle/>
                    <a:p>
                      <a:pPr>
                        <a:buNone/>
                      </a:pPr>
                      <a:r>
                        <a:rPr lang="en-IN" sz="1900"/>
                        <a:t>1</a:t>
                      </a:r>
                    </a:p>
                  </a:txBody>
                  <a:tcPr anchor="ctr">
                    <a:lnL>
                      <a:noFill/>
                    </a:lnL>
                    <a:lnR>
                      <a:noFill/>
                    </a:lnR>
                    <a:lnT>
                      <a:noFill/>
                    </a:lnT>
                    <a:lnB>
                      <a:noFill/>
                    </a:lnB>
                    <a:noFill/>
                  </a:tcPr>
                </a:tc>
                <a:extLst>
                  <a:ext uri="{0D108BD9-81ED-4DB2-BD59-A6C34878D82A}">
                    <a16:rowId xmlns:a16="http://schemas.microsoft.com/office/drawing/2014/main" val="692821957"/>
                  </a:ext>
                </a:extLst>
              </a:tr>
              <a:tr h="375984">
                <a:tc>
                  <a:txBody>
                    <a:bodyPr/>
                    <a:lstStyle/>
                    <a:p>
                      <a:pPr>
                        <a:buNone/>
                      </a:pPr>
                      <a:r>
                        <a:rPr lang="en-IN" sz="1900"/>
                        <a:t>P3</a:t>
                      </a:r>
                    </a:p>
                  </a:txBody>
                  <a:tcPr anchor="ctr">
                    <a:lnL>
                      <a:noFill/>
                    </a:lnL>
                    <a:lnR>
                      <a:noFill/>
                    </a:lnR>
                    <a:lnT>
                      <a:noFill/>
                    </a:lnT>
                    <a:lnB>
                      <a:noFill/>
                    </a:lnB>
                    <a:noFill/>
                  </a:tcPr>
                </a:tc>
                <a:tc>
                  <a:txBody>
                    <a:bodyPr/>
                    <a:lstStyle/>
                    <a:p>
                      <a:pPr>
                        <a:buNone/>
                      </a:pPr>
                      <a:r>
                        <a:rPr lang="en-IN" sz="1900"/>
                        <a:t>4</a:t>
                      </a:r>
                    </a:p>
                  </a:txBody>
                  <a:tcPr anchor="ctr">
                    <a:lnL>
                      <a:noFill/>
                    </a:lnL>
                    <a:lnR>
                      <a:noFill/>
                    </a:lnR>
                    <a:lnT>
                      <a:noFill/>
                    </a:lnT>
                    <a:lnB>
                      <a:noFill/>
                    </a:lnB>
                    <a:noFill/>
                  </a:tcPr>
                </a:tc>
                <a:tc>
                  <a:txBody>
                    <a:bodyPr/>
                    <a:lstStyle/>
                    <a:p>
                      <a:pPr>
                        <a:buNone/>
                      </a:pPr>
                      <a:r>
                        <a:rPr lang="en-IN" sz="1900"/>
                        <a:t>3</a:t>
                      </a:r>
                    </a:p>
                  </a:txBody>
                  <a:tcPr anchor="ctr">
                    <a:lnL>
                      <a:noFill/>
                    </a:lnL>
                    <a:lnR>
                      <a:noFill/>
                    </a:lnR>
                    <a:lnT>
                      <a:noFill/>
                    </a:lnT>
                    <a:lnB>
                      <a:noFill/>
                    </a:lnB>
                    <a:noFill/>
                  </a:tcPr>
                </a:tc>
                <a:extLst>
                  <a:ext uri="{0D108BD9-81ED-4DB2-BD59-A6C34878D82A}">
                    <a16:rowId xmlns:a16="http://schemas.microsoft.com/office/drawing/2014/main" val="163918220"/>
                  </a:ext>
                </a:extLst>
              </a:tr>
              <a:tr h="375984">
                <a:tc>
                  <a:txBody>
                    <a:bodyPr/>
                    <a:lstStyle/>
                    <a:p>
                      <a:pPr>
                        <a:buNone/>
                      </a:pPr>
                      <a:r>
                        <a:rPr lang="en-IN" sz="1900"/>
                        <a:t>P4</a:t>
                      </a:r>
                    </a:p>
                  </a:txBody>
                  <a:tcPr anchor="ctr">
                    <a:lnL>
                      <a:noFill/>
                    </a:lnL>
                    <a:lnR>
                      <a:noFill/>
                    </a:lnR>
                    <a:lnT>
                      <a:noFill/>
                    </a:lnT>
                    <a:lnB>
                      <a:noFill/>
                    </a:lnB>
                    <a:noFill/>
                  </a:tcPr>
                </a:tc>
                <a:tc>
                  <a:txBody>
                    <a:bodyPr/>
                    <a:lstStyle/>
                    <a:p>
                      <a:pPr>
                        <a:buNone/>
                      </a:pPr>
                      <a:r>
                        <a:rPr lang="en-IN" sz="1900"/>
                        <a:t>5</a:t>
                      </a:r>
                    </a:p>
                  </a:txBody>
                  <a:tcPr anchor="ctr">
                    <a:lnL>
                      <a:noFill/>
                    </a:lnL>
                    <a:lnR>
                      <a:noFill/>
                    </a:lnR>
                    <a:lnT>
                      <a:noFill/>
                    </a:lnT>
                    <a:lnB>
                      <a:noFill/>
                    </a:lnB>
                    <a:noFill/>
                  </a:tcPr>
                </a:tc>
                <a:tc>
                  <a:txBody>
                    <a:bodyPr/>
                    <a:lstStyle/>
                    <a:p>
                      <a:pPr>
                        <a:buNone/>
                      </a:pPr>
                      <a:r>
                        <a:rPr lang="en-IN" sz="1900" dirty="0"/>
                        <a:t>4</a:t>
                      </a:r>
                    </a:p>
                  </a:txBody>
                  <a:tcPr anchor="ctr">
                    <a:lnL>
                      <a:noFill/>
                    </a:lnL>
                    <a:lnR>
                      <a:noFill/>
                    </a:lnR>
                    <a:lnT>
                      <a:noFill/>
                    </a:lnT>
                    <a:lnB>
                      <a:noFill/>
                    </a:lnB>
                    <a:noFill/>
                  </a:tcPr>
                </a:tc>
                <a:extLst>
                  <a:ext uri="{0D108BD9-81ED-4DB2-BD59-A6C34878D82A}">
                    <a16:rowId xmlns:a16="http://schemas.microsoft.com/office/drawing/2014/main" val="3475945054"/>
                  </a:ext>
                </a:extLst>
              </a:tr>
            </a:tbl>
          </a:graphicData>
        </a:graphic>
      </p:graphicFrame>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19460725-E1CD-E478-CCBB-F04BDD9E141D}"/>
                  </a:ext>
                </a:extLst>
              </p:cNvPr>
              <p:cNvSpPr txBox="1"/>
              <p:nvPr/>
            </p:nvSpPr>
            <p:spPr>
              <a:xfrm>
                <a:off x="818606" y="4529184"/>
                <a:ext cx="6096000" cy="1569660"/>
              </a:xfrm>
              <a:prstGeom prst="rect">
                <a:avLst/>
              </a:prstGeom>
              <a:noFill/>
            </p:spPr>
            <p:txBody>
              <a:bodyPr wrap="square">
                <a:spAutoFit/>
              </a:bodyPr>
              <a:lstStyle/>
              <a:p>
                <a:pPr>
                  <a:buNone/>
                </a:pPr>
                <a:r>
                  <a:rPr lang="en-IN" sz="2400" dirty="0"/>
                  <a:t>Number of clusters: </a:t>
                </a:r>
                <a:r>
                  <a:rPr lang="en-IN" sz="2400" b="1" dirty="0"/>
                  <a:t>K = 2</a:t>
                </a:r>
                <a:endParaRPr lang="en-IN" sz="2400" dirty="0"/>
              </a:p>
              <a:p>
                <a:pPr>
                  <a:buNone/>
                </a:pPr>
                <a:r>
                  <a:rPr lang="en-IN" sz="2400" dirty="0"/>
                  <a:t>Initial centroids:</a:t>
                </a:r>
              </a:p>
              <a:p>
                <a:pPr>
                  <a:buFont typeface="Arial" panose="020B0604020202020204" pitchFamily="34" charset="0"/>
                  <a:buChar char="•"/>
                </a:pP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1</m:t>
                        </m:r>
                      </m:sub>
                    </m:sSub>
                    <m:r>
                      <a:rPr lang="ar-AE" sz="2400" i="0">
                        <a:latin typeface="Cambria Math" panose="02040503050406030204" pitchFamily="18" charset="0"/>
                      </a:rPr>
                      <m:t>=</m:t>
                    </m:r>
                    <m:d>
                      <m:dPr>
                        <m:sepChr m:val=","/>
                        <m:ctrlPr>
                          <a:rPr lang="ar-AE" sz="2400" i="1">
                            <a:latin typeface="Cambria Math" panose="02040503050406030204" pitchFamily="18" charset="0"/>
                          </a:rPr>
                        </m:ctrlPr>
                      </m:dPr>
                      <m:e>
                        <m:r>
                          <a:rPr lang="ar-AE" sz="2400" i="0">
                            <a:latin typeface="Cambria Math" panose="02040503050406030204" pitchFamily="18" charset="0"/>
                          </a:rPr>
                          <m:t>1</m:t>
                        </m:r>
                      </m:e>
                      <m:e>
                        <m:r>
                          <a:rPr lang="ar-AE" sz="2400" i="0">
                            <a:latin typeface="Cambria Math" panose="02040503050406030204" pitchFamily="18" charset="0"/>
                          </a:rPr>
                          <m:t>1</m:t>
                        </m:r>
                      </m:e>
                    </m:d>
                  </m:oMath>
                </a14:m>
                <a:endParaRPr lang="ar-AE" sz="2400" dirty="0"/>
              </a:p>
              <a:p>
                <a:pPr>
                  <a:buFont typeface="Arial" panose="020B0604020202020204" pitchFamily="34" charset="0"/>
                  <a:buChar char="•"/>
                </a:pP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𝐶</m:t>
                        </m:r>
                      </m:e>
                      <m:sub>
                        <m:r>
                          <a:rPr lang="ar-AE" sz="2400" i="0">
                            <a:latin typeface="Cambria Math" panose="02040503050406030204" pitchFamily="18" charset="0"/>
                          </a:rPr>
                          <m:t>2</m:t>
                        </m:r>
                      </m:sub>
                    </m:sSub>
                    <m:r>
                      <a:rPr lang="ar-AE" sz="2400" i="0">
                        <a:latin typeface="Cambria Math" panose="02040503050406030204" pitchFamily="18" charset="0"/>
                      </a:rPr>
                      <m:t>=</m:t>
                    </m:r>
                    <m:d>
                      <m:dPr>
                        <m:sepChr m:val=","/>
                        <m:ctrlPr>
                          <a:rPr lang="ar-AE" sz="2400" i="1">
                            <a:latin typeface="Cambria Math" panose="02040503050406030204" pitchFamily="18" charset="0"/>
                          </a:rPr>
                        </m:ctrlPr>
                      </m:dPr>
                      <m:e>
                        <m:r>
                          <a:rPr lang="ar-AE" sz="2400" i="0">
                            <a:latin typeface="Cambria Math" panose="02040503050406030204" pitchFamily="18" charset="0"/>
                          </a:rPr>
                          <m:t>5</m:t>
                        </m:r>
                      </m:e>
                      <m:e>
                        <m:r>
                          <a:rPr lang="ar-AE" sz="2400" i="0">
                            <a:latin typeface="Cambria Math" panose="02040503050406030204" pitchFamily="18" charset="0"/>
                          </a:rPr>
                          <m:t>4</m:t>
                        </m:r>
                      </m:e>
                    </m:d>
                  </m:oMath>
                </a14:m>
                <a:endParaRPr lang="ar-AE" sz="2400" dirty="0"/>
              </a:p>
            </p:txBody>
          </p:sp>
        </mc:Choice>
        <mc:Fallback>
          <p:sp>
            <p:nvSpPr>
              <p:cNvPr id="6" name="TextBox 5">
                <a:extLst>
                  <a:ext uri="{FF2B5EF4-FFF2-40B4-BE49-F238E27FC236}">
                    <a16:creationId xmlns:a16="http://schemas.microsoft.com/office/drawing/2014/main" id="{19460725-E1CD-E478-CCBB-F04BDD9E141D}"/>
                  </a:ext>
                </a:extLst>
              </p:cNvPr>
              <p:cNvSpPr txBox="1">
                <a:spLocks noRot="1" noChangeAspect="1" noMove="1" noResize="1" noEditPoints="1" noAdjustHandles="1" noChangeArrowheads="1" noChangeShapeType="1" noTextEdit="1"/>
              </p:cNvSpPr>
              <p:nvPr/>
            </p:nvSpPr>
            <p:spPr>
              <a:xfrm>
                <a:off x="818606" y="4529184"/>
                <a:ext cx="6096000" cy="1569660"/>
              </a:xfrm>
              <a:prstGeom prst="rect">
                <a:avLst/>
              </a:prstGeom>
              <a:blipFill>
                <a:blip r:embed="rId2"/>
                <a:stretch>
                  <a:fillRect l="-1500" t="-2724" b="-7393"/>
                </a:stretch>
              </a:blipFill>
            </p:spPr>
            <p:txBody>
              <a:bodyPr/>
              <a:lstStyle/>
              <a:p>
                <a:r>
                  <a:rPr lang="en-IN">
                    <a:noFill/>
                  </a:rPr>
                  <a:t> </a:t>
                </a:r>
              </a:p>
            </p:txBody>
          </p:sp>
        </mc:Fallback>
      </mc:AlternateContent>
    </p:spTree>
    <p:extLst>
      <p:ext uri="{BB962C8B-B14F-4D97-AF65-F5344CB8AC3E}">
        <p14:creationId xmlns:p14="http://schemas.microsoft.com/office/powerpoint/2010/main" val="241881631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79FB8CD-BDCB-C7D1-F633-3EA45BF0614B}"/>
              </a:ext>
            </a:extLst>
          </p:cNvPr>
          <p:cNvSpPr txBox="1"/>
          <p:nvPr/>
        </p:nvSpPr>
        <p:spPr>
          <a:xfrm>
            <a:off x="1166949" y="740230"/>
            <a:ext cx="7977051" cy="5262979"/>
          </a:xfrm>
          <a:prstGeom prst="rect">
            <a:avLst/>
          </a:prstGeom>
          <a:noFill/>
        </p:spPr>
        <p:txBody>
          <a:bodyPr wrap="square">
            <a:spAutoFit/>
          </a:bodyPr>
          <a:lstStyle/>
          <a:p>
            <a:pPr>
              <a:buNone/>
            </a:pPr>
            <a:r>
              <a:rPr lang="en-US" sz="2800" b="1" dirty="0"/>
              <a:t>Final Result After One Iteration</a:t>
            </a:r>
          </a:p>
          <a:p>
            <a:pPr>
              <a:buNone/>
            </a:pPr>
            <a:endParaRPr lang="en-US" sz="2800" b="1" dirty="0"/>
          </a:p>
          <a:p>
            <a:pPr>
              <a:buNone/>
            </a:pPr>
            <a:r>
              <a:rPr lang="en-US" sz="2800" dirty="0"/>
              <a:t>Cluster 1</a:t>
            </a:r>
            <a:br>
              <a:rPr lang="en-US" sz="2800" dirty="0"/>
            </a:br>
            <a:r>
              <a:rPr lang="en-US" sz="2800" dirty="0"/>
              <a:t>P1 (1,1)</a:t>
            </a:r>
            <a:br>
              <a:rPr lang="en-US" sz="2800" dirty="0"/>
            </a:br>
            <a:r>
              <a:rPr lang="en-US" sz="2800" dirty="0"/>
              <a:t>P2 (2,1)</a:t>
            </a:r>
          </a:p>
          <a:p>
            <a:pPr>
              <a:buNone/>
            </a:pPr>
            <a:endParaRPr lang="en-US" sz="2800" dirty="0"/>
          </a:p>
          <a:p>
            <a:pPr>
              <a:buNone/>
            </a:pPr>
            <a:r>
              <a:rPr lang="en-US" sz="2800" dirty="0"/>
              <a:t>New centroid → </a:t>
            </a:r>
            <a:r>
              <a:rPr lang="en-US" sz="2800" b="1" dirty="0"/>
              <a:t>(1.5 , </a:t>
            </a:r>
            <a:r>
              <a:rPr lang="en-US" sz="2800" b="1"/>
              <a:t>1)</a:t>
            </a:r>
          </a:p>
          <a:p>
            <a:pPr>
              <a:buNone/>
            </a:pPr>
            <a:endParaRPr lang="en-US" sz="2800" dirty="0"/>
          </a:p>
          <a:p>
            <a:pPr>
              <a:buNone/>
            </a:pPr>
            <a:r>
              <a:rPr lang="en-US" sz="2800" dirty="0"/>
              <a:t>Cluster 2</a:t>
            </a:r>
            <a:br>
              <a:rPr lang="en-US" sz="2800" dirty="0"/>
            </a:br>
            <a:r>
              <a:rPr lang="en-US" sz="2800" dirty="0"/>
              <a:t>P3 (4,3)</a:t>
            </a:r>
            <a:br>
              <a:rPr lang="en-US" sz="2800" dirty="0"/>
            </a:br>
            <a:r>
              <a:rPr lang="en-US" sz="2800" dirty="0"/>
              <a:t>P4 (5,4)</a:t>
            </a:r>
          </a:p>
          <a:p>
            <a:pPr>
              <a:buNone/>
            </a:pPr>
            <a:r>
              <a:rPr lang="en-US" sz="2800" dirty="0"/>
              <a:t>New centroid → </a:t>
            </a:r>
            <a:r>
              <a:rPr lang="en-US" sz="2800" b="1" dirty="0"/>
              <a:t>(4.5 , 3.5)</a:t>
            </a:r>
            <a:endParaRPr lang="en-US" sz="2800" dirty="0"/>
          </a:p>
        </p:txBody>
      </p:sp>
    </p:spTree>
    <p:extLst>
      <p:ext uri="{BB962C8B-B14F-4D97-AF65-F5344CB8AC3E}">
        <p14:creationId xmlns:p14="http://schemas.microsoft.com/office/powerpoint/2010/main" val="403949252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D3E73-2B95-DE48-31BD-2BE44F638E88}"/>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FF45CE4E-D929-0829-8DE9-A07EDA4F4688}"/>
              </a:ext>
            </a:extLst>
          </p:cNvPr>
          <p:cNvSpPr>
            <a:spLocks noGrp="1"/>
          </p:cNvSpPr>
          <p:nvPr>
            <p:ph idx="1"/>
          </p:nvPr>
        </p:nvSpPr>
        <p:spPr/>
        <p:txBody>
          <a:bodyPr/>
          <a:lstStyle/>
          <a:p>
            <a:r>
              <a:rPr lang="en-IN" dirty="0"/>
              <a:t>https://mitu.co.in/wp-content/uploads/2022/04/Ensemble-Learning.pdf</a:t>
            </a:r>
          </a:p>
        </p:txBody>
      </p:sp>
    </p:spTree>
    <p:extLst>
      <p:ext uri="{BB962C8B-B14F-4D97-AF65-F5344CB8AC3E}">
        <p14:creationId xmlns:p14="http://schemas.microsoft.com/office/powerpoint/2010/main" val="38552428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1127</TotalTime>
  <Words>4931</Words>
  <Application>Microsoft Office PowerPoint</Application>
  <PresentationFormat>Widescreen</PresentationFormat>
  <Paragraphs>890</Paragraphs>
  <Slides>67</Slides>
  <Notes>5</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67</vt:i4>
      </vt:variant>
    </vt:vector>
  </HeadingPairs>
  <TitlesOfParts>
    <vt:vector size="81" baseType="lpstr">
      <vt:lpstr>-apple-system</vt:lpstr>
      <vt:lpstr>Arial</vt:lpstr>
      <vt:lpstr>Calibri</vt:lpstr>
      <vt:lpstr>Calibri Light</vt:lpstr>
      <vt:lpstr>Cambria Math</vt:lpstr>
      <vt:lpstr>Courier New</vt:lpstr>
      <vt:lpstr>Google Sans</vt:lpstr>
      <vt:lpstr>KaTeX_Main</vt:lpstr>
      <vt:lpstr>KaTeX_Math</vt:lpstr>
      <vt:lpstr>Roboto Slab</vt:lpstr>
      <vt:lpstr>Times New Roman</vt:lpstr>
      <vt:lpstr>Ubuntu</vt:lpstr>
      <vt:lpstr>Office Theme</vt:lpstr>
      <vt:lpstr>Simple Light</vt:lpstr>
      <vt:lpstr>UNIT 4</vt:lpstr>
      <vt:lpstr>Bias and Variance in Machine Learning</vt:lpstr>
      <vt:lpstr>Bias</vt:lpstr>
      <vt:lpstr>Variance</vt:lpstr>
      <vt:lpstr>Ensemble Learning</vt:lpstr>
      <vt:lpstr>Real life examples</vt:lpstr>
      <vt:lpstr>The survey prediction</vt:lpstr>
      <vt:lpstr>Inference</vt:lpstr>
      <vt:lpstr>Ensembling</vt:lpstr>
      <vt:lpstr>Basic Ensemble Structure</vt:lpstr>
      <vt:lpstr>Summary</vt:lpstr>
      <vt:lpstr>Why ensembles ?</vt:lpstr>
      <vt:lpstr>Ensemble Learning Methods</vt:lpstr>
      <vt:lpstr>Bootstrapping </vt:lpstr>
      <vt:lpstr>Bootstrapping</vt:lpstr>
      <vt:lpstr>Bagging or Bootstrap Aggregation</vt:lpstr>
      <vt:lpstr>Bagging (Bootstrap Aggregating):</vt:lpstr>
      <vt:lpstr>Variance</vt:lpstr>
      <vt:lpstr>PowerPoint Presentation</vt:lpstr>
      <vt:lpstr>PowerPoint Presentation</vt:lpstr>
      <vt:lpstr>PowerPoint Presentation</vt:lpstr>
      <vt:lpstr>Random Forest</vt:lpstr>
      <vt:lpstr>Random Forest</vt:lpstr>
      <vt:lpstr>Random Forest</vt:lpstr>
      <vt:lpstr>Majority voting</vt:lpstr>
      <vt:lpstr>Random Forest</vt:lpstr>
      <vt:lpstr>Boosting</vt:lpstr>
      <vt:lpstr>Boosting</vt:lpstr>
      <vt:lpstr>Boosting Models</vt:lpstr>
      <vt:lpstr>AdaBoost</vt:lpstr>
      <vt:lpstr>PowerPoint Presentation</vt:lpstr>
      <vt:lpstr>Adaboost </vt:lpstr>
      <vt:lpstr>Working Principle of Adaboost</vt:lpstr>
      <vt:lpstr>PowerPoint Presentation</vt:lpstr>
      <vt:lpstr>PowerPoint Presentation</vt:lpstr>
      <vt:lpstr>PowerPoint Presentation</vt:lpstr>
      <vt:lpstr>PowerPoint Presentation</vt:lpstr>
      <vt:lpstr>PowerPoint Presentation</vt:lpstr>
      <vt:lpstr>Stacking</vt:lpstr>
      <vt:lpstr>PowerPoint Presentation</vt:lpstr>
      <vt:lpstr>PowerPoint Presentation</vt:lpstr>
      <vt:lpstr>PowerPoint Presentation</vt:lpstr>
      <vt:lpstr>PowerPoint Presentation</vt:lpstr>
      <vt:lpstr>PowerPoint Presentation</vt:lpstr>
      <vt:lpstr>Voting</vt:lpstr>
      <vt:lpstr>Voting</vt:lpstr>
      <vt:lpstr>Soft voting in Classification</vt:lpstr>
      <vt:lpstr>PowerPoint Presentation</vt:lpstr>
      <vt:lpstr>Unsupervised learning</vt:lpstr>
      <vt:lpstr>Example</vt:lpstr>
      <vt:lpstr>Common techniques in unsupervised learning:</vt:lpstr>
      <vt:lpstr>Introduction to Clustering</vt:lpstr>
      <vt:lpstr>  How clustering works (basic idea)</vt:lpstr>
      <vt:lpstr>Applications</vt:lpstr>
      <vt:lpstr>K-MEANS CLUSTERING</vt:lpstr>
      <vt:lpstr>K-MEANS CLUSTERING</vt:lpstr>
      <vt:lpstr>K-means Clustering Numerical Example </vt:lpstr>
      <vt:lpstr>K-means Clustering Numerical Example </vt:lpstr>
      <vt:lpstr>PowerPoint Presentation</vt:lpstr>
      <vt:lpstr>PowerPoint Presentation</vt:lpstr>
      <vt:lpstr>PowerPoint Presentation</vt:lpstr>
      <vt:lpstr>PowerPoint Presentation</vt:lpstr>
      <vt:lpstr>PowerPoint Presentation</vt:lpstr>
      <vt:lpstr>PowerPoint Presentation</vt:lpstr>
      <vt:lpstr>Given Dataset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BMS</dc:creator>
  <cp:lastModifiedBy>Kayarvizhy N</cp:lastModifiedBy>
  <cp:revision>99</cp:revision>
  <dcterms:created xsi:type="dcterms:W3CDTF">2025-03-29T08:14:50Z</dcterms:created>
  <dcterms:modified xsi:type="dcterms:W3CDTF">2026-03-16T15:45:25Z</dcterms:modified>
</cp:coreProperties>
</file>