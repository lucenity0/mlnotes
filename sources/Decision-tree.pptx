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333" r:id="rId3"/>
    <p:sldId id="363" r:id="rId4"/>
    <p:sldId id="334" r:id="rId5"/>
    <p:sldId id="335" r:id="rId6"/>
    <p:sldId id="336" r:id="rId7"/>
    <p:sldId id="337" r:id="rId8"/>
    <p:sldId id="361" r:id="rId9"/>
    <p:sldId id="342" r:id="rId10"/>
    <p:sldId id="341" r:id="rId11"/>
    <p:sldId id="343" r:id="rId12"/>
    <p:sldId id="360" r:id="rId13"/>
    <p:sldId id="340" r:id="rId14"/>
    <p:sldId id="344" r:id="rId15"/>
    <p:sldId id="345" r:id="rId16"/>
    <p:sldId id="346" r:id="rId17"/>
    <p:sldId id="347" r:id="rId18"/>
    <p:sldId id="362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692" r:id="rId27"/>
    <p:sldId id="693" r:id="rId28"/>
    <p:sldId id="694" r:id="rId29"/>
    <p:sldId id="695" r:id="rId30"/>
    <p:sldId id="355" r:id="rId31"/>
    <p:sldId id="356" r:id="rId32"/>
    <p:sldId id="357" r:id="rId33"/>
    <p:sldId id="358" r:id="rId34"/>
    <p:sldId id="366" r:id="rId35"/>
    <p:sldId id="367" r:id="rId36"/>
    <p:sldId id="368" r:id="rId37"/>
    <p:sldId id="369" r:id="rId38"/>
    <p:sldId id="370" r:id="rId39"/>
    <p:sldId id="371" r:id="rId40"/>
    <p:sldId id="373" r:id="rId41"/>
    <p:sldId id="372" r:id="rId42"/>
    <p:sldId id="374" r:id="rId43"/>
    <p:sldId id="375" r:id="rId44"/>
    <p:sldId id="377" r:id="rId45"/>
    <p:sldId id="690" r:id="rId46"/>
    <p:sldId id="376" r:id="rId47"/>
    <p:sldId id="691" r:id="rId48"/>
    <p:sldId id="359" r:id="rId49"/>
  </p:sldIdLst>
  <p:sldSz cx="12192000" cy="6858000"/>
  <p:notesSz cx="6858000" cy="9945688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Noto Sans Symbols" panose="020B0604020202020204" charset="0"/>
      <p:regular r:id="rId55"/>
      <p:bold r:id="rId56"/>
    </p:embeddedFont>
    <p:embeddedFont>
      <p:font typeface="Times" panose="02020603050405020304" pitchFamily="18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66D730-971F-4A0F-A3BD-CF45B782926A}">
  <a:tblStyle styleId="{9766D730-971F-4A0F-A3BD-CF45B78292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71884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02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8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225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9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722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80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80:notes"/>
          <p:cNvSpPr txBox="1">
            <a:spLocks noGrp="1"/>
          </p:cNvSpPr>
          <p:nvPr>
            <p:ph type="sldNum" idx="12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9791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1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0873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2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7881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7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6075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6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0748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8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6796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5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8333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9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694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90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7055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1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8278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2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5187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3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296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94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869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5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586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6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783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7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2126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8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3649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9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03559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0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9977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01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781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102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02:notes"/>
          <p:cNvSpPr txBox="1">
            <a:spLocks noGrp="1"/>
          </p:cNvSpPr>
          <p:nvPr>
            <p:ph type="sldNum" idx="12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38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p103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03:notes"/>
          <p:cNvSpPr txBox="1">
            <a:spLocks noGrp="1"/>
          </p:cNvSpPr>
          <p:nvPr>
            <p:ph type="sldNum" idx="12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87893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04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233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ocu.com/in/document/cambridge-group-of-institutions/big-data-analytics/ai-ml-module-2-problems-solution-with-answers/24915005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Decision Tree –ID3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FF0000"/>
                </a:solidFill>
              </a:rPr>
              <a:t>Decision Tree</a:t>
            </a:r>
            <a:endParaRPr sz="4800" b="1">
              <a:solidFill>
                <a:srgbClr val="FF0000"/>
              </a:solidFill>
            </a:endParaRPr>
          </a:p>
        </p:txBody>
      </p:sp>
      <p:sp>
        <p:nvSpPr>
          <p:cNvPr id="551" name="Google Shape;551;p9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sz="3200" dirty="0"/>
              <a:t>A </a:t>
            </a:r>
            <a:r>
              <a:rPr lang="en-US" sz="3200" b="1" dirty="0"/>
              <a:t>decision tree</a:t>
            </a:r>
            <a:r>
              <a:rPr lang="en-US" sz="3200" dirty="0"/>
              <a:t> is a supervised machine learning algorithm used for classification and regression tasks.</a:t>
            </a:r>
          </a:p>
          <a:p>
            <a:pPr algn="just"/>
            <a:r>
              <a:rPr lang="en-US" sz="3200" dirty="0"/>
              <a:t> It works by recursively splitting data based on feature conditions to create a tree-like structure</a:t>
            </a:r>
            <a:endParaRPr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DAED4-0B51-43DB-FD16-0589975D7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Decision Tree</a:t>
            </a:r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30038-BC66-5A99-9785-56A5C0CC6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4544"/>
            <a:ext cx="10515600" cy="4882419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Decision tree builds regression or classification models in the form of a tree structure.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It breaks down a dataset into smaller and smaller subsets while at the same time an associated decision tree is incrementally developed.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final result is a tree with </a:t>
            </a:r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decision nodes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leaf nodes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A decision node (e.g., Outlook) has two or more branches (e.g., Sunny, Overcast and Rainy), each representing values for the attribute tested. Leaf node (e.g., Hours Played) represents a decision on the numerical target.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topmost decision node in a tree which corresponds to the best predictor called </a:t>
            </a:r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root node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Decision trees can handle both categorical and numerical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13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FF0000"/>
                </a:solidFill>
              </a:rPr>
              <a:t>Decision Tree Representation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57" name="Google Shape;557;p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</a:rPr>
              <a:t>Decision tree </a:t>
            </a:r>
            <a:r>
              <a:rPr lang="en-US" sz="3200">
                <a:solidFill>
                  <a:srgbClr val="0070C0"/>
                </a:solidFill>
              </a:rPr>
              <a:t>builds classification or regression models in the form of a tree structure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rgbClr val="000000"/>
              </a:solidFill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</a:rPr>
              <a:t>It breaks down a dataset into smaller and smaller subsets while at the same time an associated decision tree is incrementally developed.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</a:rPr>
              <a:t>The final result is a tree with decision nodes and leaf nodes</a:t>
            </a: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890" y="297180"/>
            <a:ext cx="11487150" cy="608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3141" y="360603"/>
            <a:ext cx="7058025" cy="4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93"/>
          <p:cNvSpPr txBox="1"/>
          <p:nvPr/>
        </p:nvSpPr>
        <p:spPr>
          <a:xfrm>
            <a:off x="1120141" y="5042447"/>
            <a:ext cx="10309860" cy="145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trees classify instances by sorting them down the tree from the root to some leaf node, which provides the classification of the instance.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116" y="640080"/>
            <a:ext cx="4435476" cy="2057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5" name="Google Shape;575;p94"/>
          <p:cNvSpPr txBox="1"/>
          <p:nvPr/>
        </p:nvSpPr>
        <p:spPr>
          <a:xfrm>
            <a:off x="502793" y="5085819"/>
            <a:ext cx="10654941" cy="61923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trees represent a disjunction of conjunctions.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640080"/>
            <a:ext cx="6214745" cy="4121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15E1-16BC-A994-60DE-9EC406F8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500"/>
          </a:xfrm>
        </p:spPr>
        <p:txBody>
          <a:bodyPr/>
          <a:lstStyle/>
          <a:p>
            <a:pPr algn="ctr"/>
            <a:r>
              <a:rPr lang="en-US" b="1" dirty="0"/>
              <a:t>Popular Decision tree Algorithms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74ADF-658F-9B17-0800-A90F4FFDA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4658"/>
            <a:ext cx="10515600" cy="4955319"/>
          </a:xfrm>
        </p:spPr>
        <p:txBody>
          <a:bodyPr>
            <a:noAutofit/>
          </a:bodyPr>
          <a:lstStyle/>
          <a:p>
            <a:pPr algn="just"/>
            <a:r>
              <a:rPr lang="en-US" sz="3000" dirty="0">
                <a:solidFill>
                  <a:srgbClr val="FF0000"/>
                </a:solidFill>
              </a:rPr>
              <a:t>ID3</a:t>
            </a:r>
            <a:r>
              <a:rPr lang="en-US" sz="3000" dirty="0"/>
              <a:t> (Iterative </a:t>
            </a:r>
            <a:r>
              <a:rPr lang="en-US" sz="3000" dirty="0" err="1"/>
              <a:t>Dichotomiser</a:t>
            </a:r>
            <a:r>
              <a:rPr lang="en-US" sz="3000" dirty="0"/>
              <a:t> 3) – Uses Information Gain for splits.</a:t>
            </a:r>
          </a:p>
          <a:p>
            <a:pPr algn="just"/>
            <a:r>
              <a:rPr lang="en-US" sz="3000" dirty="0">
                <a:solidFill>
                  <a:srgbClr val="FF0000"/>
                </a:solidFill>
              </a:rPr>
              <a:t>C4.5 </a:t>
            </a:r>
            <a:r>
              <a:rPr lang="en-US" sz="3000" dirty="0"/>
              <a:t>– An improvement over ID3 with handling of missing values.</a:t>
            </a:r>
          </a:p>
          <a:p>
            <a:pPr algn="just"/>
            <a:r>
              <a:rPr lang="en-US" sz="3000" dirty="0">
                <a:solidFill>
                  <a:srgbClr val="FF0000"/>
                </a:solidFill>
              </a:rPr>
              <a:t>CART</a:t>
            </a:r>
            <a:r>
              <a:rPr lang="en-US" sz="3000" dirty="0"/>
              <a:t> (Classification and Regression Trees) – Used in Scikit-learn, supports both classification and regression.</a:t>
            </a:r>
          </a:p>
          <a:p>
            <a:pPr algn="just"/>
            <a:r>
              <a:rPr lang="en-US" sz="3000" dirty="0">
                <a:solidFill>
                  <a:srgbClr val="FF0000"/>
                </a:solidFill>
              </a:rPr>
              <a:t>Random Forest </a:t>
            </a:r>
            <a:r>
              <a:rPr lang="en-US" sz="3000" dirty="0"/>
              <a:t>– Uses multiple decision trees to improve accuracy.</a:t>
            </a:r>
          </a:p>
          <a:p>
            <a:pPr algn="just"/>
            <a:r>
              <a:rPr lang="en-US" sz="3000" dirty="0" err="1">
                <a:solidFill>
                  <a:srgbClr val="FF0000"/>
                </a:solidFill>
              </a:rPr>
              <a:t>XGBoost</a:t>
            </a:r>
            <a:r>
              <a:rPr lang="en-US" sz="3000" dirty="0">
                <a:solidFill>
                  <a:srgbClr val="FF0000"/>
                </a:solidFill>
              </a:rPr>
              <a:t> / Gradient Boosting Trees </a:t>
            </a:r>
            <a:r>
              <a:rPr lang="en-US" sz="3000" dirty="0"/>
              <a:t>– An ensemble of decision trees optimized for performance.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88641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n-US" sz="5400" b="1">
                <a:solidFill>
                  <a:srgbClr val="C00000"/>
                </a:solidFill>
              </a:rPr>
              <a:t>Entropy</a:t>
            </a:r>
            <a:endParaRPr sz="5400" b="1">
              <a:solidFill>
                <a:srgbClr val="C00000"/>
              </a:solidFill>
            </a:endParaRPr>
          </a:p>
        </p:txBody>
      </p:sp>
      <p:sp>
        <p:nvSpPr>
          <p:cNvPr id="607" name="Google Shape;607;p9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84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3200" b="1" dirty="0"/>
              <a:t>Entropy</a:t>
            </a:r>
            <a:r>
              <a:rPr lang="en-US" sz="3200" dirty="0"/>
              <a:t> is a measure of </a:t>
            </a:r>
            <a:r>
              <a:rPr lang="en-US" sz="3200" b="1" dirty="0"/>
              <a:t>uncertainty</a:t>
            </a:r>
            <a:r>
              <a:rPr lang="en-US" sz="3200" dirty="0"/>
              <a:t> or </a:t>
            </a:r>
            <a:r>
              <a:rPr lang="en-US" sz="3200" b="1" dirty="0"/>
              <a:t>impurity</a:t>
            </a:r>
            <a:r>
              <a:rPr lang="en-US" sz="3200" dirty="0"/>
              <a:t> in a dataset. It tells us how mixed up the data is.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608" name="Google Shape;60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920" y="3669031"/>
            <a:ext cx="8686800" cy="266319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1834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7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C00000"/>
                </a:solidFill>
              </a:rPr>
              <a:t>Entropy</a:t>
            </a:r>
            <a:endParaRPr sz="5400" dirty="0"/>
          </a:p>
        </p:txBody>
      </p:sp>
      <p:sp>
        <p:nvSpPr>
          <p:cNvPr id="600" name="Google Shape;600;p98"/>
          <p:cNvSpPr txBox="1">
            <a:spLocks noGrp="1"/>
          </p:cNvSpPr>
          <p:nvPr>
            <p:ph type="body" idx="1"/>
          </p:nvPr>
        </p:nvSpPr>
        <p:spPr>
          <a:xfrm>
            <a:off x="838200" y="1260547"/>
            <a:ext cx="10515600" cy="116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lang="en-US" sz="3200" dirty="0"/>
              <a:t>Entropy measures the </a:t>
            </a:r>
            <a:r>
              <a:rPr lang="en-US" sz="3200" b="1" dirty="0"/>
              <a:t>impurity or disorder</a:t>
            </a:r>
            <a:r>
              <a:rPr lang="en-US" sz="3200" dirty="0"/>
              <a:t> in a dataset. It tells us how uncertain the dataset is regarding class labels.</a:t>
            </a:r>
            <a:endParaRPr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6A0DD-1CAD-3BAC-CF84-BC09B5CD3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9" y="2352782"/>
            <a:ext cx="10445512" cy="4316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0"/>
          <p:cNvSpPr txBox="1">
            <a:spLocks noGrp="1"/>
          </p:cNvSpPr>
          <p:nvPr>
            <p:ph type="body" idx="1"/>
          </p:nvPr>
        </p:nvSpPr>
        <p:spPr>
          <a:xfrm>
            <a:off x="838200" y="351155"/>
            <a:ext cx="10515600" cy="2083435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entropy is 0 if all members of S belong to the same class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entropy is 1 when the collection contains an equal number of positive and negative examples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collection contains unequal numbers of positive and negative examples, the entropy is between 0 and 1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22860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614" name="Google Shape;614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6090" y="2514600"/>
            <a:ext cx="5440680" cy="4240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CD09-54E0-D0F7-41D4-2CB69A6A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Information Gain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6F117-FE17-63ED-66EE-F0DEC693D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Information Gain (IG)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key concept in decision tree algorithms like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ID3, C4.5, and CART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measures the reduction in uncertainty (entropy) after splitting the dataset based on a particular feature.</a:t>
            </a:r>
          </a:p>
          <a:p>
            <a:pPr algn="just"/>
            <a:r>
              <a:rPr lang="en-US" sz="2800" dirty="0">
                <a:solidFill>
                  <a:srgbClr val="00B0F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Information gain is a measure of the effectiveness of an attribute in classifying the training data</a:t>
            </a:r>
            <a:endParaRPr lang="en-US" sz="2800" dirty="0">
              <a:solidFill>
                <a:srgbClr val="00B0F0"/>
              </a:solidFill>
              <a:latin typeface="Calibri" panose="020F0502020204030204" pitchFamily="34" charset="0"/>
              <a:ea typeface="Noto Sans Symbols"/>
              <a:cs typeface="Calibri" panose="020F0502020204030204" pitchFamily="34" charset="0"/>
              <a:sym typeface="Noto Sans Symbols"/>
            </a:endParaRPr>
          </a:p>
          <a:p>
            <a:pPr algn="just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Information Gain (IG)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as a way to measure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well a feature helps us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 the data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a decision tree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6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7"/>
          <p:cNvSpPr txBox="1">
            <a:spLocks noGrp="1"/>
          </p:cNvSpPr>
          <p:nvPr>
            <p:ph type="title"/>
          </p:nvPr>
        </p:nvSpPr>
        <p:spPr>
          <a:xfrm>
            <a:off x="4572000" y="-105569"/>
            <a:ext cx="4351020" cy="1028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Information gain</a:t>
            </a:r>
            <a:endParaRPr b="1"/>
          </a:p>
        </p:txBody>
      </p:sp>
      <p:pic>
        <p:nvPicPr>
          <p:cNvPr id="594" name="Google Shape;59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6362" y="920782"/>
            <a:ext cx="9836468" cy="57612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717971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97180"/>
            <a:ext cx="10755630" cy="621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Apply ID3 Algorithm and Construct the decision tree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625" name="Google Shape;625;p10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b="1" u="sng" dirty="0">
                <a:latin typeface="Arial"/>
                <a:ea typeface="Arial"/>
                <a:cs typeface="Arial"/>
                <a:sym typeface="Arial"/>
              </a:rPr>
              <a:t>Attributes and their values: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Outlook: Sunny, Overcast, Rain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Humidity: High, Normal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Wind: Strong, Weak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Temperature: Hot, Mild, Cool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50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b="1" u="sng" dirty="0">
                <a:latin typeface="Arial"/>
                <a:ea typeface="Arial"/>
                <a:cs typeface="Arial"/>
                <a:sym typeface="Arial"/>
              </a:rPr>
              <a:t>Target concept </a:t>
            </a:r>
            <a:endParaRPr dirty="0"/>
          </a:p>
          <a:p>
            <a:pPr marL="457200" lvl="1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>
                <a:latin typeface="Arial"/>
                <a:ea typeface="Arial"/>
                <a:cs typeface="Arial"/>
                <a:sym typeface="Arial"/>
              </a:rPr>
              <a:t>Play Tennis: Yes, No</a:t>
            </a:r>
            <a:endParaRPr sz="3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03"/>
          <p:cNvSpPr txBox="1"/>
          <p:nvPr/>
        </p:nvSpPr>
        <p:spPr>
          <a:xfrm>
            <a:off x="1143000" y="814492"/>
            <a:ext cx="962406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Calculating the Entropy of the Training Set.</a:t>
            </a:r>
            <a:endParaRPr sz="4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5799" y="2132647"/>
            <a:ext cx="7684933" cy="3102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4"/>
          <p:cNvSpPr txBox="1">
            <a:spLocks noGrp="1"/>
          </p:cNvSpPr>
          <p:nvPr>
            <p:ph type="title"/>
          </p:nvPr>
        </p:nvSpPr>
        <p:spPr>
          <a:xfrm>
            <a:off x="838200" y="1822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lang="en-US" sz="4800" b="1" dirty="0">
                <a:solidFill>
                  <a:srgbClr val="C00000"/>
                </a:solidFill>
              </a:rPr>
              <a:t>Information gain</a:t>
            </a:r>
            <a:endParaRPr sz="4800" b="1" dirty="0">
              <a:solidFill>
                <a:srgbClr val="C00000"/>
              </a:solidFill>
            </a:endParaRPr>
          </a:p>
        </p:txBody>
      </p:sp>
      <p:sp>
        <p:nvSpPr>
          <p:cNvPr id="637" name="Google Shape;637;p104"/>
          <p:cNvSpPr txBox="1">
            <a:spLocks noGrp="1"/>
          </p:cNvSpPr>
          <p:nvPr>
            <p:ph type="body" idx="1"/>
          </p:nvPr>
        </p:nvSpPr>
        <p:spPr>
          <a:xfrm>
            <a:off x="838200" y="1459865"/>
            <a:ext cx="10515600" cy="196913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gain is a measure of the effectiveness of an attribute in classifying the training data</a:t>
            </a:r>
            <a:endParaRPr sz="2600" dirty="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gain is simply the expected reduction in entropy caused by partitioning the examples according to this attribute.</a:t>
            </a:r>
            <a:endParaRPr sz="2600" dirty="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638" name="Google Shape;638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8790" y="4072572"/>
            <a:ext cx="8343900" cy="22024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AF167C-60C0-2B77-7904-38ADC2353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4" y="1175361"/>
            <a:ext cx="8822952" cy="5558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A14D35-C843-93DF-EFB1-FA1C7AD88DFB}"/>
              </a:ext>
            </a:extLst>
          </p:cNvPr>
          <p:cNvSpPr txBox="1"/>
          <p:nvPr/>
        </p:nvSpPr>
        <p:spPr>
          <a:xfrm>
            <a:off x="3747505" y="124320"/>
            <a:ext cx="39992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gain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392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C00000"/>
                </a:solidFill>
              </a:rPr>
              <a:t>Information gain for outlook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644" name="Google Shape;644;p1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■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G(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S,Outlook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) = E(S) – [5/14 * E(Outlook=sunny) + </a:t>
            </a:r>
            <a:endParaRPr dirty="0"/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                                        4/14 * E(Outlook =   overcast) +                                            </a:t>
            </a:r>
            <a:endParaRPr dirty="0"/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                                         5/14 * E(Outlook=rain)]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■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G(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S,Outlook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) = E([9+,5-]) – [5/14*E(2+,3-) + 4/14*E([4+,0-]) +     </a:t>
            </a:r>
            <a:endParaRPr dirty="0"/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                             5/14*E([3+,2-])]</a:t>
            </a:r>
            <a:endParaRPr dirty="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■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G(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S,Outlook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) = 0.94 – [5/14*0.971 + 4/14*0.0 + 5/14*0.971]</a:t>
            </a:r>
            <a:endParaRPr dirty="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■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G(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S,Outlook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) = 0.246</a:t>
            </a:r>
            <a:endParaRPr dirty="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447" y="274320"/>
            <a:ext cx="10195475" cy="6377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07"/>
          <p:cNvSpPr txBox="1"/>
          <p:nvPr/>
        </p:nvSpPr>
        <p:spPr>
          <a:xfrm>
            <a:off x="1130156" y="500066"/>
            <a:ext cx="9215919" cy="325392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The information gain for all four attributes are:</a:t>
            </a:r>
            <a:endParaRPr sz="2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 </a:t>
            </a:r>
            <a:endParaRPr sz="2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Gain(</a:t>
            </a:r>
            <a:r>
              <a:rPr lang="en-US" sz="3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S,Outlook</a:t>
            </a: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0.246</a:t>
            </a:r>
            <a:endParaRPr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Gain(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S,Humidity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0.151</a:t>
            </a:r>
            <a:endParaRPr sz="2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Gain(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S,Wind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0.048</a:t>
            </a:r>
            <a:endParaRPr sz="2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Gain(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S,Temperature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0.029</a:t>
            </a:r>
            <a:endParaRPr sz="2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55" name="Google Shape;655;p107"/>
          <p:cNvSpPr txBox="1"/>
          <p:nvPr/>
        </p:nvSpPr>
        <p:spPr>
          <a:xfrm>
            <a:off x="548640" y="3912073"/>
            <a:ext cx="10778489" cy="112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lang="en-US" sz="3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Outlook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provides the best prediction, it is selected as the decision attribute for the root node.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8"/>
          <p:cNvSpPr txBox="1"/>
          <p:nvPr/>
        </p:nvSpPr>
        <p:spPr>
          <a:xfrm>
            <a:off x="695325" y="498396"/>
            <a:ext cx="10801349" cy="107721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below figure is</a:t>
            </a:r>
            <a:r>
              <a:rPr lang="en-US" sz="32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partially learned decision tree resulting from the first step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ID3.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p108" descr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0280" y="2068830"/>
            <a:ext cx="7292339" cy="4537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09"/>
          <p:cNvSpPr txBox="1"/>
          <p:nvPr/>
        </p:nvSpPr>
        <p:spPr>
          <a:xfrm>
            <a:off x="340995" y="257013"/>
            <a:ext cx="11510010" cy="154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that we have discovered the root of our decision tree, we must now recursively find the nodes that should go below Sunny, Overcast, and Rain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9"/>
          <p:cNvSpPr txBox="1"/>
          <p:nvPr/>
        </p:nvSpPr>
        <p:spPr>
          <a:xfrm>
            <a:off x="417601" y="2012587"/>
            <a:ext cx="11356797" cy="88263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G(Outlook=Rain, Humidity) = 0.971 – [2/5*E(Outlook=Rain ^ Humidity=high) +        </a:t>
            </a:r>
            <a:endParaRPr dirty="0"/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3/5*E(Outlook=Rain ^Humidity=normal]</a:t>
            </a:r>
            <a:endParaRPr sz="1600" dirty="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8" name="Google Shape;668;p109"/>
          <p:cNvSpPr txBox="1"/>
          <p:nvPr/>
        </p:nvSpPr>
        <p:spPr>
          <a:xfrm>
            <a:off x="593417" y="3254083"/>
            <a:ext cx="11005164" cy="246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G(Outlook=Rain, Humidity) = 0.02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oto Sans Symbols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G(Outlook=</a:t>
            </a:r>
            <a:r>
              <a:rPr lang="en-US" sz="24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Rain,Wind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0.971- [3/5*0 + 2/5*0]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oto Sans Symbols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G(Outlook=</a:t>
            </a:r>
            <a:r>
              <a:rPr lang="en-US" sz="24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Rain,Wind</a:t>
            </a: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0.971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oto Sans Symbols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G(Outlook=</a:t>
            </a:r>
            <a:r>
              <a:rPr lang="en-US" sz="24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Rain,temperature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0.971- [3/5*E[Outlook=Rain ^Temperature=Mild)     </a:t>
            </a:r>
          </a:p>
          <a:p>
            <a:pPr marR="0" lvl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+2/5 * E(Outlook=Rain ^ Temperature=Cool)]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oto Sans Symbols"/>
            </a:endParaRPr>
          </a:p>
          <a:p>
            <a:pPr marL="228600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                     =0.31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110" descr="chart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4524" y="537211"/>
            <a:ext cx="6256655" cy="543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0570" y="256540"/>
            <a:ext cx="6860540" cy="1537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7470" y="2302510"/>
            <a:ext cx="5485130" cy="401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1A9C-DAEB-2EEE-9C1C-24BDFA28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Apply ID3 algorithm to solve the following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6AE9B-93BF-DD37-6A8F-D40C5AA1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3AC-6FC6-4FD7-BA84-6FD82A41DCAC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99DCF-52B9-9756-9B83-80AF0EC1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D531-35D2-559B-ABD1-3D1E171E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58B78-8142-B40E-E318-C147C5F36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88789"/>
            <a:ext cx="9406061" cy="457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7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6FB0B-A169-0D1F-E9A9-99B6654D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3AC-6FC6-4FD7-BA84-6FD82A41DCAC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45BC8-6D60-9E28-3F46-71CBAF1D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273A-F960-32C2-6CB6-92D4DF7C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F8032C-C364-8BFA-BF95-BD18CD0F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96" y="450376"/>
            <a:ext cx="6625439" cy="56511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35F57F-1B69-2D06-5F80-7262792D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67" y="655093"/>
            <a:ext cx="4416339" cy="286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55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2061-2531-A2B8-C3D9-7B09381A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4251-D207-953A-6C9D-91559074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3AC-6FC6-4FD7-BA84-6FD82A41DCAC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B379B-1975-FD5E-67DF-269A21A5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8EEE-CE3E-AAD7-B8F1-DB17DE1A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28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AD3A15-4E2A-5F50-0CC1-1590A07E2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25" y="1419369"/>
            <a:ext cx="4388892" cy="28482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07D407-1B87-85B1-A574-4B4FCCB53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954" y="286603"/>
            <a:ext cx="6740311" cy="618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08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775A-2AE2-EAAE-5A66-94834949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78D7-59E5-7205-1783-3682116E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3AC-6FC6-4FD7-BA84-6FD82A41DCAC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062E0-70F9-AAE2-003A-E79EC458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4A31D-FD5B-55A1-AB0C-7DB07F5E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29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72838-80B0-CDFE-D778-2CD1DD175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58" y="1"/>
            <a:ext cx="3287719" cy="213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C62A20-B9D8-322A-DC1A-6269687C7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606" y="893980"/>
            <a:ext cx="5442625" cy="905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778A8E-D834-7A01-4983-99DB3DD15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228" y="2095500"/>
            <a:ext cx="5251620" cy="419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59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5880" y="868680"/>
            <a:ext cx="9704070" cy="533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3"/>
          <p:cNvSpPr txBox="1">
            <a:spLocks noGrp="1"/>
          </p:cNvSpPr>
          <p:nvPr>
            <p:ph type="body" idx="1"/>
          </p:nvPr>
        </p:nvSpPr>
        <p:spPr>
          <a:xfrm>
            <a:off x="838200" y="434340"/>
            <a:ext cx="10515600" cy="5742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Entropy (S) = 0.94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Gain(S,Color)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.940 - (4/14)1.0 - (4/14).811 -(6/14).918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0.029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Gain(S,Type)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.940 - (5/14).971 - (3/14)0 -(6/14)0.918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US" b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0.200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Gain(S,Doors)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.940 - (7/14)0.985 - (7/14)0.592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0.152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 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Times"/>
                <a:ea typeface="Times"/>
                <a:cs typeface="Times"/>
                <a:sym typeface="Times"/>
              </a:rPr>
              <a:t>Gain(S,Tires)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.940 - (6/14)1.0 - (8/14).811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= 0.048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33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endParaRPr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33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Root node is Type attribute</a:t>
            </a:r>
            <a:endParaRPr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9807"/>
            <a:ext cx="12192000" cy="5478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37" y="614362"/>
            <a:ext cx="12049125" cy="56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115"/>
          <p:cNvSpPr txBox="1"/>
          <p:nvPr/>
        </p:nvSpPr>
        <p:spPr>
          <a:xfrm>
            <a:off x="3266123" y="6341864"/>
            <a:ext cx="609790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https://www.youtube.com/watch?v=K-oGwFoCGU0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34B1-27F4-70B9-F04D-13BBFD91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Regression Tree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D5A70-88CB-D1DE-BB0E-AA37524A3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Regression trees are variant of decision trees where the target feature is continuous valued variable.</a:t>
            </a:r>
          </a:p>
          <a:p>
            <a:pPr algn="just"/>
            <a:r>
              <a:rPr lang="en-US" sz="3200" dirty="0"/>
              <a:t>These tree are constructed using an algorithm called reduction in variance which uses </a:t>
            </a:r>
            <a:r>
              <a:rPr lang="en-US" sz="3200" dirty="0">
                <a:solidFill>
                  <a:srgbClr val="FF0000"/>
                </a:solidFill>
              </a:rPr>
              <a:t>standard deviation </a:t>
            </a:r>
            <a:r>
              <a:rPr lang="en-US" sz="3200" dirty="0"/>
              <a:t>to chose the best splitting attribute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64280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DE60B-25A4-6A6D-7839-AFF9CD36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468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0" i="0" u="none" strike="noStrike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0" i="0" u="none" strike="noStrike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and Regression Trees (CART)</a:t>
            </a:r>
            <a:br>
              <a:rPr lang="en-US" b="0" dirty="0">
                <a:solidFill>
                  <a:srgbClr val="FF0000"/>
                </a:solidFill>
                <a:effectLst/>
              </a:rPr>
            </a:br>
            <a:br>
              <a:rPr lang="en-US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8DAF2-66C6-63BB-721F-76E294EDA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4972"/>
            <a:ext cx="10515600" cy="508790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b="1" i="0" u="none" strike="noStrike" dirty="0">
                <a:solidFill>
                  <a:srgbClr val="273239"/>
                </a:solidFill>
                <a:effectLst/>
                <a:latin typeface="Calbri"/>
              </a:rPr>
              <a:t>CART is a decision tree algorithm that is used for both classification and regression tasks</a:t>
            </a:r>
            <a:r>
              <a:rPr lang="en-US" b="0" i="0" u="none" strike="noStrike" dirty="0">
                <a:solidFill>
                  <a:srgbClr val="273239"/>
                </a:solidFill>
                <a:effectLst/>
                <a:latin typeface="Calbri"/>
              </a:rPr>
              <a:t>. It is a supervised learning algorithm that learns from labelled data to predict unseen data.</a:t>
            </a:r>
          </a:p>
          <a:p>
            <a:pPr algn="just" rtl="0" fontAlgn="base">
              <a:lnSpc>
                <a:spcPct val="11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73239"/>
                </a:solidFill>
                <a:effectLst/>
                <a:latin typeface="Calbri"/>
              </a:rPr>
              <a:t>CART uses a greedy approach to split the data at each node. It evaluates all possible splits and selects the one that best reduces the impurity of the resulting subsets.</a:t>
            </a:r>
          </a:p>
          <a:p>
            <a:pPr marL="114300" indent="0" algn="just" rtl="0" fontAlgn="base">
              <a:spcBef>
                <a:spcPts val="400"/>
              </a:spcBef>
              <a:buNone/>
            </a:pPr>
            <a:endParaRPr lang="en-US" sz="1900" b="0" i="0" u="none" strike="noStrike" dirty="0">
              <a:solidFill>
                <a:srgbClr val="CC0000"/>
              </a:solidFill>
              <a:effectLst/>
              <a:latin typeface="Calbri"/>
            </a:endParaRPr>
          </a:p>
          <a:p>
            <a:pPr marL="742950" lvl="1" indent="-285750" algn="just" rtl="0" fontAlgn="base">
              <a:spcBef>
                <a:spcPts val="320"/>
              </a:spcBef>
              <a:buFont typeface="Arial" panose="020B0604020202020204" pitchFamily="34" charset="0"/>
              <a:buChar char="•"/>
            </a:pPr>
            <a:r>
              <a:rPr lang="en-US" sz="2500" b="0" i="0" u="none" strike="noStrike" dirty="0">
                <a:solidFill>
                  <a:srgbClr val="273239"/>
                </a:solidFill>
                <a:effectLst/>
                <a:latin typeface="Calbri"/>
              </a:rPr>
              <a:t>For </a:t>
            </a:r>
            <a:r>
              <a:rPr lang="en-US" sz="2500" b="1" i="0" u="none" strike="noStrike" dirty="0">
                <a:solidFill>
                  <a:srgbClr val="273239"/>
                </a:solidFill>
                <a:effectLst/>
                <a:latin typeface="Calbri"/>
              </a:rPr>
              <a:t>classification tasks</a:t>
            </a:r>
            <a:r>
              <a:rPr lang="en-US" sz="2500" b="0" i="0" u="none" strike="noStrike" dirty="0">
                <a:solidFill>
                  <a:srgbClr val="273239"/>
                </a:solidFill>
                <a:effectLst/>
                <a:latin typeface="Calbri"/>
              </a:rPr>
              <a:t>, </a:t>
            </a:r>
            <a:r>
              <a:rPr lang="en-US" sz="2500" b="1" i="0" u="none" strike="noStrike" dirty="0">
                <a:solidFill>
                  <a:srgbClr val="273239"/>
                </a:solidFill>
                <a:effectLst/>
                <a:latin typeface="Calbri"/>
              </a:rPr>
              <a:t>CART uses Gini impurity as the splitting criterion</a:t>
            </a:r>
            <a:r>
              <a:rPr lang="en-US" sz="2500" b="0" i="0" u="none" strike="noStrike" dirty="0">
                <a:solidFill>
                  <a:srgbClr val="273239"/>
                </a:solidFill>
                <a:effectLst/>
                <a:latin typeface="Calbri"/>
              </a:rPr>
              <a:t>. The lower the Gini impurity, the purer the subset is. </a:t>
            </a:r>
          </a:p>
          <a:p>
            <a:pPr marL="457200" lvl="1" indent="0" algn="just" rtl="0" fontAlgn="base">
              <a:spcBef>
                <a:spcPts val="320"/>
              </a:spcBef>
              <a:buNone/>
            </a:pPr>
            <a:endParaRPr lang="en-US" sz="2500" b="0" i="0" u="none" strike="noStrike" dirty="0">
              <a:solidFill>
                <a:srgbClr val="CC0000"/>
              </a:solidFill>
              <a:effectLst/>
              <a:latin typeface="Calbri"/>
            </a:endParaRPr>
          </a:p>
          <a:p>
            <a:pPr marL="742950" lvl="1" indent="-285750" algn="just" rtl="0" fontAlgn="base">
              <a:spcBef>
                <a:spcPts val="320"/>
              </a:spcBef>
              <a:buFont typeface="Arial" panose="020B0604020202020204" pitchFamily="34" charset="0"/>
              <a:buChar char="•"/>
            </a:pPr>
            <a:r>
              <a:rPr lang="en-US" sz="2500" b="0" i="0" u="none" strike="noStrike" dirty="0">
                <a:solidFill>
                  <a:srgbClr val="273239"/>
                </a:solidFill>
                <a:effectLst/>
                <a:latin typeface="Calbri"/>
              </a:rPr>
              <a:t>For </a:t>
            </a:r>
            <a:r>
              <a:rPr lang="en-US" sz="2500" b="1" i="0" u="none" strike="noStrike" dirty="0">
                <a:solidFill>
                  <a:srgbClr val="273239"/>
                </a:solidFill>
                <a:effectLst/>
                <a:latin typeface="Calbri"/>
              </a:rPr>
              <a:t>regression tasks</a:t>
            </a:r>
            <a:r>
              <a:rPr lang="en-US" sz="2500" b="0" i="0" u="none" strike="noStrike" dirty="0">
                <a:solidFill>
                  <a:srgbClr val="273239"/>
                </a:solidFill>
                <a:effectLst/>
                <a:latin typeface="Calbri"/>
              </a:rPr>
              <a:t>, </a:t>
            </a:r>
            <a:r>
              <a:rPr lang="en-US" sz="2500" b="1" i="0" u="none" strike="noStrike" dirty="0">
                <a:solidFill>
                  <a:srgbClr val="273239"/>
                </a:solidFill>
                <a:effectLst/>
                <a:latin typeface="Calbri"/>
              </a:rPr>
              <a:t>CART uses </a:t>
            </a:r>
            <a:r>
              <a:rPr lang="en-US" sz="2500" b="1" i="0" u="none" strike="noStrike" dirty="0">
                <a:solidFill>
                  <a:srgbClr val="FF0000"/>
                </a:solidFill>
                <a:effectLst/>
                <a:latin typeface="Calbri"/>
              </a:rPr>
              <a:t>residual reduction </a:t>
            </a:r>
            <a:r>
              <a:rPr lang="en-US" sz="2500" b="1" i="0" u="none" strike="noStrike" dirty="0">
                <a:solidFill>
                  <a:srgbClr val="273239"/>
                </a:solidFill>
                <a:effectLst/>
                <a:latin typeface="Calbri"/>
              </a:rPr>
              <a:t>as the splitting criterion</a:t>
            </a:r>
            <a:r>
              <a:rPr lang="en-US" sz="2500" b="0" i="0" u="none" strike="noStrike" dirty="0">
                <a:solidFill>
                  <a:srgbClr val="273239"/>
                </a:solidFill>
                <a:effectLst/>
                <a:latin typeface="Calbri"/>
              </a:rPr>
              <a:t>. The lower the residual reduction, the better the fit of the model to the data</a:t>
            </a:r>
            <a:r>
              <a:rPr lang="en-US" b="0" i="0" u="none" strike="noStrike" dirty="0">
                <a:solidFill>
                  <a:srgbClr val="273239"/>
                </a:solidFill>
                <a:effectLst/>
                <a:latin typeface="Calbri"/>
              </a:rPr>
              <a:t>.</a:t>
            </a:r>
            <a:endParaRPr lang="en-US" b="0" i="0" u="none" strike="noStrike" dirty="0">
              <a:solidFill>
                <a:srgbClr val="CC0000"/>
              </a:solidFill>
              <a:effectLst/>
              <a:latin typeface="Cal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594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2A8E-3413-1803-92A1-D4A32874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Algorithm: Regression Tree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8CA229-A301-BC28-5658-378F64AA3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8481"/>
            <a:ext cx="12192000" cy="437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013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51B0E65-AE9F-CF5A-94D7-A5912BAB1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479" y="109086"/>
            <a:ext cx="7486377" cy="494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92F31B-8F0F-3519-9FC8-0D225CC1C6EC}"/>
              </a:ext>
            </a:extLst>
          </p:cNvPr>
          <p:cNvSpPr txBox="1"/>
          <p:nvPr/>
        </p:nvSpPr>
        <p:spPr>
          <a:xfrm>
            <a:off x="236305" y="5065157"/>
            <a:ext cx="115687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a data set with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attributes, assessment, assignment and project </a:t>
            </a:r>
            <a:r>
              <a:rPr lang="en-US" sz="2800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attributes,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is a target variable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>
                <a:solidFill>
                  <a:srgbClr val="2424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this case, the 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is continuous 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nature. Hence, we need to build the regression trees.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8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7772D4-5A99-386E-652F-415D754F4BD9}"/>
              </a:ext>
            </a:extLst>
          </p:cNvPr>
          <p:cNvSpPr txBox="1"/>
          <p:nvPr/>
        </p:nvSpPr>
        <p:spPr>
          <a:xfrm>
            <a:off x="380144" y="201041"/>
            <a:ext cx="11239928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regression trees, first we need to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 the standard deviation for the target attribute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So, in this case, the target attribute is result, we need to calculate the standard deviation. To calculate the standard deviation, first we need to calculate the average.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96D8B4-295C-3EDA-7228-A4845987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5" y="4351062"/>
            <a:ext cx="11363325" cy="56144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D920E1B-5E18-5397-59C0-6B61CD1E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164" y="3293321"/>
            <a:ext cx="7869353" cy="27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68E3AD-ED22-AB1C-7C9F-AEB1E6E5BD1F}"/>
              </a:ext>
            </a:extLst>
          </p:cNvPr>
          <p:cNvSpPr txBox="1"/>
          <p:nvPr/>
        </p:nvSpPr>
        <p:spPr>
          <a:xfrm>
            <a:off x="2292420" y="5568165"/>
            <a:ext cx="703180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Standard deviation is equivalent to </a:t>
            </a:r>
            <a:r>
              <a:rPr lang="en-US" sz="2800" b="1" dirty="0">
                <a:solidFill>
                  <a:srgbClr val="FF0000"/>
                </a:solidFill>
              </a:rPr>
              <a:t>16 .55.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0E8BC-1B61-6C5B-943C-1CE150F3537D}"/>
              </a:ext>
            </a:extLst>
          </p:cNvPr>
          <p:cNvSpPr txBox="1"/>
          <p:nvPr/>
        </p:nvSpPr>
        <p:spPr>
          <a:xfrm>
            <a:off x="3092521" y="2276683"/>
            <a:ext cx="7296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the whole data set</a:t>
            </a:r>
            <a:endParaRPr lang="en-IN" sz="3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73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ABC6D5-06FD-DBCF-FE22-FDC962F7E2BC}"/>
              </a:ext>
            </a:extLst>
          </p:cNvPr>
          <p:cNvSpPr txBox="1"/>
          <p:nvPr/>
        </p:nvSpPr>
        <p:spPr>
          <a:xfrm>
            <a:off x="585626" y="308449"/>
            <a:ext cx="1093170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alculate the 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each of these particular attributes</a:t>
            </a:r>
            <a:endParaRPr lang="en-IN" sz="28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E929F9-6930-9F59-A999-EF430D3E8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74" y="1720091"/>
            <a:ext cx="5299603" cy="282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FD4BB5-C357-E616-9DDD-E5C30799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26" y="2225274"/>
            <a:ext cx="10376787" cy="603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45D9CA-B4C2-2EDB-FE7B-43425E544B5C}"/>
              </a:ext>
            </a:extLst>
          </p:cNvPr>
          <p:cNvSpPr txBox="1"/>
          <p:nvPr/>
        </p:nvSpPr>
        <p:spPr>
          <a:xfrm>
            <a:off x="511137" y="6013693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=11.01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632DC-4EE3-825C-5CC8-2FCED70744F2}"/>
              </a:ext>
            </a:extLst>
          </p:cNvPr>
          <p:cNvSpPr txBox="1"/>
          <p:nvPr/>
        </p:nvSpPr>
        <p:spPr>
          <a:xfrm>
            <a:off x="585626" y="927526"/>
            <a:ext cx="722273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Assessment : Good </a:t>
            </a:r>
            <a:endParaRPr lang="en-IN" sz="2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C6ED9F-DB24-D828-6275-9837D6E15296}"/>
              </a:ext>
            </a:extLst>
          </p:cNvPr>
          <p:cNvSpPr txBox="1"/>
          <p:nvPr/>
        </p:nvSpPr>
        <p:spPr>
          <a:xfrm>
            <a:off x="436649" y="3664506"/>
            <a:ext cx="6919648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Assessment: Average </a:t>
            </a:r>
            <a:endParaRPr lang="en-IN" sz="2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97D2E3-641E-5B09-1E1A-BCDBD4CE5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74" y="4522562"/>
            <a:ext cx="4549787" cy="3132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BAED7F-F5C0-E1F4-4D93-C09D8ED3E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26" y="5128799"/>
            <a:ext cx="7110021" cy="6039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C59263-8981-6ED0-088B-CB7C38CE8CB2}"/>
              </a:ext>
            </a:extLst>
          </p:cNvPr>
          <p:cNvSpPr txBox="1"/>
          <p:nvPr/>
        </p:nvSpPr>
        <p:spPr>
          <a:xfrm>
            <a:off x="738026" y="3220460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=10.9</a:t>
            </a:r>
          </a:p>
        </p:txBody>
      </p:sp>
    </p:spTree>
    <p:extLst>
      <p:ext uri="{BB962C8B-B14F-4D97-AF65-F5344CB8AC3E}">
        <p14:creationId xmlns:p14="http://schemas.microsoft.com/office/powerpoint/2010/main" val="3670768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7C21-5E3F-69E9-2E87-496760BE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086FFE-60F4-618A-7CDD-6740764B1ACC}"/>
              </a:ext>
            </a:extLst>
          </p:cNvPr>
          <p:cNvSpPr txBox="1"/>
          <p:nvPr/>
        </p:nvSpPr>
        <p:spPr>
          <a:xfrm>
            <a:off x="395556" y="226447"/>
            <a:ext cx="1093170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alculate the 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each of these particular attributes</a:t>
            </a:r>
            <a:endParaRPr lang="en-IN" sz="28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0F087-9C37-6B9D-B285-EA3AA167628C}"/>
              </a:ext>
            </a:extLst>
          </p:cNvPr>
          <p:cNvSpPr txBox="1"/>
          <p:nvPr/>
        </p:nvSpPr>
        <p:spPr>
          <a:xfrm>
            <a:off x="585626" y="927526"/>
            <a:ext cx="624668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Assessment :Poor </a:t>
            </a:r>
            <a:endParaRPr lang="en-IN" sz="2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FBA00-DE58-FD03-EA50-18AA31DC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14" y="2869434"/>
            <a:ext cx="5306936" cy="6096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C17741-94DC-51DB-CE9F-3805D488A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8" y="2047567"/>
            <a:ext cx="2822625" cy="241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893A4F-14F4-D953-E65C-E8A9DC2F2FBA}"/>
              </a:ext>
            </a:extLst>
          </p:cNvPr>
          <p:cNvSpPr txBox="1"/>
          <p:nvPr/>
        </p:nvSpPr>
        <p:spPr>
          <a:xfrm>
            <a:off x="660114" y="3607084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=14.14</a:t>
            </a:r>
          </a:p>
        </p:txBody>
      </p:sp>
    </p:spTree>
    <p:extLst>
      <p:ext uri="{BB962C8B-B14F-4D97-AF65-F5344CB8AC3E}">
        <p14:creationId xmlns:p14="http://schemas.microsoft.com/office/powerpoint/2010/main" val="2063041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235972-C853-F981-E12D-2B31D6A77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053123"/>
              </p:ext>
            </p:extLst>
          </p:nvPr>
        </p:nvGraphicFramePr>
        <p:xfrm>
          <a:off x="1464068" y="558544"/>
          <a:ext cx="8314077" cy="1828800"/>
        </p:xfrm>
        <a:graphic>
          <a:graphicData uri="http://schemas.openxmlformats.org/drawingml/2006/table">
            <a:tbl>
              <a:tblPr firstRow="1" bandRow="1">
                <a:tableStyleId>{9766D730-971F-4A0F-A3BD-CF45B782926A}</a:tableStyleId>
              </a:tblPr>
              <a:tblGrid>
                <a:gridCol w="1985195">
                  <a:extLst>
                    <a:ext uri="{9D8B030D-6E8A-4147-A177-3AD203B41FA5}">
                      <a16:colId xmlns:a16="http://schemas.microsoft.com/office/drawing/2014/main" val="1927395529"/>
                    </a:ext>
                  </a:extLst>
                </a:gridCol>
                <a:gridCol w="3187843">
                  <a:extLst>
                    <a:ext uri="{9D8B030D-6E8A-4147-A177-3AD203B41FA5}">
                      <a16:colId xmlns:a16="http://schemas.microsoft.com/office/drawing/2014/main" val="3195539465"/>
                    </a:ext>
                  </a:extLst>
                </a:gridCol>
                <a:gridCol w="3141039">
                  <a:extLst>
                    <a:ext uri="{9D8B030D-6E8A-4147-A177-3AD203B41FA5}">
                      <a16:colId xmlns:a16="http://schemas.microsoft.com/office/drawing/2014/main" val="1971260916"/>
                    </a:ext>
                  </a:extLst>
                </a:gridCol>
              </a:tblGrid>
              <a:tr h="4066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Assessment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Standard Deviation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Instances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911790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Good 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10.9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17840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Average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11.01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5730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Poor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14.14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4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3FCE8D-6A5E-6E72-C9B5-3859A8EA9119}"/>
              </a:ext>
            </a:extLst>
          </p:cNvPr>
          <p:cNvSpPr txBox="1"/>
          <p:nvPr/>
        </p:nvSpPr>
        <p:spPr>
          <a:xfrm>
            <a:off x="688369" y="2954515"/>
            <a:ext cx="105207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weighted standard deviation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Weighted standard deviation for this assessment attribute is equal to 5 is the data instances for assessment is equal to good divided by total number of examples with respect to assessment.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A1DE3-328D-1FD8-20E6-3E6CF5EE8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19" y="4460018"/>
            <a:ext cx="7208445" cy="523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5C676E-1542-AF1D-16CE-0E36BC1BB993}"/>
              </a:ext>
            </a:extLst>
          </p:cNvPr>
          <p:cNvSpPr txBox="1"/>
          <p:nvPr/>
        </p:nvSpPr>
        <p:spPr>
          <a:xfrm>
            <a:off x="881008" y="5289185"/>
            <a:ext cx="763626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standard deviation reduction for assessment.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4F2CD-9653-35FE-8F9E-65449216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140" y="6299456"/>
            <a:ext cx="7685036" cy="317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58855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A0A767-34FF-69ED-A294-73C62726B1BC}"/>
              </a:ext>
            </a:extLst>
          </p:cNvPr>
          <p:cNvSpPr txBox="1"/>
          <p:nvPr/>
        </p:nvSpPr>
        <p:spPr>
          <a:xfrm>
            <a:off x="541961" y="678632"/>
            <a:ext cx="6845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Assignment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C3B1804-5D6E-000E-81D8-FFC8AF166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43" y="1549097"/>
            <a:ext cx="101441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9259349-7D58-A6F0-DC6B-B9B187679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43" y="4173502"/>
            <a:ext cx="1045845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2921EF-E985-5F38-BB1D-97038115045E}"/>
              </a:ext>
            </a:extLst>
          </p:cNvPr>
          <p:cNvSpPr txBox="1"/>
          <p:nvPr/>
        </p:nvSpPr>
        <p:spPr>
          <a:xfrm>
            <a:off x="541961" y="3400371"/>
            <a:ext cx="6845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Assignment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0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E730928-9181-9412-2F06-3CF0E3AC3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703" y="604142"/>
            <a:ext cx="94392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CC9649-A7B7-D098-1876-7D0475C12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050" y="2636337"/>
            <a:ext cx="5951796" cy="55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3F8446-4C8F-070B-902D-F8D8B241C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278" y="4175429"/>
            <a:ext cx="6954991" cy="28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01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CC7E-56B0-4304-AF28-E2E1789A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A6A59-80DA-7698-B543-AC78BDFCB13C}"/>
              </a:ext>
            </a:extLst>
          </p:cNvPr>
          <p:cNvSpPr txBox="1"/>
          <p:nvPr/>
        </p:nvSpPr>
        <p:spPr>
          <a:xfrm>
            <a:off x="541961" y="678632"/>
            <a:ext cx="6845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Project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65CCC-B2F4-F9D7-372E-FF618283AC6A}"/>
              </a:ext>
            </a:extLst>
          </p:cNvPr>
          <p:cNvSpPr txBox="1"/>
          <p:nvPr/>
        </p:nvSpPr>
        <p:spPr>
          <a:xfrm>
            <a:off x="541961" y="3400371"/>
            <a:ext cx="68451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800" b="1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Deviation for Assignment</a:t>
            </a:r>
            <a:r>
              <a:rPr lang="en-IN" sz="2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8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48" name="Picture 8">
            <a:extLst>
              <a:ext uri="{FF2B5EF4-FFF2-40B4-BE49-F238E27FC236}">
                <a16:creationId xmlns:a16="http://schemas.microsoft.com/office/drawing/2014/main" id="{A3F80FFE-5915-413C-7554-4982058E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25" y="1206471"/>
            <a:ext cx="101441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66CF1-0DBC-677B-D7BB-6E2D3CA24DF8}"/>
              </a:ext>
            </a:extLst>
          </p:cNvPr>
          <p:cNvSpPr txBox="1"/>
          <p:nvPr/>
        </p:nvSpPr>
        <p:spPr>
          <a:xfrm>
            <a:off x="4469258" y="1384488"/>
            <a:ext cx="472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/6</a:t>
            </a:r>
            <a:endParaRPr lang="en-IN" sz="1800" dirty="0"/>
          </a:p>
        </p:txBody>
      </p:sp>
      <p:pic>
        <p:nvPicPr>
          <p:cNvPr id="10252" name="Picture 12">
            <a:extLst>
              <a:ext uri="{FF2B5EF4-FFF2-40B4-BE49-F238E27FC236}">
                <a16:creationId xmlns:a16="http://schemas.microsoft.com/office/drawing/2014/main" id="{0DF808B7-FA1F-3194-3636-C53CE34DE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25" y="4171494"/>
            <a:ext cx="94869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5D1DC3-BA00-070D-67BC-48D07004E60F}"/>
              </a:ext>
            </a:extLst>
          </p:cNvPr>
          <p:cNvSpPr txBox="1"/>
          <p:nvPr/>
        </p:nvSpPr>
        <p:spPr>
          <a:xfrm>
            <a:off x="4171308" y="4531127"/>
            <a:ext cx="41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/4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01935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8EAC-B68D-7ACF-9BBA-F1C5BE63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3AC-6FC6-4FD7-BA84-6FD82A41DCAC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8BFE-7028-98B0-E401-5065A29A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027DB-22F6-240A-EF6D-A5DB8057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45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553D35-754E-E1F8-E954-252AD0EBCA14}"/>
              </a:ext>
            </a:extLst>
          </p:cNvPr>
          <p:cNvGrpSpPr/>
          <p:nvPr/>
        </p:nvGrpSpPr>
        <p:grpSpPr>
          <a:xfrm>
            <a:off x="1802883" y="306939"/>
            <a:ext cx="8563741" cy="2878050"/>
            <a:chOff x="681038" y="4284850"/>
            <a:chExt cx="7772400" cy="27078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C7ED93-1F26-9DF5-EC7F-8409FB7B3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038" y="4284850"/>
              <a:ext cx="7772400" cy="270789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A4A3F4-E36D-6B1F-4306-529967A1A3DF}"/>
                </a:ext>
              </a:extLst>
            </p:cNvPr>
            <p:cNvSpPr txBox="1"/>
            <p:nvPr/>
          </p:nvSpPr>
          <p:spPr>
            <a:xfrm>
              <a:off x="3810000" y="6012146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Project</a:t>
              </a:r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875287-2B18-A435-0FC6-4A3D826DF976}"/>
                </a:ext>
              </a:extLst>
            </p:cNvPr>
            <p:cNvSpPr txBox="1"/>
            <p:nvPr/>
          </p:nvSpPr>
          <p:spPr>
            <a:xfrm>
              <a:off x="3820886" y="6520934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Project</a:t>
              </a:r>
              <a:endParaRPr lang="en-IN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DAF907-4581-F920-6FC1-31810A29EC85}"/>
                </a:ext>
              </a:extLst>
            </p:cNvPr>
            <p:cNvSpPr txBox="1"/>
            <p:nvPr/>
          </p:nvSpPr>
          <p:spPr>
            <a:xfrm>
              <a:off x="5758544" y="5986046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498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>
            <a:extLst>
              <a:ext uri="{FF2B5EF4-FFF2-40B4-BE49-F238E27FC236}">
                <a16:creationId xmlns:a16="http://schemas.microsoft.com/office/drawing/2014/main" id="{1DD17AA3-45E9-A6BF-4215-D0D450FE6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899" y="-131277"/>
            <a:ext cx="6174768" cy="247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E59338-2786-B453-9F6A-986C2C5AF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72" y="2473416"/>
            <a:ext cx="9748970" cy="39890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313DCC9-E575-7DFC-CA7F-DAB1D58BC620}"/>
              </a:ext>
            </a:extLst>
          </p:cNvPr>
          <p:cNvSpPr txBox="1"/>
          <p:nvPr/>
        </p:nvSpPr>
        <p:spPr>
          <a:xfrm>
            <a:off x="535890" y="415734"/>
            <a:ext cx="44676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dataset is split into subsets based on the attribute "Assessment" and this this process continued until the entire tree is constructed.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043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5303-D20D-D67B-E4D6-76B9AC20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link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D5CC2-8012-4CD7-9AD3-82F0572D8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https://www.youtube.com/watch?v=g9c66TUylZ4&amp;t=441s</a:t>
            </a:r>
          </a:p>
        </p:txBody>
      </p:sp>
    </p:spTree>
    <p:extLst>
      <p:ext uri="{BB962C8B-B14F-4D97-AF65-F5344CB8AC3E}">
        <p14:creationId xmlns:p14="http://schemas.microsoft.com/office/powerpoint/2010/main" val="3526731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708" name="Google Shape;708;p1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hlinkClick r:id="rId3"/>
              </a:rPr>
              <a:t>https://www.studocu.com/in/document/cambridge-group-of-institutions/big-data-analytics/ai-ml-module-2-problems-solution-with-answers/24915005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https://medium.com/@parshad1912/a-decision-tree-is-a-hierarchical-structure-that-makes-decisions-based-on-a-series-of-rules-or-251da4109480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1561</Words>
  <Application>Microsoft Office PowerPoint</Application>
  <PresentationFormat>Widescreen</PresentationFormat>
  <Paragraphs>164</Paragraphs>
  <Slides>48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Wingdings</vt:lpstr>
      <vt:lpstr>Noto Sans Symbols</vt:lpstr>
      <vt:lpstr>Arial</vt:lpstr>
      <vt:lpstr>Calbri</vt:lpstr>
      <vt:lpstr>Times New Roman</vt:lpstr>
      <vt:lpstr>Calibri</vt:lpstr>
      <vt:lpstr>Times</vt:lpstr>
      <vt:lpstr>Office Theme</vt:lpstr>
      <vt:lpstr>Decision Tree –ID3</vt:lpstr>
      <vt:lpstr>Decision Tree</vt:lpstr>
      <vt:lpstr>Decision Tree </vt:lpstr>
      <vt:lpstr>Decision Tree Representation</vt:lpstr>
      <vt:lpstr>PowerPoint Presentation</vt:lpstr>
      <vt:lpstr>PowerPoint Presentation</vt:lpstr>
      <vt:lpstr>PowerPoint Presentation</vt:lpstr>
      <vt:lpstr>Popular Decision tree Algorithms</vt:lpstr>
      <vt:lpstr>Entropy</vt:lpstr>
      <vt:lpstr>Entropy</vt:lpstr>
      <vt:lpstr>PowerPoint Presentation</vt:lpstr>
      <vt:lpstr>Information Gain</vt:lpstr>
      <vt:lpstr>Information gain</vt:lpstr>
      <vt:lpstr>PowerPoint Presentation</vt:lpstr>
      <vt:lpstr>Apply ID3 Algorithm and Construct the decision tree</vt:lpstr>
      <vt:lpstr>PowerPoint Presentation</vt:lpstr>
      <vt:lpstr>Information gain</vt:lpstr>
      <vt:lpstr>PowerPoint Presentation</vt:lpstr>
      <vt:lpstr>Information gain for outlook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Apply ID3 algorithm to solve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Regression Tree</vt:lpstr>
      <vt:lpstr>  Classification and Regression Trees (CART)  </vt:lpstr>
      <vt:lpstr>Algorithm: Regression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Youtube link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–ID3</dc:title>
  <dc:creator>Kayarvizhy N</dc:creator>
  <cp:lastModifiedBy>admin</cp:lastModifiedBy>
  <cp:revision>36</cp:revision>
  <cp:lastPrinted>2025-03-17T15:01:57Z</cp:lastPrinted>
  <dcterms:modified xsi:type="dcterms:W3CDTF">2026-02-23T10:42:22Z</dcterms:modified>
</cp:coreProperties>
</file>