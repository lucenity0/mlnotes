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7"/>
  </p:notesMasterIdLst>
  <p:sldIdLst>
    <p:sldId id="256" r:id="rId3"/>
    <p:sldId id="257" r:id="rId4"/>
    <p:sldId id="388" r:id="rId5"/>
    <p:sldId id="389" r:id="rId6"/>
    <p:sldId id="387" r:id="rId7"/>
    <p:sldId id="258" r:id="rId8"/>
    <p:sldId id="376" r:id="rId9"/>
    <p:sldId id="378" r:id="rId10"/>
    <p:sldId id="379" r:id="rId11"/>
    <p:sldId id="382" r:id="rId12"/>
    <p:sldId id="383" r:id="rId13"/>
    <p:sldId id="384" r:id="rId14"/>
    <p:sldId id="385" r:id="rId15"/>
    <p:sldId id="262" r:id="rId16"/>
    <p:sldId id="386" r:id="rId17"/>
    <p:sldId id="263" r:id="rId18"/>
    <p:sldId id="390" r:id="rId19"/>
    <p:sldId id="392" r:id="rId20"/>
    <p:sldId id="381" r:id="rId21"/>
    <p:sldId id="372" r:id="rId22"/>
    <p:sldId id="374" r:id="rId23"/>
    <p:sldId id="367" r:id="rId24"/>
    <p:sldId id="391" r:id="rId25"/>
    <p:sldId id="393" r:id="rId26"/>
    <p:sldId id="394" r:id="rId27"/>
    <p:sldId id="395" r:id="rId28"/>
    <p:sldId id="396" r:id="rId29"/>
    <p:sldId id="402" r:id="rId30"/>
    <p:sldId id="405" r:id="rId31"/>
    <p:sldId id="409" r:id="rId32"/>
    <p:sldId id="414" r:id="rId33"/>
    <p:sldId id="415" r:id="rId34"/>
    <p:sldId id="416" r:id="rId35"/>
    <p:sldId id="418" r:id="rId36"/>
    <p:sldId id="417" r:id="rId37"/>
    <p:sldId id="410" r:id="rId38"/>
    <p:sldId id="420" r:id="rId39"/>
    <p:sldId id="421" r:id="rId40"/>
    <p:sldId id="408" r:id="rId41"/>
    <p:sldId id="407" r:id="rId42"/>
    <p:sldId id="411" r:id="rId43"/>
    <p:sldId id="412" r:id="rId44"/>
    <p:sldId id="413" r:id="rId45"/>
    <p:sldId id="419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4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A634A-4A11-4544-8080-F21BBE973771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0327E-EB9C-46A7-AC8E-7D077AEEC4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80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c7872d41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c7872d41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3146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sigmoid function produces an </a:t>
            </a:r>
            <a:r>
              <a:rPr lang="en-US" b="1" dirty="0"/>
              <a:t>S-shaped curve</a:t>
            </a:r>
            <a:r>
              <a:rPr lang="en-US" dirty="0"/>
              <a:t> (also called a logistic curve). It smoothly transitions from 0 to 1, making it useful for modeling probabilities.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0327E-EB9C-46A7-AC8E-7D077AEEC43F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023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95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217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84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08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8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183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49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5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659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51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012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760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8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73FD-CBED-4983-A54C-3A5147CBBB7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049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C8E020-FAA6-E21A-446B-FB33B5D310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93A211-307C-8AFE-8146-EA9C9D1594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3F0A34-5845-CFAF-15C6-9BDF9038F0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ACF057-CE67-4FF2-8181-F1445C2702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129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8CA368B-DC85-A41E-3A4F-186B44F5E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B0CB0A-C764-B970-21DE-00276C239F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F9D03E-5C0C-5C45-AE46-F115DEFD9D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604B89-37A0-497B-8995-52779F7A6F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2027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B51579-5A3C-329B-31EE-A62F2A4763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31A8C0-0DD9-7D45-DB96-F106C7CA29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0198E0-C83B-6B56-1B14-AD9CD61881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0AE0FC-632E-402A-A72D-4AA24DD85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2864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8FE2A4-BEA0-3B0E-E55F-DE25A3D6BE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E0B2F7-3906-669F-AA9B-53F5F254C1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0125D1-3A94-E120-3E21-935AF92F4F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9C4A5D-36CB-4395-B427-F4D987A8CF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404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3542F7C-366C-BAA0-D003-D250757836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D5556AB-73D5-99D5-8EE1-7857CCCDC4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CD7092-2602-191F-BFF4-87BDAE0478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0EF726-FCA5-4B50-BB77-939947E17D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10559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FE05226-1780-C083-1994-264142CBEB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C81057-1018-AF9E-5819-123E4BDED7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48E548F-7B0B-F9E2-7E42-81B5D2037E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22DB41-E74F-4DA6-A6F2-425C65D75C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4509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4EFFA89-CB94-6D7D-A720-4F70718215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D94BC3E-EC3D-B6C8-596F-25EAEBBA78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EA577E0-A749-1E5C-4F91-469FC8645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BF8C60-8DEC-4A8B-83CE-45D1EBC284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8078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7F8E47-65B4-33D8-61FB-FFC427C623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1AC26D-BB55-358E-011C-B52F08E3A3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4808-595F-06E5-69B7-FAAC4172F5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C49DFC-B432-4AE5-9208-2B98BCD2BF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8000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8E6D3C-A2D7-3E92-2BCD-A91EB5B961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19C32C-8FF3-FA40-248F-80C689FBA2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8FF62-D152-A8D0-CC05-8E3DDED918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64B6E0-B1F0-4965-91A0-1CB0537329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94312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17743A-AABB-9FBA-188F-C40E973AD1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EBC700-8DCF-3C27-7E62-C486CF0581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BEB11B-0333-B376-EBD8-4D110B8BF4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503989-103A-479B-8810-3032AF9D89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7937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E12EB9-9AEC-6D47-EF35-FD4EAA43B2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A9A6CD-C707-C956-EE75-0879BA0DDE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E64C538-70A5-B89A-8A26-81C3F80392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B26D35-F72F-4158-9761-6FBC76FC0F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594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E7657-07FA-484F-8E0F-6FF890A8193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6AF7E-C126-43FC-B472-A647CF2728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02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6087109-7D48-FC3E-EC13-F355BB751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AEBA5840-DFB7-52C7-1B38-5DF06A5235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33F1434-F6EF-FA2B-AF09-16D591C90F2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562BCF1-ED22-B5BA-AA62-CD5F74DCF6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007F093-4F51-6EF0-E0A6-7949093109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6D41D3-451A-490F-A2B4-38FF8B7BC9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755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6.pn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7.xml"/><Relationship Id="rId7" Type="http://schemas.openxmlformats.org/officeDocument/2006/relationships/image" Target="../media/image120.png"/><Relationship Id="rId12" Type="http://schemas.openxmlformats.org/officeDocument/2006/relationships/image" Target="../media/image27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11" Type="http://schemas.openxmlformats.org/officeDocument/2006/relationships/image" Target="../media/image30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9.png"/><Relationship Id="rId4" Type="http://schemas.openxmlformats.org/officeDocument/2006/relationships/tags" Target="../tags/tag8.xml"/><Relationship Id="rId9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7.png"/><Relationship Id="rId3" Type="http://schemas.openxmlformats.org/officeDocument/2006/relationships/tags" Target="../tags/tag11.xml"/><Relationship Id="rId7" Type="http://schemas.openxmlformats.org/officeDocument/2006/relationships/image" Target="../media/image170.png"/><Relationship Id="rId12" Type="http://schemas.openxmlformats.org/officeDocument/2006/relationships/image" Target="../media/image34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11" Type="http://schemas.openxmlformats.org/officeDocument/2006/relationships/image" Target="../media/image33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32.png"/><Relationship Id="rId4" Type="http://schemas.openxmlformats.org/officeDocument/2006/relationships/tags" Target="../tags/tag12.xml"/><Relationship Id="rId9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5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Linear Regression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9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969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Linear Regression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4818"/>
            <a:ext cx="10515600" cy="4993240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Linear regression is a </a:t>
            </a:r>
            <a:r>
              <a:rPr lang="en-US" sz="3200" b="1" dirty="0"/>
              <a:t>supervised learning algorithm </a:t>
            </a:r>
            <a:r>
              <a:rPr lang="en-US" sz="3200" dirty="0"/>
              <a:t>used for modeling the relationship between a dependent variable (</a:t>
            </a:r>
            <a:r>
              <a:rPr lang="en-US" sz="3200" b="1" dirty="0"/>
              <a:t>Y</a:t>
            </a:r>
            <a:r>
              <a:rPr lang="en-US" sz="3200" dirty="0"/>
              <a:t>) and one or more independent variables (</a:t>
            </a:r>
            <a:r>
              <a:rPr lang="en-US" sz="3200" b="1" dirty="0"/>
              <a:t>X</a:t>
            </a:r>
            <a:r>
              <a:rPr lang="en-US" sz="3200" dirty="0"/>
              <a:t>). </a:t>
            </a:r>
          </a:p>
          <a:p>
            <a:pPr marL="0" indent="0" algn="just">
              <a:buNone/>
            </a:pPr>
            <a:endParaRPr lang="en-US" sz="3200" dirty="0"/>
          </a:p>
          <a:p>
            <a:pPr algn="just"/>
            <a:r>
              <a:rPr lang="en-US" sz="3200" dirty="0"/>
              <a:t>It assumes a linear relationship between the variables.</a:t>
            </a:r>
          </a:p>
          <a:p>
            <a:pPr marL="0" indent="0" algn="just">
              <a:buNone/>
            </a:pPr>
            <a:endParaRPr lang="en-US" sz="3200" dirty="0"/>
          </a:p>
          <a:p>
            <a:pPr algn="just"/>
            <a:r>
              <a:rPr lang="en-US" sz="3200" dirty="0"/>
              <a:t>A linear regression is a data plot that </a:t>
            </a:r>
            <a:r>
              <a:rPr lang="en-US" sz="3200" b="1" dirty="0"/>
              <a:t>graphs</a:t>
            </a:r>
            <a:r>
              <a:rPr lang="en-US" sz="3200" dirty="0"/>
              <a:t> the </a:t>
            </a:r>
            <a:r>
              <a:rPr lang="en-US" sz="3200" b="1" dirty="0"/>
              <a:t>linear</a:t>
            </a:r>
            <a:r>
              <a:rPr lang="en-US" sz="3200" dirty="0"/>
              <a:t> </a:t>
            </a:r>
            <a:r>
              <a:rPr lang="en-US" sz="3200" b="1" dirty="0"/>
              <a:t>relationship</a:t>
            </a:r>
            <a:r>
              <a:rPr lang="en-US" sz="3200" dirty="0"/>
              <a:t> </a:t>
            </a:r>
            <a:r>
              <a:rPr lang="en-US" sz="3200" b="1" dirty="0"/>
              <a:t>between an </a:t>
            </a:r>
            <a:r>
              <a:rPr lang="en-US" sz="3200" b="1" dirty="0">
                <a:solidFill>
                  <a:srgbClr val="00B0F0"/>
                </a:solidFill>
              </a:rPr>
              <a:t>independent</a:t>
            </a:r>
            <a:r>
              <a:rPr lang="en-US" sz="3200" b="1" dirty="0"/>
              <a:t> and a </a:t>
            </a:r>
            <a:r>
              <a:rPr lang="en-US" sz="3200" b="1" dirty="0">
                <a:solidFill>
                  <a:srgbClr val="00B0F0"/>
                </a:solidFill>
              </a:rPr>
              <a:t>dependent variable(s). </a:t>
            </a:r>
          </a:p>
          <a:p>
            <a:pPr algn="just"/>
            <a:endParaRPr lang="en-US" sz="3600" dirty="0"/>
          </a:p>
          <a:p>
            <a:pPr algn="just"/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83058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B279-502F-D338-F251-7BB7AFB6D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Linear Regression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B544B-0A44-E17F-501B-66E3D9790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843"/>
            <a:ext cx="10515600" cy="1603375"/>
          </a:xfrm>
        </p:spPr>
        <p:txBody>
          <a:bodyPr/>
          <a:lstStyle/>
          <a:p>
            <a:r>
              <a:rPr lang="en-US" dirty="0"/>
              <a:t>The variable you </a:t>
            </a:r>
            <a:r>
              <a:rPr lang="en-US" b="1" dirty="0">
                <a:solidFill>
                  <a:srgbClr val="980000"/>
                </a:solidFill>
              </a:rPr>
              <a:t>want to</a:t>
            </a:r>
            <a:r>
              <a:rPr lang="en-US" dirty="0"/>
              <a:t> </a:t>
            </a:r>
            <a:r>
              <a:rPr lang="en-US" b="1" dirty="0">
                <a:solidFill>
                  <a:srgbClr val="980000"/>
                </a:solidFill>
              </a:rPr>
              <a:t>predict </a:t>
            </a:r>
            <a:r>
              <a:rPr lang="en-US" dirty="0"/>
              <a:t>is called the </a:t>
            </a:r>
            <a:r>
              <a:rPr lang="en-US" b="1" dirty="0">
                <a:solidFill>
                  <a:srgbClr val="980000"/>
                </a:solidFill>
              </a:rPr>
              <a:t>dependent variable.</a:t>
            </a:r>
            <a:r>
              <a:rPr lang="en-US" dirty="0"/>
              <a:t> The variable you are </a:t>
            </a:r>
            <a:r>
              <a:rPr lang="en-US" b="1" dirty="0">
                <a:solidFill>
                  <a:srgbClr val="0000FF"/>
                </a:solidFill>
              </a:rPr>
              <a:t>using to predict</a:t>
            </a:r>
            <a:r>
              <a:rPr lang="en-US" dirty="0"/>
              <a:t> the</a:t>
            </a:r>
            <a:r>
              <a:rPr lang="en-US" b="1" dirty="0">
                <a:solidFill>
                  <a:srgbClr val="0000FF"/>
                </a:solidFill>
              </a:rPr>
              <a:t> other variable's value</a:t>
            </a:r>
            <a:r>
              <a:rPr lang="en-US" dirty="0"/>
              <a:t> is called the</a:t>
            </a:r>
            <a:r>
              <a:rPr lang="en-US" b="1" dirty="0">
                <a:solidFill>
                  <a:srgbClr val="0000FF"/>
                </a:solidFill>
              </a:rPr>
              <a:t> independent variable</a:t>
            </a:r>
            <a:endParaRPr lang="en-IN" dirty="0"/>
          </a:p>
        </p:txBody>
      </p:sp>
      <p:pic>
        <p:nvPicPr>
          <p:cNvPr id="4" name="Google Shape;224;p6">
            <a:extLst>
              <a:ext uri="{FF2B5EF4-FFF2-40B4-BE49-F238E27FC236}">
                <a16:creationId xmlns:a16="http://schemas.microsoft.com/office/drawing/2014/main" id="{7034ABC3-0C6B-2AF2-F41E-69F4282520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85424" y="3115415"/>
            <a:ext cx="4778440" cy="35838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0507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A68D-67F9-5EF0-CC07-8347D5149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179"/>
            <a:ext cx="10515600" cy="106480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Dependent and Independent Variable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AB8CC-22AC-E0EE-B1AD-9501B2001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102"/>
            <a:ext cx="10802420" cy="71209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dirty="0"/>
              <a:t>Predict a student's </a:t>
            </a:r>
            <a:r>
              <a:rPr lang="en-US" sz="3200" b="1" dirty="0"/>
              <a:t>exam score</a:t>
            </a:r>
            <a:r>
              <a:rPr lang="en-US" sz="3200" dirty="0"/>
              <a:t> based on the </a:t>
            </a:r>
            <a:r>
              <a:rPr lang="en-US" sz="3200" b="1" dirty="0"/>
              <a:t>number of study hours</a:t>
            </a:r>
            <a:r>
              <a:rPr lang="en-US" sz="3200" dirty="0"/>
              <a:t> </a:t>
            </a:r>
            <a:endParaRPr lang="en-IN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B9DA4B-02A9-BA24-DD45-A2B573178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39" y="3588856"/>
            <a:ext cx="8855824" cy="31849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0C38EF-2CC8-AF78-3F9C-FA228A80C0B6}"/>
              </a:ext>
            </a:extLst>
          </p:cNvPr>
          <p:cNvSpPr txBox="1"/>
          <p:nvPr/>
        </p:nvSpPr>
        <p:spPr>
          <a:xfrm>
            <a:off x="2619911" y="2208944"/>
            <a:ext cx="2013735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Independent Variable </a:t>
            </a:r>
            <a:endParaRPr lang="en-IN" sz="2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9D8640-053C-F3A2-3DDB-72E33CF382D0}"/>
              </a:ext>
            </a:extLst>
          </p:cNvPr>
          <p:cNvCxnSpPr>
            <a:stCxn id="12" idx="2"/>
          </p:cNvCxnSpPr>
          <p:nvPr/>
        </p:nvCxnSpPr>
        <p:spPr>
          <a:xfrm flipH="1">
            <a:off x="3626778" y="3039941"/>
            <a:ext cx="1" cy="627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ED2DF55-99F1-9C47-AF68-0D0D6A0E8AF8}"/>
              </a:ext>
            </a:extLst>
          </p:cNvPr>
          <p:cNvSpPr txBox="1"/>
          <p:nvPr/>
        </p:nvSpPr>
        <p:spPr>
          <a:xfrm>
            <a:off x="6551488" y="2170414"/>
            <a:ext cx="2013735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Dependent Variable </a:t>
            </a:r>
            <a:endParaRPr lang="en-IN" sz="2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804131B-492E-76EB-5225-300FF1E819BE}"/>
              </a:ext>
            </a:extLst>
          </p:cNvPr>
          <p:cNvCxnSpPr>
            <a:stCxn id="15" idx="2"/>
          </p:cNvCxnSpPr>
          <p:nvPr/>
        </p:nvCxnSpPr>
        <p:spPr>
          <a:xfrm>
            <a:off x="7558356" y="3001411"/>
            <a:ext cx="0" cy="587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84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4EAD3-4F8D-C779-54BE-F8DA7F4B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Linear Regression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3FC38-6A8C-69BA-9955-23D392363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3200" dirty="0"/>
              <a:t>Regression analysis is the process of </a:t>
            </a:r>
            <a:r>
              <a:rPr lang="en-US" altLang="en-US" sz="3200" dirty="0">
                <a:solidFill>
                  <a:srgbClr val="00B0F0"/>
                </a:solidFill>
              </a:rPr>
              <a:t>estimating a functional relationship between X and Y.</a:t>
            </a:r>
            <a:r>
              <a:rPr lang="en-US" altLang="en-US" sz="3200" dirty="0"/>
              <a:t> A regression equation is often used to predict a value of Y for a given value of X</a:t>
            </a:r>
          </a:p>
          <a:p>
            <a:pPr marL="0" indent="0">
              <a:buNone/>
            </a:pPr>
            <a:endParaRPr lang="en-US" altLang="en-US" sz="3200" dirty="0">
              <a:latin typeface="Arial Unicode MS" pitchFamily="34" charset="-128"/>
            </a:endParaRPr>
          </a:p>
          <a:p>
            <a:pPr>
              <a:buFontTx/>
              <a:buChar char="•"/>
            </a:pPr>
            <a:r>
              <a:rPr lang="en-US" altLang="en-US" sz="3200" dirty="0">
                <a:solidFill>
                  <a:srgbClr val="FF0000"/>
                </a:solidFill>
                <a:latin typeface="Arial Unicode MS" pitchFamily="34" charset="-128"/>
              </a:rPr>
              <a:t> </a:t>
            </a:r>
            <a:r>
              <a:rPr lang="en-US" altLang="en-US" sz="3200" dirty="0">
                <a:solidFill>
                  <a:srgbClr val="FF0000"/>
                </a:solidFill>
              </a:rPr>
              <a:t>Y</a:t>
            </a:r>
            <a:r>
              <a:rPr lang="en-US" altLang="en-US" sz="3200" dirty="0"/>
              <a:t>:  is referred to as the </a:t>
            </a:r>
            <a:r>
              <a:rPr lang="en-US" altLang="en-US" sz="3200" i="1" dirty="0">
                <a:solidFill>
                  <a:srgbClr val="FF0000"/>
                </a:solidFill>
              </a:rPr>
              <a:t>dependent variable</a:t>
            </a:r>
            <a:r>
              <a:rPr lang="en-US" altLang="en-US" sz="3200" dirty="0"/>
              <a:t>, the </a:t>
            </a:r>
            <a:r>
              <a:rPr lang="en-US" altLang="en-US" sz="3200" i="1" dirty="0">
                <a:solidFill>
                  <a:srgbClr val="FF0000"/>
                </a:solidFill>
              </a:rPr>
              <a:t>response variable</a:t>
            </a:r>
            <a:r>
              <a:rPr lang="en-US" altLang="en-US" sz="3200" dirty="0"/>
              <a:t> or the </a:t>
            </a:r>
            <a:r>
              <a:rPr lang="en-US" altLang="en-US" sz="3200" i="1" dirty="0">
                <a:solidFill>
                  <a:srgbClr val="FF0000"/>
                </a:solidFill>
              </a:rPr>
              <a:t>predicted variable</a:t>
            </a:r>
            <a:r>
              <a:rPr lang="en-US" altLang="en-US" sz="3200" dirty="0"/>
              <a:t>.</a:t>
            </a:r>
          </a:p>
          <a:p>
            <a:pPr>
              <a:buFontTx/>
              <a:buChar char="•"/>
            </a:pPr>
            <a:r>
              <a:rPr lang="en-US" altLang="en-US" sz="3200" dirty="0">
                <a:solidFill>
                  <a:srgbClr val="FF0000"/>
                </a:solidFill>
              </a:rPr>
              <a:t> X</a:t>
            </a:r>
            <a:r>
              <a:rPr lang="en-US" altLang="en-US" sz="3200" dirty="0"/>
              <a:t>: is referred to as the </a:t>
            </a:r>
            <a:r>
              <a:rPr lang="en-US" altLang="en-US" sz="3200" i="1" dirty="0">
                <a:solidFill>
                  <a:srgbClr val="FF0000"/>
                </a:solidFill>
              </a:rPr>
              <a:t>independent variable</a:t>
            </a:r>
            <a:r>
              <a:rPr lang="en-US" altLang="en-US" sz="3200" dirty="0"/>
              <a:t>, the </a:t>
            </a:r>
            <a:r>
              <a:rPr lang="en-US" altLang="en-US" sz="3200" i="1" dirty="0">
                <a:solidFill>
                  <a:srgbClr val="FF0000"/>
                </a:solidFill>
              </a:rPr>
              <a:t>explanatory variable</a:t>
            </a:r>
            <a:r>
              <a:rPr lang="en-US" altLang="en-US" sz="3200" dirty="0"/>
              <a:t> or the </a:t>
            </a:r>
            <a:r>
              <a:rPr lang="en-US" altLang="en-US" sz="3200" i="1" dirty="0">
                <a:solidFill>
                  <a:srgbClr val="FF0000"/>
                </a:solidFill>
              </a:rPr>
              <a:t>predictor variable</a:t>
            </a:r>
            <a:r>
              <a:rPr lang="en-US" altLang="en-US" sz="3200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074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Types of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/>
              <a:t>Simple Linear Regression</a:t>
            </a:r>
            <a:r>
              <a:rPr lang="en-US" sz="3600" dirty="0"/>
              <a:t> </a:t>
            </a:r>
          </a:p>
          <a:p>
            <a:pPr marL="0" indent="0" algn="just">
              <a:buNone/>
            </a:pPr>
            <a:r>
              <a:rPr lang="en-US" sz="3600" dirty="0"/>
              <a:t>One independent variable (X) and one dependent variable (Y).</a:t>
            </a:r>
          </a:p>
          <a:p>
            <a:pPr marL="0" indent="0" algn="just">
              <a:buNone/>
            </a:pPr>
            <a:r>
              <a:rPr lang="en-US" sz="3600" b="1" dirty="0"/>
              <a:t>Multiple Linear Regression</a:t>
            </a:r>
          </a:p>
          <a:p>
            <a:pPr marL="0" indent="0" algn="just">
              <a:buNone/>
            </a:pPr>
            <a:r>
              <a:rPr lang="en-US" sz="3600" dirty="0"/>
              <a:t> More than one independent variable (X1, X2, X3, ... </a:t>
            </a:r>
            <a:r>
              <a:rPr lang="en-US" sz="3600" dirty="0" err="1"/>
              <a:t>Xn</a:t>
            </a:r>
            <a:r>
              <a:rPr lang="en-US" sz="3600" dirty="0"/>
              <a:t>).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80770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4447-F169-058B-DE77-0B966EF6F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64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Linear Regression : Single Variable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01392E-9A3D-D5A9-058B-2B1572367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765" y="1345900"/>
            <a:ext cx="6744641" cy="2581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C8AD72-B079-6141-747F-8353DBB8B06F}"/>
              </a:ext>
            </a:extLst>
          </p:cNvPr>
          <p:cNvSpPr txBox="1"/>
          <p:nvPr/>
        </p:nvSpPr>
        <p:spPr>
          <a:xfrm>
            <a:off x="2319734" y="4357938"/>
            <a:ext cx="8272923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/>
              <a:t>Where,</a:t>
            </a:r>
          </a:p>
          <a:p>
            <a:pPr marL="0" indent="0">
              <a:buNone/>
            </a:pPr>
            <a:r>
              <a:rPr lang="en-IN" sz="2400" dirty="0"/>
              <a:t>Y = Dependent variable (Target)</a:t>
            </a:r>
          </a:p>
          <a:p>
            <a:pPr marL="0" indent="0">
              <a:buNone/>
            </a:pPr>
            <a:r>
              <a:rPr lang="en-IN" sz="2400" dirty="0"/>
              <a:t>X = Independent variable (Feature)</a:t>
            </a:r>
          </a:p>
          <a:p>
            <a:pPr marL="0" indent="0">
              <a:buNone/>
            </a:pPr>
            <a:r>
              <a:rPr lang="el-GR" sz="2400" dirty="0"/>
              <a:t>β0​ = </a:t>
            </a:r>
            <a:r>
              <a:rPr lang="en-IN" sz="2400" dirty="0"/>
              <a:t>Intercept (Constant term)</a:t>
            </a:r>
          </a:p>
          <a:p>
            <a:pPr marL="0" indent="0">
              <a:buNone/>
            </a:pPr>
            <a:r>
              <a:rPr lang="el-GR" sz="2400" dirty="0"/>
              <a:t>β1​ = </a:t>
            </a:r>
            <a:r>
              <a:rPr lang="en-IN" sz="2400" dirty="0"/>
              <a:t>Slope (Coefficient)</a:t>
            </a:r>
          </a:p>
          <a:p>
            <a:pPr marL="0" indent="0">
              <a:buNone/>
            </a:pPr>
            <a:r>
              <a:rPr lang="en-US" sz="2400" dirty="0"/>
              <a:t>ε = Error term (Difference between predicted and actual value)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14196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">
            <a:extLst>
              <a:ext uri="{FF2B5EF4-FFF2-40B4-BE49-F238E27FC236}">
                <a16:creationId xmlns:a16="http://schemas.microsoft.com/office/drawing/2014/main" id="{8CED9EB4-921B-92FC-2DC7-132E472F1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Deterministic Component of Model</a:t>
            </a:r>
          </a:p>
        </p:txBody>
      </p:sp>
      <p:sp>
        <p:nvSpPr>
          <p:cNvPr id="4103" name="Rectangle 3">
            <a:extLst>
              <a:ext uri="{FF2B5EF4-FFF2-40B4-BE49-F238E27FC236}">
                <a16:creationId xmlns:a16="http://schemas.microsoft.com/office/drawing/2014/main" id="{61D6D053-0A37-F3EF-7347-B59EFCFB4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  </a:t>
            </a:r>
          </a:p>
        </p:txBody>
      </p:sp>
      <p:sp>
        <p:nvSpPr>
          <p:cNvPr id="4105" name="Slide Number Placeholder 18">
            <a:extLst>
              <a:ext uri="{FF2B5EF4-FFF2-40B4-BE49-F238E27FC236}">
                <a16:creationId xmlns:a16="http://schemas.microsoft.com/office/drawing/2014/main" id="{E43626D5-A494-5420-C2D4-D62F996C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410156F-7EC2-415A-BD3B-A6FBC71F64CC}" type="slidenum">
              <a:rPr lang="en-US" altLang="en-US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90B506-14DF-07EC-7C1C-B58B222B966A}"/>
              </a:ext>
            </a:extLst>
          </p:cNvPr>
          <p:cNvGrpSpPr>
            <a:grpSpLocks/>
          </p:cNvGrpSpPr>
          <p:nvPr/>
        </p:nvGrpSpPr>
        <p:grpSpPr bwMode="auto">
          <a:xfrm>
            <a:off x="2152436" y="2292352"/>
            <a:ext cx="7162800" cy="3833812"/>
            <a:chOff x="240" y="993"/>
            <a:chExt cx="4512" cy="2415"/>
          </a:xfrm>
        </p:grpSpPr>
        <p:graphicFrame>
          <p:nvGraphicFramePr>
            <p:cNvPr id="3" name="Object 5">
              <a:hlinkClick r:id="" action="ppaction://ole?verb=0"/>
              <a:extLst>
                <a:ext uri="{FF2B5EF4-FFF2-40B4-BE49-F238E27FC236}">
                  <a16:creationId xmlns:a16="http://schemas.microsoft.com/office/drawing/2014/main" id="{6843EF85-34E6-33AF-2CA2-E577554D144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13" y="1020"/>
            <a:ext cx="3834" cy="2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name="Chart" r:id="rId3" imgW="6096361" imgH="4077182" progId="MSGraph.Chart.8">
                    <p:embed followColorScheme="full"/>
                  </p:oleObj>
                </mc:Choice>
                <mc:Fallback>
                  <p:oleObj name="Chart" r:id="rId3" imgW="6096361" imgH="4077182" progId="MSGraph.Chart.8">
                    <p:embed followColorScheme="full"/>
                    <p:pic>
                      <p:nvPicPr>
                        <p:cNvPr id="4100" name="Object 5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4319F295-DA3D-0034-D29F-8D99BED0910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3" y="1020"/>
                          <a:ext cx="3834" cy="2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5176760E-7CA1-9E93-9257-ED5D46678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544"/>
              <a:ext cx="194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x</a:t>
              </a:r>
              <a:endParaRPr lang="en-US" altLang="en-US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A5FE25D4-B96E-96FA-7A8A-DA9919E4FA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96" y="1296"/>
              <a:ext cx="384" cy="432"/>
            </a:xfrm>
            <a:prstGeom prst="line">
              <a:avLst/>
            </a:prstGeom>
            <a:noFill/>
            <a:ln w="12700">
              <a:solidFill>
                <a:srgbClr val="33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aphicFrame>
          <p:nvGraphicFramePr>
            <p:cNvPr id="6" name="Object 8">
              <a:hlinkClick r:id="" action="ppaction://ole?verb=0"/>
              <a:extLst>
                <a:ext uri="{FF2B5EF4-FFF2-40B4-BE49-F238E27FC236}">
                  <a16:creationId xmlns:a16="http://schemas.microsoft.com/office/drawing/2014/main" id="{B8A305CA-F0C4-16DD-5D84-FD121DA2EE5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717" y="993"/>
            <a:ext cx="1413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" name="Equation" r:id="rId5" imgW="812520" imgH="253800" progId="Equation.3">
                    <p:embed/>
                  </p:oleObj>
                </mc:Choice>
                <mc:Fallback>
                  <p:oleObj name="Equation" r:id="rId5" imgW="812520" imgH="253800" progId="Equation.3">
                    <p:embed/>
                    <p:pic>
                      <p:nvPicPr>
                        <p:cNvPr id="4101" name="Object 8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C04B1979-8E05-1399-599A-CC70712563E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7" y="993"/>
                          <a:ext cx="1413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2B565754-78F7-0800-7E25-7D95F7FAE2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2560215">
              <a:off x="1584" y="1152"/>
              <a:ext cx="2256" cy="1280"/>
            </a:xfrm>
            <a:prstGeom prst="line">
              <a:avLst/>
            </a:prstGeom>
            <a:noFill/>
            <a:ln w="508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3622E4E4-7BD5-56CC-4328-22EEC8733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728"/>
              <a:ext cx="13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solidFill>
                    <a:schemeClr val="tx2"/>
                  </a:solidFill>
                  <a:latin typeface="Times" panose="02020603050405020304" pitchFamily="18" charset="0"/>
                </a:rPr>
                <a:t>    (slope)=</a:t>
              </a:r>
              <a:r>
                <a:rPr lang="en-US" altLang="en-US" sz="2000">
                  <a:latin typeface="Times New Roman" panose="02020603050405020304" pitchFamily="18" charset="0"/>
                </a:rPr>
                <a:t>∆y</a:t>
              </a:r>
              <a:r>
                <a:rPr lang="en-US" altLang="en-US" sz="2000">
                  <a:latin typeface="Times" panose="02020603050405020304" pitchFamily="18" charset="0"/>
                </a:rPr>
                <a:t>/</a:t>
              </a:r>
              <a:r>
                <a:rPr lang="en-US" altLang="en-US" sz="2000">
                  <a:latin typeface="Times New Roman" panose="02020603050405020304" pitchFamily="18" charset="0"/>
                </a:rPr>
                <a:t>∆x</a:t>
              </a:r>
              <a:endParaRPr lang="en-US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id="{3B058814-F498-7949-8719-FC4556E03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584"/>
              <a:ext cx="805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Times New Roman" panose="02020603050405020304" pitchFamily="18" charset="0"/>
                </a:rPr>
                <a:t>y-intercept</a:t>
              </a:r>
            </a:p>
          </p:txBody>
        </p: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7CBD327C-57C4-AF3B-44CD-5E6F5C692C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872"/>
              <a:ext cx="336" cy="14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Line 14">
              <a:extLst>
                <a:ext uri="{FF2B5EF4-FFF2-40B4-BE49-F238E27FC236}">
                  <a16:creationId xmlns:a16="http://schemas.microsoft.com/office/drawing/2014/main" id="{28C55D9B-4816-1B1C-CE40-3F13D35DF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6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EA1E5F4C-1D10-E1FB-B014-6CC5DBE34F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17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AF5AA63F-B96F-8037-6CBC-6D00E3E8F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929"/>
              <a:ext cx="3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latin typeface="Times New Roman" panose="02020603050405020304" pitchFamily="18" charset="0"/>
                </a:rPr>
                <a:t>∆x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" name="Text Box 17">
              <a:extLst>
                <a:ext uri="{FF2B5EF4-FFF2-40B4-BE49-F238E27FC236}">
                  <a16:creationId xmlns:a16="http://schemas.microsoft.com/office/drawing/2014/main" id="{ABC30D5C-9B72-FD54-5EDB-D623BA935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728"/>
              <a:ext cx="3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latin typeface="Times New Roman" panose="02020603050405020304" pitchFamily="18" charset="0"/>
                </a:rPr>
                <a:t>∆y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68770FD2-3DCF-FDC0-D4D1-448BC9A8C6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128958"/>
              </p:ext>
            </p:extLst>
          </p:nvPr>
        </p:nvGraphicFramePr>
        <p:xfrm>
          <a:off x="3721553" y="3774097"/>
          <a:ext cx="304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7" imgW="304943" imgH="533539" progId="Equation.DSMT4">
                  <p:embed/>
                </p:oleObj>
              </mc:Choice>
              <mc:Fallback>
                <p:oleObj name="Equation" r:id="rId7" imgW="304943" imgH="53353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21553" y="3774097"/>
                        <a:ext cx="304800" cy="533400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5F85947-43F4-92E0-1CCA-1A81C22C2E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382700"/>
              </p:ext>
            </p:extLst>
          </p:nvPr>
        </p:nvGraphicFramePr>
        <p:xfrm>
          <a:off x="7105436" y="3472575"/>
          <a:ext cx="393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9" imgW="393509" imgH="457216" progId="Equation.DSMT4">
                  <p:embed/>
                </p:oleObj>
              </mc:Choice>
              <mc:Fallback>
                <p:oleObj name="Equation" r:id="rId9" imgW="393509" imgH="45721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05436" y="3472575"/>
                        <a:ext cx="3937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7D84-002A-0817-6901-0BBFBA04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4B89-37A0-497B-8995-52779F7A6F1A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AutoShape 2" descr="Simple Linear Regression explanation">
            <a:extLst>
              <a:ext uri="{FF2B5EF4-FFF2-40B4-BE49-F238E27FC236}">
                <a16:creationId xmlns:a16="http://schemas.microsoft.com/office/drawing/2014/main" id="{41061C0C-78AB-4AD4-5C65-1FBFF2AB00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DDCABF-4CE2-E1C1-575F-4FD73427F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64" y="971508"/>
            <a:ext cx="9717924" cy="514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30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8BD3-0D44-CA55-9F2A-2469386A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Single Linear Regression : Problem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559F4-6C12-A0AA-1837-4DC970993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492319"/>
          </a:xfrm>
        </p:spPr>
        <p:txBody>
          <a:bodyPr/>
          <a:lstStyle/>
          <a:p>
            <a:r>
              <a:rPr lang="en-US" dirty="0"/>
              <a:t>Let's us consider an example where the five weeks sales data in (Thousands) is given as below. Apply linear regression technique to predict the 7</a:t>
            </a:r>
            <a:r>
              <a:rPr lang="en-US" baseline="30000" dirty="0"/>
              <a:t>th</a:t>
            </a:r>
            <a:r>
              <a:rPr lang="en-US" dirty="0"/>
              <a:t> and 9</a:t>
            </a:r>
            <a:r>
              <a:rPr lang="en-US" baseline="30000" dirty="0"/>
              <a:t>th</a:t>
            </a:r>
            <a:r>
              <a:rPr lang="en-US" dirty="0"/>
              <a:t> month sales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5AA3A-DB31-B08B-4847-FEB958FB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4B89-37A0-497B-8995-52779F7A6F1A}" type="slidenum">
              <a:rPr lang="en-US" altLang="en-US" smtClean="0"/>
              <a:pPr/>
              <a:t>10</a:t>
            </a:fld>
            <a:endParaRPr lang="en-US" alt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5553AF-1380-3E6E-2D76-640857BD2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30358"/>
              </p:ext>
            </p:extLst>
          </p:nvPr>
        </p:nvGraphicFramePr>
        <p:xfrm>
          <a:off x="1657564" y="3407622"/>
          <a:ext cx="7763838" cy="2743200"/>
        </p:xfrm>
        <a:graphic>
          <a:graphicData uri="http://schemas.openxmlformats.org/drawingml/2006/table">
            <a:tbl>
              <a:tblPr/>
              <a:tblGrid>
                <a:gridCol w="3881919">
                  <a:extLst>
                    <a:ext uri="{9D8B030D-6E8A-4147-A177-3AD203B41FA5}">
                      <a16:colId xmlns:a16="http://schemas.microsoft.com/office/drawing/2014/main" val="2459313454"/>
                    </a:ext>
                  </a:extLst>
                </a:gridCol>
                <a:gridCol w="3881919">
                  <a:extLst>
                    <a:ext uri="{9D8B030D-6E8A-4147-A177-3AD203B41FA5}">
                      <a16:colId xmlns:a16="http://schemas.microsoft.com/office/drawing/2014/main" val="963428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Week (X)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Sales (Y) in Thousands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484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89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8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759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3.2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04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3.8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042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444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0AF92-D1DF-EDAA-DDDF-9E7E0811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4B89-37A0-497B-8995-52779F7A6F1A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71C02C-7ABE-7FDA-067E-92F0081C2C1F}"/>
              </a:ext>
            </a:extLst>
          </p:cNvPr>
          <p:cNvSpPr txBox="1"/>
          <p:nvPr/>
        </p:nvSpPr>
        <p:spPr>
          <a:xfrm>
            <a:off x="264557" y="367196"/>
            <a:ext cx="7564351" cy="523220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Compute Slope (β1)Using Different Formulas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971CF3-029F-D334-91CF-5AEF1C0F8268}"/>
              </a:ext>
            </a:extLst>
          </p:cNvPr>
          <p:cNvSpPr txBox="1"/>
          <p:nvPr/>
        </p:nvSpPr>
        <p:spPr>
          <a:xfrm>
            <a:off x="1004297" y="1315361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1. Using Mean-Based Formula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B653A3-07C2-1E32-9C83-16840BC75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009" y="1777026"/>
            <a:ext cx="2946215" cy="15011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DE2E6D-E61A-2E8C-33A2-21D83B5616F2}"/>
              </a:ext>
            </a:extLst>
          </p:cNvPr>
          <p:cNvSpPr txBox="1"/>
          <p:nvPr/>
        </p:nvSpPr>
        <p:spPr>
          <a:xfrm>
            <a:off x="860459" y="3284266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2. Using OLS Summation Formula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D523F4E-F2FD-4ED3-8EB4-2CAAA792F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07" y="3810385"/>
            <a:ext cx="3777984" cy="138722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6E96C91-0A65-8AD0-E9BE-06899E1D7EBA}"/>
              </a:ext>
            </a:extLst>
          </p:cNvPr>
          <p:cNvSpPr txBox="1"/>
          <p:nvPr/>
        </p:nvSpPr>
        <p:spPr>
          <a:xfrm>
            <a:off x="860459" y="5163894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3. Using Standard Least Squares Formula</a:t>
            </a:r>
            <a:endParaRPr lang="en-IN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7312C4-59D1-13B2-2821-697787DE2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07" y="5690013"/>
            <a:ext cx="2670236" cy="10494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A84C0B5-11CF-FAB0-5AD4-9F5EFE75E94C}"/>
              </a:ext>
            </a:extLst>
          </p:cNvPr>
          <p:cNvSpPr txBox="1"/>
          <p:nvPr/>
        </p:nvSpPr>
        <p:spPr>
          <a:xfrm>
            <a:off x="7828908" y="2527609"/>
            <a:ext cx="3917022" cy="461665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400" dirty="0"/>
              <a:t>Compute Intercept (</a:t>
            </a:r>
            <a:r>
              <a:rPr lang="el-GR" sz="2400" dirty="0"/>
              <a:t>β0​)</a:t>
            </a:r>
            <a:endParaRPr lang="en-IN" sz="2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2BA3B7C-2FD3-C4C4-BE36-89E64654C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600" y="3248360"/>
            <a:ext cx="2415332" cy="80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83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AF38-F4F6-9C48-1E65-1DDA9169D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Compute Slope (β1)Using Mean Based Formula</a:t>
            </a:r>
            <a:endParaRPr lang="en-IN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7413C-A492-646A-0C7A-67F7C229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4B89-37A0-497B-8995-52779F7A6F1A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5174C-C0E9-9555-F0BE-D4D9C50F2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96" y="1613895"/>
            <a:ext cx="10201619" cy="486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53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CE375-8C19-C1E5-77D7-067D3708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4B89-37A0-497B-8995-52779F7A6F1A}" type="slidenum">
              <a:rPr lang="en-US" altLang="en-US" smtClean="0"/>
              <a:pPr/>
              <a:t>13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6D64D-E4E5-0366-7DF5-215F9F475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24" y="0"/>
            <a:ext cx="7573456" cy="36149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3EC75F-D257-5E67-981A-B69F4404E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291" y="583194"/>
            <a:ext cx="3000186" cy="2763612"/>
          </a:xfrm>
          <a:prstGeom prst="rect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922699-5441-49F5-CB49-B4B0D03DB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111" y="3754820"/>
            <a:ext cx="2804366" cy="1865229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785C68-61BC-8EBB-8878-A5FE981A2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725" y="4660023"/>
            <a:ext cx="3858567" cy="960026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8956E5-CCA6-B21A-5348-DA36552083FB}"/>
              </a:ext>
            </a:extLst>
          </p:cNvPr>
          <p:cNvSpPr txBox="1"/>
          <p:nvPr/>
        </p:nvSpPr>
        <p:spPr>
          <a:xfrm>
            <a:off x="1000018" y="3986239"/>
            <a:ext cx="5095982" cy="461665"/>
          </a:xfrm>
          <a:prstGeom prst="rect">
            <a:avLst/>
          </a:prstGeom>
          <a:solidFill>
            <a:schemeClr val="accent5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The Fitted line for above dataset is</a:t>
            </a:r>
            <a:endParaRPr lang="en-IN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5BCDBA-9D6D-24EE-8319-9CFE6E8418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56" y="5862159"/>
            <a:ext cx="11325340" cy="85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91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Finding the Best Fit Line (Ordinary Least Squares Method - OLS)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1915"/>
          </a:xfrm>
        </p:spPr>
        <p:txBody>
          <a:bodyPr>
            <a:normAutofit fontScale="92500"/>
          </a:bodyPr>
          <a:lstStyle/>
          <a:p>
            <a:r>
              <a:rPr lang="en-US" sz="3600" dirty="0"/>
              <a:t>The best fit line minimizes the </a:t>
            </a:r>
            <a:r>
              <a:rPr lang="en-US" sz="3600" b="1" dirty="0"/>
              <a:t>sum of squared errors (SSE)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endParaRPr lang="en-IN" baseline="30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082" y="2372225"/>
            <a:ext cx="6919258" cy="41206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8505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1A392D-79A6-1BA4-1F9B-BEB1E6C94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2" y="133563"/>
            <a:ext cx="7249494" cy="645217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B9393A-F6F1-E962-BF5E-FE8F178AD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837" y="672573"/>
            <a:ext cx="2804366" cy="1865229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A8C66-99F8-AA47-F31C-DAC083E3A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526" y="3482439"/>
            <a:ext cx="4716474" cy="153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162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3860" y="301406"/>
            <a:ext cx="1122525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company wants to predict sales based on advertising expenses. Given the dataset</a:t>
            </a:r>
            <a:endParaRPr lang="en-IN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C6754F-2D00-0A5C-1B16-5119BC61F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0740"/>
              </p:ext>
            </p:extLst>
          </p:nvPr>
        </p:nvGraphicFramePr>
        <p:xfrm>
          <a:off x="2494338" y="1644339"/>
          <a:ext cx="603321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156">
                  <a:extLst>
                    <a:ext uri="{9D8B030D-6E8A-4147-A177-3AD203B41FA5}">
                      <a16:colId xmlns:a16="http://schemas.microsoft.com/office/drawing/2014/main" val="1915720336"/>
                    </a:ext>
                  </a:extLst>
                </a:gridCol>
                <a:gridCol w="2363058">
                  <a:extLst>
                    <a:ext uri="{9D8B030D-6E8A-4147-A177-3AD203B41FA5}">
                      <a16:colId xmlns:a16="http://schemas.microsoft.com/office/drawing/2014/main" val="3412018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Advertisement Spend (X)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Sales (Y)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361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314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30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284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32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441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35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319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30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40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11587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453C081-A4CF-CBBD-114E-7DD421504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547" y="5059383"/>
            <a:ext cx="2820991" cy="90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3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134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Error Metrics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3767"/>
            <a:ext cx="10515600" cy="1351129"/>
          </a:xfrm>
          <a:solidFill>
            <a:schemeClr val="bg1"/>
          </a:solidFill>
        </p:spPr>
        <p:txBody>
          <a:bodyPr/>
          <a:lstStyle/>
          <a:p>
            <a:pPr algn="just"/>
            <a:r>
              <a:rPr lang="en-US" dirty="0"/>
              <a:t>The following key metrics help measure its accuracy and performance. The given below error metrics measure how far the predicted values are from the actual values.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148071" y="2549793"/>
            <a:ext cx="34971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/>
              <a:t>Mean Squared Error (MSE</a:t>
            </a:r>
            <a:r>
              <a:rPr lang="en-IN" dirty="0"/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082" y="3196355"/>
            <a:ext cx="2317882" cy="7861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148071" y="4359407"/>
            <a:ext cx="942894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Measures the average squared difference between actual and predicted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Lower values indicate a better fit.</a:t>
            </a:r>
          </a:p>
        </p:txBody>
      </p:sp>
    </p:spTree>
    <p:extLst>
      <p:ext uri="{BB962C8B-B14F-4D97-AF65-F5344CB8AC3E}">
        <p14:creationId xmlns:p14="http://schemas.microsoft.com/office/powerpoint/2010/main" val="1017022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9874" y="139158"/>
            <a:ext cx="44167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Root Mean Squared Error (RMSE</a:t>
            </a:r>
            <a:r>
              <a:rPr lang="en-US" sz="2000" b="1" dirty="0"/>
              <a:t>)</a:t>
            </a:r>
            <a:endParaRPr lang="en-IN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79" y="648455"/>
            <a:ext cx="2136851" cy="5459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016079" y="1429368"/>
            <a:ext cx="9915777" cy="70788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square root of MSE, making it easier to interpret since it has the same units as the target variable.</a:t>
            </a:r>
            <a:endParaRPr lang="en-IN" sz="2000" dirty="0"/>
          </a:p>
        </p:txBody>
      </p:sp>
      <p:sp>
        <p:nvSpPr>
          <p:cNvPr id="8" name="Rectangle 7"/>
          <p:cNvSpPr/>
          <p:nvPr/>
        </p:nvSpPr>
        <p:spPr>
          <a:xfrm>
            <a:off x="839874" y="2153514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b="1" dirty="0"/>
              <a:t>Mean Absolute Error (MAE)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44" y="2759220"/>
            <a:ext cx="2136326" cy="72038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755174" y="3767690"/>
            <a:ext cx="90029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Measures the average absolute difference between actual and predicted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Less sensitive to outliers compared to MSE.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9874" y="4653058"/>
            <a:ext cx="53604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Mean Absolute Percentage Error (MAPE)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44" y="5219361"/>
            <a:ext cx="2449825" cy="764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839874" y="608880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Expresses the error as a percentage of actual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when the target variable is strictly positive.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8863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c7872d419a_0_0"/>
          <p:cNvSpPr txBox="1">
            <a:spLocks noGrp="1"/>
          </p:cNvSpPr>
          <p:nvPr>
            <p:ph type="title"/>
          </p:nvPr>
        </p:nvSpPr>
        <p:spPr>
          <a:xfrm>
            <a:off x="1369386" y="259989"/>
            <a:ext cx="9603300" cy="104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0000"/>
                </a:solidFill>
              </a:rPr>
              <a:t>Uses of Regression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64" name="Google Shape;264;g2c7872d419a_0_0"/>
          <p:cNvSpPr txBox="1">
            <a:spLocks noGrp="1"/>
          </p:cNvSpPr>
          <p:nvPr>
            <p:ph type="body" idx="1"/>
          </p:nvPr>
        </p:nvSpPr>
        <p:spPr>
          <a:xfrm>
            <a:off x="924674" y="1309088"/>
            <a:ext cx="10130205" cy="510198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2550" lvl="0" indent="0" algn="l" rtl="0">
              <a:spcBef>
                <a:spcPts val="1000"/>
              </a:spcBef>
              <a:spcAft>
                <a:spcPts val="0"/>
              </a:spcAft>
              <a:buSzPts val="2300"/>
              <a:buNone/>
            </a:pPr>
            <a:r>
              <a:rPr lang="en-US" sz="3200" b="1" dirty="0"/>
              <a:t>Determining the strength of predictors</a:t>
            </a:r>
            <a:endParaRPr sz="3200" b="1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3200" dirty="0"/>
              <a:t>Relationship between Strength of sales and marketing spending</a:t>
            </a:r>
            <a:endParaRPr sz="32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3200" dirty="0"/>
              <a:t>Relationship between age and income</a:t>
            </a:r>
          </a:p>
          <a:p>
            <a:pPr marL="539750" lvl="1" indent="0" algn="l" rtl="0">
              <a:spcBef>
                <a:spcPts val="0"/>
              </a:spcBef>
              <a:spcAft>
                <a:spcPts val="0"/>
              </a:spcAft>
              <a:buSzPts val="2300"/>
              <a:buNone/>
            </a:pPr>
            <a:endParaRPr sz="3200" dirty="0"/>
          </a:p>
          <a:p>
            <a:pPr marL="82550" lvl="0" indent="0" algn="l" rtl="0"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3200" b="1" dirty="0"/>
              <a:t>Forecasting an effect</a:t>
            </a:r>
            <a:endParaRPr sz="3200" b="1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3200" dirty="0"/>
              <a:t>How </a:t>
            </a:r>
            <a:r>
              <a:rPr lang="en-US" sz="3200"/>
              <a:t>much additional </a:t>
            </a:r>
            <a:r>
              <a:rPr lang="en-US" sz="3200" dirty="0"/>
              <a:t>sale income will I get for each Thousands of Rupee spent on marketing</a:t>
            </a:r>
          </a:p>
          <a:p>
            <a:pPr marL="539750" lvl="1" indent="0" algn="l" rtl="0">
              <a:spcBef>
                <a:spcPts val="0"/>
              </a:spcBef>
              <a:spcAft>
                <a:spcPts val="0"/>
              </a:spcAft>
              <a:buSzPts val="2300"/>
              <a:buNone/>
            </a:pPr>
            <a:endParaRPr sz="3200" dirty="0"/>
          </a:p>
          <a:p>
            <a:pPr marL="82550" lvl="0" indent="0" algn="l" rtl="0"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3200" b="1" dirty="0"/>
              <a:t>Trend Forecasting /Point Estimates</a:t>
            </a:r>
            <a:endParaRPr sz="3200" b="1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3200" dirty="0"/>
              <a:t>What will be the price of GOLD in next six months</a:t>
            </a:r>
            <a:endParaRPr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3359696" y="274638"/>
            <a:ext cx="6851104" cy="1143000"/>
          </a:xfrm>
        </p:spPr>
        <p:txBody>
          <a:bodyPr>
            <a:noAutofit/>
          </a:bodyPr>
          <a:lstStyle/>
          <a:p>
            <a:pPr algn="l"/>
            <a:r>
              <a:rPr lang="en-GB" sz="2000" dirty="0"/>
              <a:t>Which of the following data are likely to be most appropriately modelled using a linear regression model?</a:t>
            </a:r>
          </a:p>
        </p:txBody>
      </p:sp>
      <p:pic>
        <p:nvPicPr>
          <p:cNvPr id="5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658" y="404664"/>
            <a:ext cx="1462316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PAnswers" hidden="1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981200" y="2348881"/>
            <a:ext cx="4114800" cy="3777283"/>
          </a:xfrm>
        </p:spPr>
        <p:txBody>
          <a:bodyPr>
            <a:noAutofit/>
          </a:bodyPr>
          <a:lstStyle/>
          <a:p>
            <a:pPr marL="514350" indent="-514350">
              <a:buFont typeface="Arial" pitchFamily="34" charset="0"/>
              <a:buAutoNum type="arabicPeriod"/>
            </a:pPr>
            <a:r>
              <a:rPr lang="en-GB" dirty="0"/>
              <a:t>Correct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GB" dirty="0"/>
              <a:t>Errors change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GB" dirty="0"/>
              <a:t>Not straight</a:t>
            </a:r>
          </a:p>
        </p:txBody>
      </p:sp>
      <p:grpSp>
        <p:nvGrpSpPr>
          <p:cNvPr id="59" name="Picture Choice 1"/>
          <p:cNvGrpSpPr/>
          <p:nvPr/>
        </p:nvGrpSpPr>
        <p:grpSpPr>
          <a:xfrm>
            <a:off x="1782988" y="2069169"/>
            <a:ext cx="1960612" cy="2210544"/>
            <a:chOff x="1672013" y="812180"/>
            <a:chExt cx="1960612" cy="2210544"/>
          </a:xfrm>
        </p:grpSpPr>
        <p:grpSp>
          <p:nvGrpSpPr>
            <p:cNvPr id="40" name="PSPic1"/>
            <p:cNvGrpSpPr/>
            <p:nvPr/>
          </p:nvGrpSpPr>
          <p:grpSpPr>
            <a:xfrm>
              <a:off x="1862513" y="1193180"/>
              <a:ext cx="1770112" cy="1829544"/>
              <a:chOff x="5004048" y="827853"/>
              <a:chExt cx="3888432" cy="2816696"/>
            </a:xfrm>
          </p:grpSpPr>
          <p:grpSp>
            <p:nvGrpSpPr>
              <p:cNvPr id="41" name="Group 40"/>
              <p:cNvGrpSpPr/>
              <p:nvPr/>
            </p:nvGrpSpPr>
            <p:grpSpPr>
              <a:xfrm>
                <a:off x="5004048" y="827853"/>
                <a:ext cx="3888432" cy="2816696"/>
                <a:chOff x="2555776" y="1764432"/>
                <a:chExt cx="3888432" cy="2816696"/>
              </a:xfrm>
            </p:grpSpPr>
            <p:cxnSp>
              <p:nvCxnSpPr>
                <p:cNvPr id="55" name="Straight Arrow Connector 54"/>
                <p:cNvCxnSpPr/>
                <p:nvPr/>
              </p:nvCxnSpPr>
              <p:spPr>
                <a:xfrm>
                  <a:off x="2555776" y="4581128"/>
                  <a:ext cx="3888432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/>
                <p:cNvCxnSpPr/>
                <p:nvPr/>
              </p:nvCxnSpPr>
              <p:spPr>
                <a:xfrm flipV="1">
                  <a:off x="2555776" y="1764432"/>
                  <a:ext cx="0" cy="281669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Oval 41"/>
              <p:cNvSpPr/>
              <p:nvPr/>
            </p:nvSpPr>
            <p:spPr>
              <a:xfrm>
                <a:off x="5868144" y="1412301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6162126" y="1249793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6207190" y="1815005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6702152" y="1649723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6630144" y="2360271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6878014" y="2109526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7127709" y="2541001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7387209" y="2236201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8172400" y="3446037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7508540" y="2667505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7472536" y="3081230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7793326" y="3045226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8100392" y="3021020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7" name="PSText1"/>
            <p:cNvSpPr txBox="1"/>
            <p:nvPr/>
          </p:nvSpPr>
          <p:spPr>
            <a:xfrm>
              <a:off x="1862513" y="812180"/>
              <a:ext cx="635000" cy="3810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r>
                <a:rPr lang="en-GB" sz="2400"/>
                <a:t>1.</a:t>
              </a:r>
            </a:p>
          </p:txBody>
        </p:sp>
        <p:sp>
          <p:nvSpPr>
            <p:cNvPr id="58" name="PSArrow1"/>
            <p:cNvSpPr/>
            <p:nvPr/>
          </p:nvSpPr>
          <p:spPr>
            <a:xfrm>
              <a:off x="1672013" y="1066180"/>
              <a:ext cx="190500" cy="50800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Picture Choice 2"/>
          <p:cNvGrpSpPr/>
          <p:nvPr/>
        </p:nvGrpSpPr>
        <p:grpSpPr>
          <a:xfrm>
            <a:off x="3914220" y="2100477"/>
            <a:ext cx="1960612" cy="2210544"/>
            <a:chOff x="1480474" y="2618959"/>
            <a:chExt cx="1960612" cy="2210544"/>
          </a:xfrm>
        </p:grpSpPr>
        <p:grpSp>
          <p:nvGrpSpPr>
            <p:cNvPr id="6" name="PSPic2"/>
            <p:cNvGrpSpPr/>
            <p:nvPr/>
          </p:nvGrpSpPr>
          <p:grpSpPr>
            <a:xfrm>
              <a:off x="1670974" y="2999959"/>
              <a:ext cx="1770112" cy="1829544"/>
              <a:chOff x="583399" y="665345"/>
              <a:chExt cx="3888432" cy="2816696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583399" y="665345"/>
                <a:ext cx="3888432" cy="2816696"/>
                <a:chOff x="2555776" y="1764432"/>
                <a:chExt cx="3888432" cy="2816696"/>
              </a:xfrm>
            </p:grpSpPr>
            <p:cxnSp>
              <p:nvCxnSpPr>
                <p:cNvPr id="21" name="Straight Arrow Connector 20"/>
                <p:cNvCxnSpPr/>
                <p:nvPr/>
              </p:nvCxnSpPr>
              <p:spPr>
                <a:xfrm>
                  <a:off x="2555776" y="4581128"/>
                  <a:ext cx="3888432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/>
                <p:cNvCxnSpPr/>
                <p:nvPr/>
              </p:nvCxnSpPr>
              <p:spPr>
                <a:xfrm flipV="1">
                  <a:off x="2555776" y="1764432"/>
                  <a:ext cx="0" cy="281669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Oval 7"/>
              <p:cNvSpPr/>
              <p:nvPr/>
            </p:nvSpPr>
            <p:spPr>
              <a:xfrm>
                <a:off x="1447495" y="1249793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1669469" y="1356216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1871733" y="1577715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2173491" y="1742997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2284545" y="2037518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2529373" y="2164193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2948371" y="2223386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748845" y="2432989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671056" y="2810710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087891" y="2504997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3125653" y="3170783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3372677" y="2882718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3796442" y="2808714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0" name="PSText2"/>
            <p:cNvSpPr txBox="1"/>
            <p:nvPr/>
          </p:nvSpPr>
          <p:spPr>
            <a:xfrm>
              <a:off x="1670974" y="2618959"/>
              <a:ext cx="635000" cy="3810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r>
                <a:rPr lang="en-GB" sz="2400"/>
                <a:t>2.</a:t>
              </a:r>
            </a:p>
          </p:txBody>
        </p:sp>
        <p:sp>
          <p:nvSpPr>
            <p:cNvPr id="61" name="PSArrow2"/>
            <p:cNvSpPr/>
            <p:nvPr/>
          </p:nvSpPr>
          <p:spPr>
            <a:xfrm>
              <a:off x="1480474" y="2872959"/>
              <a:ext cx="190500" cy="50800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65" name="Picture Choice 3"/>
          <p:cNvGrpSpPr/>
          <p:nvPr/>
        </p:nvGrpSpPr>
        <p:grpSpPr>
          <a:xfrm>
            <a:off x="2730590" y="4399441"/>
            <a:ext cx="1960612" cy="2210544"/>
            <a:chOff x="1320640" y="4448503"/>
            <a:chExt cx="1960612" cy="2210544"/>
          </a:xfrm>
        </p:grpSpPr>
        <p:grpSp>
          <p:nvGrpSpPr>
            <p:cNvPr id="23" name="PSPic3"/>
            <p:cNvGrpSpPr/>
            <p:nvPr/>
          </p:nvGrpSpPr>
          <p:grpSpPr>
            <a:xfrm>
              <a:off x="1511140" y="4829503"/>
              <a:ext cx="1770112" cy="1829544"/>
              <a:chOff x="716698" y="3966420"/>
              <a:chExt cx="3888432" cy="2816696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716698" y="3966420"/>
                <a:ext cx="3888432" cy="2816696"/>
                <a:chOff x="2555776" y="1764432"/>
                <a:chExt cx="3888432" cy="2816696"/>
              </a:xfrm>
            </p:grpSpPr>
            <p:cxnSp>
              <p:nvCxnSpPr>
                <p:cNvPr id="38" name="Straight Arrow Connector 37"/>
                <p:cNvCxnSpPr/>
                <p:nvPr/>
              </p:nvCxnSpPr>
              <p:spPr>
                <a:xfrm>
                  <a:off x="2555776" y="4581128"/>
                  <a:ext cx="3888432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/>
                <p:cNvCxnSpPr/>
                <p:nvPr/>
              </p:nvCxnSpPr>
              <p:spPr>
                <a:xfrm flipV="1">
                  <a:off x="2555776" y="1764432"/>
                  <a:ext cx="0" cy="281669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Oval 24"/>
              <p:cNvSpPr/>
              <p:nvPr/>
            </p:nvSpPr>
            <p:spPr>
              <a:xfrm>
                <a:off x="1821495" y="4217674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1946173" y="4511480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2200975" y="5080076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2101483" y="4846971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2453104" y="5338764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2662672" y="5465268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2876363" y="5564047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3185186" y="5637850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3645192" y="5754108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3433968" y="5709858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4471831" y="5899744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3885050" y="5826116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4139952" y="5863740"/>
                <a:ext cx="72008" cy="7200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3" name="PSText3"/>
            <p:cNvSpPr txBox="1"/>
            <p:nvPr/>
          </p:nvSpPr>
          <p:spPr>
            <a:xfrm>
              <a:off x="1511140" y="4448503"/>
              <a:ext cx="635000" cy="3810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r>
                <a:rPr lang="en-GB" sz="2400"/>
                <a:t>3.</a:t>
              </a:r>
            </a:p>
          </p:txBody>
        </p:sp>
        <p:sp>
          <p:nvSpPr>
            <p:cNvPr id="64" name="PSArrow3"/>
            <p:cNvSpPr/>
            <p:nvPr/>
          </p:nvSpPr>
          <p:spPr>
            <a:xfrm>
              <a:off x="1320640" y="4702503"/>
              <a:ext cx="190500" cy="50800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70" name="CorShape1"/>
          <p:cNvSpPr/>
          <p:nvPr>
            <p:custDataLst>
              <p:tags r:id="rId3"/>
            </p:custDataLst>
          </p:nvPr>
        </p:nvSpPr>
        <p:spPr>
          <a:xfrm rot="10800000">
            <a:off x="3146950" y="2208869"/>
            <a:ext cx="482600" cy="482600"/>
          </a:xfrm>
          <a:custGeom>
            <a:avLst/>
            <a:gdLst/>
            <a:ahLst/>
            <a:cxnLst/>
            <a:rect l="0" t="0" r="0" b="0"/>
            <a:pathLst>
              <a:path w="1524001" h="1752601">
                <a:moveTo>
                  <a:pt x="1295400" y="1066800"/>
                </a:moveTo>
                <a:lnTo>
                  <a:pt x="1524000" y="533400"/>
                </a:lnTo>
                <a:lnTo>
                  <a:pt x="914400" y="0"/>
                </a:lnTo>
                <a:lnTo>
                  <a:pt x="0" y="1447800"/>
                </a:lnTo>
                <a:lnTo>
                  <a:pt x="0" y="1752600"/>
                </a:lnTo>
                <a:lnTo>
                  <a:pt x="990600" y="533400"/>
                </a:lnTo>
                <a:close/>
              </a:path>
            </a:pathLst>
          </a:custGeom>
          <a:solidFill>
            <a:srgbClr val="00C800"/>
          </a:solidFill>
          <a:ln w="25400" cap="flat" cmpd="sng" algn="ctr">
            <a:noFill/>
            <a:prstDash val="solid"/>
          </a:ln>
          <a:effectLst>
            <a:prstShdw prst="shdw14" dist="35921" dir="2700000">
              <a:scrgbClr r="0" g="0" b="0">
                <a:alpha val="50000"/>
              </a:scrgbClr>
            </a:prst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000000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4" name="CountdownNew" hidden="1"/>
          <p:cNvGrpSpPr/>
          <p:nvPr>
            <p:custDataLst>
              <p:tags r:id="rId4"/>
            </p:custDataLst>
          </p:nvPr>
        </p:nvGrpSpPr>
        <p:grpSpPr>
          <a:xfrm>
            <a:off x="9398000" y="5842000"/>
            <a:ext cx="1588" cy="1588"/>
            <a:chOff x="8318500" y="6032500"/>
            <a:chExt cx="1270000" cy="1016000"/>
          </a:xfrm>
        </p:grpSpPr>
        <p:pic>
          <p:nvPicPr>
            <p:cNvPr id="73" name="CDShape" hidden="1"/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8500" y="6032500"/>
              <a:ext cx="1270000" cy="1016000"/>
            </a:xfrm>
            <a:prstGeom prst="rect">
              <a:avLst/>
            </a:prstGeom>
          </p:spPr>
        </p:pic>
        <p:sp>
          <p:nvSpPr>
            <p:cNvPr id="72" name="CDTransText" hidden="1"/>
            <p:cNvSpPr txBox="1"/>
            <p:nvPr/>
          </p:nvSpPr>
          <p:spPr>
            <a:xfrm>
              <a:off x="8318500" y="6604000"/>
              <a:ext cx="1270000" cy="4445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pPr algn="ctr"/>
              <a:endParaRPr lang="en-GB" sz="900" b="1"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ahoma"/>
              </a:endParaRPr>
            </a:p>
          </p:txBody>
        </p:sp>
        <p:sp>
          <p:nvSpPr>
            <p:cNvPr id="71" name="CDText" hidden="1"/>
            <p:cNvSpPr txBox="1"/>
            <p:nvPr/>
          </p:nvSpPr>
          <p:spPr>
            <a:xfrm>
              <a:off x="8356600" y="6032500"/>
              <a:ext cx="1206500" cy="508000"/>
            </a:xfrm>
            <a:prstGeom prst="rect">
              <a:avLst/>
            </a:prstGeom>
            <a:noFill/>
          </p:spPr>
          <p:txBody>
            <a:bodyPr vert="horz" rtlCol="0" anchor="ctr" anchorCtr="1">
              <a:noAutofit/>
            </a:bodyPr>
            <a:lstStyle/>
            <a:p>
              <a:pPr algn="ctr"/>
              <a:endParaRPr lang="en-GB" sz="2400" b="1">
                <a:solidFill>
                  <a:srgbClr val="000000"/>
                </a:solidFill>
                <a:latin typeface="Tahoma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0460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repeatDur="0" restart="neve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repeatDur="0" restart="neve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PQuestion"/>
              <p:cNvSpPr>
                <a:spLocks noGrp="1"/>
              </p:cNvSpPr>
              <p:nvPr>
                <p:ph type="title"/>
              </p:nvPr>
            </p:nvSpPr>
            <p:spPr>
              <a:xfrm>
                <a:off x="3359696" y="424680"/>
                <a:ext cx="6336704" cy="916088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GB" sz="1800" dirty="0"/>
                  <a:t>Which of the following plots would have the greatest residual sum of squares [variance of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/>
                      </a:rPr>
                      <m:t>𝑦</m:t>
                    </m:r>
                  </m:oMath>
                </a14:m>
                <a:r>
                  <a:rPr lang="en-GB" sz="1800" dirty="0"/>
                  <a:t> about the fitted line]? </a:t>
                </a:r>
              </a:p>
            </p:txBody>
          </p:sp>
        </mc:Choice>
        <mc:Fallback xmlns="">
          <p:sp>
            <p:nvSpPr>
              <p:cNvPr id="2" name="TPQuestion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359696" y="424680"/>
                <a:ext cx="6336704" cy="916088"/>
              </a:xfrm>
              <a:blipFill>
                <a:blip r:embed="rId7"/>
                <a:stretch>
                  <a:fillRect l="-769" r="-2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658" y="404664"/>
            <a:ext cx="1462316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99958" y="2037336"/>
            <a:ext cx="18037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i="1" dirty="0"/>
              <a:t>Question from Derek </a:t>
            </a:r>
            <a:r>
              <a:rPr lang="en-GB" sz="1050" i="1" dirty="0" err="1"/>
              <a:t>Bruff</a:t>
            </a:r>
            <a:endParaRPr lang="en-GB" sz="1050" i="1" dirty="0"/>
          </a:p>
        </p:txBody>
      </p:sp>
      <p:sp>
        <p:nvSpPr>
          <p:cNvPr id="3" name="TPAnswers" hidden="1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681436" y="2291253"/>
            <a:ext cx="4114800" cy="3417243"/>
          </a:xfrm>
        </p:spPr>
        <p:txBody>
          <a:bodyPr>
            <a:noAutofit/>
          </a:bodyPr>
          <a:lstStyle/>
          <a:p>
            <a:pPr marL="514350" indent="-514350">
              <a:buFont typeface="Arial" pitchFamily="34" charset="0"/>
              <a:buAutoNum type="arabicPeriod"/>
            </a:pPr>
            <a:r>
              <a:rPr lang="en-GB" dirty="0"/>
              <a:t>Pic1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GB" dirty="0"/>
              <a:t>Pic2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GB" dirty="0"/>
              <a:t>Pic correct</a:t>
            </a:r>
          </a:p>
        </p:txBody>
      </p:sp>
      <p:grpSp>
        <p:nvGrpSpPr>
          <p:cNvPr id="10" name="Picture Choice 1"/>
          <p:cNvGrpSpPr/>
          <p:nvPr/>
        </p:nvGrpSpPr>
        <p:grpSpPr>
          <a:xfrm>
            <a:off x="1716686" y="2291252"/>
            <a:ext cx="2939154" cy="2289876"/>
            <a:chOff x="1069132" y="1463824"/>
            <a:chExt cx="3190875" cy="2428875"/>
          </a:xfrm>
        </p:grpSpPr>
        <p:pic>
          <p:nvPicPr>
            <p:cNvPr id="8195" name="PSPic1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632" y="1844824"/>
              <a:ext cx="3000375" cy="2047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PSText1"/>
            <p:cNvSpPr txBox="1"/>
            <p:nvPr/>
          </p:nvSpPr>
          <p:spPr>
            <a:xfrm>
              <a:off x="1259632" y="1463824"/>
              <a:ext cx="635000" cy="3810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r>
                <a:rPr lang="en-GB" sz="2400"/>
                <a:t>1.</a:t>
              </a:r>
            </a:p>
          </p:txBody>
        </p:sp>
        <p:sp>
          <p:nvSpPr>
            <p:cNvPr id="9" name="PSArrow1"/>
            <p:cNvSpPr/>
            <p:nvPr/>
          </p:nvSpPr>
          <p:spPr>
            <a:xfrm>
              <a:off x="1069132" y="1717824"/>
              <a:ext cx="190500" cy="50800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Picture Choice 2"/>
          <p:cNvGrpSpPr/>
          <p:nvPr/>
        </p:nvGrpSpPr>
        <p:grpSpPr>
          <a:xfrm>
            <a:off x="4439817" y="2288223"/>
            <a:ext cx="3240359" cy="2289876"/>
            <a:chOff x="1212007" y="3192016"/>
            <a:chExt cx="3048000" cy="2409825"/>
          </a:xfrm>
        </p:grpSpPr>
        <p:pic>
          <p:nvPicPr>
            <p:cNvPr id="8196" name="PSPic2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2507" y="3573016"/>
              <a:ext cx="2857500" cy="2028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PSText2"/>
            <p:cNvSpPr txBox="1"/>
            <p:nvPr/>
          </p:nvSpPr>
          <p:spPr>
            <a:xfrm>
              <a:off x="1402507" y="3192016"/>
              <a:ext cx="635000" cy="3810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r>
                <a:rPr lang="en-GB" sz="2400"/>
                <a:t>2.</a:t>
              </a:r>
            </a:p>
          </p:txBody>
        </p:sp>
        <p:sp>
          <p:nvSpPr>
            <p:cNvPr id="12" name="PSArrow2"/>
            <p:cNvSpPr/>
            <p:nvPr/>
          </p:nvSpPr>
          <p:spPr>
            <a:xfrm>
              <a:off x="1212007" y="3446016"/>
              <a:ext cx="190500" cy="50800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Picture Choice 3"/>
          <p:cNvGrpSpPr/>
          <p:nvPr/>
        </p:nvGrpSpPr>
        <p:grpSpPr>
          <a:xfrm>
            <a:off x="7536161" y="2432239"/>
            <a:ext cx="2952329" cy="2145860"/>
            <a:chOff x="1429172" y="4206428"/>
            <a:chExt cx="2981325" cy="2343150"/>
          </a:xfrm>
        </p:grpSpPr>
        <p:pic>
          <p:nvPicPr>
            <p:cNvPr id="8197" name="PSPic3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9672" y="4587428"/>
              <a:ext cx="2790825" cy="1962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PSText3"/>
            <p:cNvSpPr txBox="1"/>
            <p:nvPr/>
          </p:nvSpPr>
          <p:spPr>
            <a:xfrm>
              <a:off x="1619672" y="4206428"/>
              <a:ext cx="635000" cy="3810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r>
                <a:rPr lang="en-GB" sz="2400"/>
                <a:t>3.</a:t>
              </a:r>
            </a:p>
          </p:txBody>
        </p:sp>
        <p:sp>
          <p:nvSpPr>
            <p:cNvPr id="15" name="PSArrow3"/>
            <p:cNvSpPr/>
            <p:nvPr/>
          </p:nvSpPr>
          <p:spPr>
            <a:xfrm>
              <a:off x="1429172" y="4460428"/>
              <a:ext cx="190500" cy="50800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24" name="CorShape1"/>
          <p:cNvSpPr/>
          <p:nvPr>
            <p:custDataLst>
              <p:tags r:id="rId3"/>
            </p:custDataLst>
          </p:nvPr>
        </p:nvSpPr>
        <p:spPr>
          <a:xfrm rot="10800000">
            <a:off x="9542239" y="2527044"/>
            <a:ext cx="482600" cy="482600"/>
          </a:xfrm>
          <a:custGeom>
            <a:avLst/>
            <a:gdLst/>
            <a:ahLst/>
            <a:cxnLst/>
            <a:rect l="0" t="0" r="0" b="0"/>
            <a:pathLst>
              <a:path w="1524001" h="1752601">
                <a:moveTo>
                  <a:pt x="1295400" y="1066800"/>
                </a:moveTo>
                <a:lnTo>
                  <a:pt x="1524000" y="533400"/>
                </a:lnTo>
                <a:lnTo>
                  <a:pt x="914400" y="0"/>
                </a:lnTo>
                <a:lnTo>
                  <a:pt x="0" y="1447800"/>
                </a:lnTo>
                <a:lnTo>
                  <a:pt x="0" y="1752600"/>
                </a:lnTo>
                <a:lnTo>
                  <a:pt x="990600" y="533400"/>
                </a:lnTo>
                <a:close/>
              </a:path>
            </a:pathLst>
          </a:custGeom>
          <a:solidFill>
            <a:srgbClr val="00C800"/>
          </a:solidFill>
          <a:ln w="25400" cap="flat" cmpd="sng" algn="ctr">
            <a:noFill/>
            <a:prstDash val="solid"/>
          </a:ln>
          <a:effectLst>
            <a:prstShdw prst="shdw14" dist="35921" dir="2700000">
              <a:scrgbClr r="0" g="0" b="0">
                <a:alpha val="50000"/>
              </a:scrgbClr>
            </a:prst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000000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CountdownNew" hidden="1"/>
          <p:cNvGrpSpPr/>
          <p:nvPr>
            <p:custDataLst>
              <p:tags r:id="rId4"/>
            </p:custDataLst>
          </p:nvPr>
        </p:nvGrpSpPr>
        <p:grpSpPr>
          <a:xfrm>
            <a:off x="9398000" y="5842000"/>
            <a:ext cx="1588" cy="1588"/>
            <a:chOff x="8318500" y="6032500"/>
            <a:chExt cx="1270000" cy="1016000"/>
          </a:xfrm>
        </p:grpSpPr>
        <p:pic>
          <p:nvPicPr>
            <p:cNvPr id="19" name="CDShape" hidden="1"/>
            <p:cNvPicPr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8500" y="6032500"/>
              <a:ext cx="1270000" cy="1016000"/>
            </a:xfrm>
            <a:prstGeom prst="rect">
              <a:avLst/>
            </a:prstGeom>
          </p:spPr>
        </p:pic>
        <p:sp>
          <p:nvSpPr>
            <p:cNvPr id="18" name="CDTransText" hidden="1"/>
            <p:cNvSpPr txBox="1"/>
            <p:nvPr/>
          </p:nvSpPr>
          <p:spPr>
            <a:xfrm>
              <a:off x="8318500" y="6604000"/>
              <a:ext cx="1270000" cy="4445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pPr algn="ctr"/>
              <a:endParaRPr lang="en-GB" sz="900" b="1"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ahoma"/>
              </a:endParaRPr>
            </a:p>
          </p:txBody>
        </p:sp>
        <p:sp>
          <p:nvSpPr>
            <p:cNvPr id="17" name="CDText" hidden="1"/>
            <p:cNvSpPr txBox="1"/>
            <p:nvPr/>
          </p:nvSpPr>
          <p:spPr>
            <a:xfrm>
              <a:off x="8356600" y="6032500"/>
              <a:ext cx="1206500" cy="508000"/>
            </a:xfrm>
            <a:prstGeom prst="rect">
              <a:avLst/>
            </a:prstGeom>
            <a:noFill/>
          </p:spPr>
          <p:txBody>
            <a:bodyPr vert="horz" rtlCol="0" anchor="ctr" anchorCtr="1">
              <a:noAutofit/>
            </a:bodyPr>
            <a:lstStyle/>
            <a:p>
              <a:pPr algn="ctr"/>
              <a:endParaRPr lang="en-GB" sz="2400" b="1" dirty="0">
                <a:solidFill>
                  <a:srgbClr val="000000"/>
                </a:solidFill>
                <a:latin typeface="Tahoma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5909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peatDur="0" restart="neve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repeatDur="0" restart="neve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PQuestion"/>
              <p:cNvSpPr>
                <a:spLocks noGrp="1"/>
              </p:cNvSpPr>
              <p:nvPr>
                <p:ph type="title"/>
              </p:nvPr>
            </p:nvSpPr>
            <p:spPr>
              <a:xfrm>
                <a:off x="3287688" y="404664"/>
                <a:ext cx="6779096" cy="1143000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GB" sz="2000" dirty="0"/>
                  <a:t>The line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𝑦</m:t>
                    </m:r>
                    <m:r>
                      <a:rPr lang="en-GB" sz="2000" i="1">
                        <a:latin typeface="Cambria Math"/>
                      </a:rPr>
                      <m:t>=4+2</m:t>
                    </m:r>
                    <m:r>
                      <a:rPr lang="en-GB" sz="2000" i="1">
                        <a:latin typeface="Cambria Math"/>
                      </a:rPr>
                      <m:t>𝑥</m:t>
                    </m:r>
                  </m:oMath>
                </a14:m>
                <a:r>
                  <a:rPr lang="en-GB" sz="2000" dirty="0"/>
                  <a:t> has been proposed as a line of best fit for the following four sets of data. For which data set is this line the best fit (minimum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𝐸</m:t>
                    </m:r>
                    <m:r>
                      <a:rPr lang="en-GB" sz="20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2000" i="1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000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GB" sz="2000" i="1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2000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GB" sz="2000" dirty="0"/>
                  <a:t>)?</a:t>
                </a:r>
              </a:p>
            </p:txBody>
          </p:sp>
        </mc:Choice>
        <mc:Fallback xmlns="">
          <p:sp>
            <p:nvSpPr>
              <p:cNvPr id="2" name="TPQuestion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287688" y="404664"/>
                <a:ext cx="6779096" cy="1143000"/>
              </a:xfrm>
              <a:blipFill>
                <a:blip r:embed="rId7"/>
                <a:stretch>
                  <a:fillRect l="-899" r="-180" b="-553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658" y="404664"/>
            <a:ext cx="1462316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99958" y="2037336"/>
            <a:ext cx="18037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i="1" dirty="0"/>
              <a:t>Question from Derek </a:t>
            </a:r>
            <a:r>
              <a:rPr lang="en-GB" sz="1050" i="1" dirty="0" err="1"/>
              <a:t>Bruff</a:t>
            </a:r>
            <a:endParaRPr lang="en-GB" sz="1050" i="1" dirty="0"/>
          </a:p>
        </p:txBody>
      </p:sp>
      <p:sp>
        <p:nvSpPr>
          <p:cNvPr id="3" name="TPAnswers" hidden="1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981200" y="2996953"/>
            <a:ext cx="2674640" cy="3129211"/>
          </a:xfrm>
        </p:spPr>
        <p:txBody>
          <a:bodyPr>
            <a:noAutofit/>
          </a:bodyPr>
          <a:lstStyle/>
          <a:p>
            <a:pPr marL="514350" indent="-514350">
              <a:buFont typeface="Arial" pitchFamily="34" charset="0"/>
              <a:buAutoNum type="arabicPeriod"/>
            </a:pPr>
            <a:r>
              <a:rPr lang="en-GB" dirty="0"/>
              <a:t>Pic1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GB" dirty="0"/>
              <a:t>Pic2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GB" dirty="0"/>
              <a:t>Pic correct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en-GB" dirty="0"/>
              <a:t>pic4</a:t>
            </a:r>
          </a:p>
        </p:txBody>
      </p:sp>
      <p:grpSp>
        <p:nvGrpSpPr>
          <p:cNvPr id="9" name="Picture Choice 1"/>
          <p:cNvGrpSpPr/>
          <p:nvPr/>
        </p:nvGrpSpPr>
        <p:grpSpPr>
          <a:xfrm>
            <a:off x="1673347" y="2504388"/>
            <a:ext cx="2416412" cy="1788908"/>
            <a:chOff x="1497410" y="1136036"/>
            <a:chExt cx="2416412" cy="1788908"/>
          </a:xfrm>
        </p:grpSpPr>
        <p:pic>
          <p:nvPicPr>
            <p:cNvPr id="2050" name="PSPic1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910" y="1517036"/>
              <a:ext cx="2225912" cy="14079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PSText1"/>
            <p:cNvSpPr txBox="1"/>
            <p:nvPr/>
          </p:nvSpPr>
          <p:spPr>
            <a:xfrm>
              <a:off x="1687910" y="1136036"/>
              <a:ext cx="635000" cy="3810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r>
                <a:rPr lang="en-GB" sz="2400"/>
                <a:t>1.</a:t>
              </a:r>
            </a:p>
          </p:txBody>
        </p:sp>
        <p:sp>
          <p:nvSpPr>
            <p:cNvPr id="8" name="PSArrow1"/>
            <p:cNvSpPr/>
            <p:nvPr/>
          </p:nvSpPr>
          <p:spPr>
            <a:xfrm>
              <a:off x="1497410" y="1390036"/>
              <a:ext cx="190500" cy="50800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Picture Choice 2"/>
          <p:cNvGrpSpPr/>
          <p:nvPr/>
        </p:nvGrpSpPr>
        <p:grpSpPr>
          <a:xfrm>
            <a:off x="4143157" y="2421394"/>
            <a:ext cx="2463811" cy="1890822"/>
            <a:chOff x="1480474" y="2449764"/>
            <a:chExt cx="2463811" cy="1890822"/>
          </a:xfrm>
        </p:grpSpPr>
        <p:pic>
          <p:nvPicPr>
            <p:cNvPr id="2051" name="PSPic2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974" y="2830764"/>
              <a:ext cx="2273311" cy="1509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PSText2"/>
            <p:cNvSpPr txBox="1"/>
            <p:nvPr/>
          </p:nvSpPr>
          <p:spPr>
            <a:xfrm>
              <a:off x="1670974" y="2449764"/>
              <a:ext cx="635000" cy="3810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r>
                <a:rPr lang="en-GB" sz="2400"/>
                <a:t>2.</a:t>
              </a:r>
            </a:p>
          </p:txBody>
        </p:sp>
        <p:sp>
          <p:nvSpPr>
            <p:cNvPr id="11" name="PSArrow2"/>
            <p:cNvSpPr/>
            <p:nvPr/>
          </p:nvSpPr>
          <p:spPr>
            <a:xfrm>
              <a:off x="1480474" y="2703764"/>
              <a:ext cx="190500" cy="50800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Picture Choice 3"/>
          <p:cNvGrpSpPr/>
          <p:nvPr/>
        </p:nvGrpSpPr>
        <p:grpSpPr>
          <a:xfrm>
            <a:off x="1697868" y="4244642"/>
            <a:ext cx="2418503" cy="1787732"/>
            <a:chOff x="1495319" y="3912096"/>
            <a:chExt cx="2418503" cy="1787732"/>
          </a:xfrm>
        </p:grpSpPr>
        <p:pic>
          <p:nvPicPr>
            <p:cNvPr id="2052" name="PSPic3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5819" y="4293096"/>
              <a:ext cx="2228003" cy="1406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PSText3"/>
            <p:cNvSpPr txBox="1"/>
            <p:nvPr/>
          </p:nvSpPr>
          <p:spPr>
            <a:xfrm>
              <a:off x="1685819" y="3912096"/>
              <a:ext cx="635000" cy="3810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r>
                <a:rPr lang="en-GB" sz="2400"/>
                <a:t>3.</a:t>
              </a:r>
            </a:p>
          </p:txBody>
        </p:sp>
        <p:sp>
          <p:nvSpPr>
            <p:cNvPr id="14" name="PSArrow3"/>
            <p:cNvSpPr/>
            <p:nvPr/>
          </p:nvSpPr>
          <p:spPr>
            <a:xfrm>
              <a:off x="1495319" y="4166096"/>
              <a:ext cx="190500" cy="50800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Picture Choice 4"/>
          <p:cNvGrpSpPr/>
          <p:nvPr/>
        </p:nvGrpSpPr>
        <p:grpSpPr>
          <a:xfrm>
            <a:off x="4116370" y="4191382"/>
            <a:ext cx="2421498" cy="1800726"/>
            <a:chOff x="1480475" y="5057274"/>
            <a:chExt cx="2421498" cy="1800726"/>
          </a:xfrm>
        </p:grpSpPr>
        <p:pic>
          <p:nvPicPr>
            <p:cNvPr id="2053" name="PSPic4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975" y="5438274"/>
              <a:ext cx="2230998" cy="14197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PSText4"/>
            <p:cNvSpPr txBox="1"/>
            <p:nvPr/>
          </p:nvSpPr>
          <p:spPr>
            <a:xfrm>
              <a:off x="1670975" y="5057274"/>
              <a:ext cx="635000" cy="3810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r>
                <a:rPr lang="en-GB" sz="2400"/>
                <a:t>4.</a:t>
              </a:r>
            </a:p>
          </p:txBody>
        </p:sp>
        <p:sp>
          <p:nvSpPr>
            <p:cNvPr id="17" name="PSArrow4"/>
            <p:cNvSpPr/>
            <p:nvPr/>
          </p:nvSpPr>
          <p:spPr>
            <a:xfrm>
              <a:off x="1480475" y="5311274"/>
              <a:ext cx="190500" cy="50800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23" name="CorShape1"/>
          <p:cNvSpPr/>
          <p:nvPr>
            <p:custDataLst>
              <p:tags r:id="rId3"/>
            </p:custDataLst>
          </p:nvPr>
        </p:nvSpPr>
        <p:spPr>
          <a:xfrm rot="10800000">
            <a:off x="1585823" y="5333051"/>
            <a:ext cx="482600" cy="482600"/>
          </a:xfrm>
          <a:custGeom>
            <a:avLst/>
            <a:gdLst/>
            <a:ahLst/>
            <a:cxnLst/>
            <a:rect l="0" t="0" r="0" b="0"/>
            <a:pathLst>
              <a:path w="1524001" h="1752601">
                <a:moveTo>
                  <a:pt x="1295400" y="1066800"/>
                </a:moveTo>
                <a:lnTo>
                  <a:pt x="1524000" y="533400"/>
                </a:lnTo>
                <a:lnTo>
                  <a:pt x="914400" y="0"/>
                </a:lnTo>
                <a:lnTo>
                  <a:pt x="0" y="1447800"/>
                </a:lnTo>
                <a:lnTo>
                  <a:pt x="0" y="1752600"/>
                </a:lnTo>
                <a:lnTo>
                  <a:pt x="990600" y="533400"/>
                </a:lnTo>
                <a:close/>
              </a:path>
            </a:pathLst>
          </a:custGeom>
          <a:solidFill>
            <a:srgbClr val="00C800"/>
          </a:solidFill>
          <a:ln w="25400" cap="flat" cmpd="sng" algn="ctr">
            <a:noFill/>
            <a:prstDash val="solid"/>
          </a:ln>
          <a:effectLst>
            <a:prstShdw prst="shdw14" dist="35921" dir="2700000">
              <a:scrgbClr r="0" g="0" b="0">
                <a:alpha val="50000"/>
              </a:scrgbClr>
            </a:prstShdw>
          </a:effectLst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000000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2" name="CountdownNew" hidden="1"/>
          <p:cNvGrpSpPr/>
          <p:nvPr>
            <p:custDataLst>
              <p:tags r:id="rId4"/>
            </p:custDataLst>
          </p:nvPr>
        </p:nvGrpSpPr>
        <p:grpSpPr>
          <a:xfrm>
            <a:off x="9398000" y="5842000"/>
            <a:ext cx="1588" cy="1588"/>
            <a:chOff x="8318500" y="6032500"/>
            <a:chExt cx="1270000" cy="1016000"/>
          </a:xfrm>
        </p:grpSpPr>
        <p:pic>
          <p:nvPicPr>
            <p:cNvPr id="21" name="CDShape" hidden="1"/>
            <p:cNvPicPr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8500" y="6032500"/>
              <a:ext cx="1270000" cy="1016000"/>
            </a:xfrm>
            <a:prstGeom prst="rect">
              <a:avLst/>
            </a:prstGeom>
          </p:spPr>
        </p:pic>
        <p:sp>
          <p:nvSpPr>
            <p:cNvPr id="20" name="CDTransText" hidden="1"/>
            <p:cNvSpPr txBox="1"/>
            <p:nvPr/>
          </p:nvSpPr>
          <p:spPr>
            <a:xfrm>
              <a:off x="8318500" y="6604000"/>
              <a:ext cx="1270000" cy="444500"/>
            </a:xfrm>
            <a:prstGeom prst="rect">
              <a:avLst/>
            </a:prstGeom>
            <a:noFill/>
          </p:spPr>
          <p:txBody>
            <a:bodyPr vert="horz" rtlCol="0">
              <a:noAutofit/>
            </a:bodyPr>
            <a:lstStyle/>
            <a:p>
              <a:pPr algn="ctr"/>
              <a:endParaRPr lang="en-GB" sz="900" b="1"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Tahoma"/>
              </a:endParaRPr>
            </a:p>
          </p:txBody>
        </p:sp>
        <p:sp>
          <p:nvSpPr>
            <p:cNvPr id="19" name="CDText" hidden="1"/>
            <p:cNvSpPr txBox="1"/>
            <p:nvPr/>
          </p:nvSpPr>
          <p:spPr>
            <a:xfrm>
              <a:off x="8356600" y="6032500"/>
              <a:ext cx="1206500" cy="508000"/>
            </a:xfrm>
            <a:prstGeom prst="rect">
              <a:avLst/>
            </a:prstGeom>
            <a:noFill/>
          </p:spPr>
          <p:txBody>
            <a:bodyPr vert="horz" rtlCol="0" anchor="ctr" anchorCtr="1">
              <a:noAutofit/>
            </a:bodyPr>
            <a:lstStyle/>
            <a:p>
              <a:pPr algn="ctr"/>
              <a:endParaRPr lang="en-GB" sz="2400" b="1" dirty="0">
                <a:solidFill>
                  <a:srgbClr val="000000"/>
                </a:solidFill>
                <a:latin typeface="Tahoma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2905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peatDur="0" restart="neve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repeatDur="0" restart="neve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Multiple Linear Regression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83673"/>
            <a:ext cx="10972800" cy="2156348"/>
          </a:xfrm>
        </p:spPr>
        <p:txBody>
          <a:bodyPr>
            <a:normAutofit/>
          </a:bodyPr>
          <a:lstStyle/>
          <a:p>
            <a:pPr algn="just"/>
            <a:r>
              <a:rPr lang="en-US" sz="3000" b="1" dirty="0"/>
              <a:t>Multiple Linear Regression</a:t>
            </a:r>
            <a:r>
              <a:rPr lang="en-US" sz="3000" dirty="0"/>
              <a:t> is an extension of simple linear regression where multiple independent variables (X1,X2,X3,.....) are used to predict a dependent variable (Y).</a:t>
            </a:r>
          </a:p>
          <a:p>
            <a:pPr algn="just"/>
            <a:r>
              <a:rPr lang="en-US" altLang="en-US" sz="3000" dirty="0"/>
              <a:t>Regression model for k independent variables:</a:t>
            </a:r>
          </a:p>
          <a:p>
            <a:pPr algn="just"/>
            <a:endParaRPr lang="en-IN" sz="3200" dirty="0"/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723817"/>
              </p:ext>
            </p:extLst>
          </p:nvPr>
        </p:nvGraphicFramePr>
        <p:xfrm>
          <a:off x="1981278" y="4774327"/>
          <a:ext cx="7182963" cy="769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3" imgW="2133600" imgH="228600" progId="Equation.3">
                  <p:embed/>
                </p:oleObj>
              </mc:Choice>
              <mc:Fallback>
                <p:oleObj name="Equation" r:id="rId3" imgW="2133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78" y="4774327"/>
                        <a:ext cx="7182963" cy="76984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611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Example of Multiple Linear Regression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2550559"/>
          </a:xfrm>
        </p:spPr>
        <p:txBody>
          <a:bodyPr/>
          <a:lstStyle/>
          <a:p>
            <a:r>
              <a:rPr lang="en-US" sz="3000" dirty="0"/>
              <a:t>Let’s consider an example where we predict the </a:t>
            </a:r>
            <a:r>
              <a:rPr lang="en-US" sz="3000" b="1" dirty="0"/>
              <a:t>house price</a:t>
            </a:r>
            <a:r>
              <a:rPr lang="en-US" sz="3000" dirty="0"/>
              <a:t> (Y) based on three independent variables:</a:t>
            </a:r>
          </a:p>
          <a:p>
            <a:r>
              <a:rPr lang="en-IN" b="1" dirty="0"/>
              <a:t>Size (</a:t>
            </a:r>
            <a:r>
              <a:rPr lang="en-IN" b="1" dirty="0" err="1"/>
              <a:t>sq</a:t>
            </a:r>
            <a:r>
              <a:rPr lang="en-IN" b="1" dirty="0"/>
              <a:t> </a:t>
            </a:r>
            <a:r>
              <a:rPr lang="en-IN" b="1" dirty="0" err="1"/>
              <a:t>ft</a:t>
            </a:r>
            <a:r>
              <a:rPr lang="en-IN" b="1" dirty="0"/>
              <a:t>)</a:t>
            </a:r>
            <a:r>
              <a:rPr lang="en-IN" dirty="0"/>
              <a:t> (X1​)</a:t>
            </a:r>
          </a:p>
          <a:p>
            <a:r>
              <a:rPr lang="en-IN" b="1" dirty="0"/>
              <a:t>Number of Bedrooms</a:t>
            </a:r>
            <a:r>
              <a:rPr lang="en-IN" dirty="0"/>
              <a:t> (X2)</a:t>
            </a:r>
          </a:p>
          <a:p>
            <a:r>
              <a:rPr lang="en-US" b="1" dirty="0"/>
              <a:t>Age of the House (years)</a:t>
            </a:r>
            <a:r>
              <a:rPr lang="en-US" dirty="0"/>
              <a:t> (X3​)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203102" y="4170083"/>
            <a:ext cx="7274747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Equation for Multiple Linear Regression</a:t>
            </a:r>
            <a:endParaRPr lang="en-IN" sz="3200" dirty="0"/>
          </a:p>
        </p:txBody>
      </p:sp>
      <p:sp>
        <p:nvSpPr>
          <p:cNvPr id="6" name="Rectangle 5"/>
          <p:cNvSpPr/>
          <p:nvPr/>
        </p:nvSpPr>
        <p:spPr>
          <a:xfrm>
            <a:off x="1912680" y="5126191"/>
            <a:ext cx="81251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Price=β0​+β1​(Size)+β2​(Bedrooms)+β3​(Age)+ϵ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54283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2287" y="262024"/>
            <a:ext cx="874925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Least Squares Method (Normal Equation</a:t>
            </a:r>
            <a:r>
              <a:rPr lang="en-US" sz="3600" dirty="0">
                <a:solidFill>
                  <a:srgbClr val="C00000"/>
                </a:solidFill>
              </a:rPr>
              <a:t>)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1354" y="1238113"/>
            <a:ext cx="88496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The best-fit line minimizes the </a:t>
            </a:r>
            <a:r>
              <a:rPr lang="en-US" sz="2800" b="1" dirty="0"/>
              <a:t>sum of squared errors (SSE)</a:t>
            </a:r>
            <a:r>
              <a:rPr lang="en-US" sz="2800" dirty="0"/>
              <a:t>:</a:t>
            </a:r>
            <a:endParaRPr lang="en-IN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701" y="1866694"/>
            <a:ext cx="3319035" cy="8003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465577" y="3039617"/>
            <a:ext cx="7763215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/>
              <a:t>Steps to Compute Using the Normal Equation : Matrix Form</a:t>
            </a:r>
            <a:endParaRPr lang="en-IN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465576" y="3843049"/>
            <a:ext cx="72605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X</a:t>
            </a:r>
            <a:r>
              <a:rPr lang="en-US" sz="2400" dirty="0"/>
              <a:t> is the matrix of input features (including a column of 1s for the intercept).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y </a:t>
            </a:r>
            <a:r>
              <a:rPr lang="en-US" sz="2400" dirty="0"/>
              <a:t>is the target variable (dependent variable).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B</a:t>
            </a:r>
            <a:r>
              <a:rPr lang="en-US" sz="2400" dirty="0"/>
              <a:t> is the vector of regression coefficients (β0,β1,β2,... ).</a:t>
            </a:r>
            <a:endParaRPr lang="en-IN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792" y="3678148"/>
            <a:ext cx="3870968" cy="20106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09074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6855" y="399534"/>
            <a:ext cx="111092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Let's consider a dataset where we want to predict </a:t>
            </a:r>
            <a:r>
              <a:rPr lang="en-US" sz="2400" b="1" dirty="0"/>
              <a:t>salary</a:t>
            </a:r>
            <a:r>
              <a:rPr lang="en-US" sz="2400" dirty="0"/>
              <a:t> based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Years of Experience</a:t>
            </a:r>
            <a:r>
              <a:rPr lang="en-US" sz="2400" dirty="0"/>
              <a:t> (X₁)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Number of Certifications</a:t>
            </a:r>
            <a:r>
              <a:rPr lang="en-US" sz="2400" dirty="0"/>
              <a:t> (X₂)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790001"/>
              </p:ext>
            </p:extLst>
          </p:nvPr>
        </p:nvGraphicFramePr>
        <p:xfrm>
          <a:off x="729017" y="1968666"/>
          <a:ext cx="9111018" cy="2712720"/>
        </p:xfrm>
        <a:graphic>
          <a:graphicData uri="http://schemas.openxmlformats.org/drawingml/2006/table">
            <a:tbl>
              <a:tblPr/>
              <a:tblGrid>
                <a:gridCol w="3037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7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7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/>
                        <a:t>Years of Experience (X₁)</a:t>
                      </a:r>
                      <a:endParaRPr lang="en-IN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/>
                        <a:t>Certifications (X₂)</a:t>
                      </a:r>
                      <a:endParaRPr lang="en-IN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/>
                        <a:t>Salary (Y) ($1000s)</a:t>
                      </a:r>
                      <a:endParaRPr lang="en-IN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099390" y="4895714"/>
            <a:ext cx="370713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ES" sz="3600" dirty="0"/>
              <a:t>Y=β</a:t>
            </a:r>
            <a:r>
              <a:rPr lang="es-ES" sz="3600" baseline="-25000" dirty="0"/>
              <a:t>0</a:t>
            </a:r>
            <a:r>
              <a:rPr lang="es-ES" sz="3600" dirty="0"/>
              <a:t>​+β</a:t>
            </a:r>
            <a:r>
              <a:rPr lang="es-ES" sz="3600" baseline="-25000" dirty="0"/>
              <a:t>1</a:t>
            </a:r>
            <a:r>
              <a:rPr lang="es-ES" sz="3600" dirty="0"/>
              <a:t>​X1​+β</a:t>
            </a:r>
            <a:r>
              <a:rPr lang="es-ES" sz="3600" baseline="-25000" dirty="0"/>
              <a:t>2</a:t>
            </a:r>
            <a:r>
              <a:rPr lang="es-ES" sz="3600" dirty="0"/>
              <a:t>​X2​</a:t>
            </a:r>
            <a:endParaRPr lang="en-IN" sz="3600" dirty="0"/>
          </a:p>
        </p:txBody>
      </p:sp>
      <p:sp>
        <p:nvSpPr>
          <p:cNvPr id="9" name="Rectangle 8"/>
          <p:cNvSpPr/>
          <p:nvPr/>
        </p:nvSpPr>
        <p:spPr>
          <a:xfrm>
            <a:off x="409842" y="5397145"/>
            <a:ext cx="44806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sz="2000" dirty="0"/>
              <a:t>β</a:t>
            </a:r>
            <a:r>
              <a:rPr lang="el-GR" sz="2000" baseline="-25000" dirty="0"/>
              <a:t>0</a:t>
            </a:r>
            <a:r>
              <a:rPr lang="el-GR" sz="2000" dirty="0"/>
              <a:t> = </a:t>
            </a:r>
            <a:r>
              <a:rPr lang="en-IN" sz="2000" dirty="0"/>
              <a:t>Intercept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sz="2000" dirty="0"/>
              <a:t>β</a:t>
            </a:r>
            <a:r>
              <a:rPr lang="el-GR" sz="2000" baseline="-25000" dirty="0"/>
              <a:t>1</a:t>
            </a:r>
            <a:r>
              <a:rPr lang="el-GR" sz="2000" dirty="0"/>
              <a:t>= </a:t>
            </a:r>
            <a:r>
              <a:rPr lang="en-IN" sz="2000" dirty="0"/>
              <a:t>Coefficient for </a:t>
            </a:r>
            <a:r>
              <a:rPr lang="en-IN" sz="2000" b="1" dirty="0"/>
              <a:t>Years of Experience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l-GR" sz="2000" dirty="0"/>
              <a:t>β</a:t>
            </a:r>
            <a:r>
              <a:rPr lang="el-GR" sz="2000" baseline="-25000" dirty="0"/>
              <a:t>2</a:t>
            </a:r>
            <a:r>
              <a:rPr lang="el-GR" sz="2000" dirty="0"/>
              <a:t>= </a:t>
            </a:r>
            <a:r>
              <a:rPr lang="en-IN" sz="2000" dirty="0"/>
              <a:t>Coefficient for </a:t>
            </a:r>
            <a:r>
              <a:rPr lang="en-IN" sz="2000" b="1" dirty="0"/>
              <a:t>Certifications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82718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8685" y="446543"/>
            <a:ext cx="3855158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3200" dirty="0"/>
              <a:t>Constructing Matrices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746" y="1143140"/>
            <a:ext cx="57351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The feature matrix X (without the intercept):</a:t>
            </a:r>
            <a:endParaRPr lang="en-IN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72" y="1716628"/>
            <a:ext cx="1528904" cy="175736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18685" y="3473989"/>
            <a:ext cx="36772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The target variable vector y:</a:t>
            </a:r>
            <a:endParaRPr lang="en-IN" sz="2400" dirty="0"/>
          </a:p>
        </p:txBody>
      </p:sp>
      <p:sp>
        <p:nvSpPr>
          <p:cNvPr id="11" name="Rectangle 10"/>
          <p:cNvSpPr/>
          <p:nvPr/>
        </p:nvSpPr>
        <p:spPr>
          <a:xfrm>
            <a:off x="6446906" y="2225976"/>
            <a:ext cx="56457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Adding a column of ones to 𝑋 for the intercept:</a:t>
            </a:r>
            <a:endParaRPr lang="en-IN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883" y="3198128"/>
            <a:ext cx="2025034" cy="19093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389" y="4152787"/>
            <a:ext cx="1273279" cy="181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8B4FEA3-3415-114C-11AE-C6A56A8C6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0" y="294460"/>
            <a:ext cx="5668166" cy="32484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68F4C9-B2B4-0BAC-6124-DF60DF779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56" y="4035680"/>
            <a:ext cx="3060240" cy="14712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37ADA2-E964-6732-841E-1EB3DAA57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615" y="294460"/>
            <a:ext cx="6173385" cy="349258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79148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092B55-AEDE-8CEE-80D3-F920BFBAD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3" y="141129"/>
            <a:ext cx="5744377" cy="43154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CF1A02-67B5-087D-6F9E-FA1C0D056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797" y="4785329"/>
            <a:ext cx="1657581" cy="1228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A2EDB1-B822-D748-FDF5-60CFF4732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480" y="236658"/>
            <a:ext cx="5687219" cy="2448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6AD94D-4F0C-53A4-2E78-662FA54C2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276" y="2913291"/>
            <a:ext cx="1533739" cy="15432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151ADA-D26E-9966-8855-EBEE5DCB19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855" y="4935447"/>
            <a:ext cx="5344271" cy="126700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92195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3D80-CEAE-BB2D-A2EC-FA42B467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Logistic regression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EF892-EF35-4D44-78A5-C42795C48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Logistic regression is similar to linear regression except that Logistic regression </a:t>
            </a:r>
            <a:r>
              <a:rPr lang="en-US" sz="3200" b="1" dirty="0"/>
              <a:t>predicts whether something is true or False </a:t>
            </a:r>
            <a:r>
              <a:rPr lang="en-US" sz="3200" dirty="0"/>
              <a:t>instead predicting something continuous (e.g., predicting salary based on years of experience).</a:t>
            </a:r>
          </a:p>
          <a:p>
            <a:pPr marL="0" indent="0" algn="just">
              <a:buNone/>
            </a:pPr>
            <a:endParaRPr lang="en-US" sz="3200" dirty="0"/>
          </a:p>
          <a:p>
            <a:pPr algn="just"/>
            <a:r>
              <a:rPr lang="en-US" sz="3200" dirty="0"/>
              <a:t>In </a:t>
            </a:r>
            <a:r>
              <a:rPr lang="en-US" sz="3200" b="1" dirty="0"/>
              <a:t>logistic regression</a:t>
            </a:r>
            <a:r>
              <a:rPr lang="en-US" sz="3200" dirty="0"/>
              <a:t>, the goal is to </a:t>
            </a:r>
            <a:r>
              <a:rPr lang="en-US" sz="3200" b="1" dirty="0"/>
              <a:t>predict a probability </a:t>
            </a:r>
            <a:r>
              <a:rPr lang="en-US" sz="3200" dirty="0"/>
              <a:t>which is then converted into a binary outcome (e.g., spam or not spam).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199200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87DD0C-DA64-85BB-1AC2-B5FF07A92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10" y="941991"/>
            <a:ext cx="7654247" cy="5720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23342B-A254-5F54-DC89-9EA0C763620A}"/>
              </a:ext>
            </a:extLst>
          </p:cNvPr>
          <p:cNvSpPr txBox="1"/>
          <p:nvPr/>
        </p:nvSpPr>
        <p:spPr>
          <a:xfrm>
            <a:off x="1453794" y="339046"/>
            <a:ext cx="8157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Logistic regression predicts whether something is true or False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32122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3F44C8-5CF3-B1CE-3229-BCDF9E093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58" y="1567262"/>
            <a:ext cx="5976677" cy="34095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735307-63F6-9281-1CAB-BDA1CB4F5DA5}"/>
              </a:ext>
            </a:extLst>
          </p:cNvPr>
          <p:cNvSpPr txBox="1"/>
          <p:nvPr/>
        </p:nvSpPr>
        <p:spPr>
          <a:xfrm>
            <a:off x="236958" y="182267"/>
            <a:ext cx="63548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Instead of fitting a line to the data, logistic regression fits an “S” Shaped “Logistic Function”</a:t>
            </a:r>
            <a:endParaRPr lang="en-IN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2229D7-7392-2ABF-CD9C-B595B29B5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867" y="3429000"/>
            <a:ext cx="5938668" cy="324673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3DFE12-D0E7-EF88-D246-7CD1A04AE2FC}"/>
              </a:ext>
            </a:extLst>
          </p:cNvPr>
          <p:cNvSpPr txBox="1"/>
          <p:nvPr/>
        </p:nvSpPr>
        <p:spPr>
          <a:xfrm>
            <a:off x="6503541" y="1700843"/>
            <a:ext cx="54515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curve goes from o to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curve tells you the probability </a:t>
            </a:r>
            <a:r>
              <a:rPr lang="en-US" sz="2400" dirty="0"/>
              <a:t>that mouse is Obese based on its weight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2702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189812-33FB-B64E-C3F9-282546B0F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20" y="1571945"/>
            <a:ext cx="10048125" cy="48139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0C12C5-C375-20F7-2383-EDA20941FB19}"/>
              </a:ext>
            </a:extLst>
          </p:cNvPr>
          <p:cNvSpPr txBox="1"/>
          <p:nvPr/>
        </p:nvSpPr>
        <p:spPr>
          <a:xfrm>
            <a:off x="821933" y="287676"/>
            <a:ext cx="101405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If it weighted a heavy mouse, then there is high probability that the new mouse is obese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58952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1A1C92-822F-5019-8758-0C013FD4E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639" y="1316083"/>
            <a:ext cx="9746130" cy="55419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7551A0-3592-CC52-96A9-0B66EF7AA8C3}"/>
              </a:ext>
            </a:extLst>
          </p:cNvPr>
          <p:cNvSpPr txBox="1"/>
          <p:nvPr/>
        </p:nvSpPr>
        <p:spPr>
          <a:xfrm>
            <a:off x="1000639" y="328773"/>
            <a:ext cx="10033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If we weighted an intermediate mouse then there is only 50% chance that the mouse is obese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21134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77AEC-D302-6F07-C194-142B78E24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850" y="0"/>
            <a:ext cx="8093583" cy="5154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2D06C4-EA1A-6726-73F0-605E6063DD72}"/>
              </a:ext>
            </a:extLst>
          </p:cNvPr>
          <p:cNvSpPr txBox="1"/>
          <p:nvPr/>
        </p:nvSpPr>
        <p:spPr>
          <a:xfrm>
            <a:off x="575353" y="5619964"/>
            <a:ext cx="11178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Example, if the probability a mouse is obese is &gt;50%, then we will classify it as “obese”, Otherwise we will classify it as “not obese”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67331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37C4-8CFD-5A3B-307F-2E93906D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760"/>
            <a:ext cx="10972800" cy="63964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Logistic Regression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C5AB4-5F52-DEFF-A348-E87262F2F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406" y="1137864"/>
            <a:ext cx="10972800" cy="107108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Logistic regression models the </a:t>
            </a:r>
            <a:r>
              <a:rPr lang="en-US" b="1" dirty="0"/>
              <a:t>log-odds</a:t>
            </a:r>
            <a:r>
              <a:rPr lang="en-US" dirty="0"/>
              <a:t> (or </a:t>
            </a:r>
            <a:r>
              <a:rPr lang="en-US" b="1" dirty="0"/>
              <a:t>logit</a:t>
            </a:r>
            <a:r>
              <a:rPr lang="en-US" dirty="0"/>
              <a:t>) of the outcome as a </a:t>
            </a:r>
            <a:r>
              <a:rPr lang="en-US" b="1" dirty="0"/>
              <a:t>linear combination</a:t>
            </a:r>
            <a:r>
              <a:rPr lang="en-US" dirty="0"/>
              <a:t> of the independent variables: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02198-0585-DAB4-0731-8D47A8F1D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94" y="2208944"/>
            <a:ext cx="8614060" cy="441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150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FDD7-BAA4-C54D-8FF0-B3056B05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Formula for Logistic Function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316" y="1595181"/>
            <a:ext cx="3275463" cy="14360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553" y="3484018"/>
            <a:ext cx="6905625" cy="31146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97923" y="1595181"/>
            <a:ext cx="331185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Logistic function, also called a sigmoid function. 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This function squeezes a straight line into an S-curve.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909010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1994-1BFB-34D9-A929-FD0532D79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PT Serif" panose="020A0603040505020204" pitchFamily="18" charset="0"/>
              </a:rPr>
              <a:t>S</a:t>
            </a:r>
            <a:r>
              <a:rPr lang="en-IN" b="1" i="0" dirty="0">
                <a:solidFill>
                  <a:srgbClr val="FF0000"/>
                </a:solidFill>
                <a:effectLst/>
                <a:latin typeface="PT Serif" panose="020A0603040505020204" pitchFamily="18" charset="0"/>
              </a:rPr>
              <a:t>igmoid function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6146" name="Picture 2" descr="Logistic Regression - Sigmoid Function">
            <a:extLst>
              <a:ext uri="{FF2B5EF4-FFF2-40B4-BE49-F238E27FC236}">
                <a16:creationId xmlns:a16="http://schemas.microsoft.com/office/drawing/2014/main" id="{CB48A760-F440-09D7-76CE-CAF15031D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24" y="2040243"/>
            <a:ext cx="6858000" cy="45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81CE74-29BD-C9C0-8460-FD4A6D79C0D6}"/>
              </a:ext>
            </a:extLst>
          </p:cNvPr>
          <p:cNvSpPr txBox="1"/>
          <p:nvPr/>
        </p:nvSpPr>
        <p:spPr>
          <a:xfrm>
            <a:off x="6535221" y="1680648"/>
            <a:ext cx="533485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80809"/>
                </a:solidFill>
                <a:effectLst/>
              </a:rPr>
              <a:t>Logistic regression uses a logistic function called a </a:t>
            </a:r>
            <a:r>
              <a:rPr lang="en-US" sz="2800" b="1" i="0" dirty="0">
                <a:solidFill>
                  <a:srgbClr val="080809"/>
                </a:solidFill>
                <a:effectLst/>
              </a:rPr>
              <a:t>sigmoid function to map the</a:t>
            </a:r>
            <a:r>
              <a:rPr lang="en-US" sz="2800" b="0" i="0" dirty="0">
                <a:solidFill>
                  <a:srgbClr val="080809"/>
                </a:solidFill>
                <a:effectLst/>
              </a:rPr>
              <a:t> </a:t>
            </a:r>
            <a:r>
              <a:rPr lang="en-US" sz="2800" b="1" i="0" dirty="0">
                <a:solidFill>
                  <a:srgbClr val="080809"/>
                </a:solidFill>
                <a:effectLst/>
              </a:rPr>
              <a:t>predicated linear combination of independent variables to probability between 0 and 1</a:t>
            </a:r>
          </a:p>
          <a:p>
            <a:endParaRPr lang="en-US" sz="2800" b="0" i="0" dirty="0">
              <a:solidFill>
                <a:srgbClr val="080809"/>
              </a:solidFill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80809"/>
                </a:solidFill>
                <a:effectLst/>
              </a:rPr>
              <a:t>The sigmoid function refers to an S-shaped curve that converts any real value to a range between 0 and 1.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681321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9D42CAC0-5049-0BEB-1FD4-CFCF438ED6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0F4D5-8DA5-8E29-08B1-D1B8E9658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120" y="0"/>
            <a:ext cx="8757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696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9981-0EA9-407D-0853-275C56C54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97841"/>
            <a:ext cx="10972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Example of Logistic Regression Converting a Linear Combination to Probability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17179-ADB1-A3CA-364A-EFD4F3F8C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610136"/>
            <a:ext cx="10972800" cy="3203810"/>
          </a:xfrm>
        </p:spPr>
        <p:txBody>
          <a:bodyPr>
            <a:normAutofit lnSpcReduction="10000"/>
          </a:bodyPr>
          <a:lstStyle/>
          <a:p>
            <a:pPr>
              <a:lnSpc>
                <a:spcPct val="170000"/>
              </a:lnSpc>
              <a:buNone/>
            </a:pPr>
            <a:r>
              <a:rPr lang="en-US" sz="3000" dirty="0"/>
              <a:t>Let's say we want to predict whether a student will </a:t>
            </a:r>
            <a:r>
              <a:rPr lang="en-US" sz="3000" b="1" dirty="0"/>
              <a:t>pass</a:t>
            </a:r>
            <a:r>
              <a:rPr lang="en-US" sz="3000" dirty="0"/>
              <a:t> or </a:t>
            </a:r>
            <a:r>
              <a:rPr lang="en-US" sz="3000" b="1" dirty="0"/>
              <a:t>fail</a:t>
            </a:r>
            <a:r>
              <a:rPr lang="en-US" sz="3000" dirty="0"/>
              <a:t> an exam based on the following input features</a:t>
            </a:r>
          </a:p>
          <a:p>
            <a:pPr>
              <a:buNone/>
            </a:pPr>
            <a:endParaRPr lang="en-US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X1= Number of study hours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X2 = Number of practice tests taken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29545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B958FC-22E1-DB4F-9538-A5BA37F63279}"/>
              </a:ext>
            </a:extLst>
          </p:cNvPr>
          <p:cNvSpPr txBox="1"/>
          <p:nvPr/>
        </p:nvSpPr>
        <p:spPr>
          <a:xfrm>
            <a:off x="315929" y="167299"/>
            <a:ext cx="8591765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b="1" dirty="0"/>
              <a:t>Step 1: Define the Logistic Regression Model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C09D8-C53F-F85D-CF98-5271E549EBED}"/>
              </a:ext>
            </a:extLst>
          </p:cNvPr>
          <p:cNvSpPr txBox="1"/>
          <p:nvPr/>
        </p:nvSpPr>
        <p:spPr>
          <a:xfrm>
            <a:off x="1970069" y="1017410"/>
            <a:ext cx="3588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dirty="0"/>
              <a:t>Z=β</a:t>
            </a:r>
            <a:r>
              <a:rPr lang="pl-PL" sz="3200" baseline="-25000" dirty="0"/>
              <a:t>0</a:t>
            </a:r>
            <a:r>
              <a:rPr lang="pl-PL" sz="3200" dirty="0"/>
              <a:t>​+β</a:t>
            </a:r>
            <a:r>
              <a:rPr lang="pl-PL" sz="3200" baseline="-25000" dirty="0"/>
              <a:t>1​</a:t>
            </a:r>
            <a:r>
              <a:rPr lang="pl-PL" sz="3200" dirty="0"/>
              <a:t>X1​+β</a:t>
            </a:r>
            <a:r>
              <a:rPr lang="pl-PL" sz="3200" baseline="-25000" dirty="0"/>
              <a:t>2</a:t>
            </a:r>
            <a:r>
              <a:rPr lang="pl-PL" sz="3200" dirty="0"/>
              <a:t>​X2​</a:t>
            </a:r>
            <a:endParaRPr lang="en-IN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88C88-5B36-287F-E43C-596F38969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18" y="1867521"/>
            <a:ext cx="7189822" cy="48723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961554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F115B4-78EB-2438-D38E-90AEC62E44E2}"/>
              </a:ext>
            </a:extLst>
          </p:cNvPr>
          <p:cNvSpPr txBox="1"/>
          <p:nvPr/>
        </p:nvSpPr>
        <p:spPr>
          <a:xfrm>
            <a:off x="597182" y="609964"/>
            <a:ext cx="7184205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/>
              <a:t>Step 2: Compute the Linear Combination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8AE75D-C67C-F368-535B-86A93AB7B912}"/>
              </a:ext>
            </a:extLst>
          </p:cNvPr>
          <p:cNvSpPr txBox="1"/>
          <p:nvPr/>
        </p:nvSpPr>
        <p:spPr>
          <a:xfrm>
            <a:off x="597182" y="1639197"/>
            <a:ext cx="1010206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If a student studies for </a:t>
            </a:r>
            <a:r>
              <a:rPr lang="en-US" sz="2800" b="1" dirty="0"/>
              <a:t>5 hours</a:t>
            </a:r>
            <a:r>
              <a:rPr lang="en-US" sz="2800" dirty="0"/>
              <a:t> and takes </a:t>
            </a:r>
            <a:r>
              <a:rPr lang="en-US" sz="2800" b="1" dirty="0"/>
              <a:t>3 practice tests</a:t>
            </a:r>
            <a:r>
              <a:rPr lang="en-US" sz="2800" dirty="0"/>
              <a:t>, the linear combination becomes:</a:t>
            </a:r>
            <a:endParaRPr lang="en-IN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7DFAB5-6C88-4029-B3D0-EABC78210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09" y="2820978"/>
            <a:ext cx="5169491" cy="168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940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88405A-A53C-F999-9A33-4A5A7388B22B}"/>
              </a:ext>
            </a:extLst>
          </p:cNvPr>
          <p:cNvSpPr txBox="1"/>
          <p:nvPr/>
        </p:nvSpPr>
        <p:spPr>
          <a:xfrm>
            <a:off x="236305" y="370138"/>
            <a:ext cx="9236467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dirty="0"/>
              <a:t>Step 3: Convert to Probability using Sigmoid Function</a:t>
            </a:r>
            <a:endParaRPr lang="en-I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117BF3-D10C-4F26-461D-D54458267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52" y="1205948"/>
            <a:ext cx="8578922" cy="3883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475A30-C98A-2C6D-6649-17F0041BC569}"/>
              </a:ext>
            </a:extLst>
          </p:cNvPr>
          <p:cNvSpPr txBox="1"/>
          <p:nvPr/>
        </p:nvSpPr>
        <p:spPr>
          <a:xfrm>
            <a:off x="575352" y="5564532"/>
            <a:ext cx="1101389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The model predicts that the student has a 97.07% probability of passing the exam based on 5 study hours and 3 practice tests.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502556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EC48-6F21-BEB0-EF1D-60B6049F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17367-EC56-8D4D-D77F-D85AD3302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https://www.youtube.com/watch?v=yIYKR4sgzI8&amp;t=189s</a:t>
            </a:r>
          </a:p>
        </p:txBody>
      </p:sp>
    </p:spTree>
    <p:extLst>
      <p:ext uri="{BB962C8B-B14F-4D97-AF65-F5344CB8AC3E}">
        <p14:creationId xmlns:p14="http://schemas.microsoft.com/office/powerpoint/2010/main" val="19322185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F7A52EDAFE114FEDA84ABFF8079A4B68"/>
  <p:tag name="SLIDETYPE" val="Q"/>
  <p:tag name="DEMOGRAPHIC" val="False"/>
  <p:tag name="TEAMASSIGN" val="False"/>
  <p:tag name="SPEEDSCORING" val="False"/>
  <p:tag name="CORRECTPOINTVALUE" val="1"/>
  <p:tag name="INCORRECTPOINTVALUE" val="0"/>
  <p:tag name="ZEROBASED" val="False"/>
  <p:tag name="NUMRESPONSES" val="1"/>
  <p:tag name="AUTOADVANCE" val="False"/>
  <p:tag name="DELIMITERS" val="3.1"/>
  <p:tag name="VALUEFORMAT" val="0%"/>
  <p:tag name="ANSWERSALIAS" val="Correct|smicln|Errors change|smicln|Not straight"/>
  <p:tag name="PICTURESLIDE" val="True"/>
  <p:tag name="COUNTDOWNSECONDS" val="20"/>
  <p:tag name="QUESTIONALIAS" val="Which of the following data are likely to be most appropriately modelled using a linear regression model?"/>
  <p:tag name="SLIDEORDER" val="3"/>
  <p:tag name="SLIDEGUID" val="67959AD414724447917E56992B5186F7"/>
  <p:tag name="RESTORECOUNTDOWNTIMER" val="True"/>
  <p:tag name="COUNTDOWNHEIGHT" val="80"/>
  <p:tag name="COUNTDOWNWIDTH" val="100"/>
  <p:tag name="RESPONSESGATHERED" val="True"/>
  <p:tag name="TOTALRESPONSES" val="4"/>
  <p:tag name="RESPONSECOUNT" val="4"/>
  <p:tag name="SLICED" val="False"/>
  <p:tag name="RESPONSES" val="-;-;-;-;1;-;-;1;-;-;-;-;-;-;-;-;-;-;-;1;-;-;-;-;-;-;-;-;-;1;-;-;-;-;-;-;-;-;"/>
  <p:tag name="CHARTSTRINGSTD" val="4 0 0"/>
  <p:tag name="CHARTSTRINGREV" val="0 0 4"/>
  <p:tag name="CHARTSTRINGSTDPER" val="1 0 0"/>
  <p:tag name="CHARTSTRINGREVPER" val="0 0 1"/>
  <p:tag name="ANONYMOUSTEMP" val="False"/>
  <p:tag name="VALUES" val="No Value|smicln|No Value|smicln|No Val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3"/>
  <p:tag name="TEXTLENGTH" val="34"/>
  <p:tag name="FONTSIZE" val="32"/>
  <p:tag name="BULLETTYPE" val="ppBulletArabicPeriod"/>
  <p:tag name="ANSWERTEXT" val="Correct&#10;Errors change&#10;Not straigh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RSHAPE" val="True"/>
  <p:tag name="SHAPETYPE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YPE" val="Style_Gemstone"/>
  <p:tag name="CDTIMELEFT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6767E2236BD54D6C8BAF1C88B058103D"/>
  <p:tag name="SLIDETYPE" val="Q"/>
  <p:tag name="DEMOGRAPHIC" val="False"/>
  <p:tag name="TEAMASSIGN" val="False"/>
  <p:tag name="SPEEDSCORING" val="False"/>
  <p:tag name="CORRECTPOINTVALUE" val="1"/>
  <p:tag name="INCORRECTPOINTVALUE" val="0"/>
  <p:tag name="ZEROBASED" val="False"/>
  <p:tag name="NUMRESPONSES" val="1"/>
  <p:tag name="AUTOADVANCE" val="False"/>
  <p:tag name="DELIMITERS" val="3.1"/>
  <p:tag name="VALUEFORMAT" val="0%"/>
  <p:tag name="ANSWERSALIAS" val="Pic1|smicln|Pic2|smicln|Pic correct"/>
  <p:tag name="PICTURESLIDE" val="True"/>
  <p:tag name="QUESTIONALIAS" val="Which of the following plots would have the greatest residual sum of squares [variance of 𝑦 about the fitted line]? "/>
  <p:tag name="SLIDEORDER" val="3"/>
  <p:tag name="SLIDEGUID" val="9AE039BE18B945629E51C2827195BF52"/>
  <p:tag name="COUNTDOWNSECONDS" val="20"/>
  <p:tag name="RESTORECOUNTDOWNTIMER" val="True"/>
  <p:tag name="COUNTDOWNHEIGHT" val="80"/>
  <p:tag name="COUNTDOWNWIDTH" val="100"/>
  <p:tag name="RESPONSESGATHERED" val="True"/>
  <p:tag name="TOTALRESPONSES" val="32"/>
  <p:tag name="RESPONSECOUNT" val="32"/>
  <p:tag name="SLICED" val="False"/>
  <p:tag name="RESPONSES" val="-;-;3;3;1;-;3;1;1;2;3;3;3;3;1;3;2;1;3;3;3;-;3;3;3;3;-;3;1;1;3;3;3;2;1;2;3;-;"/>
  <p:tag name="CHARTSTRINGSTD" val="8 4 20"/>
  <p:tag name="CHARTSTRINGREV" val="20 4 8"/>
  <p:tag name="CHARTSTRINGSTDPER" val="0.25 0.125 0.625"/>
  <p:tag name="CHARTSTRINGREVPER" val="0.625 0.125 0.25"/>
  <p:tag name="ANONYMOUSTEMP" val="False"/>
  <p:tag name="VALUES" val="No Value|smicln|No Value|smicln|No Val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3"/>
  <p:tag name="TEXTLENGTH" val="21"/>
  <p:tag name="FONTSIZE" val="32"/>
  <p:tag name="BULLETTYPE" val="ppBulletArabicPeriod"/>
  <p:tag name="ANSWERTEXT" val="Pic1&#10;Pic2&#10;Pic 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RSHAPE" val="True"/>
  <p:tag name="SHAPETYPE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YPE" val="Style_Gemstone"/>
  <p:tag name="CDTIMELEFT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BD44C2424B6E41A88CF35DF8CEC55C52"/>
  <p:tag name="SLIDETYPE" val="Q"/>
  <p:tag name="DEMOGRAPHIC" val="False"/>
  <p:tag name="TEAMASSIGN" val="False"/>
  <p:tag name="SPEEDSCORING" val="False"/>
  <p:tag name="CORRECTPOINTVALUE" val="1"/>
  <p:tag name="INCORRECTPOINTVALUE" val="0"/>
  <p:tag name="ZEROBASED" val="False"/>
  <p:tag name="NUMRESPONSES" val="1"/>
  <p:tag name="AUTOADVANCE" val="False"/>
  <p:tag name="DELIMITERS" val="3.1"/>
  <p:tag name="VALUEFORMAT" val="0%"/>
  <p:tag name="ANSWERSALIAS" val="Pic1|smicln|Pic2|smicln|Pic correct|smicln|pic4"/>
  <p:tag name="PICTURESLIDE" val="True"/>
  <p:tag name="QUESTIONALIAS" val="The line 𝑦=4+2𝑥 has been proposed as a line of best for the following four sets of data. For which data set is this line the best fit (minimum 𝐸= 𝑖   𝑒 𝑖 2  )?"/>
  <p:tag name="SLIDEORDER" val="3"/>
  <p:tag name="SLIDEGUID" val="59AA4F8D0A19474890684CC63E266826"/>
  <p:tag name="COUNTDOWNSECONDS" val="30"/>
  <p:tag name="VALUES" val="Incorrect|smicln|Incorrect|smicln|Correct|smicln|Incorrect"/>
  <p:tag name="RESTORECOUNTDOWNTIMER" val="True"/>
  <p:tag name="COUNTDOWNHEIGHT" val="80"/>
  <p:tag name="COUNTDOWNWIDTH" val="100"/>
  <p:tag name="RESPONSESGATHERED" val="True"/>
  <p:tag name="TOTALRESPONSES" val="32"/>
  <p:tag name="RESPONSECOUNT" val="32"/>
  <p:tag name="SLICED" val="False"/>
  <p:tag name="RESPONSES" val="1;1;4;1;1;-;1;3;-;2;1;1;3;3;1;1;3;3;3;3;1;3;3;-;1;-;3;1;-;4;1;1;1;-;1;1;1;1;"/>
  <p:tag name="CHARTSTRINGSTD" val="19 1 10 2"/>
  <p:tag name="CHARTSTRINGREV" val="2 10 1 19"/>
  <p:tag name="CHARTSTRINGSTDPER" val="0.59375 0.03125 0.3125 0.0625"/>
  <p:tag name="CHARTSTRINGREVPER" val="0.0625 0.3125 0.03125 0.59375"/>
  <p:tag name="ANONYMOUSTEMP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4"/>
  <p:tag name="TEXTLENGTH" val="26"/>
  <p:tag name="FONTSIZE" val="32"/>
  <p:tag name="BULLETTYPE" val="ppBulletArabicPeriod"/>
  <p:tag name="ANSWERTEXT" val="Pic1&#10;Pic2&#10;Pic correct&#10;pic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RSHAPE" val="True"/>
  <p:tag name="SHAPETYPE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YPE" val="Style_Gemstone"/>
  <p:tag name="CDTIMELEFT" val="3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1534</Words>
  <Application>Microsoft Office PowerPoint</Application>
  <PresentationFormat>Widescreen</PresentationFormat>
  <Paragraphs>210</Paragraphs>
  <Slides>44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7" baseType="lpstr">
      <vt:lpstr>Arial</vt:lpstr>
      <vt:lpstr>Arial Unicode MS</vt:lpstr>
      <vt:lpstr>Calibri</vt:lpstr>
      <vt:lpstr>Calibri Light</vt:lpstr>
      <vt:lpstr>Cambria Math</vt:lpstr>
      <vt:lpstr>PT Serif</vt:lpstr>
      <vt:lpstr>Tahoma</vt:lpstr>
      <vt:lpstr>Times</vt:lpstr>
      <vt:lpstr>Times New Roman</vt:lpstr>
      <vt:lpstr>Office Theme</vt:lpstr>
      <vt:lpstr>Default Design</vt:lpstr>
      <vt:lpstr>Chart</vt:lpstr>
      <vt:lpstr>Equation</vt:lpstr>
      <vt:lpstr>Linear Regression</vt:lpstr>
      <vt:lpstr>Linear Regression</vt:lpstr>
      <vt:lpstr>Linear Regression</vt:lpstr>
      <vt:lpstr>Dependent and Independent Variable</vt:lpstr>
      <vt:lpstr>Linear Regression</vt:lpstr>
      <vt:lpstr>Types of Linear Regression</vt:lpstr>
      <vt:lpstr>Linear Regression : Single Variable</vt:lpstr>
      <vt:lpstr>Deterministic Component of Model</vt:lpstr>
      <vt:lpstr>PowerPoint Presentation</vt:lpstr>
      <vt:lpstr>Single Linear Regression : Problem</vt:lpstr>
      <vt:lpstr>PowerPoint Presentation</vt:lpstr>
      <vt:lpstr>Compute Slope (β1)Using Mean Based Formula</vt:lpstr>
      <vt:lpstr>PowerPoint Presentation</vt:lpstr>
      <vt:lpstr>Finding the Best Fit Line (Ordinary Least Squares Method - OLS)</vt:lpstr>
      <vt:lpstr>PowerPoint Presentation</vt:lpstr>
      <vt:lpstr>PowerPoint Presentation</vt:lpstr>
      <vt:lpstr>Error Metrics</vt:lpstr>
      <vt:lpstr>PowerPoint Presentation</vt:lpstr>
      <vt:lpstr>Uses of Regression</vt:lpstr>
      <vt:lpstr>Which of the following data are likely to be most appropriately modelled using a linear regression model?</vt:lpstr>
      <vt:lpstr>Which of the following plots would have the greatest residual sum of squares [variance of y about the fitted line]? </vt:lpstr>
      <vt:lpstr>The line y=4+2x has been proposed as a line of best fit for the following four sets of data. For which data set is this line the best fit (minimum E=∑_i▒e_i^2 )?</vt:lpstr>
      <vt:lpstr>Multiple Linear Regression</vt:lpstr>
      <vt:lpstr>Example of Multiple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Logistic Regression</vt:lpstr>
      <vt:lpstr>Formula for Logistic Function</vt:lpstr>
      <vt:lpstr>Sigmoid function</vt:lpstr>
      <vt:lpstr>PowerPoint Presentation</vt:lpstr>
      <vt:lpstr>Example of Logistic Regression Converting a Linear Combination to Probability</vt:lpstr>
      <vt:lpstr>PowerPoint Presentation</vt:lpstr>
      <vt:lpstr>PowerPoint Presentation</vt:lpstr>
      <vt:lpstr>PowerPoint Presentation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creator>BMS</dc:creator>
  <cp:lastModifiedBy>admin</cp:lastModifiedBy>
  <cp:revision>71</cp:revision>
  <dcterms:created xsi:type="dcterms:W3CDTF">2025-03-01T08:06:26Z</dcterms:created>
  <dcterms:modified xsi:type="dcterms:W3CDTF">2026-02-07T07:30:27Z</dcterms:modified>
</cp:coreProperties>
</file>