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9"/>
  </p:notesMasterIdLst>
  <p:sldIdLst>
    <p:sldId id="256" r:id="rId2"/>
    <p:sldId id="257" r:id="rId3"/>
    <p:sldId id="281" r:id="rId4"/>
    <p:sldId id="286" r:id="rId5"/>
    <p:sldId id="258" r:id="rId6"/>
    <p:sldId id="269" r:id="rId7"/>
    <p:sldId id="260" r:id="rId8"/>
    <p:sldId id="274" r:id="rId9"/>
    <p:sldId id="389" r:id="rId10"/>
    <p:sldId id="288" r:id="rId11"/>
    <p:sldId id="390" r:id="rId12"/>
    <p:sldId id="381" r:id="rId13"/>
    <p:sldId id="393" r:id="rId14"/>
    <p:sldId id="394" r:id="rId15"/>
    <p:sldId id="395" r:id="rId16"/>
    <p:sldId id="287" r:id="rId17"/>
    <p:sldId id="392" r:id="rId18"/>
    <p:sldId id="391" r:id="rId19"/>
    <p:sldId id="282" r:id="rId20"/>
    <p:sldId id="283" r:id="rId21"/>
    <p:sldId id="400" r:id="rId22"/>
    <p:sldId id="401" r:id="rId23"/>
    <p:sldId id="398" r:id="rId24"/>
    <p:sldId id="397" r:id="rId25"/>
    <p:sldId id="399" r:id="rId26"/>
    <p:sldId id="396" r:id="rId27"/>
    <p:sldId id="270" r:id="rId28"/>
    <p:sldId id="278" r:id="rId29"/>
    <p:sldId id="276" r:id="rId30"/>
    <p:sldId id="279" r:id="rId31"/>
    <p:sldId id="268" r:id="rId32"/>
    <p:sldId id="275" r:id="rId33"/>
    <p:sldId id="264" r:id="rId34"/>
    <p:sldId id="271" r:id="rId35"/>
    <p:sldId id="265" r:id="rId36"/>
    <p:sldId id="266" r:id="rId37"/>
    <p:sldId id="267"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9BECCF9-8150-4A46-B41C-D24DF1519FE8}" type="datetimeFigureOut">
              <a:rPr lang="en-IN" smtClean="0"/>
              <a:t>11-03-2026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1F8D34-7D0F-41AD-A973-71DCD3307C73}" type="slidenum">
              <a:rPr lang="en-IN" smtClean="0"/>
              <a:t>‹#›</a:t>
            </a:fld>
            <a:endParaRPr lang="en-IN"/>
          </a:p>
        </p:txBody>
      </p:sp>
    </p:spTree>
    <p:extLst>
      <p:ext uri="{BB962C8B-B14F-4D97-AF65-F5344CB8AC3E}">
        <p14:creationId xmlns:p14="http://schemas.microsoft.com/office/powerpoint/2010/main" val="30733163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68337A4F-9F19-C97B-96A8-53DDEB763715}"/>
              </a:ext>
            </a:extLst>
          </p:cNvPr>
          <p:cNvSpPr>
            <a:spLocks noGrp="1" noChangeArrowheads="1"/>
          </p:cNvSpPr>
          <p:nvPr>
            <p:ph type="sldNum" sz="quarter" idx="5"/>
          </p:nvPr>
        </p:nvSpPr>
        <p:spPr>
          <a:ln/>
        </p:spPr>
        <p:txBody>
          <a:bodyPr/>
          <a:lstStyle/>
          <a:p>
            <a:pPr marL="0" marR="0" lvl="0" indent="0" algn="r" defTabSz="914400" rtl="0" eaLnBrk="1" fontAlgn="base" latinLnBrk="0" hangingPunct="1">
              <a:lnSpc>
                <a:spcPct val="100000"/>
              </a:lnSpc>
              <a:spcBef>
                <a:spcPct val="0"/>
              </a:spcBef>
              <a:spcAft>
                <a:spcPct val="0"/>
              </a:spcAft>
              <a:buClrTx/>
              <a:buSzTx/>
              <a:buFontTx/>
              <a:buNone/>
              <a:tabLst/>
              <a:defRPr/>
            </a:pPr>
            <a:fld id="{641C3427-7D50-4836-A8B0-48F2F5D9D4E1}" type="slidenum">
              <a:rPr kumimoji="0" lang="en-US" altLang="en-US" sz="1200" b="0" i="0" u="none" strike="noStrike" kern="1200" cap="none" spc="0" normalizeH="0" baseline="0" noProof="0" smtClean="0">
                <a:ln>
                  <a:noFill/>
                </a:ln>
                <a:solidFill>
                  <a:srgbClr val="000000"/>
                </a:solidFill>
                <a:effectLst/>
                <a:uLnTx/>
                <a:uFillTx/>
                <a:latin typeface="Arial" panose="020B0604020202020204" pitchFamily="34" charset="0"/>
                <a:ea typeface="+mn-ea"/>
                <a:cs typeface="+mn-cs"/>
              </a:rPr>
              <a:pPr marL="0" marR="0" lvl="0" indent="0" algn="r" defTabSz="914400" rtl="0" eaLnBrk="1" fontAlgn="base" latinLnBrk="0" hangingPunct="1">
                <a:lnSpc>
                  <a:spcPct val="100000"/>
                </a:lnSpc>
                <a:spcBef>
                  <a:spcPct val="0"/>
                </a:spcBef>
                <a:spcAft>
                  <a:spcPct val="0"/>
                </a:spcAft>
                <a:buClrTx/>
                <a:buSzTx/>
                <a:buFontTx/>
                <a:buNone/>
                <a:tabLst/>
                <a:defRPr/>
              </a:pPr>
              <a:t>12</a:t>
            </a:fld>
            <a:endParaRPr kumimoji="0" lang="en-US" altLang="en-US" sz="1200" b="0" i="0" u="none" strike="noStrike" kern="1200" cap="none" spc="0" normalizeH="0" baseline="0" noProof="0">
              <a:ln>
                <a:noFill/>
              </a:ln>
              <a:solidFill>
                <a:srgbClr val="000000"/>
              </a:solidFill>
              <a:effectLst/>
              <a:uLnTx/>
              <a:uFillTx/>
              <a:latin typeface="Arial" panose="020B0604020202020204" pitchFamily="34" charset="0"/>
              <a:ea typeface="+mn-ea"/>
              <a:cs typeface="+mn-cs"/>
            </a:endParaRPr>
          </a:p>
        </p:txBody>
      </p:sp>
      <p:sp>
        <p:nvSpPr>
          <p:cNvPr id="172034" name="Rectangle 2">
            <a:extLst>
              <a:ext uri="{FF2B5EF4-FFF2-40B4-BE49-F238E27FC236}">
                <a16:creationId xmlns:a16="http://schemas.microsoft.com/office/drawing/2014/main" id="{3DA15534-F02B-B4D1-4C22-F4FCEDBC0F97}"/>
              </a:ext>
            </a:extLst>
          </p:cNvPr>
          <p:cNvSpPr>
            <a:spLocks noGrp="1" noRot="1" noChangeAspect="1" noChangeArrowheads="1" noTextEdit="1"/>
          </p:cNvSpPr>
          <p:nvPr>
            <p:ph type="sldImg"/>
          </p:nvPr>
        </p:nvSpPr>
        <p:spPr>
          <a:ln/>
        </p:spPr>
      </p:sp>
      <p:sp>
        <p:nvSpPr>
          <p:cNvPr id="172035" name="Rectangle 3">
            <a:extLst>
              <a:ext uri="{FF2B5EF4-FFF2-40B4-BE49-F238E27FC236}">
                <a16:creationId xmlns:a16="http://schemas.microsoft.com/office/drawing/2014/main" id="{E5F348E6-63B1-13A8-1C61-AB3321CE9E2B}"/>
              </a:ext>
            </a:extLst>
          </p:cNvPr>
          <p:cNvSpPr>
            <a:spLocks noGrp="1" noChangeArrowheads="1"/>
          </p:cNvSpPr>
          <p:nvPr>
            <p:ph type="body" idx="1"/>
          </p:nvPr>
        </p:nvSpPr>
        <p:spPr/>
        <p:txBody>
          <a:bodyPr/>
          <a:lstStyle/>
          <a:p>
            <a:endParaRPr lang="en-US" altLang="en-US"/>
          </a:p>
        </p:txBody>
      </p:sp>
    </p:spTree>
    <p:extLst>
      <p:ext uri="{BB962C8B-B14F-4D97-AF65-F5344CB8AC3E}">
        <p14:creationId xmlns:p14="http://schemas.microsoft.com/office/powerpoint/2010/main" val="2055643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get started with introduction to AI, I would like you to watch this 2 minute </a:t>
            </a:r>
            <a:r>
              <a:rPr lang="en-US" baseline="0" dirty="0"/>
              <a:t> from Boston Dynamics</a:t>
            </a:r>
          </a:p>
          <a:p>
            <a:r>
              <a:rPr lang="en-US" baseline="0" dirty="0"/>
              <a:t>After watching</a:t>
            </a:r>
          </a:p>
          <a:p>
            <a:r>
              <a:rPr lang="en-US" baseline="0" dirty="0"/>
              <a:t>What you have observed in this video, it is natural or artificial ?</a:t>
            </a:r>
          </a:p>
          <a:p>
            <a:endParaRPr lang="en-US" baseline="0" dirty="0"/>
          </a:p>
          <a:p>
            <a:r>
              <a:rPr lang="en-US" baseline="0" dirty="0"/>
              <a:t>Boston Dynamics a Robotics Company</a:t>
            </a:r>
            <a:endParaRPr lang="en-US" dirty="0"/>
          </a:p>
        </p:txBody>
      </p:sp>
      <p:sp>
        <p:nvSpPr>
          <p:cNvPr id="4" name="Slide Number Placeholder 3"/>
          <p:cNvSpPr>
            <a:spLocks noGrp="1"/>
          </p:cNvSpPr>
          <p:nvPr>
            <p:ph type="sldNum" sz="quarter" idx="10"/>
          </p:nvPr>
        </p:nvSpPr>
        <p:spPr/>
        <p:txBody>
          <a:bodyPr/>
          <a:lstStyle/>
          <a:p>
            <a:fld id="{C74CF1EF-08E9-4CAE-8B3C-D98EE6374704}" type="slidenum">
              <a:rPr lang="en-US" smtClean="0"/>
              <a:t>17</a:t>
            </a:fld>
            <a:endParaRPr lang="en-US"/>
          </a:p>
        </p:txBody>
      </p:sp>
    </p:spTree>
    <p:extLst>
      <p:ext uri="{BB962C8B-B14F-4D97-AF65-F5344CB8AC3E}">
        <p14:creationId xmlns:p14="http://schemas.microsoft.com/office/powerpoint/2010/main" val="22938488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BDD49D2F-80C2-4867-A665-37F9E8C476DF}" type="datetimeFigureOut">
              <a:rPr lang="en-IN" smtClean="0"/>
              <a:t>11-03-2026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4196869-7455-406E-999D-308947D107F2}" type="slidenum">
              <a:rPr lang="en-IN" smtClean="0"/>
              <a:t>‹#›</a:t>
            </a:fld>
            <a:endParaRPr lang="en-IN"/>
          </a:p>
        </p:txBody>
      </p:sp>
    </p:spTree>
    <p:extLst>
      <p:ext uri="{BB962C8B-B14F-4D97-AF65-F5344CB8AC3E}">
        <p14:creationId xmlns:p14="http://schemas.microsoft.com/office/powerpoint/2010/main" val="3824957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BDD49D2F-80C2-4867-A665-37F9E8C476DF}" type="datetimeFigureOut">
              <a:rPr lang="en-IN" smtClean="0"/>
              <a:t>11-03-2026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4196869-7455-406E-999D-308947D107F2}" type="slidenum">
              <a:rPr lang="en-IN" smtClean="0"/>
              <a:t>‹#›</a:t>
            </a:fld>
            <a:endParaRPr lang="en-IN"/>
          </a:p>
        </p:txBody>
      </p:sp>
    </p:spTree>
    <p:extLst>
      <p:ext uri="{BB962C8B-B14F-4D97-AF65-F5344CB8AC3E}">
        <p14:creationId xmlns:p14="http://schemas.microsoft.com/office/powerpoint/2010/main" val="40875106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D49D2F-80C2-4867-A665-37F9E8C476DF}" type="datetimeFigureOut">
              <a:rPr lang="en-IN" smtClean="0"/>
              <a:t>11-03-2026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4196869-7455-406E-999D-308947D107F2}" type="slidenum">
              <a:rPr lang="en-IN" smtClean="0"/>
              <a:t>‹#›</a:t>
            </a:fld>
            <a:endParaRPr lang="en-IN"/>
          </a:p>
        </p:txBody>
      </p:sp>
    </p:spTree>
    <p:extLst>
      <p:ext uri="{BB962C8B-B14F-4D97-AF65-F5344CB8AC3E}">
        <p14:creationId xmlns:p14="http://schemas.microsoft.com/office/powerpoint/2010/main" val="2169467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BDD49D2F-80C2-4867-A665-37F9E8C476DF}" type="datetimeFigureOut">
              <a:rPr lang="en-IN" smtClean="0"/>
              <a:t>11-03-2026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4196869-7455-406E-999D-308947D107F2}" type="slidenum">
              <a:rPr lang="en-IN" smtClean="0"/>
              <a:t>‹#›</a:t>
            </a:fld>
            <a:endParaRPr lang="en-IN"/>
          </a:p>
        </p:txBody>
      </p:sp>
    </p:spTree>
    <p:extLst>
      <p:ext uri="{BB962C8B-B14F-4D97-AF65-F5344CB8AC3E}">
        <p14:creationId xmlns:p14="http://schemas.microsoft.com/office/powerpoint/2010/main" val="213186704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BDD49D2F-80C2-4867-A665-37F9E8C476DF}" type="datetimeFigureOut">
              <a:rPr lang="en-IN" smtClean="0"/>
              <a:t>11-03-2026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4196869-7455-406E-999D-308947D107F2}" type="slidenum">
              <a:rPr lang="en-IN" smtClean="0"/>
              <a:t>‹#›</a:t>
            </a:fld>
            <a:endParaRPr lang="en-IN"/>
          </a:p>
        </p:txBody>
      </p:sp>
    </p:spTree>
    <p:extLst>
      <p:ext uri="{BB962C8B-B14F-4D97-AF65-F5344CB8AC3E}">
        <p14:creationId xmlns:p14="http://schemas.microsoft.com/office/powerpoint/2010/main" val="28204853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BDD49D2F-80C2-4867-A665-37F9E8C476DF}" type="datetimeFigureOut">
              <a:rPr lang="en-IN" smtClean="0"/>
              <a:t>11-03-2026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4196869-7455-406E-999D-308947D107F2}" type="slidenum">
              <a:rPr lang="en-IN" smtClean="0"/>
              <a:t>‹#›</a:t>
            </a:fld>
            <a:endParaRPr lang="en-IN"/>
          </a:p>
        </p:txBody>
      </p:sp>
    </p:spTree>
    <p:extLst>
      <p:ext uri="{BB962C8B-B14F-4D97-AF65-F5344CB8AC3E}">
        <p14:creationId xmlns:p14="http://schemas.microsoft.com/office/powerpoint/2010/main" val="12875907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DD49D2F-80C2-4867-A665-37F9E8C476DF}" type="datetimeFigureOut">
              <a:rPr lang="en-IN" smtClean="0"/>
              <a:t>11-03-2026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4196869-7455-406E-999D-308947D107F2}" type="slidenum">
              <a:rPr lang="en-IN" smtClean="0"/>
              <a:t>‹#›</a:t>
            </a:fld>
            <a:endParaRPr lang="en-IN"/>
          </a:p>
        </p:txBody>
      </p:sp>
    </p:spTree>
    <p:extLst>
      <p:ext uri="{BB962C8B-B14F-4D97-AF65-F5344CB8AC3E}">
        <p14:creationId xmlns:p14="http://schemas.microsoft.com/office/powerpoint/2010/main" val="24558030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DD49D2F-80C2-4867-A665-37F9E8C476DF}" type="datetimeFigureOut">
              <a:rPr lang="en-IN" smtClean="0"/>
              <a:t>11-03-2026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4196869-7455-406E-999D-308947D107F2}" type="slidenum">
              <a:rPr lang="en-IN" smtClean="0"/>
              <a:t>‹#›</a:t>
            </a:fld>
            <a:endParaRPr lang="en-IN"/>
          </a:p>
        </p:txBody>
      </p:sp>
    </p:spTree>
    <p:extLst>
      <p:ext uri="{BB962C8B-B14F-4D97-AF65-F5344CB8AC3E}">
        <p14:creationId xmlns:p14="http://schemas.microsoft.com/office/powerpoint/2010/main" val="5147053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DD49D2F-80C2-4867-A665-37F9E8C476DF}" type="datetimeFigureOut">
              <a:rPr lang="en-IN" smtClean="0"/>
              <a:t>11-03-2026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4196869-7455-406E-999D-308947D107F2}" type="slidenum">
              <a:rPr lang="en-IN" smtClean="0"/>
              <a:t>‹#›</a:t>
            </a:fld>
            <a:endParaRPr lang="en-IN"/>
          </a:p>
        </p:txBody>
      </p:sp>
    </p:spTree>
    <p:extLst>
      <p:ext uri="{BB962C8B-B14F-4D97-AF65-F5344CB8AC3E}">
        <p14:creationId xmlns:p14="http://schemas.microsoft.com/office/powerpoint/2010/main" val="18122628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BDD49D2F-80C2-4867-A665-37F9E8C476DF}" type="datetimeFigureOut">
              <a:rPr lang="en-IN" smtClean="0"/>
              <a:t>11-03-2026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4196869-7455-406E-999D-308947D107F2}" type="slidenum">
              <a:rPr lang="en-IN" smtClean="0"/>
              <a:t>‹#›</a:t>
            </a:fld>
            <a:endParaRPr lang="en-IN"/>
          </a:p>
        </p:txBody>
      </p:sp>
    </p:spTree>
    <p:extLst>
      <p:ext uri="{BB962C8B-B14F-4D97-AF65-F5344CB8AC3E}">
        <p14:creationId xmlns:p14="http://schemas.microsoft.com/office/powerpoint/2010/main" val="58389680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BDD49D2F-80C2-4867-A665-37F9E8C476DF}" type="datetimeFigureOut">
              <a:rPr lang="en-IN" smtClean="0"/>
              <a:t>11-03-2026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4196869-7455-406E-999D-308947D107F2}" type="slidenum">
              <a:rPr lang="en-IN" smtClean="0"/>
              <a:t>‹#›</a:t>
            </a:fld>
            <a:endParaRPr lang="en-IN"/>
          </a:p>
        </p:txBody>
      </p:sp>
    </p:spTree>
    <p:extLst>
      <p:ext uri="{BB962C8B-B14F-4D97-AF65-F5344CB8AC3E}">
        <p14:creationId xmlns:p14="http://schemas.microsoft.com/office/powerpoint/2010/main" val="216300423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DD49D2F-80C2-4867-A665-37F9E8C476DF}" type="datetimeFigureOut">
              <a:rPr lang="en-IN" smtClean="0"/>
              <a:t>11-03-2026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4196869-7455-406E-999D-308947D107F2}" type="slidenum">
              <a:rPr lang="en-IN" smtClean="0"/>
              <a:t>‹#›</a:t>
            </a:fld>
            <a:endParaRPr lang="en-IN"/>
          </a:p>
        </p:txBody>
      </p:sp>
    </p:spTree>
    <p:extLst>
      <p:ext uri="{BB962C8B-B14F-4D97-AF65-F5344CB8AC3E}">
        <p14:creationId xmlns:p14="http://schemas.microsoft.com/office/powerpoint/2010/main" val="35479243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scikit-learn.org/stable/modules/svm.html"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1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hyperlink" Target="https://ignite.apache.org/docs/latest/machine-learning/binary-classification/linear-svm" TargetMode="Externa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hyperlink" Target="https://www.ibm.com/think/topics/machine-learning" TargetMode="Externa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solidFill>
                  <a:srgbClr val="FF0000"/>
                </a:solidFill>
              </a:rPr>
              <a:t>Support Vector Machine (SVM)</a:t>
            </a:r>
            <a:endParaRPr lang="en-IN" dirty="0">
              <a:solidFill>
                <a:srgbClr val="FF0000"/>
              </a:solidFill>
            </a:endParaRPr>
          </a:p>
        </p:txBody>
      </p:sp>
      <p:sp>
        <p:nvSpPr>
          <p:cNvPr id="3" name="Subtitle 2"/>
          <p:cNvSpPr>
            <a:spLocks noGrp="1"/>
          </p:cNvSpPr>
          <p:nvPr>
            <p:ph type="subTitle" idx="1"/>
          </p:nvPr>
        </p:nvSpPr>
        <p:spPr/>
        <p:txBody>
          <a:bodyPr/>
          <a:lstStyle/>
          <a:p>
            <a:endParaRPr lang="en-IN"/>
          </a:p>
        </p:txBody>
      </p:sp>
    </p:spTree>
    <p:extLst>
      <p:ext uri="{BB962C8B-B14F-4D97-AF65-F5344CB8AC3E}">
        <p14:creationId xmlns:p14="http://schemas.microsoft.com/office/powerpoint/2010/main" val="27969486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600" cy="761031"/>
          </a:xfrm>
        </p:spPr>
        <p:txBody>
          <a:bodyPr/>
          <a:lstStyle/>
          <a:p>
            <a:r>
              <a:rPr lang="en-IN" b="1" dirty="0">
                <a:solidFill>
                  <a:srgbClr val="FF0000"/>
                </a:solidFill>
              </a:rPr>
              <a:t>Introduction</a:t>
            </a:r>
            <a:endParaRPr lang="en-IN" dirty="0"/>
          </a:p>
        </p:txBody>
      </p:sp>
      <p:sp>
        <p:nvSpPr>
          <p:cNvPr id="3" name="Content Placeholder 2"/>
          <p:cNvSpPr>
            <a:spLocks noGrp="1"/>
          </p:cNvSpPr>
          <p:nvPr>
            <p:ph idx="1"/>
          </p:nvPr>
        </p:nvSpPr>
        <p:spPr>
          <a:xfrm>
            <a:off x="838200" y="1253331"/>
            <a:ext cx="10515600" cy="5239544"/>
          </a:xfrm>
        </p:spPr>
        <p:txBody>
          <a:bodyPr>
            <a:noAutofit/>
          </a:bodyPr>
          <a:lstStyle/>
          <a:p>
            <a:pPr algn="just"/>
            <a:r>
              <a:rPr lang="en-US" dirty="0"/>
              <a:t>Support Vector Machine (SVM) is a supervised learning algorithm used for classification and regression tasks. It is also called as Maximum Margin Classifier</a:t>
            </a:r>
          </a:p>
          <a:p>
            <a:pPr algn="just"/>
            <a:r>
              <a:rPr lang="en-US" dirty="0">
                <a:hlinkClick r:id="rId2"/>
              </a:rPr>
              <a:t>SVM</a:t>
            </a:r>
            <a:r>
              <a:rPr lang="en-US" dirty="0"/>
              <a:t> finds a </a:t>
            </a:r>
            <a:r>
              <a:rPr lang="en-US" dirty="0">
                <a:solidFill>
                  <a:srgbClr val="FF0000"/>
                </a:solidFill>
              </a:rPr>
              <a:t>hyperplane</a:t>
            </a:r>
            <a:r>
              <a:rPr lang="en-US" dirty="0"/>
              <a:t> that segregates the labeled dataset into two classes.</a:t>
            </a:r>
          </a:p>
          <a:p>
            <a:pPr algn="just"/>
            <a:r>
              <a:rPr lang="en-US" dirty="0"/>
              <a:t>In machine learning and higher-dimensional geometry, </a:t>
            </a:r>
            <a:r>
              <a:rPr lang="en-US" b="1" dirty="0"/>
              <a:t>a hyperplane is a flat, n-1 dimensional subspace that divides an n-dimensional space into two regions</a:t>
            </a:r>
            <a:r>
              <a:rPr lang="en-US" dirty="0"/>
              <a:t>, often used as a decision boundary in classification or regression tasks. </a:t>
            </a:r>
          </a:p>
          <a:p>
            <a:pPr algn="just"/>
            <a:r>
              <a:rPr lang="en-US" dirty="0"/>
              <a:t>It is particularly </a:t>
            </a:r>
            <a:r>
              <a:rPr lang="en-US" dirty="0">
                <a:solidFill>
                  <a:srgbClr val="FF0000"/>
                </a:solidFill>
              </a:rPr>
              <a:t>effective for high-dimensional spaces </a:t>
            </a:r>
            <a:r>
              <a:rPr lang="en-US" dirty="0"/>
              <a:t>and is widely used in machine learning applications such as text classification, image recognition, and bioinformatics.</a:t>
            </a:r>
          </a:p>
          <a:p>
            <a:pPr algn="just"/>
            <a:endParaRPr lang="en-IN" dirty="0"/>
          </a:p>
        </p:txBody>
      </p:sp>
    </p:spTree>
    <p:extLst>
      <p:ext uri="{BB962C8B-B14F-4D97-AF65-F5344CB8AC3E}">
        <p14:creationId xmlns:p14="http://schemas.microsoft.com/office/powerpoint/2010/main" val="35917429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FF0000"/>
                </a:solidFill>
              </a:rPr>
              <a:t>Types of SVM</a:t>
            </a:r>
            <a:endParaRPr lang="en-IN" b="1" dirty="0">
              <a:solidFill>
                <a:srgbClr val="FF0000"/>
              </a:solidFill>
            </a:endParaRPr>
          </a:p>
        </p:txBody>
      </p:sp>
      <p:sp>
        <p:nvSpPr>
          <p:cNvPr id="3" name="Content Placeholder 2"/>
          <p:cNvSpPr>
            <a:spLocks noGrp="1"/>
          </p:cNvSpPr>
          <p:nvPr>
            <p:ph idx="1"/>
          </p:nvPr>
        </p:nvSpPr>
        <p:spPr/>
        <p:txBody>
          <a:bodyPr/>
          <a:lstStyle/>
          <a:p>
            <a:pPr marL="0" indent="0">
              <a:buNone/>
            </a:pPr>
            <a:r>
              <a:rPr lang="en-IN" sz="3200" b="0" i="0" dirty="0">
                <a:solidFill>
                  <a:srgbClr val="1F1F1F"/>
                </a:solidFill>
                <a:effectLst/>
              </a:rPr>
              <a:t>Support Vector Machines (SVMs) come in two main types</a:t>
            </a:r>
          </a:p>
          <a:p>
            <a:pPr lvl="1"/>
            <a:r>
              <a:rPr lang="en-IN" sz="2800" b="1" i="0" dirty="0">
                <a:solidFill>
                  <a:srgbClr val="1F1F1F"/>
                </a:solidFill>
                <a:effectLst/>
                <a:latin typeface="Google Sans"/>
              </a:rPr>
              <a:t>Linear SVM</a:t>
            </a:r>
          </a:p>
          <a:p>
            <a:pPr lvl="2"/>
            <a:r>
              <a:rPr lang="en-IN" sz="2800" dirty="0">
                <a:solidFill>
                  <a:srgbClr val="1F1F1F"/>
                </a:solidFill>
                <a:latin typeface="Google Sans"/>
              </a:rPr>
              <a:t>U</a:t>
            </a:r>
            <a:r>
              <a:rPr lang="en-IN" sz="2800" b="0" i="0" dirty="0">
                <a:solidFill>
                  <a:srgbClr val="1F1F1F"/>
                </a:solidFill>
                <a:effectLst/>
                <a:latin typeface="Google Sans"/>
              </a:rPr>
              <a:t>sed for linearly separable data</a:t>
            </a:r>
          </a:p>
          <a:p>
            <a:pPr lvl="1"/>
            <a:r>
              <a:rPr lang="en-IN" sz="2800" b="1" i="0" dirty="0">
                <a:solidFill>
                  <a:srgbClr val="1F1F1F"/>
                </a:solidFill>
                <a:effectLst/>
                <a:latin typeface="Google Sans"/>
              </a:rPr>
              <a:t>Non-linear SVM</a:t>
            </a:r>
          </a:p>
          <a:p>
            <a:pPr lvl="2"/>
            <a:r>
              <a:rPr lang="en-IN" sz="2800" dirty="0">
                <a:solidFill>
                  <a:srgbClr val="1F1F1F"/>
                </a:solidFill>
                <a:latin typeface="Google Sans"/>
              </a:rPr>
              <a:t>W</a:t>
            </a:r>
            <a:r>
              <a:rPr lang="en-IN" sz="2800" b="0" i="0" dirty="0">
                <a:solidFill>
                  <a:srgbClr val="1F1F1F"/>
                </a:solidFill>
                <a:effectLst/>
                <a:latin typeface="Google Sans"/>
              </a:rPr>
              <a:t>hich handles complex data using kernel functions like RBF and polynomial. </a:t>
            </a:r>
            <a:endParaRPr lang="en-IN" sz="2800" dirty="0"/>
          </a:p>
        </p:txBody>
      </p:sp>
    </p:spTree>
    <p:extLst>
      <p:ext uri="{BB962C8B-B14F-4D97-AF65-F5344CB8AC3E}">
        <p14:creationId xmlns:p14="http://schemas.microsoft.com/office/powerpoint/2010/main" val="9140342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48BBBB-B1A6-3F79-837C-2C3243DCD753}"/>
              </a:ext>
            </a:extLst>
          </p:cNvPr>
          <p:cNvSpPr>
            <a:spLocks noGrp="1"/>
          </p:cNvSpPr>
          <p:nvPr>
            <p:ph type="title"/>
          </p:nvPr>
        </p:nvSpPr>
        <p:spPr/>
        <p:txBody>
          <a:bodyPr/>
          <a:lstStyle/>
          <a:p>
            <a:r>
              <a:rPr lang="en-US" b="1" dirty="0">
                <a:solidFill>
                  <a:srgbClr val="FF0000"/>
                </a:solidFill>
              </a:rPr>
              <a:t>Linear SVM</a:t>
            </a:r>
            <a:endParaRPr lang="en-IN" b="1" dirty="0">
              <a:solidFill>
                <a:srgbClr val="FF0000"/>
              </a:solidFill>
            </a:endParaRPr>
          </a:p>
        </p:txBody>
      </p:sp>
      <p:sp>
        <p:nvSpPr>
          <p:cNvPr id="3" name="Content Placeholder 2">
            <a:extLst>
              <a:ext uri="{FF2B5EF4-FFF2-40B4-BE49-F238E27FC236}">
                <a16:creationId xmlns:a16="http://schemas.microsoft.com/office/drawing/2014/main" id="{5D167CFF-5061-2A79-123F-013758F9EB05}"/>
              </a:ext>
            </a:extLst>
          </p:cNvPr>
          <p:cNvSpPr>
            <a:spLocks noGrp="1"/>
          </p:cNvSpPr>
          <p:nvPr>
            <p:ph idx="1"/>
          </p:nvPr>
        </p:nvSpPr>
        <p:spPr>
          <a:xfrm>
            <a:off x="838200" y="1453092"/>
            <a:ext cx="10515600" cy="2272242"/>
          </a:xfrm>
        </p:spPr>
        <p:txBody>
          <a:bodyPr>
            <a:normAutofit fontScale="92500" lnSpcReduction="10000"/>
          </a:bodyPr>
          <a:lstStyle/>
          <a:p>
            <a:pPr algn="just">
              <a:lnSpc>
                <a:spcPct val="120000"/>
              </a:lnSpc>
            </a:pPr>
            <a:r>
              <a:rPr lang="en-US" sz="3200" b="0" i="0" dirty="0">
                <a:effectLst/>
              </a:rPr>
              <a:t>When the data is linearly separable only then we can use Linear SVM. </a:t>
            </a:r>
          </a:p>
          <a:p>
            <a:pPr algn="just">
              <a:lnSpc>
                <a:spcPct val="120000"/>
              </a:lnSpc>
            </a:pPr>
            <a:r>
              <a:rPr lang="en-US" sz="3200" dirty="0"/>
              <a:t>L</a:t>
            </a:r>
            <a:r>
              <a:rPr lang="en-US" sz="3200" b="0" i="0" dirty="0">
                <a:effectLst/>
              </a:rPr>
              <a:t>inearly separable means that the data points can be classified into 2 classes by using a single straight line(if 2D).</a:t>
            </a:r>
            <a:endParaRPr lang="en-IN" sz="4400" dirty="0"/>
          </a:p>
        </p:txBody>
      </p:sp>
      <p:pic>
        <p:nvPicPr>
          <p:cNvPr id="4" name="Picture 3">
            <a:extLst>
              <a:ext uri="{FF2B5EF4-FFF2-40B4-BE49-F238E27FC236}">
                <a16:creationId xmlns:a16="http://schemas.microsoft.com/office/drawing/2014/main" id="{5C8B60E8-B547-AD91-4925-7A701C064031}"/>
              </a:ext>
            </a:extLst>
          </p:cNvPr>
          <p:cNvPicPr>
            <a:picLocks noChangeAspect="1"/>
          </p:cNvPicPr>
          <p:nvPr/>
        </p:nvPicPr>
        <p:blipFill>
          <a:blip r:embed="rId2"/>
          <a:stretch>
            <a:fillRect/>
          </a:stretch>
        </p:blipFill>
        <p:spPr>
          <a:xfrm>
            <a:off x="3860068" y="3605013"/>
            <a:ext cx="3313694" cy="2728053"/>
          </a:xfrm>
          <a:prstGeom prst="rect">
            <a:avLst/>
          </a:prstGeom>
          <a:ln>
            <a:solidFill>
              <a:schemeClr val="bg1"/>
            </a:solidFill>
          </a:ln>
        </p:spPr>
      </p:pic>
    </p:spTree>
    <p:extLst>
      <p:ext uri="{BB962C8B-B14F-4D97-AF65-F5344CB8AC3E}">
        <p14:creationId xmlns:p14="http://schemas.microsoft.com/office/powerpoint/2010/main" val="20664489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722529"/>
          </a:xfrm>
        </p:spPr>
        <p:txBody>
          <a:bodyPr>
            <a:normAutofit/>
          </a:bodyPr>
          <a:lstStyle/>
          <a:p>
            <a:r>
              <a:rPr lang="en-IN" b="1" dirty="0">
                <a:solidFill>
                  <a:srgbClr val="FF0000"/>
                </a:solidFill>
              </a:rPr>
              <a:t>Hyperplane</a:t>
            </a:r>
            <a:endParaRPr lang="en-IN" dirty="0"/>
          </a:p>
        </p:txBody>
      </p:sp>
      <p:sp>
        <p:nvSpPr>
          <p:cNvPr id="3" name="Content Placeholder 2"/>
          <p:cNvSpPr>
            <a:spLocks noGrp="1"/>
          </p:cNvSpPr>
          <p:nvPr>
            <p:ph idx="1"/>
          </p:nvPr>
        </p:nvSpPr>
        <p:spPr>
          <a:xfrm>
            <a:off x="838200" y="1207439"/>
            <a:ext cx="10515600" cy="2517894"/>
          </a:xfrm>
        </p:spPr>
        <p:txBody>
          <a:bodyPr/>
          <a:lstStyle/>
          <a:p>
            <a:r>
              <a:rPr lang="en-US" sz="2400" dirty="0"/>
              <a:t>A hyperplane is a </a:t>
            </a:r>
            <a:r>
              <a:rPr lang="en-US" sz="2400" b="1" dirty="0"/>
              <a:t>decision boundary </a:t>
            </a:r>
            <a:r>
              <a:rPr lang="en-US" sz="2400" dirty="0"/>
              <a:t>that separates data points into different classes in a high-dimensional space.</a:t>
            </a:r>
          </a:p>
          <a:p>
            <a:r>
              <a:rPr lang="en-US" sz="2400" dirty="0"/>
              <a:t> </a:t>
            </a:r>
            <a:r>
              <a:rPr lang="en-US" sz="2400" b="1" dirty="0"/>
              <a:t>In two-dimensional space, a hyperplane is simply a line </a:t>
            </a:r>
            <a:r>
              <a:rPr lang="en-US" sz="2400" dirty="0"/>
              <a:t>that separates the data points into two classes</a:t>
            </a:r>
          </a:p>
          <a:p>
            <a:r>
              <a:rPr lang="en-US" sz="2400" dirty="0"/>
              <a:t>When we add the new testing data, whatever side of the hyperplane it goes will eventually decide the class that we assign to it</a:t>
            </a:r>
          </a:p>
          <a:p>
            <a:pPr marL="0" indent="0">
              <a:buNone/>
            </a:pPr>
            <a:endParaRPr lang="en-US" dirty="0"/>
          </a:p>
          <a:p>
            <a:endParaRPr lang="en-IN" dirty="0"/>
          </a:p>
        </p:txBody>
      </p:sp>
      <p:pic>
        <p:nvPicPr>
          <p:cNvPr id="4" name="Picture 3"/>
          <p:cNvPicPr>
            <a:picLocks noChangeAspect="1"/>
          </p:cNvPicPr>
          <p:nvPr/>
        </p:nvPicPr>
        <p:blipFill>
          <a:blip r:embed="rId2"/>
          <a:stretch>
            <a:fillRect/>
          </a:stretch>
        </p:blipFill>
        <p:spPr>
          <a:xfrm>
            <a:off x="2082870" y="3605014"/>
            <a:ext cx="3313694" cy="2728053"/>
          </a:xfrm>
          <a:prstGeom prst="rect">
            <a:avLst/>
          </a:prstGeom>
          <a:ln>
            <a:solidFill>
              <a:schemeClr val="bg1"/>
            </a:solidFill>
          </a:ln>
        </p:spPr>
      </p:pic>
      <p:pic>
        <p:nvPicPr>
          <p:cNvPr id="5" name="Picture 4"/>
          <p:cNvPicPr>
            <a:picLocks noChangeAspect="1"/>
          </p:cNvPicPr>
          <p:nvPr/>
        </p:nvPicPr>
        <p:blipFill>
          <a:blip r:embed="rId3"/>
          <a:stretch>
            <a:fillRect/>
          </a:stretch>
        </p:blipFill>
        <p:spPr>
          <a:xfrm>
            <a:off x="6773874" y="3429000"/>
            <a:ext cx="3202616" cy="2747751"/>
          </a:xfrm>
          <a:prstGeom prst="rect">
            <a:avLst/>
          </a:prstGeom>
          <a:noFill/>
          <a:ln>
            <a:solidFill>
              <a:schemeClr val="bg1"/>
            </a:solidFill>
          </a:ln>
        </p:spPr>
      </p:pic>
    </p:spTree>
    <p:extLst>
      <p:ext uri="{BB962C8B-B14F-4D97-AF65-F5344CB8AC3E}">
        <p14:creationId xmlns:p14="http://schemas.microsoft.com/office/powerpoint/2010/main" val="234846346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descr="Adding Decision boundries to our seperate Blue and Green datapoint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5" name="Picture 4"/>
          <p:cNvPicPr>
            <a:picLocks noChangeAspect="1"/>
          </p:cNvPicPr>
          <p:nvPr/>
        </p:nvPicPr>
        <p:blipFill>
          <a:blip r:embed="rId2"/>
          <a:stretch>
            <a:fillRect/>
          </a:stretch>
        </p:blipFill>
        <p:spPr>
          <a:xfrm>
            <a:off x="1121870" y="823083"/>
            <a:ext cx="3909482" cy="3352139"/>
          </a:xfrm>
          <a:prstGeom prst="rect">
            <a:avLst/>
          </a:prstGeom>
          <a:ln>
            <a:solidFill>
              <a:schemeClr val="accent1"/>
            </a:solidFill>
          </a:ln>
        </p:spPr>
      </p:pic>
      <p:sp>
        <p:nvSpPr>
          <p:cNvPr id="6" name="Rectangle 5"/>
          <p:cNvSpPr/>
          <p:nvPr/>
        </p:nvSpPr>
        <p:spPr>
          <a:xfrm>
            <a:off x="603498" y="4175222"/>
            <a:ext cx="5893555" cy="1938992"/>
          </a:xfrm>
          <a:prstGeom prst="rect">
            <a:avLst/>
          </a:prstGeom>
        </p:spPr>
        <p:txBody>
          <a:bodyPr wrap="square">
            <a:spAutoFit/>
          </a:bodyPr>
          <a:lstStyle/>
          <a:p>
            <a:pPr algn="just"/>
            <a:r>
              <a:rPr lang="en-US" sz="2400" dirty="0"/>
              <a:t>To segregate the dataset into classes we need the hyperplane. </a:t>
            </a:r>
            <a:r>
              <a:rPr lang="en-US" sz="2400" b="1" dirty="0"/>
              <a:t>To choose the right hyperplane we need margin</a:t>
            </a:r>
            <a:r>
              <a:rPr lang="en-US" sz="2400" dirty="0"/>
              <a:t>. Margin is the distance between the hyperplane and the closest point from either set.</a:t>
            </a:r>
            <a:endParaRPr lang="en-IN" sz="2400" dirty="0"/>
          </a:p>
        </p:txBody>
      </p:sp>
      <p:sp>
        <p:nvSpPr>
          <p:cNvPr id="7" name="Rectangle 6"/>
          <p:cNvSpPr/>
          <p:nvPr/>
        </p:nvSpPr>
        <p:spPr>
          <a:xfrm>
            <a:off x="8372413" y="97315"/>
            <a:ext cx="1833533" cy="523220"/>
          </a:xfrm>
          <a:prstGeom prst="rect">
            <a:avLst/>
          </a:prstGeom>
        </p:spPr>
        <p:txBody>
          <a:bodyPr wrap="square">
            <a:spAutoFit/>
          </a:bodyPr>
          <a:lstStyle/>
          <a:p>
            <a:r>
              <a:rPr lang="en-IN" sz="2800" b="1" dirty="0"/>
              <a:t>Margin</a:t>
            </a:r>
            <a:endParaRPr lang="en-IN" sz="2800" dirty="0"/>
          </a:p>
        </p:txBody>
      </p:sp>
      <p:sp>
        <p:nvSpPr>
          <p:cNvPr id="8" name="Rectangle 7"/>
          <p:cNvSpPr/>
          <p:nvPr/>
        </p:nvSpPr>
        <p:spPr>
          <a:xfrm>
            <a:off x="6230754" y="558709"/>
            <a:ext cx="5440849" cy="1938992"/>
          </a:xfrm>
          <a:prstGeom prst="rect">
            <a:avLst/>
          </a:prstGeom>
          <a:ln>
            <a:solidFill>
              <a:schemeClr val="accent1"/>
            </a:solidFill>
          </a:ln>
        </p:spPr>
        <p:txBody>
          <a:bodyPr wrap="square">
            <a:spAutoFit/>
          </a:bodyPr>
          <a:lstStyle/>
          <a:p>
            <a:pPr algn="just"/>
            <a:r>
              <a:rPr lang="en-US" sz="2400" b="1" dirty="0"/>
              <a:t>The margin is the distance between the hyperplane and the closest data points from either class</a:t>
            </a:r>
            <a:r>
              <a:rPr lang="en-US" sz="2400" dirty="0"/>
              <a:t>. SVM aims to maximize this margin to ensure better generalization.</a:t>
            </a:r>
          </a:p>
        </p:txBody>
      </p:sp>
      <p:pic>
        <p:nvPicPr>
          <p:cNvPr id="9" name="Picture 8"/>
          <p:cNvPicPr>
            <a:picLocks noChangeAspect="1"/>
          </p:cNvPicPr>
          <p:nvPr/>
        </p:nvPicPr>
        <p:blipFill>
          <a:blip r:embed="rId3"/>
          <a:stretch>
            <a:fillRect/>
          </a:stretch>
        </p:blipFill>
        <p:spPr>
          <a:xfrm>
            <a:off x="7160649" y="2947152"/>
            <a:ext cx="4257059" cy="3352139"/>
          </a:xfrm>
          <a:prstGeom prst="rect">
            <a:avLst/>
          </a:prstGeom>
        </p:spPr>
      </p:pic>
      <p:sp>
        <p:nvSpPr>
          <p:cNvPr id="3" name="TextBox 2">
            <a:extLst>
              <a:ext uri="{FF2B5EF4-FFF2-40B4-BE49-F238E27FC236}">
                <a16:creationId xmlns:a16="http://schemas.microsoft.com/office/drawing/2014/main" id="{E31BE9B0-E1E1-EEAD-3272-26A83BC35BB2}"/>
              </a:ext>
            </a:extLst>
          </p:cNvPr>
          <p:cNvSpPr txBox="1"/>
          <p:nvPr/>
        </p:nvSpPr>
        <p:spPr>
          <a:xfrm>
            <a:off x="1442572" y="97315"/>
            <a:ext cx="1982548" cy="523220"/>
          </a:xfrm>
          <a:prstGeom prst="rect">
            <a:avLst/>
          </a:prstGeom>
          <a:noFill/>
        </p:spPr>
        <p:txBody>
          <a:bodyPr wrap="square">
            <a:spAutoFit/>
          </a:bodyPr>
          <a:lstStyle/>
          <a:p>
            <a:r>
              <a:rPr lang="en-IN" sz="2800" b="1" dirty="0"/>
              <a:t>Hyperplane</a:t>
            </a:r>
          </a:p>
        </p:txBody>
      </p:sp>
    </p:spTree>
    <p:extLst>
      <p:ext uri="{BB962C8B-B14F-4D97-AF65-F5344CB8AC3E}">
        <p14:creationId xmlns:p14="http://schemas.microsoft.com/office/powerpoint/2010/main" val="28898719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Support Vectors</a:t>
            </a:r>
            <a:br>
              <a:rPr lang="en-IN" b="1" dirty="0"/>
            </a:br>
            <a:endParaRPr lang="en-IN" dirty="0"/>
          </a:p>
        </p:txBody>
      </p:sp>
      <p:sp>
        <p:nvSpPr>
          <p:cNvPr id="3" name="Content Placeholder 2"/>
          <p:cNvSpPr>
            <a:spLocks noGrp="1"/>
          </p:cNvSpPr>
          <p:nvPr>
            <p:ph idx="1"/>
          </p:nvPr>
        </p:nvSpPr>
        <p:spPr>
          <a:xfrm>
            <a:off x="838200" y="1220318"/>
            <a:ext cx="10515600" cy="1355457"/>
          </a:xfrm>
        </p:spPr>
        <p:txBody>
          <a:bodyPr/>
          <a:lstStyle/>
          <a:p>
            <a:pPr marL="0" indent="0">
              <a:buNone/>
            </a:pPr>
            <a:r>
              <a:rPr lang="en-US" dirty="0"/>
              <a:t>Support vectors are the data points closest to the hyperplane. These points play a crucial role in defining the position and orientation of the decision boundary.</a:t>
            </a:r>
          </a:p>
          <a:p>
            <a:endParaRPr lang="en-IN" dirty="0"/>
          </a:p>
        </p:txBody>
      </p:sp>
      <p:pic>
        <p:nvPicPr>
          <p:cNvPr id="4" name="Picture 3"/>
          <p:cNvPicPr>
            <a:picLocks noChangeAspect="1"/>
          </p:cNvPicPr>
          <p:nvPr/>
        </p:nvPicPr>
        <p:blipFill>
          <a:blip r:embed="rId2"/>
          <a:stretch>
            <a:fillRect/>
          </a:stretch>
        </p:blipFill>
        <p:spPr>
          <a:xfrm>
            <a:off x="3493729" y="2784413"/>
            <a:ext cx="4916175" cy="3871147"/>
          </a:xfrm>
          <a:prstGeom prst="rect">
            <a:avLst/>
          </a:prstGeom>
        </p:spPr>
      </p:pic>
    </p:spTree>
    <p:extLst>
      <p:ext uri="{BB962C8B-B14F-4D97-AF65-F5344CB8AC3E}">
        <p14:creationId xmlns:p14="http://schemas.microsoft.com/office/powerpoint/2010/main" val="371795596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21972"/>
            <a:ext cx="10515600" cy="5854991"/>
          </a:xfrm>
        </p:spPr>
        <p:txBody>
          <a:bodyPr>
            <a:normAutofit lnSpcReduction="10000"/>
          </a:bodyPr>
          <a:lstStyle/>
          <a:p>
            <a:pPr algn="just"/>
            <a:r>
              <a:rPr lang="en-US" dirty="0"/>
              <a:t>SVMs are commonly used within classification problems. </a:t>
            </a:r>
          </a:p>
          <a:p>
            <a:pPr algn="just"/>
            <a:r>
              <a:rPr lang="en-US" dirty="0"/>
              <a:t>They distinguish between two classes by finding the optimal hyperplane that maximizes the margin between the closest data points of opposite classes. </a:t>
            </a:r>
          </a:p>
          <a:p>
            <a:pPr algn="just"/>
            <a:r>
              <a:rPr lang="en-US" dirty="0"/>
              <a:t>The number of features in the input data determine if the hyperplane is a line in a 2-D space or a plane in a n-dimensional space. </a:t>
            </a:r>
          </a:p>
          <a:p>
            <a:pPr algn="just"/>
            <a:r>
              <a:rPr lang="en-US" dirty="0"/>
              <a:t>Since multiple hyperplanes can be found to differentiate classes, maximizing the margin between points enables the algorithm to find the best decision boundary between classes. </a:t>
            </a:r>
          </a:p>
          <a:p>
            <a:pPr algn="just"/>
            <a:r>
              <a:rPr lang="en-US" dirty="0"/>
              <a:t>This, in turn, enables it to generalize well to new data and make accurate classification predictions. </a:t>
            </a:r>
          </a:p>
          <a:p>
            <a:pPr algn="just"/>
            <a:r>
              <a:rPr lang="en-US" dirty="0"/>
              <a:t>The lines that are adjacent to the optimal hyperplane are known as support vectors as these vectors run through the data points that determine the maximal margin</a:t>
            </a:r>
            <a:endParaRPr lang="en-IN" dirty="0"/>
          </a:p>
        </p:txBody>
      </p:sp>
    </p:spTree>
    <p:extLst>
      <p:ext uri="{BB962C8B-B14F-4D97-AF65-F5344CB8AC3E}">
        <p14:creationId xmlns:p14="http://schemas.microsoft.com/office/powerpoint/2010/main" val="21071861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63F60C8-CB8C-C742-0408-A2D040FD2D8F}"/>
              </a:ext>
            </a:extLst>
          </p:cNvPr>
          <p:cNvSpPr>
            <a:spLocks noGrp="1"/>
          </p:cNvSpPr>
          <p:nvPr>
            <p:ph idx="1"/>
          </p:nvPr>
        </p:nvSpPr>
        <p:spPr>
          <a:xfrm>
            <a:off x="838200" y="1825625"/>
            <a:ext cx="10515600" cy="1822350"/>
          </a:xfrm>
          <a:solidFill>
            <a:schemeClr val="accent2">
              <a:lumMod val="20000"/>
              <a:lumOff val="80000"/>
            </a:schemeClr>
          </a:solidFill>
        </p:spPr>
        <p:txBody>
          <a:bodyPr>
            <a:normAutofit fontScale="92500"/>
          </a:bodyPr>
          <a:lstStyle/>
          <a:p>
            <a:pPr marL="0" indent="0" algn="just">
              <a:buNone/>
            </a:pPr>
            <a:r>
              <a:rPr lang="en-US" sz="3200" dirty="0"/>
              <a:t>Support Vector Machine (SVM) is a supervised learning algorithm used for classification and regression tasks. It works by finding the best </a:t>
            </a:r>
            <a:r>
              <a:rPr lang="en-US" sz="3200" b="1" dirty="0"/>
              <a:t>decision boundary</a:t>
            </a:r>
            <a:r>
              <a:rPr lang="en-US" sz="3200" dirty="0"/>
              <a:t> (hyperplane) that separates data points of different classes with the </a:t>
            </a:r>
            <a:r>
              <a:rPr lang="en-US" sz="3200" b="1" dirty="0"/>
              <a:t>maximum margin</a:t>
            </a:r>
            <a:r>
              <a:rPr lang="en-US" sz="3200" dirty="0"/>
              <a:t>.</a:t>
            </a:r>
            <a:endParaRPr lang="en-IN" sz="3200" dirty="0"/>
          </a:p>
        </p:txBody>
      </p:sp>
    </p:spTree>
    <p:extLst>
      <p:ext uri="{BB962C8B-B14F-4D97-AF65-F5344CB8AC3E}">
        <p14:creationId xmlns:p14="http://schemas.microsoft.com/office/powerpoint/2010/main" val="5702208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6DC3ECC-751D-52FD-15EB-27579EA11869}"/>
              </a:ext>
            </a:extLst>
          </p:cNvPr>
          <p:cNvSpPr>
            <a:spLocks noGrp="1"/>
          </p:cNvSpPr>
          <p:nvPr>
            <p:ph idx="1"/>
          </p:nvPr>
        </p:nvSpPr>
        <p:spPr>
          <a:xfrm>
            <a:off x="735129" y="1075871"/>
            <a:ext cx="10721741" cy="3919491"/>
          </a:xfrm>
          <a:ln>
            <a:solidFill>
              <a:schemeClr val="tx1"/>
            </a:solidFill>
          </a:ln>
        </p:spPr>
        <p:txBody>
          <a:bodyPr/>
          <a:lstStyle/>
          <a:p>
            <a:pPr marL="0" indent="0">
              <a:buNone/>
            </a:pPr>
            <a:r>
              <a:rPr lang="en-US" dirty="0"/>
              <a:t>We are given a training dataset of n points of the form</a:t>
            </a:r>
          </a:p>
          <a:p>
            <a:pPr marL="0" indent="0">
              <a:buNone/>
            </a:pPr>
            <a:r>
              <a:rPr lang="en-US" dirty="0"/>
              <a:t>                                      </a:t>
            </a:r>
            <a:r>
              <a:rPr lang="en-US" sz="3200" b="1" dirty="0"/>
              <a:t>(x</a:t>
            </a:r>
            <a:r>
              <a:rPr lang="en-US" sz="3200" b="1" baseline="-25000" dirty="0"/>
              <a:t>1</a:t>
            </a:r>
            <a:r>
              <a:rPr lang="en-US" sz="3200" b="1" dirty="0"/>
              <a:t>,y</a:t>
            </a:r>
            <a:r>
              <a:rPr lang="en-US" sz="3200" b="1" baseline="-25000" dirty="0"/>
              <a:t>1</a:t>
            </a:r>
            <a:r>
              <a:rPr lang="en-US" sz="3200" b="1" dirty="0"/>
              <a:t>),…..,(</a:t>
            </a:r>
            <a:r>
              <a:rPr lang="en-US" sz="3200" b="1" dirty="0" err="1"/>
              <a:t>x</a:t>
            </a:r>
            <a:r>
              <a:rPr lang="en-US" sz="3200" b="1" baseline="-25000" dirty="0" err="1"/>
              <a:t>n</a:t>
            </a:r>
            <a:r>
              <a:rPr lang="en-US" sz="3200" b="1" dirty="0" err="1"/>
              <a:t>,y</a:t>
            </a:r>
            <a:r>
              <a:rPr lang="en-US" sz="3200" b="1" baseline="-25000" dirty="0" err="1"/>
              <a:t>n</a:t>
            </a:r>
            <a:r>
              <a:rPr lang="en-US" sz="3200" b="1" dirty="0"/>
              <a:t>)</a:t>
            </a:r>
          </a:p>
          <a:p>
            <a:pPr marL="0" indent="0">
              <a:buNone/>
            </a:pPr>
            <a:r>
              <a:rPr lang="en-US" dirty="0"/>
              <a:t>where,</a:t>
            </a:r>
          </a:p>
          <a:p>
            <a:r>
              <a:rPr lang="en-US" sz="2400" b="1" dirty="0" err="1"/>
              <a:t>y</a:t>
            </a:r>
            <a:r>
              <a:rPr lang="en-US" sz="2400" b="1" baseline="-25000" dirty="0" err="1"/>
              <a:t>i</a:t>
            </a:r>
            <a:r>
              <a:rPr lang="en-US" sz="2400" b="1" dirty="0"/>
              <a:t> </a:t>
            </a:r>
            <a:r>
              <a:rPr lang="en-US" sz="2400" dirty="0"/>
              <a:t>are either 1 or -1, each indicating the class to which the point x</a:t>
            </a:r>
            <a:r>
              <a:rPr lang="en-US" sz="2400" baseline="-25000" dirty="0"/>
              <a:t>i</a:t>
            </a:r>
            <a:r>
              <a:rPr lang="en-US" sz="2400" dirty="0"/>
              <a:t> belongs</a:t>
            </a:r>
          </a:p>
          <a:p>
            <a:r>
              <a:rPr lang="en-IN" sz="2400" dirty="0"/>
              <a:t>Each</a:t>
            </a:r>
            <a:r>
              <a:rPr lang="en-IN" sz="2400" b="1" dirty="0"/>
              <a:t> </a:t>
            </a:r>
            <a:r>
              <a:rPr lang="en-US" sz="2400" b="1" dirty="0"/>
              <a:t>x</a:t>
            </a:r>
            <a:r>
              <a:rPr lang="en-US" sz="2400" b="1" baseline="-25000" dirty="0"/>
              <a:t>i </a:t>
            </a:r>
            <a:r>
              <a:rPr lang="en-US" sz="2400" b="1" dirty="0"/>
              <a:t> </a:t>
            </a:r>
            <a:r>
              <a:rPr lang="en-US" sz="2400" dirty="0"/>
              <a:t>is a p-dimensional vector</a:t>
            </a:r>
          </a:p>
          <a:p>
            <a:pPr algn="just"/>
            <a:r>
              <a:rPr lang="en-US" sz="2400" dirty="0"/>
              <a:t>We want </a:t>
            </a:r>
            <a:r>
              <a:rPr lang="en-US" sz="2400" b="1" dirty="0"/>
              <a:t>to find the “maximum-margin hyperplane” </a:t>
            </a:r>
            <a:r>
              <a:rPr lang="en-US" sz="2400" dirty="0"/>
              <a:t>that divides the </a:t>
            </a:r>
            <a:r>
              <a:rPr lang="en-US" sz="2400" b="1" dirty="0"/>
              <a:t>group of points x</a:t>
            </a:r>
            <a:r>
              <a:rPr lang="en-US" sz="2400" b="1" baseline="-25000" dirty="0"/>
              <a:t>i  </a:t>
            </a:r>
            <a:r>
              <a:rPr lang="en-US" sz="2400" b="1" dirty="0"/>
              <a:t>for which </a:t>
            </a:r>
            <a:r>
              <a:rPr lang="en-US" sz="2400" b="1" dirty="0" err="1"/>
              <a:t>y</a:t>
            </a:r>
            <a:r>
              <a:rPr lang="en-US" sz="2400" b="1" baseline="-25000" dirty="0" err="1"/>
              <a:t>i</a:t>
            </a:r>
            <a:r>
              <a:rPr lang="en-US" sz="2400" b="1" dirty="0"/>
              <a:t> =1 </a:t>
            </a:r>
            <a:r>
              <a:rPr lang="en-US" sz="2400" dirty="0"/>
              <a:t>from the </a:t>
            </a:r>
            <a:r>
              <a:rPr lang="en-US" sz="2400" b="1" dirty="0"/>
              <a:t>group of points for which </a:t>
            </a:r>
            <a:r>
              <a:rPr lang="en-US" sz="2400" b="1" dirty="0" err="1"/>
              <a:t>y</a:t>
            </a:r>
            <a:r>
              <a:rPr lang="en-US" sz="2400" b="1" baseline="-25000" dirty="0" err="1"/>
              <a:t>i</a:t>
            </a:r>
            <a:r>
              <a:rPr lang="en-US" sz="2400" b="1" dirty="0"/>
              <a:t> = -1</a:t>
            </a:r>
            <a:r>
              <a:rPr lang="en-US" sz="2400" dirty="0"/>
              <a:t>, which is defined so that the distance between the hyperplane and the nearest point x</a:t>
            </a:r>
            <a:r>
              <a:rPr lang="en-US" sz="2400" baseline="-25000" dirty="0"/>
              <a:t>i </a:t>
            </a:r>
            <a:r>
              <a:rPr lang="en-US" sz="2400" dirty="0"/>
              <a:t> from either group is maximized</a:t>
            </a:r>
            <a:endParaRPr lang="en-US" sz="2400" baseline="-25000" dirty="0"/>
          </a:p>
          <a:p>
            <a:endParaRPr lang="en-IN" dirty="0"/>
          </a:p>
        </p:txBody>
      </p:sp>
      <p:sp>
        <p:nvSpPr>
          <p:cNvPr id="32" name="TextBox 31">
            <a:extLst>
              <a:ext uri="{FF2B5EF4-FFF2-40B4-BE49-F238E27FC236}">
                <a16:creationId xmlns:a16="http://schemas.microsoft.com/office/drawing/2014/main" id="{41210BAB-D839-3F1D-81B1-094A2734B9A4}"/>
              </a:ext>
            </a:extLst>
          </p:cNvPr>
          <p:cNvSpPr txBox="1"/>
          <p:nvPr/>
        </p:nvSpPr>
        <p:spPr>
          <a:xfrm>
            <a:off x="1771049" y="5226195"/>
            <a:ext cx="8008219" cy="461665"/>
          </a:xfrm>
          <a:prstGeom prst="rect">
            <a:avLst/>
          </a:prstGeom>
          <a:solidFill>
            <a:schemeClr val="accent1">
              <a:lumMod val="40000"/>
              <a:lumOff val="60000"/>
            </a:schemeClr>
          </a:solidFill>
          <a:ln>
            <a:solidFill>
              <a:schemeClr val="accent1">
                <a:lumMod val="20000"/>
                <a:lumOff val="80000"/>
              </a:schemeClr>
            </a:solidFill>
          </a:ln>
        </p:spPr>
        <p:txBody>
          <a:bodyPr wrap="square">
            <a:spAutoFit/>
          </a:bodyPr>
          <a:lstStyle/>
          <a:p>
            <a:r>
              <a:rPr lang="en-US" sz="2400" dirty="0"/>
              <a:t>Any hyperplane can be written as the set of points  satisfying</a:t>
            </a:r>
            <a:endParaRPr lang="en-IN" sz="2400" dirty="0"/>
          </a:p>
        </p:txBody>
      </p:sp>
      <p:pic>
        <p:nvPicPr>
          <p:cNvPr id="33" name="Picture 32">
            <a:extLst>
              <a:ext uri="{FF2B5EF4-FFF2-40B4-BE49-F238E27FC236}">
                <a16:creationId xmlns:a16="http://schemas.microsoft.com/office/drawing/2014/main" id="{144AF2A9-137F-C027-5039-7F2995D62C07}"/>
              </a:ext>
            </a:extLst>
          </p:cNvPr>
          <p:cNvPicPr>
            <a:picLocks noChangeAspect="1"/>
          </p:cNvPicPr>
          <p:nvPr/>
        </p:nvPicPr>
        <p:blipFill>
          <a:blip r:embed="rId2"/>
          <a:stretch>
            <a:fillRect/>
          </a:stretch>
        </p:blipFill>
        <p:spPr>
          <a:xfrm>
            <a:off x="4099120" y="5687860"/>
            <a:ext cx="3726219" cy="871919"/>
          </a:xfrm>
          <a:prstGeom prst="rect">
            <a:avLst/>
          </a:prstGeom>
        </p:spPr>
      </p:pic>
      <p:sp>
        <p:nvSpPr>
          <p:cNvPr id="4" name="TextBox 3">
            <a:extLst>
              <a:ext uri="{FF2B5EF4-FFF2-40B4-BE49-F238E27FC236}">
                <a16:creationId xmlns:a16="http://schemas.microsoft.com/office/drawing/2014/main" id="{AEF25A62-459A-D68C-CF79-48769082D0C6}"/>
              </a:ext>
            </a:extLst>
          </p:cNvPr>
          <p:cNvSpPr txBox="1"/>
          <p:nvPr/>
        </p:nvSpPr>
        <p:spPr>
          <a:xfrm>
            <a:off x="911993" y="298221"/>
            <a:ext cx="6097604" cy="584775"/>
          </a:xfrm>
          <a:prstGeom prst="rect">
            <a:avLst/>
          </a:prstGeom>
          <a:noFill/>
        </p:spPr>
        <p:txBody>
          <a:bodyPr wrap="square">
            <a:spAutoFit/>
          </a:bodyPr>
          <a:lstStyle/>
          <a:p>
            <a:r>
              <a:rPr lang="en-IN" sz="3200" b="1" dirty="0">
                <a:solidFill>
                  <a:srgbClr val="FF0000"/>
                </a:solidFill>
              </a:rPr>
              <a:t>Finding the Optimal Hyperplane</a:t>
            </a:r>
          </a:p>
        </p:txBody>
      </p:sp>
    </p:spTree>
    <p:extLst>
      <p:ext uri="{BB962C8B-B14F-4D97-AF65-F5344CB8AC3E}">
        <p14:creationId xmlns:p14="http://schemas.microsoft.com/office/powerpoint/2010/main" val="5928371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50797F9-C58A-CD5F-14D4-744A0E0478BD}"/>
              </a:ext>
            </a:extLst>
          </p:cNvPr>
          <p:cNvPicPr>
            <a:picLocks noChangeAspect="1"/>
          </p:cNvPicPr>
          <p:nvPr/>
        </p:nvPicPr>
        <p:blipFill>
          <a:blip r:embed="rId2"/>
          <a:stretch>
            <a:fillRect/>
          </a:stretch>
        </p:blipFill>
        <p:spPr>
          <a:xfrm>
            <a:off x="1001028" y="725120"/>
            <a:ext cx="10114406" cy="5367672"/>
          </a:xfrm>
          <a:prstGeom prst="rect">
            <a:avLst/>
          </a:prstGeom>
        </p:spPr>
      </p:pic>
    </p:spTree>
    <p:extLst>
      <p:ext uri="{BB962C8B-B14F-4D97-AF65-F5344CB8AC3E}">
        <p14:creationId xmlns:p14="http://schemas.microsoft.com/office/powerpoint/2010/main" val="2282095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1" name="Rectangle 3">
            <a:extLst>
              <a:ext uri="{FF2B5EF4-FFF2-40B4-BE49-F238E27FC236}">
                <a16:creationId xmlns:a16="http://schemas.microsoft.com/office/drawing/2014/main" id="{62D70343-D73B-F33C-FF27-97274176F156}"/>
              </a:ext>
            </a:extLst>
          </p:cNvPr>
          <p:cNvSpPr>
            <a:spLocks noGrp="1" noChangeArrowheads="1"/>
          </p:cNvSpPr>
          <p:nvPr>
            <p:ph type="body" idx="1"/>
          </p:nvPr>
        </p:nvSpPr>
        <p:spPr>
          <a:xfrm>
            <a:off x="442762" y="379062"/>
            <a:ext cx="10684041" cy="636938"/>
          </a:xfrm>
        </p:spPr>
        <p:txBody>
          <a:bodyPr/>
          <a:lstStyle/>
          <a:p>
            <a:r>
              <a:rPr lang="en-US" altLang="en-US" sz="2800" dirty="0"/>
              <a:t>Our Goal is to find out w and b such that</a:t>
            </a:r>
          </a:p>
        </p:txBody>
      </p:sp>
      <p:sp>
        <p:nvSpPr>
          <p:cNvPr id="165892" name="Line 4">
            <a:extLst>
              <a:ext uri="{FF2B5EF4-FFF2-40B4-BE49-F238E27FC236}">
                <a16:creationId xmlns:a16="http://schemas.microsoft.com/office/drawing/2014/main" id="{30FB35D5-3713-9BDE-EEAA-0B77A52C8BD0}"/>
              </a:ext>
            </a:extLst>
          </p:cNvPr>
          <p:cNvSpPr>
            <a:spLocks noChangeShapeType="1"/>
          </p:cNvSpPr>
          <p:nvPr/>
        </p:nvSpPr>
        <p:spPr bwMode="auto">
          <a:xfrm flipV="1">
            <a:off x="2420938" y="3054350"/>
            <a:ext cx="0" cy="304165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20000"/>
              </a:spcBef>
              <a:spcAft>
                <a:spcPct val="0"/>
              </a:spcAft>
            </a:pPr>
            <a:endParaRPr lang="en-IN" sz="2400">
              <a:solidFill>
                <a:srgbClr val="000000"/>
              </a:solidFill>
              <a:latin typeface="Times New Roman" panose="02020603050405020304" pitchFamily="18" charset="0"/>
            </a:endParaRPr>
          </a:p>
        </p:txBody>
      </p:sp>
      <p:sp>
        <p:nvSpPr>
          <p:cNvPr id="165893" name="Line 5">
            <a:extLst>
              <a:ext uri="{FF2B5EF4-FFF2-40B4-BE49-F238E27FC236}">
                <a16:creationId xmlns:a16="http://schemas.microsoft.com/office/drawing/2014/main" id="{88F73EBF-41BA-96D7-6665-DCBCE757ACCB}"/>
              </a:ext>
            </a:extLst>
          </p:cNvPr>
          <p:cNvSpPr>
            <a:spLocks noChangeShapeType="1"/>
          </p:cNvSpPr>
          <p:nvPr/>
        </p:nvSpPr>
        <p:spPr bwMode="auto">
          <a:xfrm flipV="1">
            <a:off x="2286001" y="5980113"/>
            <a:ext cx="4081463" cy="0"/>
          </a:xfrm>
          <a:prstGeom prst="line">
            <a:avLst/>
          </a:prstGeom>
          <a:noFill/>
          <a:ln w="254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20000"/>
              </a:spcBef>
              <a:spcAft>
                <a:spcPct val="0"/>
              </a:spcAft>
            </a:pPr>
            <a:endParaRPr lang="en-IN" sz="2400">
              <a:solidFill>
                <a:srgbClr val="000000"/>
              </a:solidFill>
              <a:latin typeface="Times New Roman" panose="02020603050405020304" pitchFamily="18" charset="0"/>
            </a:endParaRPr>
          </a:p>
        </p:txBody>
      </p:sp>
      <p:sp>
        <p:nvSpPr>
          <p:cNvPr id="165894" name="AutoShape 6">
            <a:extLst>
              <a:ext uri="{FF2B5EF4-FFF2-40B4-BE49-F238E27FC236}">
                <a16:creationId xmlns:a16="http://schemas.microsoft.com/office/drawing/2014/main" id="{C336D213-CB45-53FA-6052-88A6FC20922E}"/>
              </a:ext>
            </a:extLst>
          </p:cNvPr>
          <p:cNvSpPr>
            <a:spLocks noChangeArrowheads="1"/>
          </p:cNvSpPr>
          <p:nvPr/>
        </p:nvSpPr>
        <p:spPr bwMode="auto">
          <a:xfrm>
            <a:off x="3460750" y="3810000"/>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20000"/>
              </a:spcBef>
              <a:spcAft>
                <a:spcPct val="0"/>
              </a:spcAft>
            </a:pPr>
            <a:endParaRPr lang="en-IN" sz="2400">
              <a:solidFill>
                <a:srgbClr val="000000"/>
              </a:solidFill>
              <a:latin typeface="Times New Roman" panose="02020603050405020304" pitchFamily="18" charset="0"/>
            </a:endParaRPr>
          </a:p>
        </p:txBody>
      </p:sp>
      <p:sp>
        <p:nvSpPr>
          <p:cNvPr id="165895" name="AutoShape 7">
            <a:extLst>
              <a:ext uri="{FF2B5EF4-FFF2-40B4-BE49-F238E27FC236}">
                <a16:creationId xmlns:a16="http://schemas.microsoft.com/office/drawing/2014/main" id="{7BE46EA4-02E0-1801-2C60-56C5A4A271C2}"/>
              </a:ext>
            </a:extLst>
          </p:cNvPr>
          <p:cNvSpPr>
            <a:spLocks noChangeArrowheads="1"/>
          </p:cNvSpPr>
          <p:nvPr/>
        </p:nvSpPr>
        <p:spPr bwMode="auto">
          <a:xfrm>
            <a:off x="2886075" y="4167188"/>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20000"/>
              </a:spcBef>
              <a:spcAft>
                <a:spcPct val="0"/>
              </a:spcAft>
            </a:pPr>
            <a:endParaRPr lang="en-IN" sz="2400">
              <a:solidFill>
                <a:srgbClr val="000000"/>
              </a:solidFill>
              <a:latin typeface="Times New Roman" panose="02020603050405020304" pitchFamily="18" charset="0"/>
            </a:endParaRPr>
          </a:p>
        </p:txBody>
      </p:sp>
      <p:sp>
        <p:nvSpPr>
          <p:cNvPr id="165896" name="AutoShape 8">
            <a:extLst>
              <a:ext uri="{FF2B5EF4-FFF2-40B4-BE49-F238E27FC236}">
                <a16:creationId xmlns:a16="http://schemas.microsoft.com/office/drawing/2014/main" id="{2AD53E4C-189E-6E0F-ED66-85B9C8AF5ABE}"/>
              </a:ext>
            </a:extLst>
          </p:cNvPr>
          <p:cNvSpPr>
            <a:spLocks noChangeArrowheads="1"/>
          </p:cNvSpPr>
          <p:nvPr/>
        </p:nvSpPr>
        <p:spPr bwMode="auto">
          <a:xfrm>
            <a:off x="3038475" y="4713288"/>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20000"/>
              </a:spcBef>
              <a:spcAft>
                <a:spcPct val="0"/>
              </a:spcAft>
            </a:pPr>
            <a:endParaRPr lang="en-IN" sz="2400">
              <a:solidFill>
                <a:srgbClr val="000000"/>
              </a:solidFill>
              <a:latin typeface="Times New Roman" panose="02020603050405020304" pitchFamily="18" charset="0"/>
            </a:endParaRPr>
          </a:p>
        </p:txBody>
      </p:sp>
      <p:sp>
        <p:nvSpPr>
          <p:cNvPr id="165897" name="AutoShape 9">
            <a:extLst>
              <a:ext uri="{FF2B5EF4-FFF2-40B4-BE49-F238E27FC236}">
                <a16:creationId xmlns:a16="http://schemas.microsoft.com/office/drawing/2014/main" id="{13F5186B-6B36-2DD0-05F3-2430832EAE96}"/>
              </a:ext>
            </a:extLst>
          </p:cNvPr>
          <p:cNvSpPr>
            <a:spLocks noChangeArrowheads="1"/>
          </p:cNvSpPr>
          <p:nvPr/>
        </p:nvSpPr>
        <p:spPr bwMode="auto">
          <a:xfrm>
            <a:off x="2657475" y="5170488"/>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20000"/>
              </a:spcBef>
              <a:spcAft>
                <a:spcPct val="0"/>
              </a:spcAft>
            </a:pPr>
            <a:endParaRPr lang="en-IN" sz="2400">
              <a:solidFill>
                <a:srgbClr val="000000"/>
              </a:solidFill>
              <a:latin typeface="Times New Roman" panose="02020603050405020304" pitchFamily="18" charset="0"/>
            </a:endParaRPr>
          </a:p>
        </p:txBody>
      </p:sp>
      <p:sp>
        <p:nvSpPr>
          <p:cNvPr id="165898" name="AutoShape 10">
            <a:extLst>
              <a:ext uri="{FF2B5EF4-FFF2-40B4-BE49-F238E27FC236}">
                <a16:creationId xmlns:a16="http://schemas.microsoft.com/office/drawing/2014/main" id="{1B22E78D-D61D-8F5C-2AF4-D1499345B82F}"/>
              </a:ext>
            </a:extLst>
          </p:cNvPr>
          <p:cNvSpPr>
            <a:spLocks noChangeArrowheads="1"/>
          </p:cNvSpPr>
          <p:nvPr/>
        </p:nvSpPr>
        <p:spPr bwMode="auto">
          <a:xfrm>
            <a:off x="3190875" y="3570288"/>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20000"/>
              </a:spcBef>
              <a:spcAft>
                <a:spcPct val="0"/>
              </a:spcAft>
            </a:pPr>
            <a:endParaRPr lang="en-IN" sz="2400">
              <a:solidFill>
                <a:srgbClr val="000000"/>
              </a:solidFill>
              <a:latin typeface="Times New Roman" panose="02020603050405020304" pitchFamily="18" charset="0"/>
            </a:endParaRPr>
          </a:p>
        </p:txBody>
      </p:sp>
      <p:sp>
        <p:nvSpPr>
          <p:cNvPr id="165899" name="AutoShape 11">
            <a:extLst>
              <a:ext uri="{FF2B5EF4-FFF2-40B4-BE49-F238E27FC236}">
                <a16:creationId xmlns:a16="http://schemas.microsoft.com/office/drawing/2014/main" id="{ACC2D8BA-A1F5-49F1-4368-48CA25E33FDD}"/>
              </a:ext>
            </a:extLst>
          </p:cNvPr>
          <p:cNvSpPr>
            <a:spLocks noChangeArrowheads="1"/>
          </p:cNvSpPr>
          <p:nvPr/>
        </p:nvSpPr>
        <p:spPr bwMode="auto">
          <a:xfrm>
            <a:off x="2657475" y="4484688"/>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20000"/>
              </a:spcBef>
              <a:spcAft>
                <a:spcPct val="0"/>
              </a:spcAft>
            </a:pPr>
            <a:endParaRPr lang="en-IN" sz="2400">
              <a:solidFill>
                <a:srgbClr val="000000"/>
              </a:solidFill>
              <a:latin typeface="Times New Roman" panose="02020603050405020304" pitchFamily="18" charset="0"/>
            </a:endParaRPr>
          </a:p>
        </p:txBody>
      </p:sp>
      <p:sp>
        <p:nvSpPr>
          <p:cNvPr id="165900" name="AutoShape 12">
            <a:extLst>
              <a:ext uri="{FF2B5EF4-FFF2-40B4-BE49-F238E27FC236}">
                <a16:creationId xmlns:a16="http://schemas.microsoft.com/office/drawing/2014/main" id="{500B9676-7569-75B7-1293-3FD35AF7566C}"/>
              </a:ext>
            </a:extLst>
          </p:cNvPr>
          <p:cNvSpPr>
            <a:spLocks noChangeArrowheads="1"/>
          </p:cNvSpPr>
          <p:nvPr/>
        </p:nvSpPr>
        <p:spPr bwMode="auto">
          <a:xfrm>
            <a:off x="2809875" y="4637088"/>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20000"/>
              </a:spcBef>
              <a:spcAft>
                <a:spcPct val="0"/>
              </a:spcAft>
            </a:pPr>
            <a:endParaRPr lang="en-IN" sz="2400">
              <a:solidFill>
                <a:srgbClr val="000000"/>
              </a:solidFill>
              <a:latin typeface="Times New Roman" panose="02020603050405020304" pitchFamily="18" charset="0"/>
            </a:endParaRPr>
          </a:p>
        </p:txBody>
      </p:sp>
      <p:sp>
        <p:nvSpPr>
          <p:cNvPr id="165901" name="AutoShape 13">
            <a:extLst>
              <a:ext uri="{FF2B5EF4-FFF2-40B4-BE49-F238E27FC236}">
                <a16:creationId xmlns:a16="http://schemas.microsoft.com/office/drawing/2014/main" id="{00890D04-4E23-40C0-B918-8FF3F56E52EA}"/>
              </a:ext>
            </a:extLst>
          </p:cNvPr>
          <p:cNvSpPr>
            <a:spLocks noChangeArrowheads="1"/>
          </p:cNvSpPr>
          <p:nvPr/>
        </p:nvSpPr>
        <p:spPr bwMode="auto">
          <a:xfrm>
            <a:off x="3571875" y="4256088"/>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20000"/>
              </a:spcBef>
              <a:spcAft>
                <a:spcPct val="0"/>
              </a:spcAft>
            </a:pPr>
            <a:endParaRPr lang="en-IN" sz="2400">
              <a:solidFill>
                <a:srgbClr val="000000"/>
              </a:solidFill>
              <a:latin typeface="Times New Roman" panose="02020603050405020304" pitchFamily="18" charset="0"/>
            </a:endParaRPr>
          </a:p>
        </p:txBody>
      </p:sp>
      <p:sp>
        <p:nvSpPr>
          <p:cNvPr id="165902" name="AutoShape 14">
            <a:extLst>
              <a:ext uri="{FF2B5EF4-FFF2-40B4-BE49-F238E27FC236}">
                <a16:creationId xmlns:a16="http://schemas.microsoft.com/office/drawing/2014/main" id="{D6DE666A-D6EF-AED9-A3F8-6B9AE7C61699}"/>
              </a:ext>
            </a:extLst>
          </p:cNvPr>
          <p:cNvSpPr>
            <a:spLocks noChangeArrowheads="1"/>
          </p:cNvSpPr>
          <p:nvPr/>
        </p:nvSpPr>
        <p:spPr bwMode="auto">
          <a:xfrm>
            <a:off x="4473575" y="424338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20000"/>
              </a:spcBef>
              <a:spcAft>
                <a:spcPct val="0"/>
              </a:spcAft>
            </a:pPr>
            <a:endParaRPr lang="en-IN" sz="2400">
              <a:solidFill>
                <a:srgbClr val="000000"/>
              </a:solidFill>
              <a:latin typeface="Times New Roman" panose="02020603050405020304" pitchFamily="18" charset="0"/>
            </a:endParaRPr>
          </a:p>
        </p:txBody>
      </p:sp>
      <p:sp>
        <p:nvSpPr>
          <p:cNvPr id="165903" name="AutoShape 15">
            <a:extLst>
              <a:ext uri="{FF2B5EF4-FFF2-40B4-BE49-F238E27FC236}">
                <a16:creationId xmlns:a16="http://schemas.microsoft.com/office/drawing/2014/main" id="{ED132D2B-3D55-DF7F-3F4B-6ED71FB4DB28}"/>
              </a:ext>
            </a:extLst>
          </p:cNvPr>
          <p:cNvSpPr>
            <a:spLocks noChangeArrowheads="1"/>
          </p:cNvSpPr>
          <p:nvPr/>
        </p:nvSpPr>
        <p:spPr bwMode="auto">
          <a:xfrm>
            <a:off x="4105275" y="517048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20000"/>
              </a:spcBef>
              <a:spcAft>
                <a:spcPct val="0"/>
              </a:spcAft>
            </a:pPr>
            <a:endParaRPr lang="en-IN" sz="2400">
              <a:solidFill>
                <a:srgbClr val="000000"/>
              </a:solidFill>
              <a:latin typeface="Times New Roman" panose="02020603050405020304" pitchFamily="18" charset="0"/>
            </a:endParaRPr>
          </a:p>
        </p:txBody>
      </p:sp>
      <p:sp>
        <p:nvSpPr>
          <p:cNvPr id="165904" name="AutoShape 16">
            <a:extLst>
              <a:ext uri="{FF2B5EF4-FFF2-40B4-BE49-F238E27FC236}">
                <a16:creationId xmlns:a16="http://schemas.microsoft.com/office/drawing/2014/main" id="{CA716FE5-5190-CD5A-263F-C2017331B6E9}"/>
              </a:ext>
            </a:extLst>
          </p:cNvPr>
          <p:cNvSpPr>
            <a:spLocks noChangeArrowheads="1"/>
          </p:cNvSpPr>
          <p:nvPr/>
        </p:nvSpPr>
        <p:spPr bwMode="auto">
          <a:xfrm>
            <a:off x="5095875" y="517048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20000"/>
              </a:spcBef>
              <a:spcAft>
                <a:spcPct val="0"/>
              </a:spcAft>
            </a:pPr>
            <a:endParaRPr lang="en-IN" sz="2400">
              <a:solidFill>
                <a:srgbClr val="000000"/>
              </a:solidFill>
              <a:latin typeface="Times New Roman" panose="02020603050405020304" pitchFamily="18" charset="0"/>
            </a:endParaRPr>
          </a:p>
        </p:txBody>
      </p:sp>
      <p:sp>
        <p:nvSpPr>
          <p:cNvPr id="165905" name="AutoShape 17">
            <a:extLst>
              <a:ext uri="{FF2B5EF4-FFF2-40B4-BE49-F238E27FC236}">
                <a16:creationId xmlns:a16="http://schemas.microsoft.com/office/drawing/2014/main" id="{E8860C3D-8610-7991-CE1E-89604CC5DE27}"/>
              </a:ext>
            </a:extLst>
          </p:cNvPr>
          <p:cNvSpPr>
            <a:spLocks noChangeArrowheads="1"/>
          </p:cNvSpPr>
          <p:nvPr/>
        </p:nvSpPr>
        <p:spPr bwMode="auto">
          <a:xfrm>
            <a:off x="3787775" y="569118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20000"/>
              </a:spcBef>
              <a:spcAft>
                <a:spcPct val="0"/>
              </a:spcAft>
            </a:pPr>
            <a:endParaRPr lang="en-IN" sz="2400">
              <a:solidFill>
                <a:srgbClr val="000000"/>
              </a:solidFill>
              <a:latin typeface="Times New Roman" panose="02020603050405020304" pitchFamily="18" charset="0"/>
            </a:endParaRPr>
          </a:p>
        </p:txBody>
      </p:sp>
      <p:sp>
        <p:nvSpPr>
          <p:cNvPr id="165906" name="AutoShape 18">
            <a:extLst>
              <a:ext uri="{FF2B5EF4-FFF2-40B4-BE49-F238E27FC236}">
                <a16:creationId xmlns:a16="http://schemas.microsoft.com/office/drawing/2014/main" id="{8DF27BFC-B3F4-34C9-70A2-F8929DEF31C4}"/>
              </a:ext>
            </a:extLst>
          </p:cNvPr>
          <p:cNvSpPr>
            <a:spLocks noChangeArrowheads="1"/>
          </p:cNvSpPr>
          <p:nvPr/>
        </p:nvSpPr>
        <p:spPr bwMode="auto">
          <a:xfrm>
            <a:off x="4410075" y="456088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20000"/>
              </a:spcBef>
              <a:spcAft>
                <a:spcPct val="0"/>
              </a:spcAft>
            </a:pPr>
            <a:endParaRPr lang="en-IN" sz="2400">
              <a:solidFill>
                <a:srgbClr val="000000"/>
              </a:solidFill>
              <a:latin typeface="Times New Roman" panose="02020603050405020304" pitchFamily="18" charset="0"/>
            </a:endParaRPr>
          </a:p>
        </p:txBody>
      </p:sp>
      <p:sp>
        <p:nvSpPr>
          <p:cNvPr id="165907" name="AutoShape 19">
            <a:extLst>
              <a:ext uri="{FF2B5EF4-FFF2-40B4-BE49-F238E27FC236}">
                <a16:creationId xmlns:a16="http://schemas.microsoft.com/office/drawing/2014/main" id="{C9CDDC0F-985E-D3EE-5456-618657FD1319}"/>
              </a:ext>
            </a:extLst>
          </p:cNvPr>
          <p:cNvSpPr>
            <a:spLocks noChangeArrowheads="1"/>
          </p:cNvSpPr>
          <p:nvPr/>
        </p:nvSpPr>
        <p:spPr bwMode="auto">
          <a:xfrm>
            <a:off x="3787775" y="500538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20000"/>
              </a:spcBef>
              <a:spcAft>
                <a:spcPct val="0"/>
              </a:spcAft>
            </a:pPr>
            <a:endParaRPr lang="en-IN" sz="2400">
              <a:solidFill>
                <a:srgbClr val="000000"/>
              </a:solidFill>
              <a:latin typeface="Times New Roman" panose="02020603050405020304" pitchFamily="18" charset="0"/>
            </a:endParaRPr>
          </a:p>
        </p:txBody>
      </p:sp>
      <p:sp>
        <p:nvSpPr>
          <p:cNvPr id="165908" name="AutoShape 20">
            <a:extLst>
              <a:ext uri="{FF2B5EF4-FFF2-40B4-BE49-F238E27FC236}">
                <a16:creationId xmlns:a16="http://schemas.microsoft.com/office/drawing/2014/main" id="{D0DFB918-28EE-A68C-D620-5DFB79996DFC}"/>
              </a:ext>
            </a:extLst>
          </p:cNvPr>
          <p:cNvSpPr>
            <a:spLocks noChangeArrowheads="1"/>
          </p:cNvSpPr>
          <p:nvPr/>
        </p:nvSpPr>
        <p:spPr bwMode="auto">
          <a:xfrm>
            <a:off x="4486275" y="539908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20000"/>
              </a:spcBef>
              <a:spcAft>
                <a:spcPct val="0"/>
              </a:spcAft>
            </a:pPr>
            <a:endParaRPr lang="en-IN" sz="2400">
              <a:solidFill>
                <a:srgbClr val="000000"/>
              </a:solidFill>
              <a:latin typeface="Times New Roman" panose="02020603050405020304" pitchFamily="18" charset="0"/>
            </a:endParaRPr>
          </a:p>
        </p:txBody>
      </p:sp>
      <p:sp>
        <p:nvSpPr>
          <p:cNvPr id="165909" name="AutoShape 21">
            <a:extLst>
              <a:ext uri="{FF2B5EF4-FFF2-40B4-BE49-F238E27FC236}">
                <a16:creationId xmlns:a16="http://schemas.microsoft.com/office/drawing/2014/main" id="{BFA1472A-447C-E502-32D3-C544CAE5C905}"/>
              </a:ext>
            </a:extLst>
          </p:cNvPr>
          <p:cNvSpPr>
            <a:spLocks noChangeArrowheads="1"/>
          </p:cNvSpPr>
          <p:nvPr/>
        </p:nvSpPr>
        <p:spPr bwMode="auto">
          <a:xfrm>
            <a:off x="5172075" y="4484688"/>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20000"/>
              </a:spcBef>
              <a:spcAft>
                <a:spcPct val="0"/>
              </a:spcAft>
            </a:pPr>
            <a:endParaRPr lang="en-IN" sz="2400">
              <a:solidFill>
                <a:srgbClr val="000000"/>
              </a:solidFill>
              <a:latin typeface="Times New Roman" panose="02020603050405020304" pitchFamily="18" charset="0"/>
            </a:endParaRPr>
          </a:p>
        </p:txBody>
      </p:sp>
      <p:sp>
        <p:nvSpPr>
          <p:cNvPr id="165910" name="Line 22">
            <a:extLst>
              <a:ext uri="{FF2B5EF4-FFF2-40B4-BE49-F238E27FC236}">
                <a16:creationId xmlns:a16="http://schemas.microsoft.com/office/drawing/2014/main" id="{507B2BFC-16AE-B3A8-E8A6-DA49E12BE1D0}"/>
              </a:ext>
            </a:extLst>
          </p:cNvPr>
          <p:cNvSpPr>
            <a:spLocks noChangeShapeType="1"/>
          </p:cNvSpPr>
          <p:nvPr/>
        </p:nvSpPr>
        <p:spPr bwMode="auto">
          <a:xfrm flipV="1">
            <a:off x="2733675" y="3036888"/>
            <a:ext cx="2438400" cy="2667000"/>
          </a:xfrm>
          <a:prstGeom prst="line">
            <a:avLst/>
          </a:prstGeom>
          <a:noFill/>
          <a:ln w="19050">
            <a:solidFill>
              <a:schemeClr val="tx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fontAlgn="base">
              <a:spcBef>
                <a:spcPct val="20000"/>
              </a:spcBef>
              <a:spcAft>
                <a:spcPct val="0"/>
              </a:spcAft>
            </a:pPr>
            <a:endParaRPr lang="en-IN" sz="2400">
              <a:solidFill>
                <a:srgbClr val="000000"/>
              </a:solidFill>
              <a:latin typeface="Times New Roman" panose="02020603050405020304" pitchFamily="18" charset="0"/>
            </a:endParaRPr>
          </a:p>
        </p:txBody>
      </p:sp>
      <p:sp>
        <p:nvSpPr>
          <p:cNvPr id="165911" name="AutoShape 23">
            <a:extLst>
              <a:ext uri="{FF2B5EF4-FFF2-40B4-BE49-F238E27FC236}">
                <a16:creationId xmlns:a16="http://schemas.microsoft.com/office/drawing/2014/main" id="{C50044B0-F96D-FE74-BD2B-839B48B0C6E1}"/>
              </a:ext>
            </a:extLst>
          </p:cNvPr>
          <p:cNvSpPr>
            <a:spLocks noChangeArrowheads="1"/>
          </p:cNvSpPr>
          <p:nvPr/>
        </p:nvSpPr>
        <p:spPr bwMode="auto">
          <a:xfrm>
            <a:off x="3657600" y="2971800"/>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20000"/>
              </a:spcBef>
              <a:spcAft>
                <a:spcPct val="0"/>
              </a:spcAft>
            </a:pPr>
            <a:endParaRPr lang="en-IN" sz="2400">
              <a:solidFill>
                <a:srgbClr val="000000"/>
              </a:solidFill>
              <a:latin typeface="Times New Roman" panose="02020603050405020304" pitchFamily="18" charset="0"/>
            </a:endParaRPr>
          </a:p>
        </p:txBody>
      </p:sp>
      <p:sp>
        <p:nvSpPr>
          <p:cNvPr id="165912" name="AutoShape 24">
            <a:extLst>
              <a:ext uri="{FF2B5EF4-FFF2-40B4-BE49-F238E27FC236}">
                <a16:creationId xmlns:a16="http://schemas.microsoft.com/office/drawing/2014/main" id="{8550FECE-F67B-E05C-8346-99C4691B4FCB}"/>
              </a:ext>
            </a:extLst>
          </p:cNvPr>
          <p:cNvSpPr>
            <a:spLocks noChangeArrowheads="1"/>
          </p:cNvSpPr>
          <p:nvPr/>
        </p:nvSpPr>
        <p:spPr bwMode="auto">
          <a:xfrm>
            <a:off x="4267200" y="3048000"/>
            <a:ext cx="88900" cy="88900"/>
          </a:xfrm>
          <a:prstGeom prst="octagon">
            <a:avLst>
              <a:gd name="adj" fmla="val 29287"/>
            </a:avLst>
          </a:prstGeom>
          <a:solidFill>
            <a:srgbClr val="FF0000"/>
          </a:solidFill>
          <a:ln w="9525" algn="ctr">
            <a:solidFill>
              <a:srgbClr val="FF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20000"/>
              </a:spcBef>
              <a:spcAft>
                <a:spcPct val="0"/>
              </a:spcAft>
            </a:pPr>
            <a:endParaRPr lang="en-IN" sz="2400">
              <a:solidFill>
                <a:srgbClr val="000000"/>
              </a:solidFill>
              <a:latin typeface="Times New Roman" panose="02020603050405020304" pitchFamily="18" charset="0"/>
            </a:endParaRPr>
          </a:p>
        </p:txBody>
      </p:sp>
      <p:sp>
        <p:nvSpPr>
          <p:cNvPr id="165913" name="AutoShape 25">
            <a:extLst>
              <a:ext uri="{FF2B5EF4-FFF2-40B4-BE49-F238E27FC236}">
                <a16:creationId xmlns:a16="http://schemas.microsoft.com/office/drawing/2014/main" id="{E1F5546C-A8FB-57D7-5BC1-7E2FBA94D76E}"/>
              </a:ext>
            </a:extLst>
          </p:cNvPr>
          <p:cNvSpPr>
            <a:spLocks noChangeArrowheads="1"/>
          </p:cNvSpPr>
          <p:nvPr/>
        </p:nvSpPr>
        <p:spPr bwMode="auto">
          <a:xfrm>
            <a:off x="5334000" y="3810000"/>
            <a:ext cx="88900" cy="88900"/>
          </a:xfrm>
          <a:prstGeom prst="octagon">
            <a:avLst>
              <a:gd name="adj" fmla="val 29287"/>
            </a:avLst>
          </a:prstGeom>
          <a:solidFill>
            <a:srgbClr val="0000FF"/>
          </a:solidFill>
          <a:ln w="9525" algn="ctr">
            <a:solidFill>
              <a:srgbClr val="00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fontAlgn="base">
              <a:spcBef>
                <a:spcPct val="20000"/>
              </a:spcBef>
              <a:spcAft>
                <a:spcPct val="0"/>
              </a:spcAft>
            </a:pPr>
            <a:endParaRPr lang="en-IN" sz="2400">
              <a:solidFill>
                <a:srgbClr val="000000"/>
              </a:solidFill>
              <a:latin typeface="Times New Roman" panose="02020603050405020304" pitchFamily="18" charset="0"/>
            </a:endParaRPr>
          </a:p>
        </p:txBody>
      </p:sp>
      <p:sp>
        <p:nvSpPr>
          <p:cNvPr id="165914" name="Text Box 26">
            <a:extLst>
              <a:ext uri="{FF2B5EF4-FFF2-40B4-BE49-F238E27FC236}">
                <a16:creationId xmlns:a16="http://schemas.microsoft.com/office/drawing/2014/main" id="{CB743A4C-CE5D-49F1-3BFB-7B618C4A23A6}"/>
              </a:ext>
            </a:extLst>
          </p:cNvPr>
          <p:cNvSpPr txBox="1">
            <a:spLocks noChangeArrowheads="1"/>
          </p:cNvSpPr>
          <p:nvPr/>
        </p:nvSpPr>
        <p:spPr bwMode="auto">
          <a:xfrm>
            <a:off x="5143500" y="2695575"/>
            <a:ext cx="2667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lang="en-US" altLang="en-US" sz="2400" b="1" dirty="0" err="1">
                <a:solidFill>
                  <a:srgbClr val="000000"/>
                </a:solidFill>
                <a:latin typeface="Times New Roman" panose="02020603050405020304" pitchFamily="18" charset="0"/>
              </a:rPr>
              <a:t>w</a:t>
            </a:r>
            <a:r>
              <a:rPr lang="en-US" altLang="en-US" sz="2400" b="1" baseline="30000" dirty="0" err="1">
                <a:solidFill>
                  <a:srgbClr val="000000"/>
                </a:solidFill>
                <a:latin typeface="Times New Roman" panose="02020603050405020304" pitchFamily="18" charset="0"/>
              </a:rPr>
              <a:t>T</a:t>
            </a:r>
            <a:r>
              <a:rPr lang="en-US" altLang="en-US" sz="2400" b="1" dirty="0" err="1">
                <a:solidFill>
                  <a:srgbClr val="000000"/>
                </a:solidFill>
                <a:latin typeface="Times New Roman" panose="02020603050405020304" pitchFamily="18" charset="0"/>
              </a:rPr>
              <a:t>x</a:t>
            </a:r>
            <a:r>
              <a:rPr lang="en-US" altLang="en-US" sz="2400" b="1" dirty="0">
                <a:solidFill>
                  <a:srgbClr val="000000"/>
                </a:solidFill>
                <a:latin typeface="Times New Roman" panose="02020603050405020304" pitchFamily="18" charset="0"/>
              </a:rPr>
              <a:t> </a:t>
            </a:r>
            <a:r>
              <a:rPr lang="en-US" altLang="en-US" sz="2400" dirty="0">
                <a:solidFill>
                  <a:srgbClr val="000000"/>
                </a:solidFill>
                <a:latin typeface="Times New Roman" panose="02020603050405020304" pitchFamily="18" charset="0"/>
              </a:rPr>
              <a:t>+ </a:t>
            </a:r>
            <a:r>
              <a:rPr lang="en-US" altLang="en-US" sz="2400" i="1" dirty="0">
                <a:solidFill>
                  <a:srgbClr val="000000"/>
                </a:solidFill>
                <a:latin typeface="Times New Roman" panose="02020603050405020304" pitchFamily="18" charset="0"/>
              </a:rPr>
              <a:t>b</a:t>
            </a:r>
            <a:r>
              <a:rPr lang="en-US" altLang="en-US" sz="2400" b="1" dirty="0">
                <a:solidFill>
                  <a:srgbClr val="000000"/>
                </a:solidFill>
                <a:latin typeface="Times New Roman" panose="02020603050405020304" pitchFamily="18" charset="0"/>
              </a:rPr>
              <a:t> = 0</a:t>
            </a:r>
          </a:p>
        </p:txBody>
      </p:sp>
      <p:sp>
        <p:nvSpPr>
          <p:cNvPr id="165915" name="Text Box 27">
            <a:extLst>
              <a:ext uri="{FF2B5EF4-FFF2-40B4-BE49-F238E27FC236}">
                <a16:creationId xmlns:a16="http://schemas.microsoft.com/office/drawing/2014/main" id="{F1060755-0153-996B-5CC6-BB90358CD21B}"/>
              </a:ext>
            </a:extLst>
          </p:cNvPr>
          <p:cNvSpPr txBox="1">
            <a:spLocks noChangeArrowheads="1"/>
          </p:cNvSpPr>
          <p:nvPr/>
        </p:nvSpPr>
        <p:spPr bwMode="auto">
          <a:xfrm>
            <a:off x="5095875" y="3913257"/>
            <a:ext cx="2667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lang="en-US" altLang="en-US" sz="2400" b="1" dirty="0" err="1">
                <a:solidFill>
                  <a:srgbClr val="000000"/>
                </a:solidFill>
                <a:latin typeface="Times New Roman" panose="02020603050405020304" pitchFamily="18" charset="0"/>
              </a:rPr>
              <a:t>w</a:t>
            </a:r>
            <a:r>
              <a:rPr lang="en-US" altLang="en-US" sz="2400" b="1" baseline="30000" dirty="0" err="1">
                <a:solidFill>
                  <a:srgbClr val="000000"/>
                </a:solidFill>
                <a:latin typeface="Times New Roman" panose="02020603050405020304" pitchFamily="18" charset="0"/>
              </a:rPr>
              <a:t>T</a:t>
            </a:r>
            <a:r>
              <a:rPr lang="en-US" altLang="en-US" sz="2400" b="1" dirty="0" err="1">
                <a:solidFill>
                  <a:srgbClr val="000000"/>
                </a:solidFill>
                <a:latin typeface="Times New Roman" panose="02020603050405020304" pitchFamily="18" charset="0"/>
              </a:rPr>
              <a:t>x</a:t>
            </a:r>
            <a:r>
              <a:rPr lang="en-US" altLang="en-US" sz="2400" b="1" dirty="0">
                <a:solidFill>
                  <a:srgbClr val="000000"/>
                </a:solidFill>
                <a:latin typeface="Times New Roman" panose="02020603050405020304" pitchFamily="18" charset="0"/>
              </a:rPr>
              <a:t> </a:t>
            </a:r>
            <a:r>
              <a:rPr lang="en-US" altLang="en-US" sz="2400" dirty="0">
                <a:solidFill>
                  <a:srgbClr val="000000"/>
                </a:solidFill>
                <a:latin typeface="Times New Roman" panose="02020603050405020304" pitchFamily="18" charset="0"/>
              </a:rPr>
              <a:t>+ </a:t>
            </a:r>
            <a:r>
              <a:rPr lang="en-US" altLang="en-US" sz="2400" i="1" dirty="0">
                <a:solidFill>
                  <a:srgbClr val="000000"/>
                </a:solidFill>
                <a:latin typeface="Times New Roman" panose="02020603050405020304" pitchFamily="18" charset="0"/>
              </a:rPr>
              <a:t>b</a:t>
            </a:r>
            <a:r>
              <a:rPr lang="en-US" altLang="en-US" sz="2400" b="1" dirty="0">
                <a:solidFill>
                  <a:srgbClr val="000000"/>
                </a:solidFill>
                <a:latin typeface="Times New Roman" panose="02020603050405020304" pitchFamily="18" charset="0"/>
              </a:rPr>
              <a:t> &lt; 0</a:t>
            </a:r>
          </a:p>
        </p:txBody>
      </p:sp>
      <p:sp>
        <p:nvSpPr>
          <p:cNvPr id="165916" name="Text Box 28">
            <a:extLst>
              <a:ext uri="{FF2B5EF4-FFF2-40B4-BE49-F238E27FC236}">
                <a16:creationId xmlns:a16="http://schemas.microsoft.com/office/drawing/2014/main" id="{22E81051-0FB6-C0A1-18B9-24A8787A9AC4}"/>
              </a:ext>
            </a:extLst>
          </p:cNvPr>
          <p:cNvSpPr txBox="1">
            <a:spLocks noChangeArrowheads="1"/>
          </p:cNvSpPr>
          <p:nvPr/>
        </p:nvSpPr>
        <p:spPr bwMode="auto">
          <a:xfrm>
            <a:off x="2663725" y="3060700"/>
            <a:ext cx="184785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fontAlgn="base">
              <a:spcBef>
                <a:spcPct val="50000"/>
              </a:spcBef>
              <a:spcAft>
                <a:spcPct val="0"/>
              </a:spcAft>
            </a:pPr>
            <a:r>
              <a:rPr lang="en-US" altLang="en-US" sz="2400" b="1" dirty="0" err="1">
                <a:solidFill>
                  <a:srgbClr val="000000"/>
                </a:solidFill>
                <a:latin typeface="Times New Roman" panose="02020603050405020304" pitchFamily="18" charset="0"/>
              </a:rPr>
              <a:t>w</a:t>
            </a:r>
            <a:r>
              <a:rPr lang="en-US" altLang="en-US" sz="2400" b="1" baseline="30000" dirty="0" err="1">
                <a:solidFill>
                  <a:srgbClr val="000000"/>
                </a:solidFill>
                <a:latin typeface="Times New Roman" panose="02020603050405020304" pitchFamily="18" charset="0"/>
              </a:rPr>
              <a:t>T</a:t>
            </a:r>
            <a:r>
              <a:rPr lang="en-US" altLang="en-US" sz="2400" b="1" dirty="0" err="1">
                <a:solidFill>
                  <a:srgbClr val="000000"/>
                </a:solidFill>
                <a:latin typeface="Times New Roman" panose="02020603050405020304" pitchFamily="18" charset="0"/>
              </a:rPr>
              <a:t>x</a:t>
            </a:r>
            <a:r>
              <a:rPr lang="en-US" altLang="en-US" sz="2400" b="1" dirty="0">
                <a:solidFill>
                  <a:srgbClr val="000000"/>
                </a:solidFill>
                <a:latin typeface="Times New Roman" panose="02020603050405020304" pitchFamily="18" charset="0"/>
              </a:rPr>
              <a:t> </a:t>
            </a:r>
            <a:r>
              <a:rPr lang="en-US" altLang="en-US" sz="2400" dirty="0">
                <a:solidFill>
                  <a:srgbClr val="000000"/>
                </a:solidFill>
                <a:latin typeface="Times New Roman" panose="02020603050405020304" pitchFamily="18" charset="0"/>
              </a:rPr>
              <a:t>+ </a:t>
            </a:r>
            <a:r>
              <a:rPr lang="en-US" altLang="en-US" sz="2400" i="1" dirty="0">
                <a:solidFill>
                  <a:srgbClr val="000000"/>
                </a:solidFill>
                <a:latin typeface="Times New Roman" panose="02020603050405020304" pitchFamily="18" charset="0"/>
              </a:rPr>
              <a:t>b</a:t>
            </a:r>
            <a:r>
              <a:rPr lang="en-US" altLang="en-US" sz="2400" b="1" dirty="0">
                <a:solidFill>
                  <a:srgbClr val="000000"/>
                </a:solidFill>
                <a:latin typeface="Times New Roman" panose="02020603050405020304" pitchFamily="18" charset="0"/>
              </a:rPr>
              <a:t> &gt; 0</a:t>
            </a:r>
          </a:p>
        </p:txBody>
      </p:sp>
      <p:sp>
        <p:nvSpPr>
          <p:cNvPr id="165917" name="Text Box 29">
            <a:extLst>
              <a:ext uri="{FF2B5EF4-FFF2-40B4-BE49-F238E27FC236}">
                <a16:creationId xmlns:a16="http://schemas.microsoft.com/office/drawing/2014/main" id="{DB57BE33-8087-3C17-F58A-63F700306BCE}"/>
              </a:ext>
            </a:extLst>
          </p:cNvPr>
          <p:cNvSpPr txBox="1">
            <a:spLocks noChangeArrowheads="1"/>
          </p:cNvSpPr>
          <p:nvPr/>
        </p:nvSpPr>
        <p:spPr bwMode="auto">
          <a:xfrm>
            <a:off x="7686675" y="4588332"/>
            <a:ext cx="29337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lgn="ctr">
                <a:solidFill>
                  <a:srgbClr val="FF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fontAlgn="base">
              <a:spcBef>
                <a:spcPct val="50000"/>
              </a:spcBef>
              <a:spcAft>
                <a:spcPct val="0"/>
              </a:spcAft>
            </a:pPr>
            <a:r>
              <a:rPr lang="en-US" altLang="en-US" sz="2400" i="1" dirty="0">
                <a:solidFill>
                  <a:srgbClr val="000000"/>
                </a:solidFill>
                <a:latin typeface="Times New Roman" panose="02020603050405020304" pitchFamily="18" charset="0"/>
              </a:rPr>
              <a:t>f</a:t>
            </a:r>
            <a:r>
              <a:rPr lang="en-US" altLang="en-US" sz="2400" dirty="0">
                <a:solidFill>
                  <a:srgbClr val="000000"/>
                </a:solidFill>
                <a:latin typeface="Times New Roman" panose="02020603050405020304" pitchFamily="18" charset="0"/>
              </a:rPr>
              <a:t>(</a:t>
            </a:r>
            <a:r>
              <a:rPr lang="en-US" altLang="en-US" sz="2400" b="1" dirty="0">
                <a:solidFill>
                  <a:srgbClr val="000000"/>
                </a:solidFill>
                <a:latin typeface="Times New Roman" panose="02020603050405020304" pitchFamily="18" charset="0"/>
              </a:rPr>
              <a:t>x</a:t>
            </a:r>
            <a:r>
              <a:rPr lang="en-US" altLang="en-US" sz="2400" dirty="0">
                <a:solidFill>
                  <a:srgbClr val="000000"/>
                </a:solidFill>
                <a:latin typeface="Times New Roman" panose="02020603050405020304" pitchFamily="18" charset="0"/>
              </a:rPr>
              <a:t>)</a:t>
            </a:r>
            <a:r>
              <a:rPr lang="en-US" altLang="en-US" sz="2400" i="1" dirty="0">
                <a:solidFill>
                  <a:srgbClr val="000000"/>
                </a:solidFill>
                <a:latin typeface="Times New Roman" panose="02020603050405020304" pitchFamily="18" charset="0"/>
              </a:rPr>
              <a:t> = </a:t>
            </a:r>
            <a:r>
              <a:rPr lang="en-US" altLang="en-US" sz="2400" dirty="0">
                <a:solidFill>
                  <a:srgbClr val="000000"/>
                </a:solidFill>
                <a:latin typeface="Times New Roman" panose="02020603050405020304" pitchFamily="18" charset="0"/>
              </a:rPr>
              <a:t>sign(</a:t>
            </a:r>
            <a:r>
              <a:rPr lang="en-US" altLang="en-US" sz="2400" b="1" dirty="0" err="1">
                <a:solidFill>
                  <a:srgbClr val="000000"/>
                </a:solidFill>
                <a:latin typeface="Times New Roman" panose="02020603050405020304" pitchFamily="18" charset="0"/>
              </a:rPr>
              <a:t>w</a:t>
            </a:r>
            <a:r>
              <a:rPr lang="en-US" altLang="en-US" sz="2400" b="1" baseline="30000" dirty="0" err="1">
                <a:solidFill>
                  <a:srgbClr val="000000"/>
                </a:solidFill>
                <a:latin typeface="Times New Roman" panose="02020603050405020304" pitchFamily="18" charset="0"/>
              </a:rPr>
              <a:t>T</a:t>
            </a:r>
            <a:r>
              <a:rPr lang="en-US" altLang="en-US" sz="2400" b="1" dirty="0" err="1">
                <a:solidFill>
                  <a:srgbClr val="000000"/>
                </a:solidFill>
                <a:latin typeface="Times New Roman" panose="02020603050405020304" pitchFamily="18" charset="0"/>
              </a:rPr>
              <a:t>x</a:t>
            </a:r>
            <a:r>
              <a:rPr lang="en-US" altLang="en-US" sz="2400" b="1" dirty="0">
                <a:solidFill>
                  <a:srgbClr val="000000"/>
                </a:solidFill>
                <a:latin typeface="Times New Roman" panose="02020603050405020304" pitchFamily="18" charset="0"/>
              </a:rPr>
              <a:t> </a:t>
            </a:r>
            <a:r>
              <a:rPr lang="en-US" altLang="en-US" sz="2400" dirty="0">
                <a:solidFill>
                  <a:srgbClr val="000000"/>
                </a:solidFill>
                <a:latin typeface="Times New Roman" panose="02020603050405020304" pitchFamily="18" charset="0"/>
              </a:rPr>
              <a:t>+ </a:t>
            </a:r>
            <a:r>
              <a:rPr lang="en-US" altLang="en-US" sz="2400" i="1" dirty="0">
                <a:solidFill>
                  <a:srgbClr val="000000"/>
                </a:solidFill>
                <a:latin typeface="Times New Roman" panose="02020603050405020304" pitchFamily="18" charset="0"/>
              </a:rPr>
              <a:t>b</a:t>
            </a:r>
            <a:r>
              <a:rPr lang="en-US" altLang="en-US" sz="2400" dirty="0">
                <a:solidFill>
                  <a:srgbClr val="000000"/>
                </a:solidFill>
                <a:latin typeface="Times New Roman" panose="02020603050405020304" pitchFamily="18" charset="0"/>
              </a:rPr>
              <a:t>)</a:t>
            </a:r>
            <a:endParaRPr lang="en-US" altLang="en-US" sz="2400" b="1" dirty="0">
              <a:solidFill>
                <a:srgbClr val="000000"/>
              </a:solidFill>
              <a:latin typeface="Times New Roman" panose="02020603050405020304" pitchFamily="18" charset="0"/>
            </a:endParaRPr>
          </a:p>
        </p:txBody>
      </p:sp>
      <p:sp>
        <p:nvSpPr>
          <p:cNvPr id="5" name="Text Box 28">
            <a:extLst>
              <a:ext uri="{FF2B5EF4-FFF2-40B4-BE49-F238E27FC236}">
                <a16:creationId xmlns:a16="http://schemas.microsoft.com/office/drawing/2014/main" id="{FD4D05BD-A596-3554-5BE2-E404318E787C}"/>
              </a:ext>
            </a:extLst>
          </p:cNvPr>
          <p:cNvSpPr txBox="1">
            <a:spLocks noChangeArrowheads="1"/>
          </p:cNvSpPr>
          <p:nvPr/>
        </p:nvSpPr>
        <p:spPr bwMode="auto">
          <a:xfrm>
            <a:off x="1350678" y="1154112"/>
            <a:ext cx="4027772" cy="1015663"/>
          </a:xfrm>
          <a:prstGeom prst="rect">
            <a:avLst/>
          </a:prstGeom>
          <a:solidFill>
            <a:schemeClr val="accent1">
              <a:lumMod val="40000"/>
              <a:lumOff val="60000"/>
            </a:schemeClr>
          </a:solidFill>
          <a:ln>
            <a:noFill/>
          </a:ln>
          <a:effectLst/>
        </p:spPr>
        <p:txBody>
          <a:bodyPr wrap="square">
            <a:spAutoFit/>
          </a:bodyPr>
          <a:lstStyle/>
          <a:p>
            <a:pPr fontAlgn="base">
              <a:spcBef>
                <a:spcPct val="50000"/>
              </a:spcBef>
              <a:spcAft>
                <a:spcPct val="0"/>
              </a:spcAft>
            </a:pPr>
            <a:r>
              <a:rPr lang="en-US" altLang="en-US" sz="2400" b="1" dirty="0" err="1">
                <a:solidFill>
                  <a:srgbClr val="000000"/>
                </a:solidFill>
                <a:latin typeface="Times New Roman" panose="02020603050405020304" pitchFamily="18" charset="0"/>
              </a:rPr>
              <a:t>w</a:t>
            </a:r>
            <a:r>
              <a:rPr lang="en-US" altLang="en-US" sz="2400" b="1" baseline="30000" dirty="0" err="1">
                <a:solidFill>
                  <a:srgbClr val="000000"/>
                </a:solidFill>
                <a:latin typeface="Times New Roman" panose="02020603050405020304" pitchFamily="18" charset="0"/>
              </a:rPr>
              <a:t>T</a:t>
            </a:r>
            <a:r>
              <a:rPr lang="en-US" altLang="en-US" sz="2400" b="1" dirty="0" err="1">
                <a:solidFill>
                  <a:srgbClr val="000000"/>
                </a:solidFill>
                <a:latin typeface="Times New Roman" panose="02020603050405020304" pitchFamily="18" charset="0"/>
              </a:rPr>
              <a:t>x</a:t>
            </a:r>
            <a:r>
              <a:rPr lang="en-US" altLang="en-US" sz="2400" b="1" dirty="0">
                <a:solidFill>
                  <a:srgbClr val="000000"/>
                </a:solidFill>
                <a:latin typeface="Times New Roman" panose="02020603050405020304" pitchFamily="18" charset="0"/>
              </a:rPr>
              <a:t> </a:t>
            </a:r>
            <a:r>
              <a:rPr lang="en-US" altLang="en-US" sz="2400" dirty="0">
                <a:solidFill>
                  <a:srgbClr val="000000"/>
                </a:solidFill>
                <a:latin typeface="Times New Roman" panose="02020603050405020304" pitchFamily="18" charset="0"/>
              </a:rPr>
              <a:t>+ </a:t>
            </a:r>
            <a:r>
              <a:rPr lang="en-US" altLang="en-US" sz="2400" i="1" dirty="0">
                <a:solidFill>
                  <a:srgbClr val="000000"/>
                </a:solidFill>
                <a:latin typeface="Times New Roman" panose="02020603050405020304" pitchFamily="18" charset="0"/>
              </a:rPr>
              <a:t>b</a:t>
            </a:r>
            <a:r>
              <a:rPr lang="en-US" altLang="en-US" sz="2400" b="1" dirty="0">
                <a:solidFill>
                  <a:srgbClr val="000000"/>
                </a:solidFill>
                <a:latin typeface="Times New Roman" panose="02020603050405020304" pitchFamily="18" charset="0"/>
              </a:rPr>
              <a:t> &gt; 0          for </a:t>
            </a:r>
            <a:r>
              <a:rPr lang="en-US" altLang="en-US" sz="2400" b="1" dirty="0" err="1">
                <a:solidFill>
                  <a:srgbClr val="000000"/>
                </a:solidFill>
                <a:latin typeface="Times New Roman" panose="02020603050405020304" pitchFamily="18" charset="0"/>
              </a:rPr>
              <a:t>y</a:t>
            </a:r>
            <a:r>
              <a:rPr lang="en-US" altLang="en-US" sz="2400" b="1" baseline="-25000" dirty="0" err="1">
                <a:solidFill>
                  <a:srgbClr val="000000"/>
                </a:solidFill>
                <a:latin typeface="Times New Roman" panose="02020603050405020304" pitchFamily="18" charset="0"/>
              </a:rPr>
              <a:t>i</a:t>
            </a:r>
            <a:r>
              <a:rPr lang="en-US" altLang="en-US" sz="2400" b="1" dirty="0">
                <a:solidFill>
                  <a:srgbClr val="000000"/>
                </a:solidFill>
                <a:latin typeface="Times New Roman" panose="02020603050405020304" pitchFamily="18" charset="0"/>
              </a:rPr>
              <a:t>= +1</a:t>
            </a:r>
          </a:p>
          <a:p>
            <a:pPr fontAlgn="base">
              <a:spcBef>
                <a:spcPct val="50000"/>
              </a:spcBef>
              <a:spcAft>
                <a:spcPct val="0"/>
              </a:spcAft>
            </a:pPr>
            <a:r>
              <a:rPr lang="en-US" altLang="en-US" sz="2400" b="1" dirty="0" err="1">
                <a:solidFill>
                  <a:srgbClr val="000000"/>
                </a:solidFill>
                <a:latin typeface="Times New Roman" panose="02020603050405020304" pitchFamily="18" charset="0"/>
              </a:rPr>
              <a:t>w</a:t>
            </a:r>
            <a:r>
              <a:rPr lang="en-US" altLang="en-US" sz="2400" b="1" baseline="30000" dirty="0" err="1">
                <a:solidFill>
                  <a:srgbClr val="000000"/>
                </a:solidFill>
                <a:latin typeface="Times New Roman" panose="02020603050405020304" pitchFamily="18" charset="0"/>
              </a:rPr>
              <a:t>T</a:t>
            </a:r>
            <a:r>
              <a:rPr lang="en-US" altLang="en-US" sz="2400" b="1" dirty="0" err="1">
                <a:solidFill>
                  <a:srgbClr val="000000"/>
                </a:solidFill>
                <a:latin typeface="Times New Roman" panose="02020603050405020304" pitchFamily="18" charset="0"/>
              </a:rPr>
              <a:t>x</a:t>
            </a:r>
            <a:r>
              <a:rPr lang="en-US" altLang="en-US" sz="2400" b="1" dirty="0">
                <a:solidFill>
                  <a:srgbClr val="000000"/>
                </a:solidFill>
                <a:latin typeface="Times New Roman" panose="02020603050405020304" pitchFamily="18" charset="0"/>
              </a:rPr>
              <a:t> </a:t>
            </a:r>
            <a:r>
              <a:rPr lang="en-US" altLang="en-US" sz="2400" dirty="0">
                <a:solidFill>
                  <a:srgbClr val="000000"/>
                </a:solidFill>
                <a:latin typeface="Times New Roman" panose="02020603050405020304" pitchFamily="18" charset="0"/>
              </a:rPr>
              <a:t>+ </a:t>
            </a:r>
            <a:r>
              <a:rPr lang="en-US" altLang="en-US" sz="2400" i="1" dirty="0">
                <a:solidFill>
                  <a:srgbClr val="000000"/>
                </a:solidFill>
                <a:latin typeface="Times New Roman" panose="02020603050405020304" pitchFamily="18" charset="0"/>
              </a:rPr>
              <a:t>b</a:t>
            </a:r>
            <a:r>
              <a:rPr lang="en-US" altLang="en-US" sz="2400" b="1" dirty="0">
                <a:solidFill>
                  <a:srgbClr val="000000"/>
                </a:solidFill>
                <a:latin typeface="Times New Roman" panose="02020603050405020304" pitchFamily="18" charset="0"/>
              </a:rPr>
              <a:t> &lt; 0           for </a:t>
            </a:r>
            <a:r>
              <a:rPr lang="en-US" altLang="en-US" sz="2400" b="1" dirty="0" err="1">
                <a:solidFill>
                  <a:srgbClr val="000000"/>
                </a:solidFill>
                <a:latin typeface="Times New Roman" panose="02020603050405020304" pitchFamily="18" charset="0"/>
              </a:rPr>
              <a:t>y</a:t>
            </a:r>
            <a:r>
              <a:rPr lang="en-US" altLang="en-US" sz="2400" b="1" baseline="-25000" dirty="0" err="1">
                <a:solidFill>
                  <a:srgbClr val="000000"/>
                </a:solidFill>
                <a:latin typeface="Times New Roman" panose="02020603050405020304" pitchFamily="18" charset="0"/>
              </a:rPr>
              <a:t>i</a:t>
            </a:r>
            <a:r>
              <a:rPr lang="en-US" altLang="en-US" sz="2400" b="1" dirty="0">
                <a:solidFill>
                  <a:srgbClr val="000000"/>
                </a:solidFill>
                <a:latin typeface="Times New Roman" panose="02020603050405020304" pitchFamily="18" charset="0"/>
              </a:rPr>
              <a:t>= -1</a:t>
            </a:r>
          </a:p>
        </p:txBody>
      </p:sp>
    </p:spTree>
    <p:extLst>
      <p:ext uri="{BB962C8B-B14F-4D97-AF65-F5344CB8AC3E}">
        <p14:creationId xmlns:p14="http://schemas.microsoft.com/office/powerpoint/2010/main" val="495653676"/>
      </p:ext>
    </p:extLst>
  </p:cSld>
  <p:clrMapOvr>
    <a:masterClrMapping/>
  </p:clrMapOvr>
  <p:transition advTm="34928"/>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659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5914"/>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659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6591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6591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5914" grpId="0"/>
      <p:bldP spid="165915" grpId="0"/>
      <p:bldP spid="165916" grpId="0"/>
      <p:bldP spid="165917" grpId="0"/>
      <p:bldP spid="5"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87236D-5D33-98F4-6C2F-74894B4F9C03}"/>
              </a:ext>
            </a:extLst>
          </p:cNvPr>
          <p:cNvSpPr>
            <a:spLocks noGrp="1"/>
          </p:cNvSpPr>
          <p:nvPr>
            <p:ph type="title"/>
          </p:nvPr>
        </p:nvSpPr>
        <p:spPr>
          <a:xfrm>
            <a:off x="838200" y="365126"/>
            <a:ext cx="10515600" cy="183514"/>
          </a:xfrm>
        </p:spPr>
        <p:txBody>
          <a:bodyPr>
            <a:normAutofit fontScale="90000"/>
          </a:bodyPr>
          <a:lstStyle/>
          <a:p>
            <a:r>
              <a:rPr lang="en-IN" dirty="0">
                <a:solidFill>
                  <a:srgbClr val="FF0000"/>
                </a:solidFill>
              </a:rPr>
              <a:t>Example</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154060AD-593F-86F9-6EC7-945F1202A1C5}"/>
                  </a:ext>
                </a:extLst>
              </p:cNvPr>
              <p:cNvSpPr>
                <a:spLocks noGrp="1"/>
              </p:cNvSpPr>
              <p:nvPr>
                <p:ph idx="1"/>
              </p:nvPr>
            </p:nvSpPr>
            <p:spPr>
              <a:xfrm>
                <a:off x="838200" y="847898"/>
                <a:ext cx="10515600" cy="5329066"/>
              </a:xfrm>
            </p:spPr>
            <p:txBody>
              <a:bodyPr>
                <a:normAutofit fontScale="62500" lnSpcReduction="20000"/>
              </a:bodyPr>
              <a:lstStyle/>
              <a:p>
                <a:pPr marL="0" indent="0">
                  <a:buNone/>
                </a:pPr>
                <a:r>
                  <a:rPr lang="en-US" sz="4400" b="1" dirty="0"/>
                  <a:t>Feature Vector </a:t>
                </a:r>
                <a14:m>
                  <m:oMath xmlns:m="http://schemas.openxmlformats.org/officeDocument/2006/math">
                    <m:r>
                      <a:rPr lang="en-US" sz="4400" i="1">
                        <a:latin typeface="Cambria Math" panose="02040503050406030204" pitchFamily="18" charset="0"/>
                      </a:rPr>
                      <m:t>𝑥</m:t>
                    </m:r>
                  </m:oMath>
                </a14:m>
                <a:endParaRPr lang="en-US" sz="4400" b="1" dirty="0"/>
              </a:p>
              <a:p>
                <a:r>
                  <a:rPr lang="en-US" sz="4400" dirty="0"/>
                  <a:t>Suppose each data point has two features (Height, Weight) </a:t>
                </a:r>
              </a:p>
              <a:p>
                <a:pPr marL="0" indent="0">
                  <a:buNone/>
                </a:pPr>
                <a:r>
                  <a:rPr lang="en-US" sz="4400" dirty="0"/>
                  <a:t>                                       </a:t>
                </a:r>
                <a:r>
                  <a:rPr lang="en-IN" sz="4400" dirty="0"/>
                  <a:t>x=(170,65)</a:t>
                </a:r>
              </a:p>
              <a:p>
                <a:pPr marL="0" indent="0">
                  <a:buNone/>
                </a:pPr>
                <a:r>
                  <a:rPr lang="en-US" sz="4400" b="1" dirty="0"/>
                  <a:t>Weight Vector </a:t>
                </a:r>
                <a14:m>
                  <m:oMath xmlns:m="http://schemas.openxmlformats.org/officeDocument/2006/math">
                    <m:r>
                      <a:rPr lang="en-US" sz="4400" i="1">
                        <a:latin typeface="Cambria Math" panose="02040503050406030204" pitchFamily="18" charset="0"/>
                      </a:rPr>
                      <m:t>𝑤</m:t>
                    </m:r>
                  </m:oMath>
                </a14:m>
                <a:endParaRPr lang="en-US" sz="4400" b="1" dirty="0"/>
              </a:p>
              <a:p>
                <a:r>
                  <a:rPr lang="en-US" sz="4400" dirty="0"/>
                  <a:t>Weights determine </a:t>
                </a:r>
                <a:r>
                  <a:rPr lang="en-US" sz="4400" b="1" dirty="0"/>
                  <a:t>orientation of the hyperplane </a:t>
                </a:r>
                <a:r>
                  <a:rPr lang="en-IN" sz="4400" dirty="0"/>
                  <a:t>w=(w1​,w2​)</a:t>
                </a:r>
              </a:p>
              <a:p>
                <a:pPr marL="0" indent="0">
                  <a:buNone/>
                </a:pPr>
                <a:r>
                  <a:rPr lang="en-IN" sz="4400" dirty="0"/>
                  <a:t>                                          w=(2,3)</a:t>
                </a:r>
              </a:p>
              <a:p>
                <a:pPr marL="0" indent="0">
                  <a:buNone/>
                </a:pPr>
                <a:r>
                  <a:rPr lang="en-IN" sz="4400" b="1" dirty="0"/>
                  <a:t>Dot Product </a:t>
                </a:r>
                <a14:m>
                  <m:oMath xmlns:m="http://schemas.openxmlformats.org/officeDocument/2006/math">
                    <m:sSup>
                      <m:sSupPr>
                        <m:ctrlPr>
                          <a:rPr lang="ar-AE" sz="4400" b="1" i="1">
                            <a:latin typeface="Cambria Math" panose="02040503050406030204" pitchFamily="18" charset="0"/>
                          </a:rPr>
                        </m:ctrlPr>
                      </m:sSupPr>
                      <m:e>
                        <m:r>
                          <a:rPr lang="ar-AE" sz="4400" b="1" i="1">
                            <a:latin typeface="Cambria Math" panose="02040503050406030204" pitchFamily="18" charset="0"/>
                          </a:rPr>
                          <m:t>𝒘</m:t>
                        </m:r>
                      </m:e>
                      <m:sup>
                        <m:r>
                          <a:rPr lang="ar-AE" sz="4400" b="1" i="1">
                            <a:latin typeface="Cambria Math" panose="02040503050406030204" pitchFamily="18" charset="0"/>
                          </a:rPr>
                          <m:t>𝑻</m:t>
                        </m:r>
                      </m:sup>
                    </m:sSup>
                    <m:r>
                      <a:rPr lang="ar-AE" sz="4400" b="1" i="1">
                        <a:latin typeface="Cambria Math" panose="02040503050406030204" pitchFamily="18" charset="0"/>
                      </a:rPr>
                      <m:t>𝒙</m:t>
                    </m:r>
                  </m:oMath>
                </a14:m>
                <a:endParaRPr lang="en-US" sz="4400" b="1" dirty="0"/>
              </a:p>
              <a:p>
                <a:pPr marL="457200" lvl="1" indent="0">
                  <a:buNone/>
                </a:pPr>
                <a:r>
                  <a:rPr lang="en-IN" sz="3600" dirty="0"/>
                  <a:t>                           </a:t>
                </a:r>
                <a14:m>
                  <m:oMath xmlns:m="http://schemas.openxmlformats.org/officeDocument/2006/math">
                    <m:sSup>
                      <m:sSupPr>
                        <m:ctrlPr>
                          <a:rPr lang="ar-AE" sz="3600" i="1">
                            <a:latin typeface="Cambria Math" panose="02040503050406030204" pitchFamily="18" charset="0"/>
                          </a:rPr>
                        </m:ctrlPr>
                      </m:sSupPr>
                      <m:e>
                        <m:r>
                          <a:rPr lang="ar-AE" sz="3600" i="1">
                            <a:latin typeface="Cambria Math" panose="02040503050406030204" pitchFamily="18" charset="0"/>
                          </a:rPr>
                          <m:t>𝑤</m:t>
                        </m:r>
                      </m:e>
                      <m:sup>
                        <m:r>
                          <a:rPr lang="ar-AE" sz="3600" i="1">
                            <a:latin typeface="Cambria Math" panose="02040503050406030204" pitchFamily="18" charset="0"/>
                          </a:rPr>
                          <m:t>𝑇</m:t>
                        </m:r>
                      </m:sup>
                    </m:sSup>
                    <m:r>
                      <a:rPr lang="ar-AE" sz="3600" i="1">
                        <a:latin typeface="Cambria Math" panose="02040503050406030204" pitchFamily="18" charset="0"/>
                      </a:rPr>
                      <m:t>𝑥</m:t>
                    </m:r>
                    <m:r>
                      <a:rPr lang="ar-AE" sz="3600">
                        <a:latin typeface="Cambria Math" panose="02040503050406030204" pitchFamily="18" charset="0"/>
                      </a:rPr>
                      <m:t>=</m:t>
                    </m:r>
                    <m:sSub>
                      <m:sSubPr>
                        <m:ctrlPr>
                          <a:rPr lang="ar-AE" sz="3600" i="1">
                            <a:latin typeface="Cambria Math" panose="02040503050406030204" pitchFamily="18" charset="0"/>
                          </a:rPr>
                        </m:ctrlPr>
                      </m:sSubPr>
                      <m:e>
                        <m:r>
                          <a:rPr lang="ar-AE" sz="3600" i="1">
                            <a:latin typeface="Cambria Math" panose="02040503050406030204" pitchFamily="18" charset="0"/>
                          </a:rPr>
                          <m:t>𝑤</m:t>
                        </m:r>
                      </m:e>
                      <m:sub>
                        <m:r>
                          <a:rPr lang="ar-AE" sz="3600">
                            <a:latin typeface="Cambria Math" panose="02040503050406030204" pitchFamily="18" charset="0"/>
                          </a:rPr>
                          <m:t>1</m:t>
                        </m:r>
                      </m:sub>
                    </m:sSub>
                    <m:sSub>
                      <m:sSubPr>
                        <m:ctrlPr>
                          <a:rPr lang="ar-AE" sz="3600" i="1">
                            <a:latin typeface="Cambria Math" panose="02040503050406030204" pitchFamily="18" charset="0"/>
                          </a:rPr>
                        </m:ctrlPr>
                      </m:sSubPr>
                      <m:e>
                        <m:r>
                          <a:rPr lang="ar-AE" sz="3600" i="1">
                            <a:latin typeface="Cambria Math" panose="02040503050406030204" pitchFamily="18" charset="0"/>
                          </a:rPr>
                          <m:t>𝑥</m:t>
                        </m:r>
                      </m:e>
                      <m:sub>
                        <m:r>
                          <a:rPr lang="ar-AE" sz="3600">
                            <a:latin typeface="Cambria Math" panose="02040503050406030204" pitchFamily="18" charset="0"/>
                          </a:rPr>
                          <m:t>1</m:t>
                        </m:r>
                      </m:sub>
                    </m:sSub>
                    <m:r>
                      <a:rPr lang="ar-AE" sz="3600">
                        <a:latin typeface="Cambria Math" panose="02040503050406030204" pitchFamily="18" charset="0"/>
                      </a:rPr>
                      <m:t>+</m:t>
                    </m:r>
                    <m:sSub>
                      <m:sSubPr>
                        <m:ctrlPr>
                          <a:rPr lang="ar-AE" sz="3600" i="1">
                            <a:latin typeface="Cambria Math" panose="02040503050406030204" pitchFamily="18" charset="0"/>
                          </a:rPr>
                        </m:ctrlPr>
                      </m:sSubPr>
                      <m:e>
                        <m:r>
                          <a:rPr lang="ar-AE" sz="3600" i="1">
                            <a:latin typeface="Cambria Math" panose="02040503050406030204" pitchFamily="18" charset="0"/>
                          </a:rPr>
                          <m:t>𝑤</m:t>
                        </m:r>
                      </m:e>
                      <m:sub>
                        <m:r>
                          <a:rPr lang="ar-AE" sz="3600">
                            <a:latin typeface="Cambria Math" panose="02040503050406030204" pitchFamily="18" charset="0"/>
                          </a:rPr>
                          <m:t>2</m:t>
                        </m:r>
                      </m:sub>
                    </m:sSub>
                    <m:sSub>
                      <m:sSubPr>
                        <m:ctrlPr>
                          <a:rPr lang="ar-AE" sz="3600" i="1">
                            <a:latin typeface="Cambria Math" panose="02040503050406030204" pitchFamily="18" charset="0"/>
                          </a:rPr>
                        </m:ctrlPr>
                      </m:sSubPr>
                      <m:e>
                        <m:r>
                          <a:rPr lang="ar-AE" sz="3600" i="1">
                            <a:latin typeface="Cambria Math" panose="02040503050406030204" pitchFamily="18" charset="0"/>
                          </a:rPr>
                          <m:t>𝑥</m:t>
                        </m:r>
                      </m:e>
                      <m:sub>
                        <m:r>
                          <a:rPr lang="ar-AE" sz="3600">
                            <a:latin typeface="Cambria Math" panose="02040503050406030204" pitchFamily="18" charset="0"/>
                          </a:rPr>
                          <m:t>2</m:t>
                        </m:r>
                      </m:sub>
                    </m:sSub>
                  </m:oMath>
                </a14:m>
                <a:endParaRPr lang="en-IN" sz="3600" dirty="0"/>
              </a:p>
              <a:p>
                <a:pPr marL="0" indent="0">
                  <a:buNone/>
                </a:pPr>
                <a:r>
                  <a:rPr lang="en-IN" sz="4400" dirty="0">
                    <a:solidFill>
                      <a:srgbClr val="FF0000"/>
                    </a:solidFill>
                  </a:rPr>
                  <a:t>                             </a:t>
                </a:r>
                <a14:m>
                  <m:oMath xmlns:m="http://schemas.openxmlformats.org/officeDocument/2006/math">
                    <m:sSup>
                      <m:sSupPr>
                        <m:ctrlPr>
                          <a:rPr lang="ar-AE" sz="4400" i="1">
                            <a:solidFill>
                              <a:srgbClr val="FF0000"/>
                            </a:solidFill>
                            <a:latin typeface="Cambria Math" panose="02040503050406030204" pitchFamily="18" charset="0"/>
                          </a:rPr>
                        </m:ctrlPr>
                      </m:sSupPr>
                      <m:e>
                        <m:r>
                          <a:rPr lang="ar-AE" sz="4400" i="1">
                            <a:solidFill>
                              <a:srgbClr val="FF0000"/>
                            </a:solidFill>
                            <a:latin typeface="Cambria Math" panose="02040503050406030204" pitchFamily="18" charset="0"/>
                          </a:rPr>
                          <m:t>𝑤</m:t>
                        </m:r>
                      </m:e>
                      <m:sup>
                        <m:r>
                          <a:rPr lang="ar-AE" sz="4400" i="1">
                            <a:solidFill>
                              <a:srgbClr val="FF0000"/>
                            </a:solidFill>
                            <a:latin typeface="Cambria Math" panose="02040503050406030204" pitchFamily="18" charset="0"/>
                          </a:rPr>
                          <m:t>𝑇</m:t>
                        </m:r>
                      </m:sup>
                    </m:sSup>
                    <m:r>
                      <a:rPr lang="ar-AE" sz="4400" i="1">
                        <a:solidFill>
                          <a:srgbClr val="FF0000"/>
                        </a:solidFill>
                        <a:latin typeface="Cambria Math" panose="02040503050406030204" pitchFamily="18" charset="0"/>
                      </a:rPr>
                      <m:t>𝑥</m:t>
                    </m:r>
                    <m:r>
                      <a:rPr lang="ar-AE" sz="4400">
                        <a:solidFill>
                          <a:srgbClr val="FF0000"/>
                        </a:solidFill>
                        <a:latin typeface="Cambria Math" panose="02040503050406030204" pitchFamily="18" charset="0"/>
                      </a:rPr>
                      <m:t>=</m:t>
                    </m:r>
                    <m:r>
                      <a:rPr lang="ar-AE" sz="4400">
                        <a:solidFill>
                          <a:srgbClr val="FF0000"/>
                        </a:solidFill>
                        <a:latin typeface="Cambria Math" panose="02040503050406030204" pitchFamily="18" charset="0"/>
                      </a:rPr>
                      <m:t>2</m:t>
                    </m:r>
                    <m:sSub>
                      <m:sSubPr>
                        <m:ctrlPr>
                          <a:rPr lang="ar-AE" sz="4400" i="1">
                            <a:solidFill>
                              <a:srgbClr val="FF0000"/>
                            </a:solidFill>
                            <a:latin typeface="Cambria Math" panose="02040503050406030204" pitchFamily="18" charset="0"/>
                          </a:rPr>
                        </m:ctrlPr>
                      </m:sSubPr>
                      <m:e>
                        <m:r>
                          <a:rPr lang="ar-AE" sz="4400" i="1">
                            <a:solidFill>
                              <a:srgbClr val="FF0000"/>
                            </a:solidFill>
                            <a:latin typeface="Cambria Math" panose="02040503050406030204" pitchFamily="18" charset="0"/>
                          </a:rPr>
                          <m:t>𝑥</m:t>
                        </m:r>
                      </m:e>
                      <m:sub>
                        <m:r>
                          <a:rPr lang="ar-AE" sz="4400">
                            <a:solidFill>
                              <a:srgbClr val="FF0000"/>
                            </a:solidFill>
                            <a:latin typeface="Cambria Math" panose="02040503050406030204" pitchFamily="18" charset="0"/>
                          </a:rPr>
                          <m:t>1</m:t>
                        </m:r>
                      </m:sub>
                    </m:sSub>
                    <m:r>
                      <a:rPr lang="ar-AE" sz="4400">
                        <a:solidFill>
                          <a:srgbClr val="FF0000"/>
                        </a:solidFill>
                        <a:latin typeface="Cambria Math" panose="02040503050406030204" pitchFamily="18" charset="0"/>
                      </a:rPr>
                      <m:t>+</m:t>
                    </m:r>
                    <m:r>
                      <a:rPr lang="ar-AE" sz="4400">
                        <a:solidFill>
                          <a:srgbClr val="FF0000"/>
                        </a:solidFill>
                        <a:latin typeface="Cambria Math" panose="02040503050406030204" pitchFamily="18" charset="0"/>
                      </a:rPr>
                      <m:t>3</m:t>
                    </m:r>
                    <m:sSub>
                      <m:sSubPr>
                        <m:ctrlPr>
                          <a:rPr lang="ar-AE" sz="4400" i="1">
                            <a:solidFill>
                              <a:srgbClr val="FF0000"/>
                            </a:solidFill>
                            <a:latin typeface="Cambria Math" panose="02040503050406030204" pitchFamily="18" charset="0"/>
                          </a:rPr>
                        </m:ctrlPr>
                      </m:sSubPr>
                      <m:e>
                        <m:r>
                          <a:rPr lang="ar-AE" sz="4400" i="1">
                            <a:solidFill>
                              <a:srgbClr val="FF0000"/>
                            </a:solidFill>
                            <a:latin typeface="Cambria Math" panose="02040503050406030204" pitchFamily="18" charset="0"/>
                          </a:rPr>
                          <m:t>𝑥</m:t>
                        </m:r>
                      </m:e>
                      <m:sub>
                        <m:r>
                          <a:rPr lang="ar-AE" sz="4400">
                            <a:solidFill>
                              <a:srgbClr val="FF0000"/>
                            </a:solidFill>
                            <a:latin typeface="Cambria Math" panose="02040503050406030204" pitchFamily="18" charset="0"/>
                          </a:rPr>
                          <m:t>2</m:t>
                        </m:r>
                      </m:sub>
                    </m:sSub>
                  </m:oMath>
                </a14:m>
                <a:endParaRPr lang="en-IN" dirty="0">
                  <a:solidFill>
                    <a:srgbClr val="FF0000"/>
                  </a:solidFill>
                </a:endParaRPr>
              </a:p>
              <a:p>
                <a:pPr marL="0" indent="0">
                  <a:buNone/>
                </a:pPr>
                <a:r>
                  <a:rPr lang="en-US" sz="4400" b="1" dirty="0"/>
                  <a:t>Bias </a:t>
                </a:r>
                <a14:m>
                  <m:oMath xmlns:m="http://schemas.openxmlformats.org/officeDocument/2006/math">
                    <m:r>
                      <a:rPr lang="en-US" sz="4400" i="1">
                        <a:latin typeface="Cambria Math" panose="02040503050406030204" pitchFamily="18" charset="0"/>
                      </a:rPr>
                      <m:t>𝑏</m:t>
                    </m:r>
                  </m:oMath>
                </a14:m>
                <a:endParaRPr lang="en-US" sz="4400" b="1" dirty="0"/>
              </a:p>
              <a:p>
                <a:r>
                  <a:rPr lang="en-US" sz="4400" dirty="0"/>
                  <a:t>Bias shifts the line </a:t>
                </a:r>
                <a:r>
                  <a:rPr lang="en-US" sz="4400" b="1" dirty="0"/>
                  <a:t>left/right or up/down</a:t>
                </a:r>
                <a:r>
                  <a:rPr lang="en-US" sz="4400" dirty="0"/>
                  <a:t>.</a:t>
                </a:r>
              </a:p>
              <a:p>
                <a:endParaRPr lang="en-US" dirty="0"/>
              </a:p>
              <a:p>
                <a:pPr marL="1371600" lvl="3" indent="0">
                  <a:buNone/>
                </a:pPr>
                <a:r>
                  <a:rPr lang="en-IN" sz="3600" dirty="0"/>
                  <a:t>b=−6</a:t>
                </a:r>
                <a:endParaRPr lang="en-US" sz="3600" dirty="0"/>
              </a:p>
            </p:txBody>
          </p:sp>
        </mc:Choice>
        <mc:Fallback xmlns="">
          <p:sp>
            <p:nvSpPr>
              <p:cNvPr id="3" name="Content Placeholder 2">
                <a:extLst>
                  <a:ext uri="{FF2B5EF4-FFF2-40B4-BE49-F238E27FC236}">
                    <a16:creationId xmlns:a16="http://schemas.microsoft.com/office/drawing/2014/main" id="{154060AD-593F-86F9-6EC7-945F1202A1C5}"/>
                  </a:ext>
                </a:extLst>
              </p:cNvPr>
              <p:cNvSpPr>
                <a:spLocks noGrp="1" noRot="1" noChangeAspect="1" noMove="1" noResize="1" noEditPoints="1" noAdjustHandles="1" noChangeArrowheads="1" noChangeShapeType="1" noTextEdit="1"/>
              </p:cNvSpPr>
              <p:nvPr>
                <p:ph idx="1"/>
              </p:nvPr>
            </p:nvSpPr>
            <p:spPr>
              <a:xfrm>
                <a:off x="838200" y="847898"/>
                <a:ext cx="10515600" cy="5329066"/>
              </a:xfrm>
              <a:blipFill>
                <a:blip r:embed="rId2"/>
                <a:stretch>
                  <a:fillRect l="-1217" t="-3089"/>
                </a:stretch>
              </a:blipFill>
            </p:spPr>
            <p:txBody>
              <a:bodyPr/>
              <a:lstStyle/>
              <a:p>
                <a:r>
                  <a:rPr lang="en-IN">
                    <a:noFill/>
                  </a:rPr>
                  <a:t> </a:t>
                </a:r>
              </a:p>
            </p:txBody>
          </p:sp>
        </mc:Fallback>
      </mc:AlternateContent>
    </p:spTree>
    <p:extLst>
      <p:ext uri="{BB962C8B-B14F-4D97-AF65-F5344CB8AC3E}">
        <p14:creationId xmlns:p14="http://schemas.microsoft.com/office/powerpoint/2010/main" val="8686737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D193D06-4D8D-6200-3BA8-F83A9DE74294}"/>
                  </a:ext>
                </a:extLst>
              </p:cNvPr>
              <p:cNvSpPr>
                <a:spLocks noGrp="1"/>
              </p:cNvSpPr>
              <p:nvPr>
                <p:ph idx="1"/>
              </p:nvPr>
            </p:nvSpPr>
            <p:spPr>
              <a:xfrm>
                <a:off x="838200" y="473825"/>
                <a:ext cx="10515600" cy="2955175"/>
              </a:xfrm>
            </p:spPr>
            <p:txBody>
              <a:bodyPr/>
              <a:lstStyle/>
              <a:p>
                <a:pPr marL="0" indent="0">
                  <a:buNone/>
                </a:pPr>
                <a:r>
                  <a:rPr lang="en-IN" b="1" dirty="0">
                    <a:solidFill>
                      <a:srgbClr val="FF0000"/>
                    </a:solidFill>
                  </a:rPr>
                  <a:t>Full Equation of Hyperplane</a:t>
                </a:r>
              </a:p>
              <a:p>
                <a:pPr marL="0" indent="0">
                  <a:buNone/>
                </a:pPr>
                <a:endParaRPr lang="en-IN" dirty="0"/>
              </a:p>
              <a:p>
                <a:pPr marL="0" indent="0">
                  <a:buNone/>
                </a:pPr>
                <a14:m>
                  <m:oMathPara xmlns:m="http://schemas.openxmlformats.org/officeDocument/2006/math">
                    <m:oMathParaPr>
                      <m:jc m:val="centerGroup"/>
                    </m:oMathParaPr>
                    <m:oMath xmlns:m="http://schemas.openxmlformats.org/officeDocument/2006/math">
                      <m:r>
                        <a:rPr lang="en-IN">
                          <a:latin typeface="Cambria Math" panose="02040503050406030204" pitchFamily="18" charset="0"/>
                        </a:rPr>
                        <m:t>2</m:t>
                      </m:r>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a:latin typeface="Cambria Math" panose="02040503050406030204" pitchFamily="18" charset="0"/>
                            </a:rPr>
                            <m:t>1</m:t>
                          </m:r>
                        </m:sub>
                      </m:sSub>
                      <m:r>
                        <a:rPr lang="ar-AE">
                          <a:latin typeface="Cambria Math" panose="02040503050406030204" pitchFamily="18" charset="0"/>
                        </a:rPr>
                        <m:t>+</m:t>
                      </m:r>
                      <m:r>
                        <a:rPr lang="ar-AE">
                          <a:latin typeface="Cambria Math" panose="02040503050406030204" pitchFamily="18" charset="0"/>
                        </a:rPr>
                        <m:t>3</m:t>
                      </m:r>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a:latin typeface="Cambria Math" panose="02040503050406030204" pitchFamily="18" charset="0"/>
                            </a:rPr>
                            <m:t>2</m:t>
                          </m:r>
                        </m:sub>
                      </m:sSub>
                      <m:r>
                        <a:rPr lang="ar-AE">
                          <a:latin typeface="Cambria Math" panose="02040503050406030204" pitchFamily="18" charset="0"/>
                        </a:rPr>
                        <m:t>−</m:t>
                      </m:r>
                      <m:r>
                        <a:rPr lang="ar-AE">
                          <a:latin typeface="Cambria Math" panose="02040503050406030204" pitchFamily="18" charset="0"/>
                        </a:rPr>
                        <m:t>6</m:t>
                      </m:r>
                      <m:r>
                        <a:rPr lang="ar-AE">
                          <a:latin typeface="Cambria Math" panose="02040503050406030204" pitchFamily="18" charset="0"/>
                        </a:rPr>
                        <m:t>=</m:t>
                      </m:r>
                      <m:r>
                        <a:rPr lang="ar-AE">
                          <a:latin typeface="Cambria Math" panose="02040503050406030204" pitchFamily="18" charset="0"/>
                        </a:rPr>
                        <m:t>0</m:t>
                      </m:r>
                    </m:oMath>
                  </m:oMathPara>
                </a14:m>
                <a:endParaRPr lang="en-IN" dirty="0"/>
              </a:p>
              <a:p>
                <a:pPr marL="0" indent="0">
                  <a:buNone/>
                </a:pPr>
                <a:endParaRPr lang="ar-AE" dirty="0"/>
              </a:p>
              <a:p>
                <a:pPr lvl="1"/>
                <a:r>
                  <a:rPr lang="en-IN" dirty="0"/>
                  <a:t>This is the </a:t>
                </a:r>
                <a:r>
                  <a:rPr lang="en-IN" b="1" dirty="0"/>
                  <a:t>decision boundary</a:t>
                </a:r>
                <a:r>
                  <a:rPr lang="en-IN" dirty="0"/>
                  <a:t>.</a:t>
                </a:r>
              </a:p>
              <a:p>
                <a:pPr lvl="1"/>
                <a:r>
                  <a:rPr lang="en-IN" dirty="0"/>
                  <a:t>All points satisfying this equation lie </a:t>
                </a:r>
                <a:r>
                  <a:rPr lang="en-IN" b="1" dirty="0"/>
                  <a:t>on the hyperplane</a:t>
                </a:r>
                <a:r>
                  <a:rPr lang="en-IN" dirty="0"/>
                  <a:t>.</a:t>
                </a:r>
              </a:p>
            </p:txBody>
          </p:sp>
        </mc:Choice>
        <mc:Fallback xmlns="">
          <p:sp>
            <p:nvSpPr>
              <p:cNvPr id="3" name="Content Placeholder 2">
                <a:extLst>
                  <a:ext uri="{FF2B5EF4-FFF2-40B4-BE49-F238E27FC236}">
                    <a16:creationId xmlns:a16="http://schemas.microsoft.com/office/drawing/2014/main" id="{2D193D06-4D8D-6200-3BA8-F83A9DE74294}"/>
                  </a:ext>
                </a:extLst>
              </p:cNvPr>
              <p:cNvSpPr>
                <a:spLocks noGrp="1" noRot="1" noChangeAspect="1" noMove="1" noResize="1" noEditPoints="1" noAdjustHandles="1" noChangeArrowheads="1" noChangeShapeType="1" noTextEdit="1"/>
              </p:cNvSpPr>
              <p:nvPr>
                <p:ph idx="1"/>
              </p:nvPr>
            </p:nvSpPr>
            <p:spPr>
              <a:xfrm>
                <a:off x="838200" y="473825"/>
                <a:ext cx="10515600" cy="2955175"/>
              </a:xfrm>
              <a:blipFill>
                <a:blip r:embed="rId2"/>
                <a:stretch>
                  <a:fillRect l="-1217" t="-3505"/>
                </a:stretch>
              </a:blipFill>
            </p:spPr>
            <p:txBody>
              <a:bodyPr/>
              <a:lstStyle/>
              <a:p>
                <a:r>
                  <a:rPr lang="en-IN">
                    <a:noFill/>
                  </a:rPr>
                  <a:t> </a:t>
                </a:r>
              </a:p>
            </p:txBody>
          </p:sp>
        </mc:Fallback>
      </mc:AlternateContent>
      <p:pic>
        <p:nvPicPr>
          <p:cNvPr id="6" name="Picture 5">
            <a:extLst>
              <a:ext uri="{FF2B5EF4-FFF2-40B4-BE49-F238E27FC236}">
                <a16:creationId xmlns:a16="http://schemas.microsoft.com/office/drawing/2014/main" id="{596C1B9E-BE0D-BB43-A9C1-D19C060CF8BD}"/>
              </a:ext>
            </a:extLst>
          </p:cNvPr>
          <p:cNvPicPr>
            <a:picLocks noChangeAspect="1"/>
          </p:cNvPicPr>
          <p:nvPr/>
        </p:nvPicPr>
        <p:blipFill>
          <a:blip r:embed="rId3"/>
          <a:stretch>
            <a:fillRect/>
          </a:stretch>
        </p:blipFill>
        <p:spPr>
          <a:xfrm>
            <a:off x="2272666" y="3272636"/>
            <a:ext cx="6214629" cy="3585363"/>
          </a:xfrm>
          <a:prstGeom prst="rect">
            <a:avLst/>
          </a:prstGeom>
          <a:ln>
            <a:solidFill>
              <a:schemeClr val="tx1"/>
            </a:solidFill>
          </a:ln>
        </p:spPr>
      </p:pic>
    </p:spTree>
    <p:extLst>
      <p:ext uri="{BB962C8B-B14F-4D97-AF65-F5344CB8AC3E}">
        <p14:creationId xmlns:p14="http://schemas.microsoft.com/office/powerpoint/2010/main" val="32333293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3474F3A9-D491-43F3-C073-E98008188C63}"/>
                  </a:ext>
                </a:extLst>
              </p:cNvPr>
              <p:cNvSpPr>
                <a:spLocks noGrp="1"/>
              </p:cNvSpPr>
              <p:nvPr>
                <p:ph idx="1"/>
              </p:nvPr>
            </p:nvSpPr>
            <p:spPr>
              <a:xfrm>
                <a:off x="971204" y="290945"/>
                <a:ext cx="10515600" cy="1039091"/>
              </a:xfrm>
            </p:spPr>
            <p:txBody>
              <a:bodyPr/>
              <a:lstStyle/>
              <a:p>
                <a:pPr marL="0" indent="0">
                  <a:buNone/>
                </a:pPr>
                <a:endParaRPr lang="en-IN" dirty="0"/>
              </a:p>
              <a:p>
                <a:pPr marL="0" indent="0">
                  <a:buNone/>
                </a:pPr>
                <a14:m>
                  <m:oMathPara xmlns:m="http://schemas.openxmlformats.org/officeDocument/2006/math">
                    <m:oMathParaPr>
                      <m:jc m:val="centerGroup"/>
                    </m:oMathParaPr>
                    <m:oMath xmlns:m="http://schemas.openxmlformats.org/officeDocument/2006/math">
                      <m:r>
                        <a:rPr lang="en-IN">
                          <a:latin typeface="Cambria Math" panose="02040503050406030204" pitchFamily="18" charset="0"/>
                        </a:rPr>
                        <m:t>2</m:t>
                      </m:r>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a:latin typeface="Cambria Math" panose="02040503050406030204" pitchFamily="18" charset="0"/>
                            </a:rPr>
                            <m:t>1</m:t>
                          </m:r>
                        </m:sub>
                      </m:sSub>
                      <m:r>
                        <a:rPr lang="ar-AE">
                          <a:latin typeface="Cambria Math" panose="02040503050406030204" pitchFamily="18" charset="0"/>
                        </a:rPr>
                        <m:t>+</m:t>
                      </m:r>
                      <m:r>
                        <a:rPr lang="ar-AE">
                          <a:latin typeface="Cambria Math" panose="02040503050406030204" pitchFamily="18" charset="0"/>
                        </a:rPr>
                        <m:t>3</m:t>
                      </m:r>
                      <m:sSub>
                        <m:sSubPr>
                          <m:ctrlPr>
                            <a:rPr lang="ar-AE" i="1">
                              <a:latin typeface="Cambria Math" panose="02040503050406030204" pitchFamily="18" charset="0"/>
                            </a:rPr>
                          </m:ctrlPr>
                        </m:sSubPr>
                        <m:e>
                          <m:r>
                            <a:rPr lang="ar-AE" i="1">
                              <a:latin typeface="Cambria Math" panose="02040503050406030204" pitchFamily="18" charset="0"/>
                            </a:rPr>
                            <m:t>𝑥</m:t>
                          </m:r>
                        </m:e>
                        <m:sub>
                          <m:r>
                            <a:rPr lang="ar-AE">
                              <a:latin typeface="Cambria Math" panose="02040503050406030204" pitchFamily="18" charset="0"/>
                            </a:rPr>
                            <m:t>2</m:t>
                          </m:r>
                        </m:sub>
                      </m:sSub>
                      <m:r>
                        <a:rPr lang="ar-AE">
                          <a:latin typeface="Cambria Math" panose="02040503050406030204" pitchFamily="18" charset="0"/>
                        </a:rPr>
                        <m:t>−</m:t>
                      </m:r>
                      <m:r>
                        <a:rPr lang="ar-AE">
                          <a:latin typeface="Cambria Math" panose="02040503050406030204" pitchFamily="18" charset="0"/>
                        </a:rPr>
                        <m:t>6</m:t>
                      </m:r>
                      <m:r>
                        <a:rPr lang="ar-AE">
                          <a:latin typeface="Cambria Math" panose="02040503050406030204" pitchFamily="18" charset="0"/>
                        </a:rPr>
                        <m:t>=</m:t>
                      </m:r>
                      <m:r>
                        <a:rPr lang="ar-AE">
                          <a:latin typeface="Cambria Math" panose="02040503050406030204" pitchFamily="18" charset="0"/>
                        </a:rPr>
                        <m:t>0</m:t>
                      </m:r>
                    </m:oMath>
                  </m:oMathPara>
                </a14:m>
                <a:endParaRPr lang="en-IN" dirty="0"/>
              </a:p>
              <a:p>
                <a:pPr marL="0" indent="0">
                  <a:buNone/>
                </a:pPr>
                <a:endParaRPr lang="en-IN" dirty="0"/>
              </a:p>
            </p:txBody>
          </p:sp>
        </mc:Choice>
        <mc:Fallback xmlns="">
          <p:sp>
            <p:nvSpPr>
              <p:cNvPr id="3" name="Content Placeholder 2">
                <a:extLst>
                  <a:ext uri="{FF2B5EF4-FFF2-40B4-BE49-F238E27FC236}">
                    <a16:creationId xmlns:a16="http://schemas.microsoft.com/office/drawing/2014/main" id="{3474F3A9-D491-43F3-C073-E98008188C63}"/>
                  </a:ext>
                </a:extLst>
              </p:cNvPr>
              <p:cNvSpPr>
                <a:spLocks noGrp="1" noRot="1" noChangeAspect="1" noMove="1" noResize="1" noEditPoints="1" noAdjustHandles="1" noChangeArrowheads="1" noChangeShapeType="1" noTextEdit="1"/>
              </p:cNvSpPr>
              <p:nvPr>
                <p:ph idx="1"/>
              </p:nvPr>
            </p:nvSpPr>
            <p:spPr>
              <a:xfrm>
                <a:off x="971204" y="290945"/>
                <a:ext cx="10515600" cy="1039091"/>
              </a:xfrm>
              <a:blipFill>
                <a:blip r:embed="rId2"/>
                <a:stretch>
                  <a:fillRect/>
                </a:stretch>
              </a:blipFill>
            </p:spPr>
            <p:txBody>
              <a:bodyPr/>
              <a:lstStyle/>
              <a:p>
                <a:r>
                  <a:rPr lang="en-IN">
                    <a:noFill/>
                  </a:rPr>
                  <a:t> </a:t>
                </a:r>
              </a:p>
            </p:txBody>
          </p:sp>
        </mc:Fallback>
      </mc:AlternateContent>
      <p:pic>
        <p:nvPicPr>
          <p:cNvPr id="5" name="Picture 4">
            <a:extLst>
              <a:ext uri="{FF2B5EF4-FFF2-40B4-BE49-F238E27FC236}">
                <a16:creationId xmlns:a16="http://schemas.microsoft.com/office/drawing/2014/main" id="{370AAFAC-47A9-C543-3F4D-C090C8C1B35D}"/>
              </a:ext>
            </a:extLst>
          </p:cNvPr>
          <p:cNvPicPr>
            <a:picLocks noChangeAspect="1"/>
          </p:cNvPicPr>
          <p:nvPr/>
        </p:nvPicPr>
        <p:blipFill>
          <a:blip r:embed="rId3"/>
          <a:stretch>
            <a:fillRect/>
          </a:stretch>
        </p:blipFill>
        <p:spPr>
          <a:xfrm>
            <a:off x="90375" y="1812175"/>
            <a:ext cx="5451101" cy="4754880"/>
          </a:xfrm>
          <a:prstGeom prst="rect">
            <a:avLst/>
          </a:prstGeom>
          <a:ln>
            <a:solidFill>
              <a:schemeClr val="tx1"/>
            </a:solidFill>
          </a:ln>
        </p:spPr>
      </p:pic>
      <p:pic>
        <p:nvPicPr>
          <p:cNvPr id="7" name="Picture 6">
            <a:extLst>
              <a:ext uri="{FF2B5EF4-FFF2-40B4-BE49-F238E27FC236}">
                <a16:creationId xmlns:a16="http://schemas.microsoft.com/office/drawing/2014/main" id="{B0450B38-A3CE-7196-4658-E494318EF486}"/>
              </a:ext>
            </a:extLst>
          </p:cNvPr>
          <p:cNvPicPr>
            <a:picLocks noChangeAspect="1"/>
          </p:cNvPicPr>
          <p:nvPr/>
        </p:nvPicPr>
        <p:blipFill>
          <a:blip r:embed="rId4"/>
          <a:stretch>
            <a:fillRect/>
          </a:stretch>
        </p:blipFill>
        <p:spPr>
          <a:xfrm>
            <a:off x="5947529" y="1812176"/>
            <a:ext cx="5632099" cy="4561152"/>
          </a:xfrm>
          <a:prstGeom prst="rect">
            <a:avLst/>
          </a:prstGeom>
          <a:ln>
            <a:solidFill>
              <a:schemeClr val="tx1"/>
            </a:solidFill>
          </a:ln>
        </p:spPr>
      </p:pic>
    </p:spTree>
    <p:extLst>
      <p:ext uri="{BB962C8B-B14F-4D97-AF65-F5344CB8AC3E}">
        <p14:creationId xmlns:p14="http://schemas.microsoft.com/office/powerpoint/2010/main" val="37886298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3A4F9864-2567-B17A-6CD4-4AD2FD3EFE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18572" y="771086"/>
            <a:ext cx="5639903" cy="548608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814605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C760C5CE-44F6-4294-AF40-7E71248666FA}"/>
              </a:ext>
            </a:extLst>
          </p:cNvPr>
          <p:cNvPicPr>
            <a:picLocks noChangeAspect="1"/>
          </p:cNvPicPr>
          <p:nvPr/>
        </p:nvPicPr>
        <p:blipFill>
          <a:blip r:embed="rId3"/>
          <a:stretch>
            <a:fillRect/>
          </a:stretch>
        </p:blipFill>
        <p:spPr>
          <a:xfrm>
            <a:off x="2721735" y="2571836"/>
            <a:ext cx="6954220" cy="1343212"/>
          </a:xfrm>
          <a:prstGeom prst="rect">
            <a:avLst/>
          </a:prstGeom>
        </p:spPr>
      </p:pic>
      <p:sp>
        <p:nvSpPr>
          <p:cNvPr id="5" name="Rectangle 4"/>
          <p:cNvSpPr/>
          <p:nvPr/>
        </p:nvSpPr>
        <p:spPr>
          <a:xfrm>
            <a:off x="4948951" y="1663033"/>
            <a:ext cx="2499787" cy="461665"/>
          </a:xfrm>
          <a:prstGeom prst="rect">
            <a:avLst/>
          </a:prstGeom>
        </p:spPr>
        <p:txBody>
          <a:bodyPr wrap="none">
            <a:spAutoFit/>
          </a:bodyPr>
          <a:lstStyle/>
          <a:p>
            <a:r>
              <a:rPr lang="en-US" altLang="en-US" sz="2400" b="1" dirty="0"/>
              <a:t>Math behind SVM</a:t>
            </a:r>
            <a:endParaRPr lang="en-IN" sz="2400" b="1" dirty="0"/>
          </a:p>
        </p:txBody>
      </p:sp>
    </p:spTree>
    <p:extLst>
      <p:ext uri="{BB962C8B-B14F-4D97-AF65-F5344CB8AC3E}">
        <p14:creationId xmlns:p14="http://schemas.microsoft.com/office/powerpoint/2010/main" val="1201622414"/>
      </p:ext>
    </p:extLst>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C10F59A7-07BD-FB10-59A1-2D5E62F0DD14}"/>
              </a:ext>
            </a:extLst>
          </p:cNvPr>
          <p:cNvSpPr txBox="1"/>
          <p:nvPr/>
        </p:nvSpPr>
        <p:spPr>
          <a:xfrm>
            <a:off x="705060" y="147405"/>
            <a:ext cx="6097604" cy="646331"/>
          </a:xfrm>
          <a:prstGeom prst="rect">
            <a:avLst/>
          </a:prstGeom>
          <a:noFill/>
        </p:spPr>
        <p:txBody>
          <a:bodyPr wrap="square">
            <a:spAutoFit/>
          </a:bodyPr>
          <a:lstStyle/>
          <a:p>
            <a:r>
              <a:rPr lang="en-IN" sz="3600" b="1" dirty="0">
                <a:solidFill>
                  <a:srgbClr val="FF0000"/>
                </a:solidFill>
              </a:rPr>
              <a:t>Maximum Margin Concept</a:t>
            </a:r>
          </a:p>
        </p:txBody>
      </p:sp>
      <p:pic>
        <p:nvPicPr>
          <p:cNvPr id="7" name="Picture 6">
            <a:extLst>
              <a:ext uri="{FF2B5EF4-FFF2-40B4-BE49-F238E27FC236}">
                <a16:creationId xmlns:a16="http://schemas.microsoft.com/office/drawing/2014/main" id="{B709039A-6D16-F991-BD11-14317C4B8673}"/>
              </a:ext>
            </a:extLst>
          </p:cNvPr>
          <p:cNvPicPr>
            <a:picLocks noChangeAspect="1"/>
          </p:cNvPicPr>
          <p:nvPr/>
        </p:nvPicPr>
        <p:blipFill>
          <a:blip r:embed="rId2"/>
          <a:stretch>
            <a:fillRect/>
          </a:stretch>
        </p:blipFill>
        <p:spPr>
          <a:xfrm>
            <a:off x="445178" y="756674"/>
            <a:ext cx="10623113" cy="4194320"/>
          </a:xfrm>
          <a:prstGeom prst="rect">
            <a:avLst/>
          </a:prstGeom>
        </p:spPr>
      </p:pic>
      <p:pic>
        <p:nvPicPr>
          <p:cNvPr id="9" name="Picture 8">
            <a:extLst>
              <a:ext uri="{FF2B5EF4-FFF2-40B4-BE49-F238E27FC236}">
                <a16:creationId xmlns:a16="http://schemas.microsoft.com/office/drawing/2014/main" id="{8804E3C6-D138-7A65-59A1-1C43A94BF2A3}"/>
              </a:ext>
            </a:extLst>
          </p:cNvPr>
          <p:cNvPicPr>
            <a:picLocks noChangeAspect="1"/>
          </p:cNvPicPr>
          <p:nvPr/>
        </p:nvPicPr>
        <p:blipFill>
          <a:blip r:embed="rId3"/>
          <a:stretch>
            <a:fillRect/>
          </a:stretch>
        </p:blipFill>
        <p:spPr>
          <a:xfrm>
            <a:off x="2863789" y="4530573"/>
            <a:ext cx="5019302" cy="2059380"/>
          </a:xfrm>
          <a:prstGeom prst="rect">
            <a:avLst/>
          </a:prstGeom>
          <a:ln>
            <a:solidFill>
              <a:schemeClr val="accent1"/>
            </a:solidFill>
          </a:ln>
        </p:spPr>
      </p:pic>
    </p:spTree>
    <p:extLst>
      <p:ext uri="{BB962C8B-B14F-4D97-AF65-F5344CB8AC3E}">
        <p14:creationId xmlns:p14="http://schemas.microsoft.com/office/powerpoint/2010/main" val="21626935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690830" y="0"/>
            <a:ext cx="6733638" cy="2739107"/>
          </a:xfrm>
          <a:prstGeom prst="rect">
            <a:avLst/>
          </a:prstGeom>
        </p:spPr>
      </p:pic>
      <p:pic>
        <p:nvPicPr>
          <p:cNvPr id="7" name="Picture 6"/>
          <p:cNvPicPr>
            <a:picLocks noChangeAspect="1"/>
          </p:cNvPicPr>
          <p:nvPr/>
        </p:nvPicPr>
        <p:blipFill>
          <a:blip r:embed="rId3"/>
          <a:stretch>
            <a:fillRect/>
          </a:stretch>
        </p:blipFill>
        <p:spPr>
          <a:xfrm>
            <a:off x="690830" y="2802831"/>
            <a:ext cx="5555424" cy="4008946"/>
          </a:xfrm>
          <a:prstGeom prst="rect">
            <a:avLst/>
          </a:prstGeom>
        </p:spPr>
      </p:pic>
    </p:spTree>
    <p:extLst>
      <p:ext uri="{BB962C8B-B14F-4D97-AF65-F5344CB8AC3E}">
        <p14:creationId xmlns:p14="http://schemas.microsoft.com/office/powerpoint/2010/main" val="4219633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253803" y="585805"/>
            <a:ext cx="5860625" cy="5520056"/>
          </a:xfrm>
          <a:prstGeom prst="rect">
            <a:avLst/>
          </a:prstGeom>
        </p:spPr>
      </p:pic>
    </p:spTree>
    <p:extLst>
      <p:ext uri="{BB962C8B-B14F-4D97-AF65-F5344CB8AC3E}">
        <p14:creationId xmlns:p14="http://schemas.microsoft.com/office/powerpoint/2010/main" val="11165055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12C47C3B-E6E6-4601-99AE-FA7D7F12CA03}"/>
              </a:ext>
            </a:extLst>
          </p:cNvPr>
          <p:cNvPicPr>
            <a:picLocks noChangeAspect="1"/>
          </p:cNvPicPr>
          <p:nvPr/>
        </p:nvPicPr>
        <p:blipFill>
          <a:blip r:embed="rId2"/>
          <a:stretch>
            <a:fillRect/>
          </a:stretch>
        </p:blipFill>
        <p:spPr>
          <a:xfrm>
            <a:off x="135835" y="123228"/>
            <a:ext cx="5721626" cy="4032267"/>
          </a:xfrm>
          <a:prstGeom prst="rect">
            <a:avLst/>
          </a:prstGeom>
          <a:ln>
            <a:solidFill>
              <a:schemeClr val="tx1"/>
            </a:solidFill>
          </a:ln>
        </p:spPr>
      </p:pic>
      <p:sp>
        <p:nvSpPr>
          <p:cNvPr id="9" name="TextBox 8">
            <a:extLst>
              <a:ext uri="{FF2B5EF4-FFF2-40B4-BE49-F238E27FC236}">
                <a16:creationId xmlns:a16="http://schemas.microsoft.com/office/drawing/2014/main" id="{2B2C0F8D-B479-405A-8772-93D89E110E41}"/>
              </a:ext>
            </a:extLst>
          </p:cNvPr>
          <p:cNvSpPr txBox="1"/>
          <p:nvPr/>
        </p:nvSpPr>
        <p:spPr>
          <a:xfrm>
            <a:off x="6708500" y="123228"/>
            <a:ext cx="4399722" cy="461665"/>
          </a:xfrm>
          <a:prstGeom prst="rect">
            <a:avLst/>
          </a:prstGeom>
          <a:noFill/>
        </p:spPr>
        <p:txBody>
          <a:bodyPr wrap="square">
            <a:spAutoFit/>
          </a:bodyPr>
          <a:lstStyle/>
          <a:p>
            <a:r>
              <a:rPr lang="en-IN" sz="2400" b="1" dirty="0"/>
              <a:t>Use SVM geometric property</a:t>
            </a:r>
          </a:p>
        </p:txBody>
      </p:sp>
      <p:pic>
        <p:nvPicPr>
          <p:cNvPr id="11" name="Picture 10">
            <a:extLst>
              <a:ext uri="{FF2B5EF4-FFF2-40B4-BE49-F238E27FC236}">
                <a16:creationId xmlns:a16="http://schemas.microsoft.com/office/drawing/2014/main" id="{8428ABB4-574B-4BAC-BEE8-F23BFF77B628}"/>
              </a:ext>
            </a:extLst>
          </p:cNvPr>
          <p:cNvPicPr>
            <a:picLocks noChangeAspect="1"/>
          </p:cNvPicPr>
          <p:nvPr/>
        </p:nvPicPr>
        <p:blipFill>
          <a:blip r:embed="rId3"/>
          <a:stretch>
            <a:fillRect/>
          </a:stretch>
        </p:blipFill>
        <p:spPr>
          <a:xfrm>
            <a:off x="6004564" y="856887"/>
            <a:ext cx="6187436" cy="2821885"/>
          </a:xfrm>
          <a:prstGeom prst="rect">
            <a:avLst/>
          </a:prstGeom>
        </p:spPr>
      </p:pic>
    </p:spTree>
    <p:extLst>
      <p:ext uri="{BB962C8B-B14F-4D97-AF65-F5344CB8AC3E}">
        <p14:creationId xmlns:p14="http://schemas.microsoft.com/office/powerpoint/2010/main" val="3115920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2AE2FDB5-DD62-4E05-BAE9-82703DB07A89}"/>
              </a:ext>
            </a:extLst>
          </p:cNvPr>
          <p:cNvPicPr>
            <a:picLocks noChangeAspect="1"/>
          </p:cNvPicPr>
          <p:nvPr/>
        </p:nvPicPr>
        <p:blipFill>
          <a:blip r:embed="rId2"/>
          <a:stretch>
            <a:fillRect/>
          </a:stretch>
        </p:blipFill>
        <p:spPr>
          <a:xfrm>
            <a:off x="276512" y="0"/>
            <a:ext cx="4647648" cy="3021496"/>
          </a:xfrm>
          <a:prstGeom prst="rect">
            <a:avLst/>
          </a:prstGeom>
          <a:ln>
            <a:solidFill>
              <a:schemeClr val="bg1"/>
            </a:solidFill>
          </a:ln>
        </p:spPr>
      </p:pic>
      <p:pic>
        <p:nvPicPr>
          <p:cNvPr id="6" name="Picture 5">
            <a:extLst>
              <a:ext uri="{FF2B5EF4-FFF2-40B4-BE49-F238E27FC236}">
                <a16:creationId xmlns:a16="http://schemas.microsoft.com/office/drawing/2014/main" id="{E5CF1AF3-E885-48C0-851C-3AE1154388A3}"/>
              </a:ext>
            </a:extLst>
          </p:cNvPr>
          <p:cNvPicPr>
            <a:picLocks noChangeAspect="1"/>
          </p:cNvPicPr>
          <p:nvPr/>
        </p:nvPicPr>
        <p:blipFill>
          <a:blip r:embed="rId3"/>
          <a:stretch>
            <a:fillRect/>
          </a:stretch>
        </p:blipFill>
        <p:spPr>
          <a:xfrm>
            <a:off x="527763" y="3001617"/>
            <a:ext cx="4145146" cy="3856383"/>
          </a:xfrm>
          <a:prstGeom prst="rect">
            <a:avLst/>
          </a:prstGeom>
          <a:ln>
            <a:solidFill>
              <a:schemeClr val="bg1"/>
            </a:solidFill>
          </a:ln>
        </p:spPr>
      </p:pic>
      <p:pic>
        <p:nvPicPr>
          <p:cNvPr id="8" name="Picture 7">
            <a:extLst>
              <a:ext uri="{FF2B5EF4-FFF2-40B4-BE49-F238E27FC236}">
                <a16:creationId xmlns:a16="http://schemas.microsoft.com/office/drawing/2014/main" id="{34FC364B-DBB3-41BA-A237-0A31AC96AB23}"/>
              </a:ext>
            </a:extLst>
          </p:cNvPr>
          <p:cNvPicPr>
            <a:picLocks noChangeAspect="1"/>
          </p:cNvPicPr>
          <p:nvPr/>
        </p:nvPicPr>
        <p:blipFill>
          <a:blip r:embed="rId4"/>
          <a:stretch>
            <a:fillRect/>
          </a:stretch>
        </p:blipFill>
        <p:spPr>
          <a:xfrm>
            <a:off x="6302055" y="293205"/>
            <a:ext cx="4893937" cy="4954656"/>
          </a:xfrm>
          <a:prstGeom prst="rect">
            <a:avLst/>
          </a:prstGeom>
          <a:ln>
            <a:solidFill>
              <a:schemeClr val="tx1"/>
            </a:solidFill>
          </a:ln>
        </p:spPr>
      </p:pic>
    </p:spTree>
    <p:extLst>
      <p:ext uri="{BB962C8B-B14F-4D97-AF65-F5344CB8AC3E}">
        <p14:creationId xmlns:p14="http://schemas.microsoft.com/office/powerpoint/2010/main" val="48724396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54AE6C-5137-46AD-AA47-966D3867AA0D}"/>
              </a:ext>
            </a:extLst>
          </p:cNvPr>
          <p:cNvSpPr>
            <a:spLocks noGrp="1"/>
          </p:cNvSpPr>
          <p:nvPr>
            <p:ph type="title"/>
          </p:nvPr>
        </p:nvSpPr>
        <p:spPr/>
        <p:txBody>
          <a:bodyPr/>
          <a:lstStyle/>
          <a:p>
            <a:r>
              <a:rPr lang="en-IN" b="1" dirty="0">
                <a:solidFill>
                  <a:srgbClr val="C00000"/>
                </a:solidFill>
              </a:rPr>
              <a:t>Hard Margin SVM</a:t>
            </a:r>
          </a:p>
        </p:txBody>
      </p:sp>
      <p:sp>
        <p:nvSpPr>
          <p:cNvPr id="3" name="Content Placeholder 2">
            <a:extLst>
              <a:ext uri="{FF2B5EF4-FFF2-40B4-BE49-F238E27FC236}">
                <a16:creationId xmlns:a16="http://schemas.microsoft.com/office/drawing/2014/main" id="{6C693D41-4099-450A-BF59-A7F6EF1F7378}"/>
              </a:ext>
            </a:extLst>
          </p:cNvPr>
          <p:cNvSpPr>
            <a:spLocks noGrp="1"/>
          </p:cNvSpPr>
          <p:nvPr>
            <p:ph idx="1"/>
          </p:nvPr>
        </p:nvSpPr>
        <p:spPr/>
        <p:txBody>
          <a:bodyPr/>
          <a:lstStyle/>
          <a:p>
            <a:r>
              <a:rPr lang="en-US" b="1" dirty="0"/>
              <a:t>Hard margin SVM assumes that the data is perfectly linearly separable.</a:t>
            </a:r>
          </a:p>
          <a:p>
            <a:r>
              <a:rPr lang="en-US" dirty="0"/>
              <a:t>It tries to find a hyperplane that </a:t>
            </a:r>
            <a:r>
              <a:rPr lang="en-US" b="1" dirty="0"/>
              <a:t>separates the classes without any misclassification</a:t>
            </a:r>
            <a:r>
              <a:rPr lang="en-US" dirty="0"/>
              <a:t>.</a:t>
            </a:r>
          </a:p>
          <a:p>
            <a:r>
              <a:rPr lang="en-US" b="1" dirty="0"/>
              <a:t>Key Idea</a:t>
            </a:r>
          </a:p>
          <a:p>
            <a:pPr lvl="1"/>
            <a:r>
              <a:rPr lang="en-US" dirty="0"/>
              <a:t>No point is allowed inside the margin</a:t>
            </a:r>
          </a:p>
          <a:p>
            <a:pPr lvl="1"/>
            <a:r>
              <a:rPr lang="en-US" dirty="0"/>
              <a:t>No misclassification allowed</a:t>
            </a:r>
          </a:p>
          <a:p>
            <a:endParaRPr lang="en-IN" dirty="0"/>
          </a:p>
        </p:txBody>
      </p:sp>
    </p:spTree>
    <p:extLst>
      <p:ext uri="{BB962C8B-B14F-4D97-AF65-F5344CB8AC3E}">
        <p14:creationId xmlns:p14="http://schemas.microsoft.com/office/powerpoint/2010/main" val="2232524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275C9-9E47-4013-B424-555DC1CA1A6E}"/>
              </a:ext>
            </a:extLst>
          </p:cNvPr>
          <p:cNvSpPr>
            <a:spLocks noGrp="1"/>
          </p:cNvSpPr>
          <p:nvPr>
            <p:ph type="title"/>
          </p:nvPr>
        </p:nvSpPr>
        <p:spPr/>
        <p:txBody>
          <a:bodyPr/>
          <a:lstStyle/>
          <a:p>
            <a:r>
              <a:rPr lang="en-US" dirty="0">
                <a:solidFill>
                  <a:srgbClr val="C00000"/>
                </a:solidFill>
              </a:rPr>
              <a:t>Soft Margin SVM</a:t>
            </a:r>
            <a:endParaRPr lang="en-IN" dirty="0">
              <a:solidFill>
                <a:srgbClr val="C00000"/>
              </a:solidFill>
            </a:endParaRPr>
          </a:p>
        </p:txBody>
      </p:sp>
      <p:sp>
        <p:nvSpPr>
          <p:cNvPr id="3" name="Content Placeholder 2">
            <a:extLst>
              <a:ext uri="{FF2B5EF4-FFF2-40B4-BE49-F238E27FC236}">
                <a16:creationId xmlns:a16="http://schemas.microsoft.com/office/drawing/2014/main" id="{881D5716-84B7-49EE-947C-D94AD624970E}"/>
              </a:ext>
            </a:extLst>
          </p:cNvPr>
          <p:cNvSpPr>
            <a:spLocks noGrp="1"/>
          </p:cNvSpPr>
          <p:nvPr>
            <p:ph idx="1"/>
          </p:nvPr>
        </p:nvSpPr>
        <p:spPr/>
        <p:txBody>
          <a:bodyPr>
            <a:normAutofit/>
          </a:bodyPr>
          <a:lstStyle/>
          <a:p>
            <a:r>
              <a:rPr lang="en-US" dirty="0"/>
              <a:t>Soft margin SVM </a:t>
            </a:r>
            <a:r>
              <a:rPr lang="en-US" b="1" dirty="0"/>
              <a:t>allows some classification errors</a:t>
            </a:r>
            <a:r>
              <a:rPr lang="en-US" dirty="0"/>
              <a:t> so that the model becomes </a:t>
            </a:r>
            <a:r>
              <a:rPr lang="en-US" b="1" dirty="0"/>
              <a:t>robust to noise and overlapping classes</a:t>
            </a:r>
            <a:r>
              <a:rPr lang="en-US" dirty="0"/>
              <a:t>.</a:t>
            </a:r>
          </a:p>
          <a:p>
            <a:r>
              <a:rPr lang="en-US" dirty="0"/>
              <a:t>Soft margin SVM introduces </a:t>
            </a:r>
            <a:r>
              <a:rPr lang="en-US" b="1" dirty="0">
                <a:solidFill>
                  <a:srgbClr val="C00000"/>
                </a:solidFill>
              </a:rPr>
              <a:t>slack variables </a:t>
            </a:r>
            <a:r>
              <a:rPr lang="en-US" b="1" dirty="0" err="1">
                <a:solidFill>
                  <a:srgbClr val="C00000"/>
                </a:solidFill>
              </a:rPr>
              <a:t>ξ</a:t>
            </a:r>
            <a:r>
              <a:rPr lang="en-US" b="1" baseline="-25000" dirty="0" err="1">
                <a:solidFill>
                  <a:srgbClr val="C00000"/>
                </a:solidFill>
              </a:rPr>
              <a:t>i</a:t>
            </a:r>
            <a:r>
              <a:rPr lang="en-US" b="1" dirty="0"/>
              <a:t>​</a:t>
            </a:r>
            <a:r>
              <a:rPr lang="en-US" dirty="0"/>
              <a:t> that allow some training samples to lie:</a:t>
            </a:r>
          </a:p>
          <a:p>
            <a:pPr lvl="1"/>
            <a:r>
              <a:rPr lang="en-US" sz="2800" dirty="0"/>
              <a:t>Inside the margin</a:t>
            </a:r>
          </a:p>
          <a:p>
            <a:pPr lvl="1"/>
            <a:r>
              <a:rPr lang="en-US" sz="2800" dirty="0"/>
              <a:t>On the wrong side of the decision boundary</a:t>
            </a:r>
          </a:p>
          <a:p>
            <a:r>
              <a:rPr lang="en-US" dirty="0"/>
              <a:t>This enables the classifier to </a:t>
            </a:r>
            <a:r>
              <a:rPr lang="en-US" b="1" dirty="0"/>
              <a:t>balance margin maximization and classification error</a:t>
            </a:r>
            <a:r>
              <a:rPr lang="en-US" dirty="0"/>
              <a:t>.</a:t>
            </a:r>
          </a:p>
          <a:p>
            <a:endParaRPr lang="en-IN" sz="2400" dirty="0"/>
          </a:p>
        </p:txBody>
      </p:sp>
    </p:spTree>
    <p:extLst>
      <p:ext uri="{BB962C8B-B14F-4D97-AF65-F5344CB8AC3E}">
        <p14:creationId xmlns:p14="http://schemas.microsoft.com/office/powerpoint/2010/main" val="38117337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3A9FFDE-2C15-4CF7-A7BD-47F216175D24}"/>
              </a:ext>
            </a:extLst>
          </p:cNvPr>
          <p:cNvPicPr>
            <a:picLocks noChangeAspect="1"/>
          </p:cNvPicPr>
          <p:nvPr/>
        </p:nvPicPr>
        <p:blipFill>
          <a:blip r:embed="rId2"/>
          <a:stretch>
            <a:fillRect/>
          </a:stretch>
        </p:blipFill>
        <p:spPr>
          <a:xfrm>
            <a:off x="292300" y="172278"/>
            <a:ext cx="11607400" cy="5983357"/>
          </a:xfrm>
          <a:prstGeom prst="rect">
            <a:avLst/>
          </a:prstGeom>
          <a:ln>
            <a:solidFill>
              <a:schemeClr val="accent1"/>
            </a:solidFill>
          </a:ln>
        </p:spPr>
      </p:pic>
    </p:spTree>
    <p:extLst>
      <p:ext uri="{BB962C8B-B14F-4D97-AF65-F5344CB8AC3E}">
        <p14:creationId xmlns:p14="http://schemas.microsoft.com/office/powerpoint/2010/main" val="380210484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9F7071-5479-46AA-B398-4974E473698C}"/>
              </a:ext>
            </a:extLst>
          </p:cNvPr>
          <p:cNvSpPr>
            <a:spLocks noGrp="1"/>
          </p:cNvSpPr>
          <p:nvPr>
            <p:ph type="title"/>
          </p:nvPr>
        </p:nvSpPr>
        <p:spPr/>
        <p:txBody>
          <a:bodyPr/>
          <a:lstStyle/>
          <a:p>
            <a:r>
              <a:rPr lang="en-US" dirty="0"/>
              <a:t>Soft Margin</a:t>
            </a:r>
            <a:endParaRPr lang="en-IN" dirty="0"/>
          </a:p>
        </p:txBody>
      </p:sp>
      <p:pic>
        <p:nvPicPr>
          <p:cNvPr id="5" name="Picture 4">
            <a:extLst>
              <a:ext uri="{FF2B5EF4-FFF2-40B4-BE49-F238E27FC236}">
                <a16:creationId xmlns:a16="http://schemas.microsoft.com/office/drawing/2014/main" id="{8A6897DD-13CC-4252-AB1F-B15FCD61F5D0}"/>
              </a:ext>
            </a:extLst>
          </p:cNvPr>
          <p:cNvPicPr>
            <a:picLocks noChangeAspect="1"/>
          </p:cNvPicPr>
          <p:nvPr/>
        </p:nvPicPr>
        <p:blipFill>
          <a:blip r:embed="rId2"/>
          <a:stretch>
            <a:fillRect/>
          </a:stretch>
        </p:blipFill>
        <p:spPr>
          <a:xfrm>
            <a:off x="2440263" y="2411896"/>
            <a:ext cx="7629525" cy="3810000"/>
          </a:xfrm>
          <a:prstGeom prst="rect">
            <a:avLst/>
          </a:prstGeom>
        </p:spPr>
      </p:pic>
    </p:spTree>
    <p:extLst>
      <p:ext uri="{BB962C8B-B14F-4D97-AF65-F5344CB8AC3E}">
        <p14:creationId xmlns:p14="http://schemas.microsoft.com/office/powerpoint/2010/main" val="405922799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6"/>
            <a:ext cx="10515600" cy="497760"/>
          </a:xfrm>
        </p:spPr>
        <p:txBody>
          <a:bodyPr>
            <a:normAutofit fontScale="90000"/>
          </a:bodyPr>
          <a:lstStyle/>
          <a:p>
            <a:r>
              <a:rPr lang="en-US" b="1" dirty="0">
                <a:solidFill>
                  <a:srgbClr val="FF0000"/>
                </a:solidFill>
              </a:rPr>
              <a:t>Non – Linear SVM</a:t>
            </a:r>
            <a:r>
              <a:rPr lang="en-US" dirty="0">
                <a:solidFill>
                  <a:srgbClr val="FF0000"/>
                </a:solidFill>
              </a:rPr>
              <a:t>.</a:t>
            </a:r>
            <a:endParaRPr lang="en-IN" dirty="0">
              <a:solidFill>
                <a:srgbClr val="FF0000"/>
              </a:solidFill>
            </a:endParaRPr>
          </a:p>
        </p:txBody>
      </p:sp>
      <p:sp>
        <p:nvSpPr>
          <p:cNvPr id="3" name="Content Placeholder 2"/>
          <p:cNvSpPr>
            <a:spLocks noGrp="1"/>
          </p:cNvSpPr>
          <p:nvPr>
            <p:ph idx="1"/>
          </p:nvPr>
        </p:nvSpPr>
        <p:spPr>
          <a:xfrm>
            <a:off x="670775" y="1027135"/>
            <a:ext cx="10515600" cy="4351338"/>
          </a:xfrm>
        </p:spPr>
        <p:txBody>
          <a:bodyPr/>
          <a:lstStyle/>
          <a:p>
            <a:r>
              <a:rPr lang="en-US" dirty="0"/>
              <a:t>When we can easily separate data with hyperplane by drawing a straight line is </a:t>
            </a:r>
            <a:r>
              <a:rPr lang="en-US" dirty="0">
                <a:hlinkClick r:id="rId2"/>
              </a:rPr>
              <a:t>Linear SVM</a:t>
            </a:r>
            <a:r>
              <a:rPr lang="en-US" dirty="0"/>
              <a:t>. </a:t>
            </a:r>
          </a:p>
          <a:p>
            <a:r>
              <a:rPr lang="en-US" dirty="0"/>
              <a:t>When we cannot separate data with a straight line we use </a:t>
            </a:r>
            <a:r>
              <a:rPr lang="en-US" b="1" dirty="0"/>
              <a:t>Non – Linear SVM</a:t>
            </a:r>
            <a:r>
              <a:rPr lang="en-US" dirty="0"/>
              <a:t>. In this, we have </a:t>
            </a:r>
            <a:r>
              <a:rPr lang="en-US" b="1" dirty="0"/>
              <a:t>Kernel functions.</a:t>
            </a:r>
            <a:r>
              <a:rPr lang="en-US" dirty="0"/>
              <a:t> They transform non-linear spaces into linear spaces. It transforms data into another dimension so that the data can be classified.</a:t>
            </a:r>
          </a:p>
          <a:p>
            <a:r>
              <a:rPr lang="en-US" dirty="0"/>
              <a:t>It transforms two variables x and y into three variables along with z. Therefore, the data have plotted from 2-D space to 3-D space. Now we can easily classify the data by drawing the best hyperplane between them</a:t>
            </a:r>
          </a:p>
          <a:p>
            <a:endParaRPr lang="en-IN" dirty="0"/>
          </a:p>
        </p:txBody>
      </p:sp>
      <p:pic>
        <p:nvPicPr>
          <p:cNvPr id="4" name="Picture 3"/>
          <p:cNvPicPr>
            <a:picLocks noChangeAspect="1"/>
          </p:cNvPicPr>
          <p:nvPr/>
        </p:nvPicPr>
        <p:blipFill>
          <a:blip r:embed="rId3"/>
          <a:stretch>
            <a:fillRect/>
          </a:stretch>
        </p:blipFill>
        <p:spPr>
          <a:xfrm>
            <a:off x="4170981" y="4828103"/>
            <a:ext cx="2494862" cy="1953697"/>
          </a:xfrm>
          <a:prstGeom prst="rect">
            <a:avLst/>
          </a:prstGeom>
        </p:spPr>
      </p:pic>
    </p:spTree>
    <p:extLst>
      <p:ext uri="{BB962C8B-B14F-4D97-AF65-F5344CB8AC3E}">
        <p14:creationId xmlns:p14="http://schemas.microsoft.com/office/powerpoint/2010/main" val="386365820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66670"/>
            <a:ext cx="10515600" cy="5610293"/>
          </a:xfrm>
        </p:spPr>
        <p:txBody>
          <a:bodyPr>
            <a:normAutofit fontScale="92500" lnSpcReduction="10000"/>
          </a:bodyPr>
          <a:lstStyle/>
          <a:p>
            <a:pPr algn="just" fontAlgn="base"/>
            <a:r>
              <a:rPr lang="en-US" dirty="0"/>
              <a:t>Much of the data in real-world scenarios are not linearly separable, and that’s where nonlinear SVMs come into play.</a:t>
            </a:r>
          </a:p>
          <a:p>
            <a:pPr algn="just" fontAlgn="base"/>
            <a:r>
              <a:rPr lang="en-US" dirty="0"/>
              <a:t> In order to make the data linearly separable, preprocessing methods are applied to the training data to transform it into a higher-dimensional feature space. That said, higher dimensional spaces can create more complexity by increasing the risk of overfitting the data and by becoming computationally taxing. </a:t>
            </a:r>
          </a:p>
          <a:p>
            <a:pPr algn="just" fontAlgn="base"/>
            <a:r>
              <a:rPr lang="en-US" dirty="0"/>
              <a:t>The “kernel trick” helps to reduce some of that complexity, making the computation more efficient, and it does this by replacing dot product calculations with an equivalent kernel function.</a:t>
            </a:r>
          </a:p>
          <a:p>
            <a:pPr algn="just" fontAlgn="base"/>
            <a:r>
              <a:rPr lang="en-US" dirty="0"/>
              <a:t>There are a number of different kernel types that can be applied to classify data. Some popular kernel functions include:</a:t>
            </a:r>
          </a:p>
          <a:p>
            <a:pPr lvl="1" fontAlgn="base"/>
            <a:r>
              <a:rPr lang="en-US" dirty="0"/>
              <a:t>Polynomial kernel</a:t>
            </a:r>
          </a:p>
          <a:p>
            <a:pPr lvl="1" fontAlgn="base"/>
            <a:r>
              <a:rPr lang="en-US" dirty="0"/>
              <a:t>Radial basis function kernel (also known as a Gaussian or RBF kernel)</a:t>
            </a:r>
          </a:p>
          <a:p>
            <a:pPr lvl="1" fontAlgn="base"/>
            <a:r>
              <a:rPr lang="en-US" dirty="0"/>
              <a:t>Sigmoid kernel</a:t>
            </a:r>
          </a:p>
          <a:p>
            <a:pPr marL="0" indent="0">
              <a:buNone/>
            </a:pPr>
            <a:endParaRPr lang="en-IN" dirty="0"/>
          </a:p>
        </p:txBody>
      </p:sp>
    </p:spTree>
    <p:extLst>
      <p:ext uri="{BB962C8B-B14F-4D97-AF65-F5344CB8AC3E}">
        <p14:creationId xmlns:p14="http://schemas.microsoft.com/office/powerpoint/2010/main" val="288730871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rgbClr val="C00000"/>
                </a:solidFill>
              </a:rPr>
              <a:t>Kernel Trick</a:t>
            </a:r>
            <a:br>
              <a:rPr lang="en-IN" b="1" dirty="0"/>
            </a:br>
            <a:endParaRPr lang="en-IN" dirty="0"/>
          </a:p>
        </p:txBody>
      </p:sp>
      <p:pic>
        <p:nvPicPr>
          <p:cNvPr id="4" name="Picture 3"/>
          <p:cNvPicPr>
            <a:picLocks noChangeAspect="1"/>
          </p:cNvPicPr>
          <p:nvPr/>
        </p:nvPicPr>
        <p:blipFill>
          <a:blip r:embed="rId2"/>
          <a:stretch>
            <a:fillRect/>
          </a:stretch>
        </p:blipFill>
        <p:spPr>
          <a:xfrm>
            <a:off x="500652" y="1457738"/>
            <a:ext cx="10853148" cy="4227444"/>
          </a:xfrm>
          <a:prstGeom prst="rect">
            <a:avLst/>
          </a:prstGeom>
        </p:spPr>
      </p:pic>
    </p:spTree>
    <p:extLst>
      <p:ext uri="{BB962C8B-B14F-4D97-AF65-F5344CB8AC3E}">
        <p14:creationId xmlns:p14="http://schemas.microsoft.com/office/powerpoint/2010/main" val="134131893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623102" y="145360"/>
            <a:ext cx="6567280" cy="3283640"/>
          </a:xfrm>
          <a:prstGeom prst="rect">
            <a:avLst/>
          </a:prstGeom>
        </p:spPr>
      </p:pic>
      <p:sp>
        <p:nvSpPr>
          <p:cNvPr id="5" name="Rectangle 4"/>
          <p:cNvSpPr/>
          <p:nvPr/>
        </p:nvSpPr>
        <p:spPr>
          <a:xfrm>
            <a:off x="1060175" y="3775834"/>
            <a:ext cx="9342782" cy="1200329"/>
          </a:xfrm>
          <a:prstGeom prst="rect">
            <a:avLst/>
          </a:prstGeom>
          <a:ln>
            <a:solidFill>
              <a:schemeClr val="tx1"/>
            </a:solidFill>
          </a:ln>
        </p:spPr>
        <p:txBody>
          <a:bodyPr wrap="square">
            <a:spAutoFit/>
          </a:bodyPr>
          <a:lstStyle/>
          <a:p>
            <a:pPr algn="just"/>
            <a:r>
              <a:rPr lang="en-US" sz="2400" dirty="0"/>
              <a:t>Support Vector Machines (SVM) can handle highly non-linear problems using a kernel trick which implicitly maps the input vectors to higher-dimensional feature spaces.</a:t>
            </a:r>
            <a:endParaRPr lang="en-IN" sz="2400" dirty="0"/>
          </a:p>
        </p:txBody>
      </p:sp>
    </p:spTree>
    <p:extLst>
      <p:ext uri="{BB962C8B-B14F-4D97-AF65-F5344CB8AC3E}">
        <p14:creationId xmlns:p14="http://schemas.microsoft.com/office/powerpoint/2010/main" val="231750333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https://miro.medium.com/v2/resize:fit:656/0*KGkhQkRwthxW_Txz.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73771" y="446695"/>
            <a:ext cx="6683107" cy="261823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p:cNvPicPr>
            <a:picLocks noChangeAspect="1"/>
          </p:cNvPicPr>
          <p:nvPr/>
        </p:nvPicPr>
        <p:blipFill>
          <a:blip r:embed="rId3"/>
          <a:stretch>
            <a:fillRect/>
          </a:stretch>
        </p:blipFill>
        <p:spPr>
          <a:xfrm>
            <a:off x="2829236" y="3807317"/>
            <a:ext cx="5972175" cy="2514600"/>
          </a:xfrm>
          <a:prstGeom prst="rect">
            <a:avLst/>
          </a:prstGeom>
        </p:spPr>
      </p:pic>
    </p:spTree>
    <p:extLst>
      <p:ext uri="{BB962C8B-B14F-4D97-AF65-F5344CB8AC3E}">
        <p14:creationId xmlns:p14="http://schemas.microsoft.com/office/powerpoint/2010/main" val="4246445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rgbClr val="C00000"/>
                </a:solidFill>
              </a:rPr>
              <a:t>SVM</a:t>
            </a:r>
            <a:endParaRPr lang="en-IN" dirty="0">
              <a:solidFill>
                <a:srgbClr val="C00000"/>
              </a:solidFill>
            </a:endParaRPr>
          </a:p>
        </p:txBody>
      </p:sp>
      <p:sp>
        <p:nvSpPr>
          <p:cNvPr id="3" name="Content Placeholder 2"/>
          <p:cNvSpPr>
            <a:spLocks noGrp="1"/>
          </p:cNvSpPr>
          <p:nvPr>
            <p:ph idx="1"/>
          </p:nvPr>
        </p:nvSpPr>
        <p:spPr/>
        <p:txBody>
          <a:bodyPr/>
          <a:lstStyle/>
          <a:p>
            <a:r>
              <a:rPr lang="en-US" dirty="0"/>
              <a:t>The SVM algorithm is widely used in </a:t>
            </a:r>
            <a:r>
              <a:rPr lang="en-US" dirty="0">
                <a:hlinkClick r:id="rId2"/>
              </a:rPr>
              <a:t>machine learning</a:t>
            </a:r>
            <a:r>
              <a:rPr lang="en-US" dirty="0"/>
              <a:t> as it can handle both linear and nonlinear classification tasks. </a:t>
            </a:r>
          </a:p>
          <a:p>
            <a:r>
              <a:rPr lang="en-US" dirty="0"/>
              <a:t>However, when the data is not linearly separable, kernel functions are used to transform the data higher-dimensional space to enable linear separation. </a:t>
            </a:r>
          </a:p>
          <a:p>
            <a:r>
              <a:rPr lang="en-US" dirty="0"/>
              <a:t>This application of kernel functions can be known as the “kernel trick”, and the choice of kernel function, such as linear kernels, polynomial kernels, radial basis function (RBF) kernels, or sigmoid kernels, depends on data characteristics and the specific use case</a:t>
            </a:r>
            <a:endParaRPr lang="en-IN" dirty="0"/>
          </a:p>
        </p:txBody>
      </p:sp>
    </p:spTree>
    <p:extLst>
      <p:ext uri="{BB962C8B-B14F-4D97-AF65-F5344CB8AC3E}">
        <p14:creationId xmlns:p14="http://schemas.microsoft.com/office/powerpoint/2010/main" val="50991039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solidFill>
                  <a:srgbClr val="C00000"/>
                </a:solidFill>
              </a:rPr>
              <a:t>SVM for Classification and Regression</a:t>
            </a:r>
            <a:br>
              <a:rPr lang="en-US" b="1" dirty="0"/>
            </a:br>
            <a:endParaRPr lang="en-IN" dirty="0"/>
          </a:p>
        </p:txBody>
      </p:sp>
      <p:sp>
        <p:nvSpPr>
          <p:cNvPr id="3" name="Content Placeholder 2"/>
          <p:cNvSpPr>
            <a:spLocks noGrp="1"/>
          </p:cNvSpPr>
          <p:nvPr>
            <p:ph idx="1"/>
          </p:nvPr>
        </p:nvSpPr>
        <p:spPr/>
        <p:txBody>
          <a:bodyPr/>
          <a:lstStyle/>
          <a:p>
            <a:r>
              <a:rPr lang="en-US" b="1" dirty="0"/>
              <a:t>SVM for Classification (SVC)</a:t>
            </a:r>
            <a:r>
              <a:rPr lang="en-US" dirty="0"/>
              <a:t>: Uses hyperplanes to separate data into different classes.</a:t>
            </a:r>
          </a:p>
          <a:p>
            <a:r>
              <a:rPr lang="en-US" b="1" dirty="0"/>
              <a:t>SVM for Regression (SVR)</a:t>
            </a:r>
            <a:r>
              <a:rPr lang="en-US" dirty="0"/>
              <a:t>: Uses an alternative objective to fit a regression model while minimizing the margin violations.</a:t>
            </a:r>
          </a:p>
          <a:p>
            <a:endParaRPr lang="en-IN" dirty="0"/>
          </a:p>
        </p:txBody>
      </p:sp>
    </p:spTree>
    <p:extLst>
      <p:ext uri="{BB962C8B-B14F-4D97-AF65-F5344CB8AC3E}">
        <p14:creationId xmlns:p14="http://schemas.microsoft.com/office/powerpoint/2010/main" val="290781009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b="1" dirty="0">
                <a:solidFill>
                  <a:srgbClr val="C00000"/>
                </a:solidFill>
              </a:rPr>
              <a:t>Linear SVM vs Non-Linear SVM</a:t>
            </a:r>
            <a:br>
              <a:rPr lang="it-IT" b="1" dirty="0"/>
            </a:br>
            <a:endParaRPr lang="en-IN" dirty="0"/>
          </a:p>
        </p:txBody>
      </p:sp>
      <p:graphicFrame>
        <p:nvGraphicFramePr>
          <p:cNvPr id="4" name="Table 3"/>
          <p:cNvGraphicFramePr>
            <a:graphicFrameLocks noGrp="1"/>
          </p:cNvGraphicFramePr>
          <p:nvPr>
            <p:extLst>
              <p:ext uri="{D42A27DB-BD31-4B8C-83A1-F6EECF244321}">
                <p14:modId xmlns:p14="http://schemas.microsoft.com/office/powerpoint/2010/main" val="1161317830"/>
              </p:ext>
            </p:extLst>
          </p:nvPr>
        </p:nvGraphicFramePr>
        <p:xfrm>
          <a:off x="980661" y="1690688"/>
          <a:ext cx="9952382" cy="3651725"/>
        </p:xfrm>
        <a:graphic>
          <a:graphicData uri="http://schemas.openxmlformats.org/drawingml/2006/table">
            <a:tbl>
              <a:tblPr/>
              <a:tblGrid>
                <a:gridCol w="4976191">
                  <a:extLst>
                    <a:ext uri="{9D8B030D-6E8A-4147-A177-3AD203B41FA5}">
                      <a16:colId xmlns:a16="http://schemas.microsoft.com/office/drawing/2014/main" val="20000"/>
                    </a:ext>
                  </a:extLst>
                </a:gridCol>
                <a:gridCol w="4976191">
                  <a:extLst>
                    <a:ext uri="{9D8B030D-6E8A-4147-A177-3AD203B41FA5}">
                      <a16:colId xmlns:a16="http://schemas.microsoft.com/office/drawing/2014/main" val="20001"/>
                    </a:ext>
                  </a:extLst>
                </a:gridCol>
              </a:tblGrid>
              <a:tr h="632828">
                <a:tc>
                  <a:txBody>
                    <a:bodyPr/>
                    <a:lstStyle/>
                    <a:p>
                      <a:pPr algn="l"/>
                      <a:r>
                        <a:rPr lang="en-IN" sz="2400" b="1" u="none" strike="noStrike" dirty="0">
                          <a:effectLst/>
                        </a:rPr>
                        <a:t>Linear SVM</a:t>
                      </a:r>
                    </a:p>
                  </a:txBody>
                  <a:tcPr marL="95250" marR="95250" marT="95250" marB="9525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FFFFF"/>
                    </a:solidFill>
                  </a:tcPr>
                </a:tc>
                <a:tc>
                  <a:txBody>
                    <a:bodyPr/>
                    <a:lstStyle/>
                    <a:p>
                      <a:pPr algn="l"/>
                      <a:r>
                        <a:rPr lang="en-IN" sz="2400" b="1" u="none" strike="noStrike" dirty="0">
                          <a:effectLst/>
                        </a:rPr>
                        <a:t>Non-Linear SVM</a:t>
                      </a:r>
                    </a:p>
                  </a:txBody>
                  <a:tcPr marL="95250" marR="95250" marT="95250" marB="9525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1006299">
                <a:tc>
                  <a:txBody>
                    <a:bodyPr/>
                    <a:lstStyle/>
                    <a:p>
                      <a:r>
                        <a:rPr lang="en-US" sz="2400" u="none" strike="noStrike" dirty="0">
                          <a:solidFill>
                            <a:schemeClr val="tx1"/>
                          </a:solidFill>
                          <a:effectLst/>
                        </a:rPr>
                        <a:t>It can be easily separated with a linear line.</a:t>
                      </a:r>
                    </a:p>
                  </a:txBody>
                  <a:tcPr marL="95250" marR="95250" marT="95250" marB="9525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FFFFF"/>
                    </a:solidFill>
                  </a:tcPr>
                </a:tc>
                <a:tc>
                  <a:txBody>
                    <a:bodyPr/>
                    <a:lstStyle/>
                    <a:p>
                      <a:r>
                        <a:rPr lang="en-US" sz="2400" u="none" strike="noStrike">
                          <a:solidFill>
                            <a:schemeClr val="tx1"/>
                          </a:solidFill>
                          <a:effectLst/>
                        </a:rPr>
                        <a:t>It cannot be easily separated with a linear line.</a:t>
                      </a:r>
                    </a:p>
                  </a:txBody>
                  <a:tcPr marL="95250" marR="95250" marT="95250" marB="9525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006299">
                <a:tc>
                  <a:txBody>
                    <a:bodyPr/>
                    <a:lstStyle/>
                    <a:p>
                      <a:r>
                        <a:rPr lang="en-US" sz="2400" u="none" strike="noStrike" dirty="0">
                          <a:solidFill>
                            <a:schemeClr val="tx1"/>
                          </a:solidFill>
                          <a:effectLst/>
                        </a:rPr>
                        <a:t>Data is classified with the help of hyperplane.</a:t>
                      </a:r>
                    </a:p>
                  </a:txBody>
                  <a:tcPr marL="95250" marR="95250" marT="95250" marB="9525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FFFFF"/>
                    </a:solidFill>
                  </a:tcPr>
                </a:tc>
                <a:tc>
                  <a:txBody>
                    <a:bodyPr/>
                    <a:lstStyle/>
                    <a:p>
                      <a:r>
                        <a:rPr lang="en-US" sz="2400" u="none" strike="noStrike">
                          <a:solidFill>
                            <a:schemeClr val="tx1"/>
                          </a:solidFill>
                          <a:effectLst/>
                        </a:rPr>
                        <a:t>We use Kernels to make non-separable data into separable data.</a:t>
                      </a:r>
                    </a:p>
                  </a:txBody>
                  <a:tcPr marL="95250" marR="95250" marT="95250" marB="9525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006299">
                <a:tc>
                  <a:txBody>
                    <a:bodyPr/>
                    <a:lstStyle/>
                    <a:p>
                      <a:r>
                        <a:rPr lang="en-US" sz="2400" u="none" strike="noStrike" dirty="0">
                          <a:solidFill>
                            <a:schemeClr val="tx1"/>
                          </a:solidFill>
                          <a:effectLst/>
                        </a:rPr>
                        <a:t>Data can be easily classified by drawing a straight line.</a:t>
                      </a:r>
                    </a:p>
                  </a:txBody>
                  <a:tcPr marL="95250" marR="95250" marT="95250" marB="9525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FFFFF"/>
                    </a:solidFill>
                  </a:tcPr>
                </a:tc>
                <a:tc>
                  <a:txBody>
                    <a:bodyPr/>
                    <a:lstStyle/>
                    <a:p>
                      <a:r>
                        <a:rPr lang="en-US" sz="2400" u="none" strike="noStrike" dirty="0">
                          <a:solidFill>
                            <a:schemeClr val="tx1"/>
                          </a:solidFill>
                          <a:effectLst/>
                        </a:rPr>
                        <a:t>We map data into high dimensional space to classify.</a:t>
                      </a:r>
                    </a:p>
                  </a:txBody>
                  <a:tcPr marL="95250" marR="95250" marT="95250" marB="95250" anchor="ctr">
                    <a:lnL w="9525" cap="flat" cmpd="sng" algn="ctr">
                      <a:solidFill>
                        <a:srgbClr val="E2E2E2"/>
                      </a:solidFill>
                      <a:prstDash val="solid"/>
                      <a:round/>
                      <a:headEnd type="none" w="med" len="med"/>
                      <a:tailEnd type="none" w="med" len="med"/>
                    </a:lnL>
                    <a:lnR w="9525" cap="flat" cmpd="sng" algn="ctr">
                      <a:solidFill>
                        <a:srgbClr val="E2E2E2"/>
                      </a:solidFill>
                      <a:prstDash val="solid"/>
                      <a:round/>
                      <a:headEnd type="none" w="med" len="med"/>
                      <a:tailEnd type="none" w="med" len="med"/>
                    </a:lnR>
                    <a:lnT w="9525" cap="flat" cmpd="sng" algn="ctr">
                      <a:solidFill>
                        <a:srgbClr val="E2E2E2"/>
                      </a:solidFill>
                      <a:prstDash val="solid"/>
                      <a:round/>
                      <a:headEnd type="none" w="med" len="med"/>
                      <a:tailEnd type="none" w="med" len="med"/>
                    </a:lnT>
                    <a:lnB w="9525" cap="flat" cmpd="sng" algn="ctr">
                      <a:solidFill>
                        <a:srgbClr val="E2E2E2"/>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446118439"/>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rgbClr val="C00000"/>
                </a:solidFill>
              </a:rPr>
              <a:t>Advantages of SVM</a:t>
            </a:r>
            <a:br>
              <a:rPr lang="en-IN" b="1" dirty="0"/>
            </a:br>
            <a:endParaRPr lang="en-IN" dirty="0"/>
          </a:p>
        </p:txBody>
      </p:sp>
      <p:sp>
        <p:nvSpPr>
          <p:cNvPr id="3" name="Content Placeholder 2"/>
          <p:cNvSpPr>
            <a:spLocks noGrp="1"/>
          </p:cNvSpPr>
          <p:nvPr>
            <p:ph idx="1"/>
          </p:nvPr>
        </p:nvSpPr>
        <p:spPr/>
        <p:txBody>
          <a:bodyPr/>
          <a:lstStyle/>
          <a:p>
            <a:r>
              <a:rPr lang="en-US" dirty="0"/>
              <a:t>Effective in high-dimensional spaces.</a:t>
            </a:r>
          </a:p>
          <a:p>
            <a:r>
              <a:rPr lang="en-US" dirty="0"/>
              <a:t>Works well with a clear margin of separation.</a:t>
            </a:r>
          </a:p>
          <a:p>
            <a:r>
              <a:rPr lang="en-US" dirty="0"/>
              <a:t>Can handle non-linearly separable data using kernels.</a:t>
            </a:r>
          </a:p>
          <a:p>
            <a:r>
              <a:rPr lang="en-US" dirty="0"/>
              <a:t>Robust to overfitting with proper regularization.</a:t>
            </a:r>
          </a:p>
          <a:p>
            <a:endParaRPr lang="en-IN" dirty="0"/>
          </a:p>
        </p:txBody>
      </p:sp>
    </p:spTree>
    <p:extLst>
      <p:ext uri="{BB962C8B-B14F-4D97-AF65-F5344CB8AC3E}">
        <p14:creationId xmlns:p14="http://schemas.microsoft.com/office/powerpoint/2010/main" val="414761225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rgbClr val="C00000"/>
                </a:solidFill>
              </a:rPr>
              <a:t>Disadvantages of SVM</a:t>
            </a:r>
            <a:br>
              <a:rPr lang="en-IN" b="1" dirty="0"/>
            </a:br>
            <a:endParaRPr lang="en-IN" dirty="0"/>
          </a:p>
        </p:txBody>
      </p:sp>
      <p:sp>
        <p:nvSpPr>
          <p:cNvPr id="3" name="Content Placeholder 2"/>
          <p:cNvSpPr>
            <a:spLocks noGrp="1"/>
          </p:cNvSpPr>
          <p:nvPr>
            <p:ph idx="1"/>
          </p:nvPr>
        </p:nvSpPr>
        <p:spPr/>
        <p:txBody>
          <a:bodyPr/>
          <a:lstStyle/>
          <a:p>
            <a:r>
              <a:rPr lang="en-US" dirty="0"/>
              <a:t>Computationally expensive for large datasets.</a:t>
            </a:r>
          </a:p>
          <a:p>
            <a:r>
              <a:rPr lang="en-US" dirty="0"/>
              <a:t>Choosing the right kernel and </a:t>
            </a:r>
            <a:r>
              <a:rPr lang="en-US" dirty="0" err="1"/>
              <a:t>hyperparameters</a:t>
            </a:r>
            <a:r>
              <a:rPr lang="en-US" dirty="0"/>
              <a:t> can be complex.</a:t>
            </a:r>
          </a:p>
          <a:p>
            <a:r>
              <a:rPr lang="en-US" dirty="0"/>
              <a:t>Less effective with noisy data.</a:t>
            </a:r>
          </a:p>
          <a:p>
            <a:endParaRPr lang="en-IN" dirty="0"/>
          </a:p>
        </p:txBody>
      </p:sp>
    </p:spTree>
    <p:extLst>
      <p:ext uri="{BB962C8B-B14F-4D97-AF65-F5344CB8AC3E}">
        <p14:creationId xmlns:p14="http://schemas.microsoft.com/office/powerpoint/2010/main" val="199867756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solidFill>
                  <a:srgbClr val="C00000"/>
                </a:solidFill>
              </a:rPr>
              <a:t>Applications of SVM</a:t>
            </a:r>
            <a:br>
              <a:rPr lang="en-IN" b="1" dirty="0"/>
            </a:br>
            <a:endParaRPr lang="en-IN" dirty="0"/>
          </a:p>
        </p:txBody>
      </p:sp>
      <p:sp>
        <p:nvSpPr>
          <p:cNvPr id="3" name="Content Placeholder 2"/>
          <p:cNvSpPr>
            <a:spLocks noGrp="1"/>
          </p:cNvSpPr>
          <p:nvPr>
            <p:ph idx="1"/>
          </p:nvPr>
        </p:nvSpPr>
        <p:spPr/>
        <p:txBody>
          <a:bodyPr/>
          <a:lstStyle/>
          <a:p>
            <a:r>
              <a:rPr lang="en-IN" b="1" dirty="0"/>
              <a:t>Text Classification</a:t>
            </a:r>
            <a:r>
              <a:rPr lang="en-IN" dirty="0"/>
              <a:t>: Spam detection, sentiment analysis.</a:t>
            </a:r>
          </a:p>
          <a:p>
            <a:r>
              <a:rPr lang="en-IN" b="1" dirty="0"/>
              <a:t>Image Classification</a:t>
            </a:r>
            <a:r>
              <a:rPr lang="en-IN" dirty="0"/>
              <a:t>: Handwritten digit recognition.</a:t>
            </a:r>
          </a:p>
          <a:p>
            <a:r>
              <a:rPr lang="en-IN" b="1" dirty="0"/>
              <a:t>Medical Diagnosis</a:t>
            </a:r>
            <a:r>
              <a:rPr lang="en-IN" dirty="0"/>
              <a:t>: Cancer detection from medical images.</a:t>
            </a:r>
          </a:p>
          <a:p>
            <a:r>
              <a:rPr lang="en-IN" b="1" dirty="0"/>
              <a:t>Bioinformatics</a:t>
            </a:r>
            <a:r>
              <a:rPr lang="en-IN" dirty="0"/>
              <a:t>: Protein classification and gene expression analysis.</a:t>
            </a:r>
          </a:p>
          <a:p>
            <a:endParaRPr lang="en-IN" dirty="0"/>
          </a:p>
        </p:txBody>
      </p:sp>
    </p:spTree>
    <p:extLst>
      <p:ext uri="{BB962C8B-B14F-4D97-AF65-F5344CB8AC3E}">
        <p14:creationId xmlns:p14="http://schemas.microsoft.com/office/powerpoint/2010/main" val="179785692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676</TotalTime>
  <Words>1551</Words>
  <Application>Microsoft Office PowerPoint</Application>
  <PresentationFormat>Widescreen</PresentationFormat>
  <Paragraphs>135</Paragraphs>
  <Slides>37</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37</vt:i4>
      </vt:variant>
    </vt:vector>
  </HeadingPairs>
  <TitlesOfParts>
    <vt:vector size="44" baseType="lpstr">
      <vt:lpstr>Arial</vt:lpstr>
      <vt:lpstr>Calibri</vt:lpstr>
      <vt:lpstr>Calibri Light</vt:lpstr>
      <vt:lpstr>Cambria Math</vt:lpstr>
      <vt:lpstr>Google Sans</vt:lpstr>
      <vt:lpstr>Times New Roman</vt:lpstr>
      <vt:lpstr>Office Theme</vt:lpstr>
      <vt:lpstr>Support Vector Machine (SVM)</vt:lpstr>
      <vt:lpstr>Introduction</vt:lpstr>
      <vt:lpstr>Types of SVM</vt:lpstr>
      <vt:lpstr>Linear SVM</vt:lpstr>
      <vt:lpstr>Hyperplane</vt:lpstr>
      <vt:lpstr>PowerPoint Presentation</vt:lpstr>
      <vt:lpstr>Support Vectors </vt:lpstr>
      <vt:lpstr>PowerPoint Presentation</vt:lpstr>
      <vt:lpstr>PowerPoint Presentation</vt:lpstr>
      <vt:lpstr>PowerPoint Presentation</vt:lpstr>
      <vt:lpstr>PowerPoint Presentation</vt:lpstr>
      <vt:lpstr>PowerPoint Presentation</vt:lpstr>
      <vt:lpstr>Example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Hard Margin SVM</vt:lpstr>
      <vt:lpstr>Soft Margin SVM</vt:lpstr>
      <vt:lpstr>PowerPoint Presentation</vt:lpstr>
      <vt:lpstr>Soft Margin</vt:lpstr>
      <vt:lpstr>Non – Linear SVM.</vt:lpstr>
      <vt:lpstr>PowerPoint Presentation</vt:lpstr>
      <vt:lpstr>Kernel Trick </vt:lpstr>
      <vt:lpstr>PowerPoint Presentation</vt:lpstr>
      <vt:lpstr>PowerPoint Presentation</vt:lpstr>
      <vt:lpstr>SVM</vt:lpstr>
      <vt:lpstr>SVM for Classification and Regression </vt:lpstr>
      <vt:lpstr>Linear SVM vs Non-Linear SVM </vt:lpstr>
      <vt:lpstr>Advantages of SVM </vt:lpstr>
      <vt:lpstr>Disadvantages of SVM </vt:lpstr>
      <vt:lpstr>Applications of SVM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Support Vector Machine (SVM)</dc:title>
  <dc:creator>BMS</dc:creator>
  <cp:lastModifiedBy>admin</cp:lastModifiedBy>
  <cp:revision>53</cp:revision>
  <dcterms:created xsi:type="dcterms:W3CDTF">2025-03-25T07:25:03Z</dcterms:created>
  <dcterms:modified xsi:type="dcterms:W3CDTF">2026-03-11T06:25:50Z</dcterms:modified>
</cp:coreProperties>
</file>