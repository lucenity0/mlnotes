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7"/>
  </p:notesMasterIdLst>
  <p:sldIdLst>
    <p:sldId id="256" r:id="rId2"/>
    <p:sldId id="257" r:id="rId3"/>
    <p:sldId id="258" r:id="rId4"/>
    <p:sldId id="259" r:id="rId5"/>
    <p:sldId id="260" r:id="rId6"/>
    <p:sldId id="261" r:id="rId7"/>
    <p:sldId id="262" r:id="rId8"/>
    <p:sldId id="263" r:id="rId9"/>
    <p:sldId id="264" r:id="rId10"/>
    <p:sldId id="265" r:id="rId11"/>
    <p:sldId id="266" r:id="rId12"/>
    <p:sldId id="280" r:id="rId13"/>
    <p:sldId id="282" r:id="rId14"/>
    <p:sldId id="281" r:id="rId15"/>
    <p:sldId id="283" r:id="rId16"/>
    <p:sldId id="284" r:id="rId17"/>
    <p:sldId id="286" r:id="rId18"/>
    <p:sldId id="355" r:id="rId19"/>
    <p:sldId id="356" r:id="rId20"/>
    <p:sldId id="287" r:id="rId21"/>
    <p:sldId id="285" r:id="rId22"/>
    <p:sldId id="290" r:id="rId23"/>
    <p:sldId id="288" r:id="rId24"/>
    <p:sldId id="289" r:id="rId25"/>
    <p:sldId id="291" r:id="rId26"/>
    <p:sldId id="292" r:id="rId27"/>
    <p:sldId id="293" r:id="rId28"/>
    <p:sldId id="294" r:id="rId29"/>
    <p:sldId id="325" r:id="rId30"/>
    <p:sldId id="326" r:id="rId31"/>
    <p:sldId id="295" r:id="rId32"/>
    <p:sldId id="327" r:id="rId33"/>
    <p:sldId id="328" r:id="rId34"/>
    <p:sldId id="296" r:id="rId35"/>
    <p:sldId id="329" r:id="rId36"/>
    <p:sldId id="330" r:id="rId37"/>
    <p:sldId id="297" r:id="rId38"/>
    <p:sldId id="357" r:id="rId39"/>
    <p:sldId id="332" r:id="rId40"/>
    <p:sldId id="333" r:id="rId41"/>
    <p:sldId id="358" r:id="rId42"/>
    <p:sldId id="359" r:id="rId43"/>
    <p:sldId id="360" r:id="rId44"/>
    <p:sldId id="361" r:id="rId45"/>
    <p:sldId id="298" r:id="rId46"/>
    <p:sldId id="334" r:id="rId47"/>
    <p:sldId id="335" r:id="rId48"/>
    <p:sldId id="336" r:id="rId49"/>
    <p:sldId id="337" r:id="rId50"/>
    <p:sldId id="338" r:id="rId51"/>
    <p:sldId id="299" r:id="rId52"/>
    <p:sldId id="349" r:id="rId53"/>
    <p:sldId id="339" r:id="rId54"/>
    <p:sldId id="340" r:id="rId55"/>
    <p:sldId id="341" r:id="rId56"/>
    <p:sldId id="342" r:id="rId57"/>
    <p:sldId id="343" r:id="rId58"/>
    <p:sldId id="345" r:id="rId59"/>
    <p:sldId id="346" r:id="rId60"/>
    <p:sldId id="348" r:id="rId61"/>
    <p:sldId id="350" r:id="rId62"/>
    <p:sldId id="347" r:id="rId63"/>
    <p:sldId id="309" r:id="rId64"/>
    <p:sldId id="363" r:id="rId65"/>
    <p:sldId id="362" r:id="rId66"/>
    <p:sldId id="364" r:id="rId67"/>
    <p:sldId id="365" r:id="rId68"/>
    <p:sldId id="310" r:id="rId69"/>
    <p:sldId id="311" r:id="rId70"/>
    <p:sldId id="312" r:id="rId71"/>
    <p:sldId id="313" r:id="rId72"/>
    <p:sldId id="314" r:id="rId73"/>
    <p:sldId id="315" r:id="rId74"/>
    <p:sldId id="366" r:id="rId75"/>
    <p:sldId id="367" r:id="rId76"/>
    <p:sldId id="317" r:id="rId77"/>
    <p:sldId id="318" r:id="rId78"/>
    <p:sldId id="319" r:id="rId79"/>
    <p:sldId id="320" r:id="rId80"/>
    <p:sldId id="321" r:id="rId81"/>
    <p:sldId id="322" r:id="rId82"/>
    <p:sldId id="323" r:id="rId83"/>
    <p:sldId id="324" r:id="rId84"/>
    <p:sldId id="267" r:id="rId85"/>
    <p:sldId id="268" r:id="rId86"/>
    <p:sldId id="269" r:id="rId87"/>
    <p:sldId id="270" r:id="rId88"/>
    <p:sldId id="271" r:id="rId89"/>
    <p:sldId id="272" r:id="rId90"/>
    <p:sldId id="273" r:id="rId91"/>
    <p:sldId id="274" r:id="rId92"/>
    <p:sldId id="275" r:id="rId93"/>
    <p:sldId id="276" r:id="rId94"/>
    <p:sldId id="277" r:id="rId95"/>
    <p:sldId id="278" r:id="rId9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3" d="100"/>
          <a:sy n="73" d="100"/>
        </p:scale>
        <p:origin x="38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E:\Dropbox\Projects\Teaching\CSEP546-2019\Figures\ROC%20and%20Operating.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E:\Dropbox\Projects\Teaching\CSEP546-2019\Figures\ROC_char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E:\Dropbox\Projects\Teaching\CSEP546-2019\Figures\ROC_char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E:\Dropbox\Projects\Teaching\CSEP546-2019\Figures\ROC_char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E:\Dropbox\Projects\Teaching\CSEP546-2019\Figures\ROC_char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E:\Dropbox\Projects\Teaching\CSEP546-2019\Figures\ROC_chart.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spPr>
            <a:ln w="19050" cap="rnd">
              <a:solidFill>
                <a:schemeClr val="bg1">
                  <a:lumMod val="50000"/>
                </a:schemeClr>
              </a:solidFill>
              <a:round/>
            </a:ln>
            <a:effectLst/>
          </c:spPr>
          <c:marker>
            <c:symbol val="none"/>
          </c:marker>
          <c:xVal>
            <c:numRef>
              <c:f>Sheet1!$D$6:$D$86</c:f>
              <c:numCache>
                <c:formatCode>General</c:formatCode>
                <c:ptCount val="81"/>
                <c:pt idx="0">
                  <c:v>-10</c:v>
                </c:pt>
                <c:pt idx="1">
                  <c:v>-9.75</c:v>
                </c:pt>
                <c:pt idx="2">
                  <c:v>-9.5</c:v>
                </c:pt>
                <c:pt idx="3">
                  <c:v>-9.25</c:v>
                </c:pt>
                <c:pt idx="4">
                  <c:v>-9</c:v>
                </c:pt>
                <c:pt idx="5">
                  <c:v>-8.75</c:v>
                </c:pt>
                <c:pt idx="6">
                  <c:v>-8.5</c:v>
                </c:pt>
                <c:pt idx="7">
                  <c:v>-8.25</c:v>
                </c:pt>
                <c:pt idx="8">
                  <c:v>-8</c:v>
                </c:pt>
                <c:pt idx="9">
                  <c:v>-7.75</c:v>
                </c:pt>
                <c:pt idx="10">
                  <c:v>-7.5</c:v>
                </c:pt>
                <c:pt idx="11">
                  <c:v>-7.25</c:v>
                </c:pt>
                <c:pt idx="12">
                  <c:v>-7</c:v>
                </c:pt>
                <c:pt idx="13">
                  <c:v>-6.75</c:v>
                </c:pt>
                <c:pt idx="14">
                  <c:v>-6.5</c:v>
                </c:pt>
                <c:pt idx="15">
                  <c:v>-6.25</c:v>
                </c:pt>
                <c:pt idx="16">
                  <c:v>-6</c:v>
                </c:pt>
                <c:pt idx="17">
                  <c:v>-5.75</c:v>
                </c:pt>
                <c:pt idx="18">
                  <c:v>-5.5</c:v>
                </c:pt>
                <c:pt idx="19">
                  <c:v>-5.25</c:v>
                </c:pt>
                <c:pt idx="20">
                  <c:v>-5</c:v>
                </c:pt>
                <c:pt idx="21">
                  <c:v>-4.75</c:v>
                </c:pt>
                <c:pt idx="22">
                  <c:v>-4.5</c:v>
                </c:pt>
                <c:pt idx="23">
                  <c:v>-4.25</c:v>
                </c:pt>
                <c:pt idx="24">
                  <c:v>-4</c:v>
                </c:pt>
                <c:pt idx="25">
                  <c:v>-3.75</c:v>
                </c:pt>
                <c:pt idx="26">
                  <c:v>-3.5</c:v>
                </c:pt>
                <c:pt idx="27">
                  <c:v>-3.25</c:v>
                </c:pt>
                <c:pt idx="28">
                  <c:v>-3</c:v>
                </c:pt>
                <c:pt idx="29">
                  <c:v>-2.75</c:v>
                </c:pt>
                <c:pt idx="30">
                  <c:v>-2.5</c:v>
                </c:pt>
                <c:pt idx="31">
                  <c:v>-2.25</c:v>
                </c:pt>
                <c:pt idx="32">
                  <c:v>-2</c:v>
                </c:pt>
                <c:pt idx="33">
                  <c:v>-1.75</c:v>
                </c:pt>
                <c:pt idx="34">
                  <c:v>-1.5</c:v>
                </c:pt>
                <c:pt idx="35">
                  <c:v>-1.25</c:v>
                </c:pt>
                <c:pt idx="36">
                  <c:v>-1</c:v>
                </c:pt>
                <c:pt idx="37">
                  <c:v>-0.75</c:v>
                </c:pt>
                <c:pt idx="38">
                  <c:v>-0.5</c:v>
                </c:pt>
                <c:pt idx="39">
                  <c:v>-0.25</c:v>
                </c:pt>
                <c:pt idx="40">
                  <c:v>0</c:v>
                </c:pt>
                <c:pt idx="41">
                  <c:v>0.25</c:v>
                </c:pt>
                <c:pt idx="42">
                  <c:v>0.5</c:v>
                </c:pt>
                <c:pt idx="43">
                  <c:v>0.75</c:v>
                </c:pt>
                <c:pt idx="44">
                  <c:v>1</c:v>
                </c:pt>
                <c:pt idx="45">
                  <c:v>1.25</c:v>
                </c:pt>
                <c:pt idx="46">
                  <c:v>1.5</c:v>
                </c:pt>
                <c:pt idx="47">
                  <c:v>1.75</c:v>
                </c:pt>
                <c:pt idx="48">
                  <c:v>2</c:v>
                </c:pt>
                <c:pt idx="49">
                  <c:v>2.25</c:v>
                </c:pt>
                <c:pt idx="50">
                  <c:v>2.5</c:v>
                </c:pt>
                <c:pt idx="51">
                  <c:v>2.75</c:v>
                </c:pt>
                <c:pt idx="52">
                  <c:v>3</c:v>
                </c:pt>
                <c:pt idx="53">
                  <c:v>3.25</c:v>
                </c:pt>
                <c:pt idx="54">
                  <c:v>3.5</c:v>
                </c:pt>
                <c:pt idx="55">
                  <c:v>3.75</c:v>
                </c:pt>
                <c:pt idx="56">
                  <c:v>4</c:v>
                </c:pt>
                <c:pt idx="57">
                  <c:v>4.25</c:v>
                </c:pt>
                <c:pt idx="58">
                  <c:v>4.5</c:v>
                </c:pt>
                <c:pt idx="59">
                  <c:v>4.75</c:v>
                </c:pt>
                <c:pt idx="60">
                  <c:v>5</c:v>
                </c:pt>
                <c:pt idx="61">
                  <c:v>5.25</c:v>
                </c:pt>
                <c:pt idx="62">
                  <c:v>5.5</c:v>
                </c:pt>
                <c:pt idx="63">
                  <c:v>5.75</c:v>
                </c:pt>
                <c:pt idx="64">
                  <c:v>6</c:v>
                </c:pt>
                <c:pt idx="65">
                  <c:v>6.25</c:v>
                </c:pt>
                <c:pt idx="66">
                  <c:v>6.5</c:v>
                </c:pt>
                <c:pt idx="67">
                  <c:v>6.75</c:v>
                </c:pt>
                <c:pt idx="68">
                  <c:v>7</c:v>
                </c:pt>
                <c:pt idx="69">
                  <c:v>7.25</c:v>
                </c:pt>
                <c:pt idx="70">
                  <c:v>7.5</c:v>
                </c:pt>
                <c:pt idx="71">
                  <c:v>7.75</c:v>
                </c:pt>
                <c:pt idx="72">
                  <c:v>8</c:v>
                </c:pt>
                <c:pt idx="73">
                  <c:v>8.25</c:v>
                </c:pt>
                <c:pt idx="74">
                  <c:v>8.5</c:v>
                </c:pt>
                <c:pt idx="75">
                  <c:v>8.75</c:v>
                </c:pt>
                <c:pt idx="76">
                  <c:v>9</c:v>
                </c:pt>
                <c:pt idx="77">
                  <c:v>9.25</c:v>
                </c:pt>
                <c:pt idx="78">
                  <c:v>9.5</c:v>
                </c:pt>
                <c:pt idx="79">
                  <c:v>9.75</c:v>
                </c:pt>
                <c:pt idx="80">
                  <c:v>10</c:v>
                </c:pt>
              </c:numCache>
            </c:numRef>
          </c:xVal>
          <c:yVal>
            <c:numRef>
              <c:f>Sheet1!$E$6:$E$86</c:f>
              <c:numCache>
                <c:formatCode>General</c:formatCode>
                <c:ptCount val="81"/>
                <c:pt idx="0">
                  <c:v>4.5397868702434395E-5</c:v>
                </c:pt>
                <c:pt idx="1">
                  <c:v>5.8291265661138651E-5</c:v>
                </c:pt>
                <c:pt idx="2">
                  <c:v>7.4846227510611229E-5</c:v>
                </c:pt>
                <c:pt idx="3">
                  <c:v>9.6102415499473961E-5</c:v>
                </c:pt>
                <c:pt idx="4">
                  <c:v>1.2339457598623172E-4</c:v>
                </c:pt>
                <c:pt idx="5">
                  <c:v>1.5843621910252592E-4</c:v>
                </c:pt>
                <c:pt idx="6">
                  <c:v>2.0342697805520653E-4</c:v>
                </c:pt>
                <c:pt idx="7">
                  <c:v>2.6119031909571942E-4</c:v>
                </c:pt>
                <c:pt idx="8">
                  <c:v>3.3535013046647811E-4</c:v>
                </c:pt>
                <c:pt idx="9">
                  <c:v>4.3055708132461488E-4</c:v>
                </c:pt>
                <c:pt idx="10">
                  <c:v>5.5277863692359955E-4</c:v>
                </c:pt>
                <c:pt idx="11">
                  <c:v>7.0967039910058811E-4</c:v>
                </c:pt>
                <c:pt idx="12">
                  <c:v>9.1105119440064539E-4</c:v>
                </c:pt>
                <c:pt idx="13">
                  <c:v>1.1695102650555148E-3</c:v>
                </c:pt>
                <c:pt idx="14">
                  <c:v>1.5011822567369917E-3</c:v>
                </c:pt>
                <c:pt idx="15">
                  <c:v>1.9267346633274757E-3</c:v>
                </c:pt>
                <c:pt idx="16">
                  <c:v>2.4726231566347743E-3</c:v>
                </c:pt>
                <c:pt idx="17">
                  <c:v>3.1726828424851893E-3</c:v>
                </c:pt>
                <c:pt idx="18">
                  <c:v>4.0701377158961277E-3</c:v>
                </c:pt>
                <c:pt idx="19">
                  <c:v>5.2201256935583973E-3</c:v>
                </c:pt>
                <c:pt idx="20">
                  <c:v>6.6928509242848554E-3</c:v>
                </c:pt>
                <c:pt idx="21">
                  <c:v>8.5774854137119841E-3</c:v>
                </c:pt>
                <c:pt idx="22">
                  <c:v>1.098694263059318E-2</c:v>
                </c:pt>
                <c:pt idx="23">
                  <c:v>1.4063627043245475E-2</c:v>
                </c:pt>
                <c:pt idx="24">
                  <c:v>1.7986209962091559E-2</c:v>
                </c:pt>
                <c:pt idx="25">
                  <c:v>2.2977369910025615E-2</c:v>
                </c:pt>
                <c:pt idx="26">
                  <c:v>2.9312230751356319E-2</c:v>
                </c:pt>
                <c:pt idx="27">
                  <c:v>3.7326887344129457E-2</c:v>
                </c:pt>
                <c:pt idx="28">
                  <c:v>4.7425873177566781E-2</c:v>
                </c:pt>
                <c:pt idx="29">
                  <c:v>6.0086650174007626E-2</c:v>
                </c:pt>
                <c:pt idx="30">
                  <c:v>7.5858180021243546E-2</c:v>
                </c:pt>
                <c:pt idx="31">
                  <c:v>9.534946489910949E-2</c:v>
                </c:pt>
                <c:pt idx="32">
                  <c:v>0.11920292202211755</c:v>
                </c:pt>
                <c:pt idx="33">
                  <c:v>0.14804719803168948</c:v>
                </c:pt>
                <c:pt idx="34">
                  <c:v>0.18242552380635635</c:v>
                </c:pt>
                <c:pt idx="35">
                  <c:v>0.22270013882530884</c:v>
                </c:pt>
                <c:pt idx="36">
                  <c:v>0.2689414213699951</c:v>
                </c:pt>
                <c:pt idx="37">
                  <c:v>0.32082130082460703</c:v>
                </c:pt>
                <c:pt idx="38">
                  <c:v>0.37754066879814541</c:v>
                </c:pt>
                <c:pt idx="39">
                  <c:v>0.43782349911420193</c:v>
                </c:pt>
                <c:pt idx="40">
                  <c:v>0.5</c:v>
                </c:pt>
                <c:pt idx="41">
                  <c:v>0.56217650088579807</c:v>
                </c:pt>
                <c:pt idx="42">
                  <c:v>0.62245933120185459</c:v>
                </c:pt>
                <c:pt idx="43">
                  <c:v>0.67917869917539297</c:v>
                </c:pt>
                <c:pt idx="44">
                  <c:v>0.7310585786300049</c:v>
                </c:pt>
                <c:pt idx="45">
                  <c:v>0.77729986117469108</c:v>
                </c:pt>
                <c:pt idx="46">
                  <c:v>0.81757447619364365</c:v>
                </c:pt>
                <c:pt idx="47">
                  <c:v>0.85195280196831058</c:v>
                </c:pt>
                <c:pt idx="48">
                  <c:v>0.88079707797788231</c:v>
                </c:pt>
                <c:pt idx="49">
                  <c:v>0.90465053510089055</c:v>
                </c:pt>
                <c:pt idx="50">
                  <c:v>0.92414181997875655</c:v>
                </c:pt>
                <c:pt idx="51">
                  <c:v>0.93991334982599239</c:v>
                </c:pt>
                <c:pt idx="52">
                  <c:v>0.95257412682243336</c:v>
                </c:pt>
                <c:pt idx="53">
                  <c:v>0.96267311265587063</c:v>
                </c:pt>
                <c:pt idx="54">
                  <c:v>0.97068776924864364</c:v>
                </c:pt>
                <c:pt idx="55">
                  <c:v>0.97702263008997436</c:v>
                </c:pt>
                <c:pt idx="56">
                  <c:v>0.98201379003790845</c:v>
                </c:pt>
                <c:pt idx="57">
                  <c:v>0.9859363729567544</c:v>
                </c:pt>
                <c:pt idx="58">
                  <c:v>0.98901305736940681</c:v>
                </c:pt>
                <c:pt idx="59">
                  <c:v>0.99142251458628805</c:v>
                </c:pt>
                <c:pt idx="60">
                  <c:v>0.99330714907571527</c:v>
                </c:pt>
                <c:pt idx="61">
                  <c:v>0.99477987430644166</c:v>
                </c:pt>
                <c:pt idx="62">
                  <c:v>0.99592986228410396</c:v>
                </c:pt>
                <c:pt idx="63">
                  <c:v>0.99682731715751483</c:v>
                </c:pt>
                <c:pt idx="64">
                  <c:v>0.99752737684336534</c:v>
                </c:pt>
                <c:pt idx="65">
                  <c:v>0.99807326533667251</c:v>
                </c:pt>
                <c:pt idx="66">
                  <c:v>0.99849881774326299</c:v>
                </c:pt>
                <c:pt idx="67">
                  <c:v>0.99883048973494448</c:v>
                </c:pt>
                <c:pt idx="68">
                  <c:v>0.9990889488055994</c:v>
                </c:pt>
                <c:pt idx="69">
                  <c:v>0.99929032960089947</c:v>
                </c:pt>
                <c:pt idx="70">
                  <c:v>0.9994472213630764</c:v>
                </c:pt>
                <c:pt idx="71">
                  <c:v>0.99956944291867544</c:v>
                </c:pt>
                <c:pt idx="72">
                  <c:v>0.99966464986953363</c:v>
                </c:pt>
                <c:pt idx="73">
                  <c:v>0.99973880968090434</c:v>
                </c:pt>
                <c:pt idx="74">
                  <c:v>0.9997965730219448</c:v>
                </c:pt>
                <c:pt idx="75">
                  <c:v>0.9998415637808975</c:v>
                </c:pt>
                <c:pt idx="76">
                  <c:v>0.99987660542401369</c:v>
                </c:pt>
                <c:pt idx="77">
                  <c:v>0.99990389758450049</c:v>
                </c:pt>
                <c:pt idx="78">
                  <c:v>0.99992515377248947</c:v>
                </c:pt>
                <c:pt idx="79">
                  <c:v>0.99994170873433885</c:v>
                </c:pt>
                <c:pt idx="80">
                  <c:v>0.99995460213129761</c:v>
                </c:pt>
              </c:numCache>
            </c:numRef>
          </c:yVal>
          <c:smooth val="1"/>
          <c:extLst>
            <c:ext xmlns:c16="http://schemas.microsoft.com/office/drawing/2014/chart" uri="{C3380CC4-5D6E-409C-BE32-E72D297353CC}">
              <c16:uniqueId val="{00000000-2ABC-4507-A5BF-DBE60030DA71}"/>
            </c:ext>
          </c:extLst>
        </c:ser>
        <c:dLbls>
          <c:showLegendKey val="0"/>
          <c:showVal val="0"/>
          <c:showCatName val="0"/>
          <c:showSerName val="0"/>
          <c:showPercent val="0"/>
          <c:showBubbleSize val="0"/>
        </c:dLbls>
        <c:axId val="-325332816"/>
        <c:axId val="-325337168"/>
      </c:scatterChart>
      <c:valAx>
        <c:axId val="-325332816"/>
        <c:scaling>
          <c:orientation val="minMax"/>
          <c:max val="6"/>
          <c:min val="-6"/>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5337168"/>
        <c:crosses val="autoZero"/>
        <c:crossBetween val="midCat"/>
        <c:majorUnit val="1"/>
      </c:valAx>
      <c:valAx>
        <c:axId val="-325337168"/>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5332816"/>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v>Model 1</c:v>
          </c:tx>
          <c:spPr>
            <a:ln w="19050" cap="rnd">
              <a:solidFill>
                <a:schemeClr val="bg1">
                  <a:lumMod val="50000"/>
                </a:schemeClr>
              </a:solidFill>
              <a:round/>
            </a:ln>
            <a:effectLst/>
          </c:spPr>
          <c:marker>
            <c:symbol val="circle"/>
            <c:size val="5"/>
            <c:spPr>
              <a:noFill/>
              <a:ln w="9525">
                <a:solidFill>
                  <a:schemeClr val="bg1">
                    <a:lumMod val="50000"/>
                  </a:schemeClr>
                </a:solidFill>
              </a:ln>
              <a:effectLst/>
            </c:spPr>
          </c:marker>
          <c:xVal>
            <c:numRef>
              <c:f>'no heuristics FN-FP'!$B$2:$B$101</c:f>
              <c:numCache>
                <c:formatCode>General</c:formatCode>
                <c:ptCount val="100"/>
                <c:pt idx="0">
                  <c:v>1</c:v>
                </c:pt>
                <c:pt idx="1">
                  <c:v>1</c:v>
                </c:pt>
                <c:pt idx="2">
                  <c:v>1</c:v>
                </c:pt>
                <c:pt idx="3">
                  <c:v>0.59479899999999997</c:v>
                </c:pt>
                <c:pt idx="4">
                  <c:v>0.59479899999999997</c:v>
                </c:pt>
                <c:pt idx="5">
                  <c:v>0.41107399999999999</c:v>
                </c:pt>
                <c:pt idx="6">
                  <c:v>0.41107399999999999</c:v>
                </c:pt>
                <c:pt idx="7">
                  <c:v>0.41107399999999999</c:v>
                </c:pt>
                <c:pt idx="8">
                  <c:v>0.223993</c:v>
                </c:pt>
                <c:pt idx="9">
                  <c:v>0.21224799999999999</c:v>
                </c:pt>
                <c:pt idx="10">
                  <c:v>0.21224799999999999</c:v>
                </c:pt>
                <c:pt idx="11">
                  <c:v>0.21224799999999999</c:v>
                </c:pt>
                <c:pt idx="12">
                  <c:v>0.21224799999999999</c:v>
                </c:pt>
                <c:pt idx="13">
                  <c:v>8.3892999999999995E-2</c:v>
                </c:pt>
                <c:pt idx="14">
                  <c:v>6.7953E-2</c:v>
                </c:pt>
                <c:pt idx="15">
                  <c:v>6.7953E-2</c:v>
                </c:pt>
                <c:pt idx="16">
                  <c:v>6.7953E-2</c:v>
                </c:pt>
                <c:pt idx="17">
                  <c:v>6.6275000000000001E-2</c:v>
                </c:pt>
                <c:pt idx="18">
                  <c:v>6.6275000000000001E-2</c:v>
                </c:pt>
                <c:pt idx="19">
                  <c:v>6.6275000000000001E-2</c:v>
                </c:pt>
                <c:pt idx="20">
                  <c:v>5.4530000000000002E-2</c:v>
                </c:pt>
                <c:pt idx="21">
                  <c:v>5.4530000000000002E-2</c:v>
                </c:pt>
                <c:pt idx="22">
                  <c:v>5.4530000000000002E-2</c:v>
                </c:pt>
                <c:pt idx="23">
                  <c:v>3.3556999999999997E-2</c:v>
                </c:pt>
                <c:pt idx="24">
                  <c:v>3.3556999999999997E-2</c:v>
                </c:pt>
                <c:pt idx="25">
                  <c:v>3.3556999999999997E-2</c:v>
                </c:pt>
                <c:pt idx="26">
                  <c:v>3.3556999999999997E-2</c:v>
                </c:pt>
                <c:pt idx="27">
                  <c:v>3.1878999999999998E-2</c:v>
                </c:pt>
                <c:pt idx="28">
                  <c:v>3.1878999999999998E-2</c:v>
                </c:pt>
                <c:pt idx="29">
                  <c:v>3.1878999999999998E-2</c:v>
                </c:pt>
                <c:pt idx="30">
                  <c:v>3.1878999999999998E-2</c:v>
                </c:pt>
                <c:pt idx="31">
                  <c:v>2.4329E-2</c:v>
                </c:pt>
                <c:pt idx="32">
                  <c:v>2.4329E-2</c:v>
                </c:pt>
                <c:pt idx="33">
                  <c:v>2.4329E-2</c:v>
                </c:pt>
                <c:pt idx="34">
                  <c:v>2.349E-2</c:v>
                </c:pt>
                <c:pt idx="35">
                  <c:v>2.349E-2</c:v>
                </c:pt>
                <c:pt idx="36">
                  <c:v>2.1812000000000002E-2</c:v>
                </c:pt>
                <c:pt idx="37">
                  <c:v>2.1812000000000002E-2</c:v>
                </c:pt>
                <c:pt idx="38">
                  <c:v>2.1812000000000002E-2</c:v>
                </c:pt>
                <c:pt idx="39">
                  <c:v>2.1812000000000002E-2</c:v>
                </c:pt>
                <c:pt idx="40">
                  <c:v>2.0972999999999999E-2</c:v>
                </c:pt>
                <c:pt idx="41">
                  <c:v>2.0972999999999999E-2</c:v>
                </c:pt>
                <c:pt idx="42">
                  <c:v>1.9295E-2</c:v>
                </c:pt>
                <c:pt idx="43">
                  <c:v>1.9295E-2</c:v>
                </c:pt>
                <c:pt idx="44">
                  <c:v>1.0067E-2</c:v>
                </c:pt>
                <c:pt idx="45">
                  <c:v>1.0067E-2</c:v>
                </c:pt>
                <c:pt idx="46">
                  <c:v>1.0067E-2</c:v>
                </c:pt>
                <c:pt idx="47">
                  <c:v>1.0067E-2</c:v>
                </c:pt>
                <c:pt idx="48">
                  <c:v>1.0067E-2</c:v>
                </c:pt>
                <c:pt idx="49">
                  <c:v>1.0067E-2</c:v>
                </c:pt>
                <c:pt idx="50">
                  <c:v>1.0067E-2</c:v>
                </c:pt>
                <c:pt idx="51">
                  <c:v>7.5500000000000003E-3</c:v>
                </c:pt>
                <c:pt idx="52">
                  <c:v>7.5500000000000003E-3</c:v>
                </c:pt>
                <c:pt idx="53">
                  <c:v>7.5500000000000003E-3</c:v>
                </c:pt>
                <c:pt idx="54">
                  <c:v>7.5500000000000003E-3</c:v>
                </c:pt>
                <c:pt idx="55">
                  <c:v>7.5500000000000003E-3</c:v>
                </c:pt>
                <c:pt idx="56">
                  <c:v>7.5500000000000003E-3</c:v>
                </c:pt>
                <c:pt idx="57">
                  <c:v>7.5500000000000003E-3</c:v>
                </c:pt>
                <c:pt idx="58">
                  <c:v>7.5500000000000003E-3</c:v>
                </c:pt>
                <c:pt idx="59">
                  <c:v>5.8719999999999996E-3</c:v>
                </c:pt>
                <c:pt idx="60">
                  <c:v>5.8719999999999996E-3</c:v>
                </c:pt>
                <c:pt idx="61">
                  <c:v>5.0340000000000003E-3</c:v>
                </c:pt>
                <c:pt idx="62">
                  <c:v>5.0340000000000003E-3</c:v>
                </c:pt>
                <c:pt idx="63">
                  <c:v>5.0340000000000003E-3</c:v>
                </c:pt>
                <c:pt idx="64">
                  <c:v>5.0340000000000003E-3</c:v>
                </c:pt>
                <c:pt idx="65">
                  <c:v>5.0340000000000003E-3</c:v>
                </c:pt>
                <c:pt idx="66">
                  <c:v>5.0340000000000003E-3</c:v>
                </c:pt>
                <c:pt idx="67">
                  <c:v>5.0340000000000003E-3</c:v>
                </c:pt>
                <c:pt idx="68">
                  <c:v>5.0340000000000003E-3</c:v>
                </c:pt>
                <c:pt idx="69">
                  <c:v>5.0340000000000003E-3</c:v>
                </c:pt>
                <c:pt idx="70">
                  <c:v>5.0340000000000003E-3</c:v>
                </c:pt>
                <c:pt idx="71">
                  <c:v>5.0340000000000003E-3</c:v>
                </c:pt>
                <c:pt idx="72">
                  <c:v>4.1949999999999999E-3</c:v>
                </c:pt>
                <c:pt idx="73">
                  <c:v>4.1949999999999999E-3</c:v>
                </c:pt>
                <c:pt idx="74">
                  <c:v>4.1949999999999999E-3</c:v>
                </c:pt>
                <c:pt idx="75">
                  <c:v>4.1949999999999999E-3</c:v>
                </c:pt>
                <c:pt idx="76">
                  <c:v>4.1949999999999999E-3</c:v>
                </c:pt>
                <c:pt idx="77">
                  <c:v>4.1949999999999999E-3</c:v>
                </c:pt>
                <c:pt idx="78">
                  <c:v>4.1949999999999999E-3</c:v>
                </c:pt>
                <c:pt idx="79">
                  <c:v>4.1949999999999999E-3</c:v>
                </c:pt>
                <c:pt idx="80">
                  <c:v>4.1949999999999999E-3</c:v>
                </c:pt>
                <c:pt idx="81">
                  <c:v>3.356E-3</c:v>
                </c:pt>
                <c:pt idx="82">
                  <c:v>3.356E-3</c:v>
                </c:pt>
                <c:pt idx="83">
                  <c:v>3.356E-3</c:v>
                </c:pt>
                <c:pt idx="84">
                  <c:v>3.356E-3</c:v>
                </c:pt>
                <c:pt idx="85">
                  <c:v>3.356E-3</c:v>
                </c:pt>
                <c:pt idx="86">
                  <c:v>3.356E-3</c:v>
                </c:pt>
                <c:pt idx="87">
                  <c:v>3.356E-3</c:v>
                </c:pt>
                <c:pt idx="88">
                  <c:v>3.356E-3</c:v>
                </c:pt>
                <c:pt idx="89">
                  <c:v>2.5170000000000001E-3</c:v>
                </c:pt>
                <c:pt idx="90">
                  <c:v>2.5170000000000001E-3</c:v>
                </c:pt>
                <c:pt idx="91">
                  <c:v>2.5170000000000001E-3</c:v>
                </c:pt>
                <c:pt idx="92">
                  <c:v>2.5170000000000001E-3</c:v>
                </c:pt>
                <c:pt idx="93">
                  <c:v>2.5170000000000001E-3</c:v>
                </c:pt>
                <c:pt idx="94">
                  <c:v>2.5170000000000001E-3</c:v>
                </c:pt>
                <c:pt idx="95">
                  <c:v>2.5170000000000001E-3</c:v>
                </c:pt>
                <c:pt idx="96">
                  <c:v>0</c:v>
                </c:pt>
                <c:pt idx="97">
                  <c:v>0</c:v>
                </c:pt>
                <c:pt idx="98">
                  <c:v>0</c:v>
                </c:pt>
                <c:pt idx="99">
                  <c:v>0</c:v>
                </c:pt>
              </c:numCache>
            </c:numRef>
          </c:xVal>
          <c:yVal>
            <c:numRef>
              <c:f>'no heuristics FN-FP'!$C$2:$C$101</c:f>
              <c:numCache>
                <c:formatCode>General</c:formatCode>
                <c:ptCount val="100"/>
                <c:pt idx="0">
                  <c:v>0</c:v>
                </c:pt>
                <c:pt idx="1">
                  <c:v>0</c:v>
                </c:pt>
                <c:pt idx="2">
                  <c:v>0</c:v>
                </c:pt>
                <c:pt idx="3">
                  <c:v>0.02</c:v>
                </c:pt>
                <c:pt idx="4">
                  <c:v>0.02</c:v>
                </c:pt>
                <c:pt idx="5">
                  <c:v>0.03</c:v>
                </c:pt>
                <c:pt idx="6">
                  <c:v>0.03</c:v>
                </c:pt>
                <c:pt idx="7">
                  <c:v>0.03</c:v>
                </c:pt>
                <c:pt idx="8">
                  <c:v>4.4999999999999998E-2</c:v>
                </c:pt>
                <c:pt idx="9">
                  <c:v>0.05</c:v>
                </c:pt>
                <c:pt idx="10">
                  <c:v>0.05</c:v>
                </c:pt>
                <c:pt idx="11">
                  <c:v>0.05</c:v>
                </c:pt>
                <c:pt idx="12">
                  <c:v>0.05</c:v>
                </c:pt>
                <c:pt idx="13">
                  <c:v>0.1</c:v>
                </c:pt>
                <c:pt idx="14">
                  <c:v>0.15</c:v>
                </c:pt>
                <c:pt idx="15">
                  <c:v>0.15</c:v>
                </c:pt>
                <c:pt idx="16">
                  <c:v>0.15</c:v>
                </c:pt>
                <c:pt idx="17">
                  <c:v>0.15</c:v>
                </c:pt>
                <c:pt idx="18">
                  <c:v>0.15</c:v>
                </c:pt>
                <c:pt idx="19">
                  <c:v>0.15</c:v>
                </c:pt>
                <c:pt idx="20">
                  <c:v>0.25</c:v>
                </c:pt>
                <c:pt idx="21">
                  <c:v>0.25</c:v>
                </c:pt>
                <c:pt idx="22">
                  <c:v>0.25</c:v>
                </c:pt>
                <c:pt idx="23">
                  <c:v>0.35148499999999999</c:v>
                </c:pt>
                <c:pt idx="24">
                  <c:v>0.35148499999999999</c:v>
                </c:pt>
                <c:pt idx="25">
                  <c:v>0.35148499999999999</c:v>
                </c:pt>
                <c:pt idx="26">
                  <c:v>0.35148499999999999</c:v>
                </c:pt>
                <c:pt idx="27">
                  <c:v>0.36138599999999999</c:v>
                </c:pt>
                <c:pt idx="28">
                  <c:v>0.36138599999999999</c:v>
                </c:pt>
                <c:pt idx="29">
                  <c:v>0.36138599999999999</c:v>
                </c:pt>
                <c:pt idx="30">
                  <c:v>0.36138599999999999</c:v>
                </c:pt>
                <c:pt idx="31">
                  <c:v>0.37128699999999998</c:v>
                </c:pt>
                <c:pt idx="32">
                  <c:v>0.37128699999999998</c:v>
                </c:pt>
                <c:pt idx="33">
                  <c:v>0.37128699999999998</c:v>
                </c:pt>
                <c:pt idx="34">
                  <c:v>0.38613900000000001</c:v>
                </c:pt>
                <c:pt idx="35">
                  <c:v>0.38613900000000001</c:v>
                </c:pt>
                <c:pt idx="36">
                  <c:v>0.38613900000000001</c:v>
                </c:pt>
                <c:pt idx="37">
                  <c:v>0.38613900000000001</c:v>
                </c:pt>
                <c:pt idx="38">
                  <c:v>0.38613900000000001</c:v>
                </c:pt>
                <c:pt idx="39">
                  <c:v>0.38613900000000001</c:v>
                </c:pt>
                <c:pt idx="40">
                  <c:v>0.38613900000000001</c:v>
                </c:pt>
                <c:pt idx="41">
                  <c:v>0.38613900000000001</c:v>
                </c:pt>
                <c:pt idx="42">
                  <c:v>0.39108900000000002</c:v>
                </c:pt>
                <c:pt idx="43">
                  <c:v>0.405941</c:v>
                </c:pt>
                <c:pt idx="44">
                  <c:v>0.44059399999999999</c:v>
                </c:pt>
                <c:pt idx="45">
                  <c:v>0.44059399999999999</c:v>
                </c:pt>
                <c:pt idx="46">
                  <c:v>0.44059399999999999</c:v>
                </c:pt>
                <c:pt idx="47">
                  <c:v>0.44059399999999999</c:v>
                </c:pt>
                <c:pt idx="48">
                  <c:v>0.44059399999999999</c:v>
                </c:pt>
                <c:pt idx="49">
                  <c:v>0.46534700000000001</c:v>
                </c:pt>
                <c:pt idx="50">
                  <c:v>0.46534700000000001</c:v>
                </c:pt>
                <c:pt idx="51">
                  <c:v>0.49504999999999999</c:v>
                </c:pt>
                <c:pt idx="52">
                  <c:v>0.49504999999999999</c:v>
                </c:pt>
                <c:pt idx="53">
                  <c:v>0.49504999999999999</c:v>
                </c:pt>
                <c:pt idx="54">
                  <c:v>0.5</c:v>
                </c:pt>
                <c:pt idx="55">
                  <c:v>0.5</c:v>
                </c:pt>
                <c:pt idx="56">
                  <c:v>0.5</c:v>
                </c:pt>
                <c:pt idx="57">
                  <c:v>0.53960399999999997</c:v>
                </c:pt>
                <c:pt idx="58">
                  <c:v>0.54950500000000002</c:v>
                </c:pt>
                <c:pt idx="59">
                  <c:v>0.58415799999999996</c:v>
                </c:pt>
                <c:pt idx="60">
                  <c:v>0.58415799999999996</c:v>
                </c:pt>
                <c:pt idx="61">
                  <c:v>0.58910899999999999</c:v>
                </c:pt>
                <c:pt idx="62">
                  <c:v>0.58910899999999999</c:v>
                </c:pt>
                <c:pt idx="63">
                  <c:v>0.58910899999999999</c:v>
                </c:pt>
                <c:pt idx="64">
                  <c:v>0.58910899999999999</c:v>
                </c:pt>
                <c:pt idx="65">
                  <c:v>0.59901000000000004</c:v>
                </c:pt>
                <c:pt idx="66">
                  <c:v>0.59901000000000004</c:v>
                </c:pt>
                <c:pt idx="67">
                  <c:v>0.62871299999999997</c:v>
                </c:pt>
                <c:pt idx="68">
                  <c:v>0.63366299999999998</c:v>
                </c:pt>
                <c:pt idx="69">
                  <c:v>0.63366299999999998</c:v>
                </c:pt>
                <c:pt idx="70">
                  <c:v>0.63366299999999998</c:v>
                </c:pt>
                <c:pt idx="71">
                  <c:v>0.63861400000000001</c:v>
                </c:pt>
                <c:pt idx="72">
                  <c:v>0.66336600000000001</c:v>
                </c:pt>
                <c:pt idx="73">
                  <c:v>0.66336600000000001</c:v>
                </c:pt>
                <c:pt idx="74">
                  <c:v>0.66336600000000001</c:v>
                </c:pt>
                <c:pt idx="75">
                  <c:v>0.66336600000000001</c:v>
                </c:pt>
                <c:pt idx="76">
                  <c:v>0.68811900000000004</c:v>
                </c:pt>
                <c:pt idx="77">
                  <c:v>0.70792100000000002</c:v>
                </c:pt>
                <c:pt idx="78">
                  <c:v>0.70792100000000002</c:v>
                </c:pt>
                <c:pt idx="79">
                  <c:v>0.74257399999999996</c:v>
                </c:pt>
                <c:pt idx="80">
                  <c:v>0.74257399999999996</c:v>
                </c:pt>
                <c:pt idx="81">
                  <c:v>0.74257399999999996</c:v>
                </c:pt>
                <c:pt idx="82">
                  <c:v>0.74257399999999996</c:v>
                </c:pt>
                <c:pt idx="83">
                  <c:v>0.752475</c:v>
                </c:pt>
                <c:pt idx="84">
                  <c:v>0.75742600000000004</c:v>
                </c:pt>
                <c:pt idx="85">
                  <c:v>0.76732699999999998</c:v>
                </c:pt>
                <c:pt idx="86">
                  <c:v>0.76732699999999998</c:v>
                </c:pt>
                <c:pt idx="87">
                  <c:v>0.77227699999999999</c:v>
                </c:pt>
                <c:pt idx="88">
                  <c:v>0.78712899999999997</c:v>
                </c:pt>
                <c:pt idx="89">
                  <c:v>0.80198000000000003</c:v>
                </c:pt>
                <c:pt idx="90">
                  <c:v>0.80198000000000003</c:v>
                </c:pt>
                <c:pt idx="91">
                  <c:v>0.82178200000000001</c:v>
                </c:pt>
                <c:pt idx="92">
                  <c:v>0.83663399999999999</c:v>
                </c:pt>
                <c:pt idx="93">
                  <c:v>0.84653500000000004</c:v>
                </c:pt>
                <c:pt idx="94">
                  <c:v>0.86633700000000002</c:v>
                </c:pt>
                <c:pt idx="95">
                  <c:v>0.88613900000000001</c:v>
                </c:pt>
                <c:pt idx="96">
                  <c:v>0.89108900000000002</c:v>
                </c:pt>
                <c:pt idx="97">
                  <c:v>0.89603999999999995</c:v>
                </c:pt>
                <c:pt idx="98">
                  <c:v>0.92574299999999998</c:v>
                </c:pt>
                <c:pt idx="99">
                  <c:v>0.95544600000000002</c:v>
                </c:pt>
              </c:numCache>
            </c:numRef>
          </c:yVal>
          <c:smooth val="0"/>
          <c:extLst>
            <c:ext xmlns:c16="http://schemas.microsoft.com/office/drawing/2014/chart" uri="{C3380CC4-5D6E-409C-BE32-E72D297353CC}">
              <c16:uniqueId val="{00000000-F330-4977-B1FD-53AE857634FD}"/>
            </c:ext>
          </c:extLst>
        </c:ser>
        <c:dLbls>
          <c:showLegendKey val="0"/>
          <c:showVal val="0"/>
          <c:showCatName val="0"/>
          <c:showSerName val="0"/>
          <c:showPercent val="0"/>
          <c:showBubbleSize val="0"/>
        </c:dLbls>
        <c:axId val="-325335536"/>
        <c:axId val="-325332272"/>
      </c:scatterChart>
      <c:valAx>
        <c:axId val="-325335536"/>
        <c:scaling>
          <c:orientation val="minMax"/>
          <c:max val="1"/>
        </c:scaling>
        <c:delete val="0"/>
        <c:axPos val="t"/>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False Positive Rate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5332272"/>
        <c:crosses val="autoZero"/>
        <c:crossBetween val="midCat"/>
        <c:majorUnit val="0.1"/>
      </c:valAx>
      <c:valAx>
        <c:axId val="-325332272"/>
        <c:scaling>
          <c:orientation val="maxMin"/>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False Negative Rate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5335536"/>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v>Model 1</c:v>
          </c:tx>
          <c:spPr>
            <a:ln w="19050" cap="rnd">
              <a:solidFill>
                <a:schemeClr val="bg1">
                  <a:lumMod val="50000"/>
                </a:schemeClr>
              </a:solidFill>
              <a:round/>
            </a:ln>
            <a:effectLst/>
          </c:spPr>
          <c:marker>
            <c:symbol val="circle"/>
            <c:size val="5"/>
            <c:spPr>
              <a:noFill/>
              <a:ln w="9525">
                <a:solidFill>
                  <a:schemeClr val="bg1">
                    <a:lumMod val="50000"/>
                  </a:schemeClr>
                </a:solidFill>
              </a:ln>
              <a:effectLst/>
            </c:spPr>
          </c:marker>
          <c:xVal>
            <c:numRef>
              <c:f>'no heuristics FN-FP'!$B$2:$B$101</c:f>
              <c:numCache>
                <c:formatCode>General</c:formatCode>
                <c:ptCount val="100"/>
                <c:pt idx="0">
                  <c:v>1</c:v>
                </c:pt>
                <c:pt idx="1">
                  <c:v>1</c:v>
                </c:pt>
                <c:pt idx="2">
                  <c:v>1</c:v>
                </c:pt>
                <c:pt idx="3">
                  <c:v>0.59479899999999997</c:v>
                </c:pt>
                <c:pt idx="4">
                  <c:v>0.59479899999999997</c:v>
                </c:pt>
                <c:pt idx="5">
                  <c:v>0.41107399999999999</c:v>
                </c:pt>
                <c:pt idx="6">
                  <c:v>0.41107399999999999</c:v>
                </c:pt>
                <c:pt idx="7">
                  <c:v>0.41107399999999999</c:v>
                </c:pt>
                <c:pt idx="8">
                  <c:v>0.223993</c:v>
                </c:pt>
                <c:pt idx="9">
                  <c:v>0.21224799999999999</c:v>
                </c:pt>
                <c:pt idx="10">
                  <c:v>0.21224799999999999</c:v>
                </c:pt>
                <c:pt idx="11">
                  <c:v>0.21224799999999999</c:v>
                </c:pt>
                <c:pt idx="12">
                  <c:v>0.21224799999999999</c:v>
                </c:pt>
                <c:pt idx="13">
                  <c:v>8.3892999999999995E-2</c:v>
                </c:pt>
                <c:pt idx="14">
                  <c:v>6.7953E-2</c:v>
                </c:pt>
                <c:pt idx="15">
                  <c:v>6.7953E-2</c:v>
                </c:pt>
                <c:pt idx="16">
                  <c:v>6.7953E-2</c:v>
                </c:pt>
                <c:pt idx="17">
                  <c:v>6.6275000000000001E-2</c:v>
                </c:pt>
                <c:pt idx="18">
                  <c:v>6.6275000000000001E-2</c:v>
                </c:pt>
                <c:pt idx="19">
                  <c:v>6.6275000000000001E-2</c:v>
                </c:pt>
                <c:pt idx="20">
                  <c:v>5.4530000000000002E-2</c:v>
                </c:pt>
                <c:pt idx="21">
                  <c:v>5.4530000000000002E-2</c:v>
                </c:pt>
                <c:pt idx="22">
                  <c:v>5.4530000000000002E-2</c:v>
                </c:pt>
                <c:pt idx="23">
                  <c:v>3.3556999999999997E-2</c:v>
                </c:pt>
                <c:pt idx="24">
                  <c:v>3.3556999999999997E-2</c:v>
                </c:pt>
                <c:pt idx="25">
                  <c:v>3.3556999999999997E-2</c:v>
                </c:pt>
                <c:pt idx="26">
                  <c:v>3.3556999999999997E-2</c:v>
                </c:pt>
                <c:pt idx="27">
                  <c:v>3.1878999999999998E-2</c:v>
                </c:pt>
                <c:pt idx="28">
                  <c:v>3.1878999999999998E-2</c:v>
                </c:pt>
                <c:pt idx="29">
                  <c:v>3.1878999999999998E-2</c:v>
                </c:pt>
                <c:pt idx="30">
                  <c:v>3.1878999999999998E-2</c:v>
                </c:pt>
                <c:pt idx="31">
                  <c:v>2.4329E-2</c:v>
                </c:pt>
                <c:pt idx="32">
                  <c:v>2.4329E-2</c:v>
                </c:pt>
                <c:pt idx="33">
                  <c:v>2.4329E-2</c:v>
                </c:pt>
                <c:pt idx="34">
                  <c:v>2.349E-2</c:v>
                </c:pt>
                <c:pt idx="35">
                  <c:v>2.349E-2</c:v>
                </c:pt>
                <c:pt idx="36">
                  <c:v>2.1812000000000002E-2</c:v>
                </c:pt>
                <c:pt idx="37">
                  <c:v>2.1812000000000002E-2</c:v>
                </c:pt>
                <c:pt idx="38">
                  <c:v>2.1812000000000002E-2</c:v>
                </c:pt>
                <c:pt idx="39">
                  <c:v>2.1812000000000002E-2</c:v>
                </c:pt>
                <c:pt idx="40">
                  <c:v>2.0972999999999999E-2</c:v>
                </c:pt>
                <c:pt idx="41">
                  <c:v>2.0972999999999999E-2</c:v>
                </c:pt>
                <c:pt idx="42">
                  <c:v>1.9295E-2</c:v>
                </c:pt>
                <c:pt idx="43">
                  <c:v>1.9295E-2</c:v>
                </c:pt>
                <c:pt idx="44">
                  <c:v>1.0067E-2</c:v>
                </c:pt>
                <c:pt idx="45">
                  <c:v>1.0067E-2</c:v>
                </c:pt>
                <c:pt idx="46">
                  <c:v>1.0067E-2</c:v>
                </c:pt>
                <c:pt idx="47">
                  <c:v>1.0067E-2</c:v>
                </c:pt>
                <c:pt idx="48">
                  <c:v>1.0067E-2</c:v>
                </c:pt>
                <c:pt idx="49">
                  <c:v>1.0067E-2</c:v>
                </c:pt>
                <c:pt idx="50">
                  <c:v>1.0067E-2</c:v>
                </c:pt>
                <c:pt idx="51">
                  <c:v>7.5500000000000003E-3</c:v>
                </c:pt>
                <c:pt idx="52">
                  <c:v>7.5500000000000003E-3</c:v>
                </c:pt>
                <c:pt idx="53">
                  <c:v>7.5500000000000003E-3</c:v>
                </c:pt>
                <c:pt idx="54">
                  <c:v>7.5500000000000003E-3</c:v>
                </c:pt>
                <c:pt idx="55">
                  <c:v>7.5500000000000003E-3</c:v>
                </c:pt>
                <c:pt idx="56">
                  <c:v>7.5500000000000003E-3</c:v>
                </c:pt>
                <c:pt idx="57">
                  <c:v>7.5500000000000003E-3</c:v>
                </c:pt>
                <c:pt idx="58">
                  <c:v>7.5500000000000003E-3</c:v>
                </c:pt>
                <c:pt idx="59">
                  <c:v>5.8719999999999996E-3</c:v>
                </c:pt>
                <c:pt idx="60">
                  <c:v>5.8719999999999996E-3</c:v>
                </c:pt>
                <c:pt idx="61">
                  <c:v>5.0340000000000003E-3</c:v>
                </c:pt>
                <c:pt idx="62">
                  <c:v>5.0340000000000003E-3</c:v>
                </c:pt>
                <c:pt idx="63">
                  <c:v>5.0340000000000003E-3</c:v>
                </c:pt>
                <c:pt idx="64">
                  <c:v>5.0340000000000003E-3</c:v>
                </c:pt>
                <c:pt idx="65">
                  <c:v>5.0340000000000003E-3</c:v>
                </c:pt>
                <c:pt idx="66">
                  <c:v>5.0340000000000003E-3</c:v>
                </c:pt>
                <c:pt idx="67">
                  <c:v>5.0340000000000003E-3</c:v>
                </c:pt>
                <c:pt idx="68">
                  <c:v>5.0340000000000003E-3</c:v>
                </c:pt>
                <c:pt idx="69">
                  <c:v>5.0340000000000003E-3</c:v>
                </c:pt>
                <c:pt idx="70">
                  <c:v>5.0340000000000003E-3</c:v>
                </c:pt>
                <c:pt idx="71">
                  <c:v>5.0340000000000003E-3</c:v>
                </c:pt>
                <c:pt idx="72">
                  <c:v>4.1949999999999999E-3</c:v>
                </c:pt>
                <c:pt idx="73">
                  <c:v>4.1949999999999999E-3</c:v>
                </c:pt>
                <c:pt idx="74">
                  <c:v>4.1949999999999999E-3</c:v>
                </c:pt>
                <c:pt idx="75">
                  <c:v>4.1949999999999999E-3</c:v>
                </c:pt>
                <c:pt idx="76">
                  <c:v>4.1949999999999999E-3</c:v>
                </c:pt>
                <c:pt idx="77">
                  <c:v>4.1949999999999999E-3</c:v>
                </c:pt>
                <c:pt idx="78">
                  <c:v>4.1949999999999999E-3</c:v>
                </c:pt>
                <c:pt idx="79">
                  <c:v>4.1949999999999999E-3</c:v>
                </c:pt>
                <c:pt idx="80">
                  <c:v>4.1949999999999999E-3</c:v>
                </c:pt>
                <c:pt idx="81">
                  <c:v>3.356E-3</c:v>
                </c:pt>
                <c:pt idx="82">
                  <c:v>3.356E-3</c:v>
                </c:pt>
                <c:pt idx="83">
                  <c:v>3.356E-3</c:v>
                </c:pt>
                <c:pt idx="84">
                  <c:v>3.356E-3</c:v>
                </c:pt>
                <c:pt idx="85">
                  <c:v>3.356E-3</c:v>
                </c:pt>
                <c:pt idx="86">
                  <c:v>3.356E-3</c:v>
                </c:pt>
                <c:pt idx="87">
                  <c:v>3.356E-3</c:v>
                </c:pt>
                <c:pt idx="88">
                  <c:v>3.356E-3</c:v>
                </c:pt>
                <c:pt idx="89">
                  <c:v>2.5170000000000001E-3</c:v>
                </c:pt>
                <c:pt idx="90">
                  <c:v>2.5170000000000001E-3</c:v>
                </c:pt>
                <c:pt idx="91">
                  <c:v>2.5170000000000001E-3</c:v>
                </c:pt>
                <c:pt idx="92">
                  <c:v>2.5170000000000001E-3</c:v>
                </c:pt>
                <c:pt idx="93">
                  <c:v>2.5170000000000001E-3</c:v>
                </c:pt>
                <c:pt idx="94">
                  <c:v>2.5170000000000001E-3</c:v>
                </c:pt>
                <c:pt idx="95">
                  <c:v>2.5170000000000001E-3</c:v>
                </c:pt>
                <c:pt idx="96">
                  <c:v>0</c:v>
                </c:pt>
                <c:pt idx="97">
                  <c:v>0</c:v>
                </c:pt>
                <c:pt idx="98">
                  <c:v>0</c:v>
                </c:pt>
                <c:pt idx="99">
                  <c:v>0</c:v>
                </c:pt>
              </c:numCache>
            </c:numRef>
          </c:xVal>
          <c:yVal>
            <c:numRef>
              <c:f>'no heuristics FN-FP'!$C$2:$C$101</c:f>
              <c:numCache>
                <c:formatCode>General</c:formatCode>
                <c:ptCount val="100"/>
                <c:pt idx="0">
                  <c:v>0</c:v>
                </c:pt>
                <c:pt idx="1">
                  <c:v>0</c:v>
                </c:pt>
                <c:pt idx="2">
                  <c:v>0</c:v>
                </c:pt>
                <c:pt idx="3">
                  <c:v>0.02</c:v>
                </c:pt>
                <c:pt idx="4">
                  <c:v>0.02</c:v>
                </c:pt>
                <c:pt idx="5">
                  <c:v>0.03</c:v>
                </c:pt>
                <c:pt idx="6">
                  <c:v>0.03</c:v>
                </c:pt>
                <c:pt idx="7">
                  <c:v>0.03</c:v>
                </c:pt>
                <c:pt idx="8">
                  <c:v>4.4999999999999998E-2</c:v>
                </c:pt>
                <c:pt idx="9">
                  <c:v>0.05</c:v>
                </c:pt>
                <c:pt idx="10">
                  <c:v>0.05</c:v>
                </c:pt>
                <c:pt idx="11">
                  <c:v>0.05</c:v>
                </c:pt>
                <c:pt idx="12">
                  <c:v>0.05</c:v>
                </c:pt>
                <c:pt idx="13">
                  <c:v>0.1</c:v>
                </c:pt>
                <c:pt idx="14">
                  <c:v>0.15</c:v>
                </c:pt>
                <c:pt idx="15">
                  <c:v>0.15</c:v>
                </c:pt>
                <c:pt idx="16">
                  <c:v>0.15</c:v>
                </c:pt>
                <c:pt idx="17">
                  <c:v>0.15</c:v>
                </c:pt>
                <c:pt idx="18">
                  <c:v>0.15</c:v>
                </c:pt>
                <c:pt idx="19">
                  <c:v>0.15</c:v>
                </c:pt>
                <c:pt idx="20">
                  <c:v>0.25</c:v>
                </c:pt>
                <c:pt idx="21">
                  <c:v>0.25</c:v>
                </c:pt>
                <c:pt idx="22">
                  <c:v>0.25</c:v>
                </c:pt>
                <c:pt idx="23">
                  <c:v>0.35148499999999999</c:v>
                </c:pt>
                <c:pt idx="24">
                  <c:v>0.35148499999999999</c:v>
                </c:pt>
                <c:pt idx="25">
                  <c:v>0.35148499999999999</c:v>
                </c:pt>
                <c:pt idx="26">
                  <c:v>0.35148499999999999</c:v>
                </c:pt>
                <c:pt idx="27">
                  <c:v>0.36138599999999999</c:v>
                </c:pt>
                <c:pt idx="28">
                  <c:v>0.36138599999999999</c:v>
                </c:pt>
                <c:pt idx="29">
                  <c:v>0.36138599999999999</c:v>
                </c:pt>
                <c:pt idx="30">
                  <c:v>0.36138599999999999</c:v>
                </c:pt>
                <c:pt idx="31">
                  <c:v>0.37128699999999998</c:v>
                </c:pt>
                <c:pt idx="32">
                  <c:v>0.37128699999999998</c:v>
                </c:pt>
                <c:pt idx="33">
                  <c:v>0.37128699999999998</c:v>
                </c:pt>
                <c:pt idx="34">
                  <c:v>0.38613900000000001</c:v>
                </c:pt>
                <c:pt idx="35">
                  <c:v>0.38613900000000001</c:v>
                </c:pt>
                <c:pt idx="36">
                  <c:v>0.38613900000000001</c:v>
                </c:pt>
                <c:pt idx="37">
                  <c:v>0.38613900000000001</c:v>
                </c:pt>
                <c:pt idx="38">
                  <c:v>0.38613900000000001</c:v>
                </c:pt>
                <c:pt idx="39">
                  <c:v>0.38613900000000001</c:v>
                </c:pt>
                <c:pt idx="40">
                  <c:v>0.38613900000000001</c:v>
                </c:pt>
                <c:pt idx="41">
                  <c:v>0.38613900000000001</c:v>
                </c:pt>
                <c:pt idx="42">
                  <c:v>0.39108900000000002</c:v>
                </c:pt>
                <c:pt idx="43">
                  <c:v>0.405941</c:v>
                </c:pt>
                <c:pt idx="44">
                  <c:v>0.44059399999999999</c:v>
                </c:pt>
                <c:pt idx="45">
                  <c:v>0.44059399999999999</c:v>
                </c:pt>
                <c:pt idx="46">
                  <c:v>0.44059399999999999</c:v>
                </c:pt>
                <c:pt idx="47">
                  <c:v>0.44059399999999999</c:v>
                </c:pt>
                <c:pt idx="48">
                  <c:v>0.44059399999999999</c:v>
                </c:pt>
                <c:pt idx="49">
                  <c:v>0.46534700000000001</c:v>
                </c:pt>
                <c:pt idx="50">
                  <c:v>0.46534700000000001</c:v>
                </c:pt>
                <c:pt idx="51">
                  <c:v>0.49504999999999999</c:v>
                </c:pt>
                <c:pt idx="52">
                  <c:v>0.49504999999999999</c:v>
                </c:pt>
                <c:pt idx="53">
                  <c:v>0.49504999999999999</c:v>
                </c:pt>
                <c:pt idx="54">
                  <c:v>0.5</c:v>
                </c:pt>
                <c:pt idx="55">
                  <c:v>0.5</c:v>
                </c:pt>
                <c:pt idx="56">
                  <c:v>0.5</c:v>
                </c:pt>
                <c:pt idx="57">
                  <c:v>0.53960399999999997</c:v>
                </c:pt>
                <c:pt idx="58">
                  <c:v>0.54950500000000002</c:v>
                </c:pt>
                <c:pt idx="59">
                  <c:v>0.58415799999999996</c:v>
                </c:pt>
                <c:pt idx="60">
                  <c:v>0.58415799999999996</c:v>
                </c:pt>
                <c:pt idx="61">
                  <c:v>0.58910899999999999</c:v>
                </c:pt>
                <c:pt idx="62">
                  <c:v>0.58910899999999999</c:v>
                </c:pt>
                <c:pt idx="63">
                  <c:v>0.58910899999999999</c:v>
                </c:pt>
                <c:pt idx="64">
                  <c:v>0.58910899999999999</c:v>
                </c:pt>
                <c:pt idx="65">
                  <c:v>0.59901000000000004</c:v>
                </c:pt>
                <c:pt idx="66">
                  <c:v>0.59901000000000004</c:v>
                </c:pt>
                <c:pt idx="67">
                  <c:v>0.62871299999999997</c:v>
                </c:pt>
                <c:pt idx="68">
                  <c:v>0.63366299999999998</c:v>
                </c:pt>
                <c:pt idx="69">
                  <c:v>0.63366299999999998</c:v>
                </c:pt>
                <c:pt idx="70">
                  <c:v>0.63366299999999998</c:v>
                </c:pt>
                <c:pt idx="71">
                  <c:v>0.63861400000000001</c:v>
                </c:pt>
                <c:pt idx="72">
                  <c:v>0.66336600000000001</c:v>
                </c:pt>
                <c:pt idx="73">
                  <c:v>0.66336600000000001</c:v>
                </c:pt>
                <c:pt idx="74">
                  <c:v>0.66336600000000001</c:v>
                </c:pt>
                <c:pt idx="75">
                  <c:v>0.66336600000000001</c:v>
                </c:pt>
                <c:pt idx="76">
                  <c:v>0.68811900000000004</c:v>
                </c:pt>
                <c:pt idx="77">
                  <c:v>0.70792100000000002</c:v>
                </c:pt>
                <c:pt idx="78">
                  <c:v>0.70792100000000002</c:v>
                </c:pt>
                <c:pt idx="79">
                  <c:v>0.74257399999999996</c:v>
                </c:pt>
                <c:pt idx="80">
                  <c:v>0.74257399999999996</c:v>
                </c:pt>
                <c:pt idx="81">
                  <c:v>0.74257399999999996</c:v>
                </c:pt>
                <c:pt idx="82">
                  <c:v>0.74257399999999996</c:v>
                </c:pt>
                <c:pt idx="83">
                  <c:v>0.752475</c:v>
                </c:pt>
                <c:pt idx="84">
                  <c:v>0.75742600000000004</c:v>
                </c:pt>
                <c:pt idx="85">
                  <c:v>0.76732699999999998</c:v>
                </c:pt>
                <c:pt idx="86">
                  <c:v>0.76732699999999998</c:v>
                </c:pt>
                <c:pt idx="87">
                  <c:v>0.77227699999999999</c:v>
                </c:pt>
                <c:pt idx="88">
                  <c:v>0.78712899999999997</c:v>
                </c:pt>
                <c:pt idx="89">
                  <c:v>0.80198000000000003</c:v>
                </c:pt>
                <c:pt idx="90">
                  <c:v>0.80198000000000003</c:v>
                </c:pt>
                <c:pt idx="91">
                  <c:v>0.82178200000000001</c:v>
                </c:pt>
                <c:pt idx="92">
                  <c:v>0.83663399999999999</c:v>
                </c:pt>
                <c:pt idx="93">
                  <c:v>0.84653500000000004</c:v>
                </c:pt>
                <c:pt idx="94">
                  <c:v>0.86633700000000002</c:v>
                </c:pt>
                <c:pt idx="95">
                  <c:v>0.88613900000000001</c:v>
                </c:pt>
                <c:pt idx="96">
                  <c:v>0.89108900000000002</c:v>
                </c:pt>
                <c:pt idx="97">
                  <c:v>0.89603999999999995</c:v>
                </c:pt>
                <c:pt idx="98">
                  <c:v>0.92574299999999998</c:v>
                </c:pt>
                <c:pt idx="99">
                  <c:v>0.95544600000000002</c:v>
                </c:pt>
              </c:numCache>
            </c:numRef>
          </c:yVal>
          <c:smooth val="0"/>
          <c:extLst>
            <c:ext xmlns:c16="http://schemas.microsoft.com/office/drawing/2014/chart" uri="{C3380CC4-5D6E-409C-BE32-E72D297353CC}">
              <c16:uniqueId val="{00000000-F330-4977-B1FD-53AE857634FD}"/>
            </c:ext>
          </c:extLst>
        </c:ser>
        <c:dLbls>
          <c:showLegendKey val="0"/>
          <c:showVal val="0"/>
          <c:showCatName val="0"/>
          <c:showSerName val="0"/>
          <c:showPercent val="0"/>
          <c:showBubbleSize val="0"/>
        </c:dLbls>
        <c:axId val="-325334992"/>
        <c:axId val="-324824960"/>
      </c:scatterChart>
      <c:valAx>
        <c:axId val="-325334992"/>
        <c:scaling>
          <c:orientation val="minMax"/>
          <c:max val="1"/>
        </c:scaling>
        <c:delete val="0"/>
        <c:axPos val="t"/>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False Positive Rate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4824960"/>
        <c:crosses val="autoZero"/>
        <c:crossBetween val="midCat"/>
        <c:majorUnit val="0.1"/>
      </c:valAx>
      <c:valAx>
        <c:axId val="-324824960"/>
        <c:scaling>
          <c:orientation val="maxMin"/>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False Negative Rate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5334992"/>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v>Model 1</c:v>
          </c:tx>
          <c:spPr>
            <a:ln w="19050" cap="rnd">
              <a:solidFill>
                <a:schemeClr val="bg1">
                  <a:lumMod val="50000"/>
                </a:schemeClr>
              </a:solidFill>
              <a:prstDash val="sysDot"/>
              <a:round/>
            </a:ln>
            <a:effectLst/>
          </c:spPr>
          <c:marker>
            <c:symbol val="circle"/>
            <c:size val="5"/>
            <c:spPr>
              <a:noFill/>
              <a:ln w="9525">
                <a:solidFill>
                  <a:schemeClr val="bg1">
                    <a:lumMod val="50000"/>
                  </a:schemeClr>
                </a:solidFill>
              </a:ln>
              <a:effectLst/>
            </c:spPr>
          </c:marker>
          <c:xVal>
            <c:numRef>
              <c:f>'no heuristics FN-FP'!$B$2:$B$101</c:f>
              <c:numCache>
                <c:formatCode>General</c:formatCode>
                <c:ptCount val="100"/>
                <c:pt idx="0">
                  <c:v>1</c:v>
                </c:pt>
                <c:pt idx="1">
                  <c:v>1</c:v>
                </c:pt>
                <c:pt idx="2">
                  <c:v>1</c:v>
                </c:pt>
                <c:pt idx="3">
                  <c:v>0.59479899999999997</c:v>
                </c:pt>
                <c:pt idx="4">
                  <c:v>0.59479899999999997</c:v>
                </c:pt>
                <c:pt idx="5">
                  <c:v>0.41107399999999999</c:v>
                </c:pt>
                <c:pt idx="6">
                  <c:v>0.41107399999999999</c:v>
                </c:pt>
                <c:pt idx="7">
                  <c:v>0.41107399999999999</c:v>
                </c:pt>
                <c:pt idx="8">
                  <c:v>0.223993</c:v>
                </c:pt>
                <c:pt idx="9">
                  <c:v>0.21224799999999999</c:v>
                </c:pt>
                <c:pt idx="10">
                  <c:v>0.21224799999999999</c:v>
                </c:pt>
                <c:pt idx="11">
                  <c:v>0.21224799999999999</c:v>
                </c:pt>
                <c:pt idx="12">
                  <c:v>0.21224799999999999</c:v>
                </c:pt>
                <c:pt idx="13">
                  <c:v>8.3892999999999995E-2</c:v>
                </c:pt>
                <c:pt idx="14">
                  <c:v>6.7953E-2</c:v>
                </c:pt>
                <c:pt idx="15">
                  <c:v>6.7953E-2</c:v>
                </c:pt>
                <c:pt idx="16">
                  <c:v>6.7953E-2</c:v>
                </c:pt>
                <c:pt idx="17">
                  <c:v>6.6275000000000001E-2</c:v>
                </c:pt>
                <c:pt idx="18">
                  <c:v>6.6275000000000001E-2</c:v>
                </c:pt>
                <c:pt idx="19">
                  <c:v>6.6275000000000001E-2</c:v>
                </c:pt>
                <c:pt idx="20">
                  <c:v>5.4530000000000002E-2</c:v>
                </c:pt>
                <c:pt idx="21">
                  <c:v>5.4530000000000002E-2</c:v>
                </c:pt>
                <c:pt idx="22">
                  <c:v>5.4530000000000002E-2</c:v>
                </c:pt>
                <c:pt idx="23">
                  <c:v>3.3556999999999997E-2</c:v>
                </c:pt>
                <c:pt idx="24">
                  <c:v>3.3556999999999997E-2</c:v>
                </c:pt>
                <c:pt idx="25">
                  <c:v>3.3556999999999997E-2</c:v>
                </c:pt>
                <c:pt idx="26">
                  <c:v>3.3556999999999997E-2</c:v>
                </c:pt>
                <c:pt idx="27">
                  <c:v>3.1878999999999998E-2</c:v>
                </c:pt>
                <c:pt idx="28">
                  <c:v>3.1878999999999998E-2</c:v>
                </c:pt>
                <c:pt idx="29">
                  <c:v>3.1878999999999998E-2</c:v>
                </c:pt>
                <c:pt idx="30">
                  <c:v>3.1878999999999998E-2</c:v>
                </c:pt>
                <c:pt idx="31">
                  <c:v>2.4329E-2</c:v>
                </c:pt>
                <c:pt idx="32">
                  <c:v>2.4329E-2</c:v>
                </c:pt>
                <c:pt idx="33">
                  <c:v>2.4329E-2</c:v>
                </c:pt>
                <c:pt idx="34">
                  <c:v>2.349E-2</c:v>
                </c:pt>
                <c:pt idx="35">
                  <c:v>2.349E-2</c:v>
                </c:pt>
                <c:pt idx="36">
                  <c:v>2.1812000000000002E-2</c:v>
                </c:pt>
                <c:pt idx="37">
                  <c:v>2.1812000000000002E-2</c:v>
                </c:pt>
                <c:pt idx="38">
                  <c:v>2.1812000000000002E-2</c:v>
                </c:pt>
                <c:pt idx="39">
                  <c:v>2.1812000000000002E-2</c:v>
                </c:pt>
                <c:pt idx="40">
                  <c:v>2.0972999999999999E-2</c:v>
                </c:pt>
                <c:pt idx="41">
                  <c:v>2.0972999999999999E-2</c:v>
                </c:pt>
                <c:pt idx="42">
                  <c:v>1.9295E-2</c:v>
                </c:pt>
                <c:pt idx="43">
                  <c:v>1.9295E-2</c:v>
                </c:pt>
                <c:pt idx="44">
                  <c:v>1.0067E-2</c:v>
                </c:pt>
                <c:pt idx="45">
                  <c:v>1.0067E-2</c:v>
                </c:pt>
                <c:pt idx="46">
                  <c:v>1.0067E-2</c:v>
                </c:pt>
                <c:pt idx="47">
                  <c:v>1.0067E-2</c:v>
                </c:pt>
                <c:pt idx="48">
                  <c:v>1.0067E-2</c:v>
                </c:pt>
                <c:pt idx="49">
                  <c:v>1.0067E-2</c:v>
                </c:pt>
                <c:pt idx="50">
                  <c:v>1.0067E-2</c:v>
                </c:pt>
                <c:pt idx="51">
                  <c:v>7.5500000000000003E-3</c:v>
                </c:pt>
                <c:pt idx="52">
                  <c:v>7.5500000000000003E-3</c:v>
                </c:pt>
                <c:pt idx="53">
                  <c:v>7.5500000000000003E-3</c:v>
                </c:pt>
                <c:pt idx="54">
                  <c:v>7.5500000000000003E-3</c:v>
                </c:pt>
                <c:pt idx="55">
                  <c:v>7.5500000000000003E-3</c:v>
                </c:pt>
                <c:pt idx="56">
                  <c:v>7.5500000000000003E-3</c:v>
                </c:pt>
                <c:pt idx="57">
                  <c:v>7.5500000000000003E-3</c:v>
                </c:pt>
                <c:pt idx="58">
                  <c:v>7.5500000000000003E-3</c:v>
                </c:pt>
                <c:pt idx="59">
                  <c:v>5.8719999999999996E-3</c:v>
                </c:pt>
                <c:pt idx="60">
                  <c:v>5.8719999999999996E-3</c:v>
                </c:pt>
                <c:pt idx="61">
                  <c:v>5.0340000000000003E-3</c:v>
                </c:pt>
                <c:pt idx="62">
                  <c:v>5.0340000000000003E-3</c:v>
                </c:pt>
                <c:pt idx="63">
                  <c:v>5.0340000000000003E-3</c:v>
                </c:pt>
                <c:pt idx="64">
                  <c:v>5.0340000000000003E-3</c:v>
                </c:pt>
                <c:pt idx="65">
                  <c:v>5.0340000000000003E-3</c:v>
                </c:pt>
                <c:pt idx="66">
                  <c:v>5.0340000000000003E-3</c:v>
                </c:pt>
                <c:pt idx="67">
                  <c:v>5.0340000000000003E-3</c:v>
                </c:pt>
                <c:pt idx="68">
                  <c:v>5.0340000000000003E-3</c:v>
                </c:pt>
                <c:pt idx="69">
                  <c:v>5.0340000000000003E-3</c:v>
                </c:pt>
                <c:pt idx="70">
                  <c:v>5.0340000000000003E-3</c:v>
                </c:pt>
                <c:pt idx="71">
                  <c:v>5.0340000000000003E-3</c:v>
                </c:pt>
                <c:pt idx="72">
                  <c:v>4.1949999999999999E-3</c:v>
                </c:pt>
                <c:pt idx="73">
                  <c:v>4.1949999999999999E-3</c:v>
                </c:pt>
                <c:pt idx="74">
                  <c:v>4.1949999999999999E-3</c:v>
                </c:pt>
                <c:pt idx="75">
                  <c:v>4.1949999999999999E-3</c:v>
                </c:pt>
                <c:pt idx="76">
                  <c:v>4.1949999999999999E-3</c:v>
                </c:pt>
                <c:pt idx="77">
                  <c:v>4.1949999999999999E-3</c:v>
                </c:pt>
                <c:pt idx="78">
                  <c:v>4.1949999999999999E-3</c:v>
                </c:pt>
                <c:pt idx="79">
                  <c:v>4.1949999999999999E-3</c:v>
                </c:pt>
                <c:pt idx="80">
                  <c:v>4.1949999999999999E-3</c:v>
                </c:pt>
                <c:pt idx="81">
                  <c:v>3.356E-3</c:v>
                </c:pt>
                <c:pt idx="82">
                  <c:v>3.356E-3</c:v>
                </c:pt>
                <c:pt idx="83">
                  <c:v>3.356E-3</c:v>
                </c:pt>
                <c:pt idx="84">
                  <c:v>3.356E-3</c:v>
                </c:pt>
                <c:pt idx="85">
                  <c:v>3.356E-3</c:v>
                </c:pt>
                <c:pt idx="86">
                  <c:v>3.356E-3</c:v>
                </c:pt>
                <c:pt idx="87">
                  <c:v>3.356E-3</c:v>
                </c:pt>
                <c:pt idx="88">
                  <c:v>3.356E-3</c:v>
                </c:pt>
                <c:pt idx="89">
                  <c:v>2.5170000000000001E-3</c:v>
                </c:pt>
                <c:pt idx="90">
                  <c:v>2.5170000000000001E-3</c:v>
                </c:pt>
                <c:pt idx="91">
                  <c:v>2.5170000000000001E-3</c:v>
                </c:pt>
                <c:pt idx="92">
                  <c:v>2.5170000000000001E-3</c:v>
                </c:pt>
                <c:pt idx="93">
                  <c:v>2.5170000000000001E-3</c:v>
                </c:pt>
                <c:pt idx="94">
                  <c:v>2.5170000000000001E-3</c:v>
                </c:pt>
                <c:pt idx="95">
                  <c:v>2.5170000000000001E-3</c:v>
                </c:pt>
                <c:pt idx="96">
                  <c:v>0</c:v>
                </c:pt>
                <c:pt idx="97">
                  <c:v>0</c:v>
                </c:pt>
                <c:pt idx="98">
                  <c:v>0</c:v>
                </c:pt>
                <c:pt idx="99">
                  <c:v>0</c:v>
                </c:pt>
              </c:numCache>
            </c:numRef>
          </c:xVal>
          <c:yVal>
            <c:numRef>
              <c:f>'no heuristics FN-FP'!$C$2:$C$101</c:f>
              <c:numCache>
                <c:formatCode>General</c:formatCode>
                <c:ptCount val="100"/>
                <c:pt idx="0">
                  <c:v>0</c:v>
                </c:pt>
                <c:pt idx="1">
                  <c:v>0</c:v>
                </c:pt>
                <c:pt idx="2">
                  <c:v>0</c:v>
                </c:pt>
                <c:pt idx="3">
                  <c:v>0.02</c:v>
                </c:pt>
                <c:pt idx="4">
                  <c:v>0.02</c:v>
                </c:pt>
                <c:pt idx="5">
                  <c:v>0.03</c:v>
                </c:pt>
                <c:pt idx="6">
                  <c:v>0.03</c:v>
                </c:pt>
                <c:pt idx="7">
                  <c:v>0.03</c:v>
                </c:pt>
                <c:pt idx="8">
                  <c:v>4.4999999999999998E-2</c:v>
                </c:pt>
                <c:pt idx="9">
                  <c:v>0.05</c:v>
                </c:pt>
                <c:pt idx="10">
                  <c:v>0.05</c:v>
                </c:pt>
                <c:pt idx="11">
                  <c:v>0.05</c:v>
                </c:pt>
                <c:pt idx="12">
                  <c:v>0.05</c:v>
                </c:pt>
                <c:pt idx="13">
                  <c:v>0.1</c:v>
                </c:pt>
                <c:pt idx="14">
                  <c:v>0.15</c:v>
                </c:pt>
                <c:pt idx="15">
                  <c:v>0.15</c:v>
                </c:pt>
                <c:pt idx="16">
                  <c:v>0.15</c:v>
                </c:pt>
                <c:pt idx="17">
                  <c:v>0.15</c:v>
                </c:pt>
                <c:pt idx="18">
                  <c:v>0.15</c:v>
                </c:pt>
                <c:pt idx="19">
                  <c:v>0.15</c:v>
                </c:pt>
                <c:pt idx="20">
                  <c:v>0.25</c:v>
                </c:pt>
                <c:pt idx="21">
                  <c:v>0.25</c:v>
                </c:pt>
                <c:pt idx="22">
                  <c:v>0.25</c:v>
                </c:pt>
                <c:pt idx="23">
                  <c:v>0.35148499999999999</c:v>
                </c:pt>
                <c:pt idx="24">
                  <c:v>0.35148499999999999</c:v>
                </c:pt>
                <c:pt idx="25">
                  <c:v>0.35148499999999999</c:v>
                </c:pt>
                <c:pt idx="26">
                  <c:v>0.35148499999999999</c:v>
                </c:pt>
                <c:pt idx="27">
                  <c:v>0.36138599999999999</c:v>
                </c:pt>
                <c:pt idx="28">
                  <c:v>0.36138599999999999</c:v>
                </c:pt>
                <c:pt idx="29">
                  <c:v>0.36138599999999999</c:v>
                </c:pt>
                <c:pt idx="30">
                  <c:v>0.36138599999999999</c:v>
                </c:pt>
                <c:pt idx="31">
                  <c:v>0.37128699999999998</c:v>
                </c:pt>
                <c:pt idx="32">
                  <c:v>0.37128699999999998</c:v>
                </c:pt>
                <c:pt idx="33">
                  <c:v>0.37128699999999998</c:v>
                </c:pt>
                <c:pt idx="34">
                  <c:v>0.38613900000000001</c:v>
                </c:pt>
                <c:pt idx="35">
                  <c:v>0.38613900000000001</c:v>
                </c:pt>
                <c:pt idx="36">
                  <c:v>0.38613900000000001</c:v>
                </c:pt>
                <c:pt idx="37">
                  <c:v>0.38613900000000001</c:v>
                </c:pt>
                <c:pt idx="38">
                  <c:v>0.38613900000000001</c:v>
                </c:pt>
                <c:pt idx="39">
                  <c:v>0.38613900000000001</c:v>
                </c:pt>
                <c:pt idx="40">
                  <c:v>0.38613900000000001</c:v>
                </c:pt>
                <c:pt idx="41">
                  <c:v>0.38613900000000001</c:v>
                </c:pt>
                <c:pt idx="42">
                  <c:v>0.39108900000000002</c:v>
                </c:pt>
                <c:pt idx="43">
                  <c:v>0.405941</c:v>
                </c:pt>
                <c:pt idx="44">
                  <c:v>0.44059399999999999</c:v>
                </c:pt>
                <c:pt idx="45">
                  <c:v>0.44059399999999999</c:v>
                </c:pt>
                <c:pt idx="46">
                  <c:v>0.44059399999999999</c:v>
                </c:pt>
                <c:pt idx="47">
                  <c:v>0.44059399999999999</c:v>
                </c:pt>
                <c:pt idx="48">
                  <c:v>0.44059399999999999</c:v>
                </c:pt>
                <c:pt idx="49">
                  <c:v>0.46534700000000001</c:v>
                </c:pt>
                <c:pt idx="50">
                  <c:v>0.46534700000000001</c:v>
                </c:pt>
                <c:pt idx="51">
                  <c:v>0.49504999999999999</c:v>
                </c:pt>
                <c:pt idx="52">
                  <c:v>0.49504999999999999</c:v>
                </c:pt>
                <c:pt idx="53">
                  <c:v>0.49504999999999999</c:v>
                </c:pt>
                <c:pt idx="54">
                  <c:v>0.5</c:v>
                </c:pt>
                <c:pt idx="55">
                  <c:v>0.5</c:v>
                </c:pt>
                <c:pt idx="56">
                  <c:v>0.5</c:v>
                </c:pt>
                <c:pt idx="57">
                  <c:v>0.53960399999999997</c:v>
                </c:pt>
                <c:pt idx="58">
                  <c:v>0.54950500000000002</c:v>
                </c:pt>
                <c:pt idx="59">
                  <c:v>0.58415799999999996</c:v>
                </c:pt>
                <c:pt idx="60">
                  <c:v>0.58415799999999996</c:v>
                </c:pt>
                <c:pt idx="61">
                  <c:v>0.58910899999999999</c:v>
                </c:pt>
                <c:pt idx="62">
                  <c:v>0.58910899999999999</c:v>
                </c:pt>
                <c:pt idx="63">
                  <c:v>0.58910899999999999</c:v>
                </c:pt>
                <c:pt idx="64">
                  <c:v>0.58910899999999999</c:v>
                </c:pt>
                <c:pt idx="65">
                  <c:v>0.59901000000000004</c:v>
                </c:pt>
                <c:pt idx="66">
                  <c:v>0.59901000000000004</c:v>
                </c:pt>
                <c:pt idx="67">
                  <c:v>0.62871299999999997</c:v>
                </c:pt>
                <c:pt idx="68">
                  <c:v>0.63366299999999998</c:v>
                </c:pt>
                <c:pt idx="69">
                  <c:v>0.63366299999999998</c:v>
                </c:pt>
                <c:pt idx="70">
                  <c:v>0.63366299999999998</c:v>
                </c:pt>
                <c:pt idx="71">
                  <c:v>0.63861400000000001</c:v>
                </c:pt>
                <c:pt idx="72">
                  <c:v>0.66336600000000001</c:v>
                </c:pt>
                <c:pt idx="73">
                  <c:v>0.66336600000000001</c:v>
                </c:pt>
                <c:pt idx="74">
                  <c:v>0.66336600000000001</c:v>
                </c:pt>
                <c:pt idx="75">
                  <c:v>0.66336600000000001</c:v>
                </c:pt>
                <c:pt idx="76">
                  <c:v>0.68811900000000004</c:v>
                </c:pt>
                <c:pt idx="77">
                  <c:v>0.70792100000000002</c:v>
                </c:pt>
                <c:pt idx="78">
                  <c:v>0.70792100000000002</c:v>
                </c:pt>
                <c:pt idx="79">
                  <c:v>0.74257399999999996</c:v>
                </c:pt>
                <c:pt idx="80">
                  <c:v>0.74257399999999996</c:v>
                </c:pt>
                <c:pt idx="81">
                  <c:v>0.74257399999999996</c:v>
                </c:pt>
                <c:pt idx="82">
                  <c:v>0.74257399999999996</c:v>
                </c:pt>
                <c:pt idx="83">
                  <c:v>0.752475</c:v>
                </c:pt>
                <c:pt idx="84">
                  <c:v>0.75742600000000004</c:v>
                </c:pt>
                <c:pt idx="85">
                  <c:v>0.76732699999999998</c:v>
                </c:pt>
                <c:pt idx="86">
                  <c:v>0.76732699999999998</c:v>
                </c:pt>
                <c:pt idx="87">
                  <c:v>0.77227699999999999</c:v>
                </c:pt>
                <c:pt idx="88">
                  <c:v>0.78712899999999997</c:v>
                </c:pt>
                <c:pt idx="89">
                  <c:v>0.80198000000000003</c:v>
                </c:pt>
                <c:pt idx="90">
                  <c:v>0.80198000000000003</c:v>
                </c:pt>
                <c:pt idx="91">
                  <c:v>0.82178200000000001</c:v>
                </c:pt>
                <c:pt idx="92">
                  <c:v>0.83663399999999999</c:v>
                </c:pt>
                <c:pt idx="93">
                  <c:v>0.84653500000000004</c:v>
                </c:pt>
                <c:pt idx="94">
                  <c:v>0.86633700000000002</c:v>
                </c:pt>
                <c:pt idx="95">
                  <c:v>0.88613900000000001</c:v>
                </c:pt>
                <c:pt idx="96">
                  <c:v>0.89108900000000002</c:v>
                </c:pt>
                <c:pt idx="97">
                  <c:v>0.89603999999999995</c:v>
                </c:pt>
                <c:pt idx="98">
                  <c:v>0.92574299999999998</c:v>
                </c:pt>
                <c:pt idx="99">
                  <c:v>0.95544600000000002</c:v>
                </c:pt>
              </c:numCache>
            </c:numRef>
          </c:yVal>
          <c:smooth val="0"/>
          <c:extLst>
            <c:ext xmlns:c16="http://schemas.microsoft.com/office/drawing/2014/chart" uri="{C3380CC4-5D6E-409C-BE32-E72D297353CC}">
              <c16:uniqueId val="{00000000-3576-47FD-9B4C-EF40D20A0AAC}"/>
            </c:ext>
          </c:extLst>
        </c:ser>
        <c:ser>
          <c:idx val="1"/>
          <c:order val="1"/>
          <c:tx>
            <c:v>Model 2</c:v>
          </c:tx>
          <c:spPr>
            <a:ln w="19050" cap="rnd">
              <a:solidFill>
                <a:schemeClr val="bg1">
                  <a:lumMod val="50000"/>
                </a:schemeClr>
              </a:solidFill>
              <a:prstDash val="dash"/>
              <a:round/>
            </a:ln>
            <a:effectLst/>
          </c:spPr>
          <c:marker>
            <c:symbol val="diamond"/>
            <c:size val="3"/>
            <c:spPr>
              <a:noFill/>
              <a:ln w="9525">
                <a:solidFill>
                  <a:schemeClr val="bg1">
                    <a:lumMod val="50000"/>
                  </a:schemeClr>
                </a:solidFill>
              </a:ln>
              <a:effectLst/>
            </c:spPr>
          </c:marker>
          <c:xVal>
            <c:numRef>
              <c:f>'no heuristics FN-FP (2)'!$F$2:$F$102</c:f>
              <c:numCache>
                <c:formatCode>General</c:formatCode>
                <c:ptCount val="101"/>
                <c:pt idx="0">
                  <c:v>1</c:v>
                </c:pt>
                <c:pt idx="1">
                  <c:v>0.48405999999999999</c:v>
                </c:pt>
                <c:pt idx="2">
                  <c:v>0.24412800000000001</c:v>
                </c:pt>
                <c:pt idx="3">
                  <c:v>0.21560399999999999</c:v>
                </c:pt>
                <c:pt idx="4">
                  <c:v>0.20469799999999999</c:v>
                </c:pt>
                <c:pt idx="5">
                  <c:v>0.17533599999999999</c:v>
                </c:pt>
                <c:pt idx="6">
                  <c:v>0.169463</c:v>
                </c:pt>
                <c:pt idx="7">
                  <c:v>0.16023499999999999</c:v>
                </c:pt>
                <c:pt idx="8">
                  <c:v>0.157718</c:v>
                </c:pt>
                <c:pt idx="9">
                  <c:v>0.157718</c:v>
                </c:pt>
                <c:pt idx="10">
                  <c:v>0.15687899999999999</c:v>
                </c:pt>
                <c:pt idx="11">
                  <c:v>0.14094000000000001</c:v>
                </c:pt>
                <c:pt idx="12">
                  <c:v>0.14094000000000001</c:v>
                </c:pt>
                <c:pt idx="13">
                  <c:v>0.13842299999999999</c:v>
                </c:pt>
                <c:pt idx="14">
                  <c:v>0.13758400000000001</c:v>
                </c:pt>
                <c:pt idx="15">
                  <c:v>0.13758400000000001</c:v>
                </c:pt>
                <c:pt idx="16">
                  <c:v>0.13758400000000001</c:v>
                </c:pt>
                <c:pt idx="17">
                  <c:v>0.13758400000000001</c:v>
                </c:pt>
                <c:pt idx="18">
                  <c:v>0.13300000000000001</c:v>
                </c:pt>
                <c:pt idx="19">
                  <c:v>0.126</c:v>
                </c:pt>
                <c:pt idx="20">
                  <c:v>0.12</c:v>
                </c:pt>
                <c:pt idx="21">
                  <c:v>0.11600000000000001</c:v>
                </c:pt>
                <c:pt idx="22">
                  <c:v>0.11600000000000001</c:v>
                </c:pt>
                <c:pt idx="23">
                  <c:v>0.115</c:v>
                </c:pt>
                <c:pt idx="24">
                  <c:v>0.11</c:v>
                </c:pt>
                <c:pt idx="25">
                  <c:v>0.108</c:v>
                </c:pt>
                <c:pt idx="26">
                  <c:v>0.106</c:v>
                </c:pt>
                <c:pt idx="27">
                  <c:v>0.106</c:v>
                </c:pt>
                <c:pt idx="28">
                  <c:v>0.105</c:v>
                </c:pt>
                <c:pt idx="29">
                  <c:v>0.10100000000000001</c:v>
                </c:pt>
                <c:pt idx="30">
                  <c:v>0.1</c:v>
                </c:pt>
                <c:pt idx="31">
                  <c:v>9.8000000000000004E-2</c:v>
                </c:pt>
                <c:pt idx="32">
                  <c:v>9.8000000000000004E-2</c:v>
                </c:pt>
                <c:pt idx="33">
                  <c:v>9.7000000000000003E-2</c:v>
                </c:pt>
                <c:pt idx="34">
                  <c:v>9.6000000000000002E-2</c:v>
                </c:pt>
                <c:pt idx="35">
                  <c:v>9.5000000000000001E-2</c:v>
                </c:pt>
                <c:pt idx="36">
                  <c:v>9.4E-2</c:v>
                </c:pt>
                <c:pt idx="37">
                  <c:v>9.2999999999999999E-2</c:v>
                </c:pt>
                <c:pt idx="38">
                  <c:v>9.1999999999999998E-2</c:v>
                </c:pt>
                <c:pt idx="39">
                  <c:v>9.0999999999999998E-2</c:v>
                </c:pt>
                <c:pt idx="40">
                  <c:v>0.09</c:v>
                </c:pt>
                <c:pt idx="41">
                  <c:v>8.8999999999999996E-2</c:v>
                </c:pt>
                <c:pt idx="42">
                  <c:v>8.7999999999999995E-2</c:v>
                </c:pt>
                <c:pt idx="43">
                  <c:v>8.6999999999999994E-2</c:v>
                </c:pt>
                <c:pt idx="44">
                  <c:v>8.5999999999999993E-2</c:v>
                </c:pt>
                <c:pt idx="45">
                  <c:v>8.5000000000000006E-2</c:v>
                </c:pt>
                <c:pt idx="46">
                  <c:v>8.4000000000000005E-2</c:v>
                </c:pt>
                <c:pt idx="47">
                  <c:v>8.3000000000000004E-2</c:v>
                </c:pt>
                <c:pt idx="48">
                  <c:v>8.2000000000000003E-2</c:v>
                </c:pt>
                <c:pt idx="49">
                  <c:v>8.1000000000000003E-2</c:v>
                </c:pt>
                <c:pt idx="50">
                  <c:v>0.08</c:v>
                </c:pt>
                <c:pt idx="51">
                  <c:v>7.9000000000000001E-2</c:v>
                </c:pt>
                <c:pt idx="52">
                  <c:v>7.8E-2</c:v>
                </c:pt>
                <c:pt idx="53">
                  <c:v>7.5999999999999998E-2</c:v>
                </c:pt>
                <c:pt idx="54">
                  <c:v>7.3999999999999996E-2</c:v>
                </c:pt>
                <c:pt idx="55">
                  <c:v>7.1999999999999995E-2</c:v>
                </c:pt>
                <c:pt idx="56">
                  <c:v>7.0000000000000007E-2</c:v>
                </c:pt>
                <c:pt idx="57">
                  <c:v>6.8000000000000005E-2</c:v>
                </c:pt>
                <c:pt idx="58">
                  <c:v>6.6000000000000003E-2</c:v>
                </c:pt>
                <c:pt idx="59">
                  <c:v>6.4000000000000001E-2</c:v>
                </c:pt>
                <c:pt idx="60">
                  <c:v>6.2E-2</c:v>
                </c:pt>
                <c:pt idx="61">
                  <c:v>0.06</c:v>
                </c:pt>
                <c:pt idx="62">
                  <c:v>5.8000000000000003E-2</c:v>
                </c:pt>
                <c:pt idx="63">
                  <c:v>5.6000000000000001E-2</c:v>
                </c:pt>
                <c:pt idx="64">
                  <c:v>5.3999999999999999E-2</c:v>
                </c:pt>
                <c:pt idx="65">
                  <c:v>5.1999999999999998E-2</c:v>
                </c:pt>
                <c:pt idx="66">
                  <c:v>4.9000000000000002E-2</c:v>
                </c:pt>
                <c:pt idx="67">
                  <c:v>4.5999999999999999E-2</c:v>
                </c:pt>
                <c:pt idx="68">
                  <c:v>4.2999999999999997E-2</c:v>
                </c:pt>
                <c:pt idx="69">
                  <c:v>0.04</c:v>
                </c:pt>
                <c:pt idx="70">
                  <c:v>3.6999999999999998E-2</c:v>
                </c:pt>
                <c:pt idx="71">
                  <c:v>3.4000000000000002E-2</c:v>
                </c:pt>
                <c:pt idx="72">
                  <c:v>3.1E-2</c:v>
                </c:pt>
                <c:pt idx="73">
                  <c:v>2.8000000000000001E-2</c:v>
                </c:pt>
                <c:pt idx="74">
                  <c:v>2.5000000000000001E-2</c:v>
                </c:pt>
                <c:pt idx="75">
                  <c:v>2.1999999999999999E-2</c:v>
                </c:pt>
                <c:pt idx="76">
                  <c:v>1.9E-2</c:v>
                </c:pt>
                <c:pt idx="77">
                  <c:v>1.6000000000000101E-2</c:v>
                </c:pt>
                <c:pt idx="78">
                  <c:v>1.3000000000000201E-2</c:v>
                </c:pt>
                <c:pt idx="79">
                  <c:v>1.00000000000003E-2</c:v>
                </c:pt>
                <c:pt idx="80">
                  <c:v>7.0000000000004E-3</c:v>
                </c:pt>
                <c:pt idx="81">
                  <c:v>6.6E-3</c:v>
                </c:pt>
                <c:pt idx="82">
                  <c:v>6.1999999999995999E-3</c:v>
                </c:pt>
                <c:pt idx="83">
                  <c:v>5.7999999999991999E-3</c:v>
                </c:pt>
                <c:pt idx="84">
                  <c:v>5.3999999999987999E-3</c:v>
                </c:pt>
                <c:pt idx="85">
                  <c:v>4.9999999999983998E-3</c:v>
                </c:pt>
                <c:pt idx="86">
                  <c:v>4.5999999999979998E-3</c:v>
                </c:pt>
                <c:pt idx="87">
                  <c:v>4.1999999999975998E-3</c:v>
                </c:pt>
                <c:pt idx="88">
                  <c:v>3.7999999999972001E-3</c:v>
                </c:pt>
                <c:pt idx="89">
                  <c:v>3.3999999999968001E-3</c:v>
                </c:pt>
                <c:pt idx="90">
                  <c:v>2.9999999999964001E-3</c:v>
                </c:pt>
                <c:pt idx="91">
                  <c:v>2.599999999996E-3</c:v>
                </c:pt>
                <c:pt idx="92">
                  <c:v>2.1999999999956E-3</c:v>
                </c:pt>
                <c:pt idx="93">
                  <c:v>2.0999999999999999E-3</c:v>
                </c:pt>
                <c:pt idx="94">
                  <c:v>2.0999999999999999E-3</c:v>
                </c:pt>
                <c:pt idx="95">
                  <c:v>2.0999999999999999E-3</c:v>
                </c:pt>
                <c:pt idx="96">
                  <c:v>2.0999999999999999E-3</c:v>
                </c:pt>
                <c:pt idx="97">
                  <c:v>2.0999999999999999E-3</c:v>
                </c:pt>
                <c:pt idx="98">
                  <c:v>2.0999999999999999E-3</c:v>
                </c:pt>
                <c:pt idx="99">
                  <c:v>0</c:v>
                </c:pt>
                <c:pt idx="100">
                  <c:v>0</c:v>
                </c:pt>
              </c:numCache>
            </c:numRef>
          </c:xVal>
          <c:yVal>
            <c:numRef>
              <c:f>'no heuristics FN-FP (2)'!$G$2:$G$102</c:f>
              <c:numCache>
                <c:formatCode>General</c:formatCode>
                <c:ptCount val="101"/>
                <c:pt idx="0">
                  <c:v>0.02</c:v>
                </c:pt>
                <c:pt idx="1">
                  <c:v>7.0000000000000007E-2</c:v>
                </c:pt>
                <c:pt idx="2">
                  <c:v>0.1</c:v>
                </c:pt>
                <c:pt idx="3">
                  <c:v>0.11</c:v>
                </c:pt>
                <c:pt idx="4">
                  <c:v>0.125</c:v>
                </c:pt>
                <c:pt idx="5">
                  <c:v>0.125</c:v>
                </c:pt>
                <c:pt idx="6">
                  <c:v>0.125</c:v>
                </c:pt>
                <c:pt idx="7">
                  <c:v>0.125</c:v>
                </c:pt>
                <c:pt idx="8">
                  <c:v>0.13</c:v>
                </c:pt>
                <c:pt idx="9">
                  <c:v>0.13</c:v>
                </c:pt>
                <c:pt idx="10">
                  <c:v>0.13</c:v>
                </c:pt>
                <c:pt idx="11">
                  <c:v>0.13</c:v>
                </c:pt>
                <c:pt idx="12">
                  <c:v>0.13</c:v>
                </c:pt>
                <c:pt idx="13">
                  <c:v>0.13</c:v>
                </c:pt>
                <c:pt idx="14">
                  <c:v>0.13</c:v>
                </c:pt>
                <c:pt idx="15">
                  <c:v>0.13</c:v>
                </c:pt>
                <c:pt idx="16">
                  <c:v>0.13</c:v>
                </c:pt>
                <c:pt idx="17">
                  <c:v>0.13</c:v>
                </c:pt>
                <c:pt idx="18">
                  <c:v>0.14000000000000001</c:v>
                </c:pt>
                <c:pt idx="19">
                  <c:v>0.15</c:v>
                </c:pt>
                <c:pt idx="20">
                  <c:v>0.15</c:v>
                </c:pt>
                <c:pt idx="21">
                  <c:v>0.155</c:v>
                </c:pt>
                <c:pt idx="22">
                  <c:v>0.156</c:v>
                </c:pt>
                <c:pt idx="23">
                  <c:v>0.159</c:v>
                </c:pt>
                <c:pt idx="24">
                  <c:v>0.16</c:v>
                </c:pt>
                <c:pt idx="25">
                  <c:v>0.16500000000000001</c:v>
                </c:pt>
                <c:pt idx="26">
                  <c:v>0.16600000000000001</c:v>
                </c:pt>
                <c:pt idx="27">
                  <c:v>0.16800000000000001</c:v>
                </c:pt>
                <c:pt idx="28">
                  <c:v>0.17</c:v>
                </c:pt>
                <c:pt idx="29">
                  <c:v>0.18</c:v>
                </c:pt>
                <c:pt idx="30">
                  <c:v>0.18099999999999999</c:v>
                </c:pt>
                <c:pt idx="31">
                  <c:v>0.185</c:v>
                </c:pt>
                <c:pt idx="32">
                  <c:v>0.189</c:v>
                </c:pt>
                <c:pt idx="33">
                  <c:v>0.19</c:v>
                </c:pt>
                <c:pt idx="34">
                  <c:v>0.2</c:v>
                </c:pt>
                <c:pt idx="35">
                  <c:v>0.21782199999999999</c:v>
                </c:pt>
                <c:pt idx="36">
                  <c:v>0.21782199999999999</c:v>
                </c:pt>
                <c:pt idx="37">
                  <c:v>0.24257400000000001</c:v>
                </c:pt>
                <c:pt idx="38">
                  <c:v>0.24257400000000001</c:v>
                </c:pt>
                <c:pt idx="39">
                  <c:v>0.24257400000000001</c:v>
                </c:pt>
                <c:pt idx="40">
                  <c:v>0.252475</c:v>
                </c:pt>
                <c:pt idx="41">
                  <c:v>0.252475</c:v>
                </c:pt>
                <c:pt idx="42">
                  <c:v>0.29207899999999998</c:v>
                </c:pt>
                <c:pt idx="43">
                  <c:v>0.29207899999999998</c:v>
                </c:pt>
                <c:pt idx="44">
                  <c:v>0.29207899999999998</c:v>
                </c:pt>
                <c:pt idx="45">
                  <c:v>0.29207899999999998</c:v>
                </c:pt>
                <c:pt idx="46">
                  <c:v>0.29207899999999998</c:v>
                </c:pt>
                <c:pt idx="47">
                  <c:v>0.3</c:v>
                </c:pt>
                <c:pt idx="48">
                  <c:v>0.31</c:v>
                </c:pt>
                <c:pt idx="49">
                  <c:v>0.32</c:v>
                </c:pt>
                <c:pt idx="50">
                  <c:v>0.33</c:v>
                </c:pt>
                <c:pt idx="51">
                  <c:v>0.33300000000000002</c:v>
                </c:pt>
                <c:pt idx="52">
                  <c:v>0.33600000000000002</c:v>
                </c:pt>
                <c:pt idx="53">
                  <c:v>0.33900000000000002</c:v>
                </c:pt>
                <c:pt idx="54">
                  <c:v>0.34200000000000003</c:v>
                </c:pt>
                <c:pt idx="55">
                  <c:v>0.34499999999999997</c:v>
                </c:pt>
                <c:pt idx="56">
                  <c:v>0.34799999999999998</c:v>
                </c:pt>
                <c:pt idx="57">
                  <c:v>0.35099999999999998</c:v>
                </c:pt>
                <c:pt idx="58">
                  <c:v>0.35120000000000001</c:v>
                </c:pt>
                <c:pt idx="59">
                  <c:v>0.35148499999999999</c:v>
                </c:pt>
                <c:pt idx="60">
                  <c:v>0.35643599999999998</c:v>
                </c:pt>
                <c:pt idx="61">
                  <c:v>0.35643599999999998</c:v>
                </c:pt>
                <c:pt idx="62">
                  <c:v>0.35643599999999998</c:v>
                </c:pt>
                <c:pt idx="63">
                  <c:v>0.37128699999999998</c:v>
                </c:pt>
                <c:pt idx="64">
                  <c:v>0.37128699999999998</c:v>
                </c:pt>
                <c:pt idx="65">
                  <c:v>0.37623800000000002</c:v>
                </c:pt>
                <c:pt idx="66">
                  <c:v>0.37623800000000002</c:v>
                </c:pt>
                <c:pt idx="67">
                  <c:v>0.39108900000000002</c:v>
                </c:pt>
                <c:pt idx="68">
                  <c:v>0.39604</c:v>
                </c:pt>
                <c:pt idx="69">
                  <c:v>0.41584199999999999</c:v>
                </c:pt>
                <c:pt idx="70">
                  <c:v>0.41584199999999999</c:v>
                </c:pt>
                <c:pt idx="71">
                  <c:v>0.42574299999999998</c:v>
                </c:pt>
                <c:pt idx="72">
                  <c:v>0.44059399999999999</c:v>
                </c:pt>
                <c:pt idx="73">
                  <c:v>0.475248</c:v>
                </c:pt>
                <c:pt idx="74">
                  <c:v>0.475248</c:v>
                </c:pt>
                <c:pt idx="75">
                  <c:v>0.51980199999999999</c:v>
                </c:pt>
                <c:pt idx="76">
                  <c:v>0.51980199999999999</c:v>
                </c:pt>
                <c:pt idx="77">
                  <c:v>0.51980199999999999</c:v>
                </c:pt>
                <c:pt idx="78">
                  <c:v>0.53960399999999997</c:v>
                </c:pt>
                <c:pt idx="79">
                  <c:v>0.54950500000000002</c:v>
                </c:pt>
                <c:pt idx="80">
                  <c:v>0.55445500000000003</c:v>
                </c:pt>
                <c:pt idx="81">
                  <c:v>0.55445500000000003</c:v>
                </c:pt>
                <c:pt idx="82">
                  <c:v>0.58415799999999996</c:v>
                </c:pt>
                <c:pt idx="83">
                  <c:v>0.59901000000000004</c:v>
                </c:pt>
                <c:pt idx="84">
                  <c:v>0.61881200000000003</c:v>
                </c:pt>
                <c:pt idx="85">
                  <c:v>0.61881200000000003</c:v>
                </c:pt>
                <c:pt idx="86">
                  <c:v>0.62871299999999997</c:v>
                </c:pt>
                <c:pt idx="87">
                  <c:v>0.63861400000000001</c:v>
                </c:pt>
                <c:pt idx="88">
                  <c:v>0.66336600000000001</c:v>
                </c:pt>
                <c:pt idx="89">
                  <c:v>0.67821799999999999</c:v>
                </c:pt>
                <c:pt idx="90">
                  <c:v>0.70296999999999998</c:v>
                </c:pt>
                <c:pt idx="91">
                  <c:v>0.72277199999999997</c:v>
                </c:pt>
                <c:pt idx="92">
                  <c:v>0.73267300000000002</c:v>
                </c:pt>
                <c:pt idx="93">
                  <c:v>0.752475</c:v>
                </c:pt>
                <c:pt idx="94">
                  <c:v>0.80693099999999995</c:v>
                </c:pt>
                <c:pt idx="95">
                  <c:v>0.82673300000000005</c:v>
                </c:pt>
                <c:pt idx="96">
                  <c:v>0.86633700000000002</c:v>
                </c:pt>
                <c:pt idx="97">
                  <c:v>0.88118799999999997</c:v>
                </c:pt>
                <c:pt idx="98">
                  <c:v>0.93069299999999999</c:v>
                </c:pt>
                <c:pt idx="99">
                  <c:v>0.94059400000000004</c:v>
                </c:pt>
                <c:pt idx="100">
                  <c:v>0.95544600000000002</c:v>
                </c:pt>
              </c:numCache>
            </c:numRef>
          </c:yVal>
          <c:smooth val="0"/>
          <c:extLst>
            <c:ext xmlns:c16="http://schemas.microsoft.com/office/drawing/2014/chart" uri="{C3380CC4-5D6E-409C-BE32-E72D297353CC}">
              <c16:uniqueId val="{00000001-3576-47FD-9B4C-EF40D20A0AAC}"/>
            </c:ext>
          </c:extLst>
        </c:ser>
        <c:dLbls>
          <c:showLegendKey val="0"/>
          <c:showVal val="0"/>
          <c:showCatName val="0"/>
          <c:showSerName val="0"/>
          <c:showPercent val="0"/>
          <c:showBubbleSize val="0"/>
        </c:dLbls>
        <c:axId val="-324816800"/>
        <c:axId val="-324824416"/>
      </c:scatterChart>
      <c:valAx>
        <c:axId val="-324816800"/>
        <c:scaling>
          <c:orientation val="minMax"/>
          <c:max val="1"/>
        </c:scaling>
        <c:delete val="0"/>
        <c:axPos val="t"/>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False Positive Rate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4824416"/>
        <c:crosses val="autoZero"/>
        <c:crossBetween val="midCat"/>
        <c:majorUnit val="0.1"/>
      </c:valAx>
      <c:valAx>
        <c:axId val="-324824416"/>
        <c:scaling>
          <c:orientation val="maxMin"/>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False Negative Rate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4816800"/>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v>Model 1</c:v>
          </c:tx>
          <c:spPr>
            <a:ln w="19050" cap="rnd">
              <a:solidFill>
                <a:schemeClr val="bg1">
                  <a:lumMod val="50000"/>
                </a:schemeClr>
              </a:solidFill>
              <a:prstDash val="sysDot"/>
              <a:round/>
            </a:ln>
            <a:effectLst/>
          </c:spPr>
          <c:marker>
            <c:symbol val="circle"/>
            <c:size val="5"/>
            <c:spPr>
              <a:noFill/>
              <a:ln w="9525">
                <a:solidFill>
                  <a:schemeClr val="bg1">
                    <a:lumMod val="50000"/>
                  </a:schemeClr>
                </a:solidFill>
              </a:ln>
              <a:effectLst/>
            </c:spPr>
          </c:marker>
          <c:xVal>
            <c:numRef>
              <c:f>'no heuristics FN-FP'!$B$2:$B$101</c:f>
              <c:numCache>
                <c:formatCode>General</c:formatCode>
                <c:ptCount val="100"/>
                <c:pt idx="0">
                  <c:v>1</c:v>
                </c:pt>
                <c:pt idx="1">
                  <c:v>1</c:v>
                </c:pt>
                <c:pt idx="2">
                  <c:v>1</c:v>
                </c:pt>
                <c:pt idx="3">
                  <c:v>0.59479899999999997</c:v>
                </c:pt>
                <c:pt idx="4">
                  <c:v>0.59479899999999997</c:v>
                </c:pt>
                <c:pt idx="5">
                  <c:v>0.41107399999999999</c:v>
                </c:pt>
                <c:pt idx="6">
                  <c:v>0.41107399999999999</c:v>
                </c:pt>
                <c:pt idx="7">
                  <c:v>0.41107399999999999</c:v>
                </c:pt>
                <c:pt idx="8">
                  <c:v>0.223993</c:v>
                </c:pt>
                <c:pt idx="9">
                  <c:v>0.21224799999999999</c:v>
                </c:pt>
                <c:pt idx="10">
                  <c:v>0.21224799999999999</c:v>
                </c:pt>
                <c:pt idx="11">
                  <c:v>0.21224799999999999</c:v>
                </c:pt>
                <c:pt idx="12">
                  <c:v>0.21224799999999999</c:v>
                </c:pt>
                <c:pt idx="13">
                  <c:v>8.3892999999999995E-2</c:v>
                </c:pt>
                <c:pt idx="14">
                  <c:v>6.7953E-2</c:v>
                </c:pt>
                <c:pt idx="15">
                  <c:v>6.7953E-2</c:v>
                </c:pt>
                <c:pt idx="16">
                  <c:v>6.7953E-2</c:v>
                </c:pt>
                <c:pt idx="17">
                  <c:v>6.6275000000000001E-2</c:v>
                </c:pt>
                <c:pt idx="18">
                  <c:v>6.6275000000000001E-2</c:v>
                </c:pt>
                <c:pt idx="19">
                  <c:v>6.6275000000000001E-2</c:v>
                </c:pt>
                <c:pt idx="20">
                  <c:v>5.4530000000000002E-2</c:v>
                </c:pt>
                <c:pt idx="21">
                  <c:v>5.4530000000000002E-2</c:v>
                </c:pt>
                <c:pt idx="22">
                  <c:v>5.4530000000000002E-2</c:v>
                </c:pt>
                <c:pt idx="23">
                  <c:v>3.3556999999999997E-2</c:v>
                </c:pt>
                <c:pt idx="24">
                  <c:v>3.3556999999999997E-2</c:v>
                </c:pt>
                <c:pt idx="25">
                  <c:v>3.3556999999999997E-2</c:v>
                </c:pt>
                <c:pt idx="26">
                  <c:v>3.3556999999999997E-2</c:v>
                </c:pt>
                <c:pt idx="27">
                  <c:v>3.1878999999999998E-2</c:v>
                </c:pt>
                <c:pt idx="28">
                  <c:v>3.1878999999999998E-2</c:v>
                </c:pt>
                <c:pt idx="29">
                  <c:v>3.1878999999999998E-2</c:v>
                </c:pt>
                <c:pt idx="30">
                  <c:v>3.1878999999999998E-2</c:v>
                </c:pt>
                <c:pt idx="31">
                  <c:v>2.4329E-2</c:v>
                </c:pt>
                <c:pt idx="32">
                  <c:v>2.4329E-2</c:v>
                </c:pt>
                <c:pt idx="33">
                  <c:v>2.4329E-2</c:v>
                </c:pt>
                <c:pt idx="34">
                  <c:v>2.349E-2</c:v>
                </c:pt>
                <c:pt idx="35">
                  <c:v>2.349E-2</c:v>
                </c:pt>
                <c:pt idx="36">
                  <c:v>2.1812000000000002E-2</c:v>
                </c:pt>
                <c:pt idx="37">
                  <c:v>2.1812000000000002E-2</c:v>
                </c:pt>
                <c:pt idx="38">
                  <c:v>2.1812000000000002E-2</c:v>
                </c:pt>
                <c:pt idx="39">
                  <c:v>2.1812000000000002E-2</c:v>
                </c:pt>
                <c:pt idx="40">
                  <c:v>2.0972999999999999E-2</c:v>
                </c:pt>
                <c:pt idx="41">
                  <c:v>2.0972999999999999E-2</c:v>
                </c:pt>
                <c:pt idx="42">
                  <c:v>1.9295E-2</c:v>
                </c:pt>
                <c:pt idx="43">
                  <c:v>1.9295E-2</c:v>
                </c:pt>
                <c:pt idx="44">
                  <c:v>1.0067E-2</c:v>
                </c:pt>
                <c:pt idx="45">
                  <c:v>1.0067E-2</c:v>
                </c:pt>
                <c:pt idx="46">
                  <c:v>1.0067E-2</c:v>
                </c:pt>
                <c:pt idx="47">
                  <c:v>1.0067E-2</c:v>
                </c:pt>
                <c:pt idx="48">
                  <c:v>1.0067E-2</c:v>
                </c:pt>
                <c:pt idx="49">
                  <c:v>1.0067E-2</c:v>
                </c:pt>
                <c:pt idx="50">
                  <c:v>1.0067E-2</c:v>
                </c:pt>
                <c:pt idx="51">
                  <c:v>7.5500000000000003E-3</c:v>
                </c:pt>
                <c:pt idx="52">
                  <c:v>7.5500000000000003E-3</c:v>
                </c:pt>
                <c:pt idx="53">
                  <c:v>7.5500000000000003E-3</c:v>
                </c:pt>
                <c:pt idx="54">
                  <c:v>7.5500000000000003E-3</c:v>
                </c:pt>
                <c:pt idx="55">
                  <c:v>7.5500000000000003E-3</c:v>
                </c:pt>
                <c:pt idx="56">
                  <c:v>7.5500000000000003E-3</c:v>
                </c:pt>
                <c:pt idx="57">
                  <c:v>7.5500000000000003E-3</c:v>
                </c:pt>
                <c:pt idx="58">
                  <c:v>7.5500000000000003E-3</c:v>
                </c:pt>
                <c:pt idx="59">
                  <c:v>5.8719999999999996E-3</c:v>
                </c:pt>
                <c:pt idx="60">
                  <c:v>5.8719999999999996E-3</c:v>
                </c:pt>
                <c:pt idx="61">
                  <c:v>5.0340000000000003E-3</c:v>
                </c:pt>
                <c:pt idx="62">
                  <c:v>5.0340000000000003E-3</c:v>
                </c:pt>
                <c:pt idx="63">
                  <c:v>5.0340000000000003E-3</c:v>
                </c:pt>
                <c:pt idx="64">
                  <c:v>5.0340000000000003E-3</c:v>
                </c:pt>
                <c:pt idx="65">
                  <c:v>5.0340000000000003E-3</c:v>
                </c:pt>
                <c:pt idx="66">
                  <c:v>5.0340000000000003E-3</c:v>
                </c:pt>
                <c:pt idx="67">
                  <c:v>5.0340000000000003E-3</c:v>
                </c:pt>
                <c:pt idx="68">
                  <c:v>5.0340000000000003E-3</c:v>
                </c:pt>
                <c:pt idx="69">
                  <c:v>5.0340000000000003E-3</c:v>
                </c:pt>
                <c:pt idx="70">
                  <c:v>5.0340000000000003E-3</c:v>
                </c:pt>
                <c:pt idx="71">
                  <c:v>5.0340000000000003E-3</c:v>
                </c:pt>
                <c:pt idx="72">
                  <c:v>4.1949999999999999E-3</c:v>
                </c:pt>
                <c:pt idx="73">
                  <c:v>4.1949999999999999E-3</c:v>
                </c:pt>
                <c:pt idx="74">
                  <c:v>4.1949999999999999E-3</c:v>
                </c:pt>
                <c:pt idx="75">
                  <c:v>4.1949999999999999E-3</c:v>
                </c:pt>
                <c:pt idx="76">
                  <c:v>4.1949999999999999E-3</c:v>
                </c:pt>
                <c:pt idx="77">
                  <c:v>4.1949999999999999E-3</c:v>
                </c:pt>
                <c:pt idx="78">
                  <c:v>4.1949999999999999E-3</c:v>
                </c:pt>
                <c:pt idx="79">
                  <c:v>4.1949999999999999E-3</c:v>
                </c:pt>
                <c:pt idx="80">
                  <c:v>4.1949999999999999E-3</c:v>
                </c:pt>
                <c:pt idx="81">
                  <c:v>3.356E-3</c:v>
                </c:pt>
                <c:pt idx="82">
                  <c:v>3.356E-3</c:v>
                </c:pt>
                <c:pt idx="83">
                  <c:v>3.356E-3</c:v>
                </c:pt>
                <c:pt idx="84">
                  <c:v>3.356E-3</c:v>
                </c:pt>
                <c:pt idx="85">
                  <c:v>3.356E-3</c:v>
                </c:pt>
                <c:pt idx="86">
                  <c:v>3.356E-3</c:v>
                </c:pt>
                <c:pt idx="87">
                  <c:v>3.356E-3</c:v>
                </c:pt>
                <c:pt idx="88">
                  <c:v>3.356E-3</c:v>
                </c:pt>
                <c:pt idx="89">
                  <c:v>2.5170000000000001E-3</c:v>
                </c:pt>
                <c:pt idx="90">
                  <c:v>2.5170000000000001E-3</c:v>
                </c:pt>
                <c:pt idx="91">
                  <c:v>2.5170000000000001E-3</c:v>
                </c:pt>
                <c:pt idx="92">
                  <c:v>2.5170000000000001E-3</c:v>
                </c:pt>
                <c:pt idx="93">
                  <c:v>2.5170000000000001E-3</c:v>
                </c:pt>
                <c:pt idx="94">
                  <c:v>2.5170000000000001E-3</c:v>
                </c:pt>
                <c:pt idx="95">
                  <c:v>2.5170000000000001E-3</c:v>
                </c:pt>
                <c:pt idx="96">
                  <c:v>0</c:v>
                </c:pt>
                <c:pt idx="97">
                  <c:v>0</c:v>
                </c:pt>
                <c:pt idx="98">
                  <c:v>0</c:v>
                </c:pt>
                <c:pt idx="99">
                  <c:v>0</c:v>
                </c:pt>
              </c:numCache>
            </c:numRef>
          </c:xVal>
          <c:yVal>
            <c:numRef>
              <c:f>'no heuristics FN-FP'!$C$2:$C$101</c:f>
              <c:numCache>
                <c:formatCode>General</c:formatCode>
                <c:ptCount val="100"/>
                <c:pt idx="0">
                  <c:v>0</c:v>
                </c:pt>
                <c:pt idx="1">
                  <c:v>0</c:v>
                </c:pt>
                <c:pt idx="2">
                  <c:v>0</c:v>
                </c:pt>
                <c:pt idx="3">
                  <c:v>0.02</c:v>
                </c:pt>
                <c:pt idx="4">
                  <c:v>0.02</c:v>
                </c:pt>
                <c:pt idx="5">
                  <c:v>0.03</c:v>
                </c:pt>
                <c:pt idx="6">
                  <c:v>0.03</c:v>
                </c:pt>
                <c:pt idx="7">
                  <c:v>0.03</c:v>
                </c:pt>
                <c:pt idx="8">
                  <c:v>4.4999999999999998E-2</c:v>
                </c:pt>
                <c:pt idx="9">
                  <c:v>0.05</c:v>
                </c:pt>
                <c:pt idx="10">
                  <c:v>0.05</c:v>
                </c:pt>
                <c:pt idx="11">
                  <c:v>0.05</c:v>
                </c:pt>
                <c:pt idx="12">
                  <c:v>0.05</c:v>
                </c:pt>
                <c:pt idx="13">
                  <c:v>0.1</c:v>
                </c:pt>
                <c:pt idx="14">
                  <c:v>0.15</c:v>
                </c:pt>
                <c:pt idx="15">
                  <c:v>0.15</c:v>
                </c:pt>
                <c:pt idx="16">
                  <c:v>0.15</c:v>
                </c:pt>
                <c:pt idx="17">
                  <c:v>0.15</c:v>
                </c:pt>
                <c:pt idx="18">
                  <c:v>0.15</c:v>
                </c:pt>
                <c:pt idx="19">
                  <c:v>0.15</c:v>
                </c:pt>
                <c:pt idx="20">
                  <c:v>0.25</c:v>
                </c:pt>
                <c:pt idx="21">
                  <c:v>0.25</c:v>
                </c:pt>
                <c:pt idx="22">
                  <c:v>0.25</c:v>
                </c:pt>
                <c:pt idx="23">
                  <c:v>0.35148499999999999</c:v>
                </c:pt>
                <c:pt idx="24">
                  <c:v>0.35148499999999999</c:v>
                </c:pt>
                <c:pt idx="25">
                  <c:v>0.35148499999999999</c:v>
                </c:pt>
                <c:pt idx="26">
                  <c:v>0.35148499999999999</c:v>
                </c:pt>
                <c:pt idx="27">
                  <c:v>0.36138599999999999</c:v>
                </c:pt>
                <c:pt idx="28">
                  <c:v>0.36138599999999999</c:v>
                </c:pt>
                <c:pt idx="29">
                  <c:v>0.36138599999999999</c:v>
                </c:pt>
                <c:pt idx="30">
                  <c:v>0.36138599999999999</c:v>
                </c:pt>
                <c:pt idx="31">
                  <c:v>0.37128699999999998</c:v>
                </c:pt>
                <c:pt idx="32">
                  <c:v>0.37128699999999998</c:v>
                </c:pt>
                <c:pt idx="33">
                  <c:v>0.37128699999999998</c:v>
                </c:pt>
                <c:pt idx="34">
                  <c:v>0.38613900000000001</c:v>
                </c:pt>
                <c:pt idx="35">
                  <c:v>0.38613900000000001</c:v>
                </c:pt>
                <c:pt idx="36">
                  <c:v>0.38613900000000001</c:v>
                </c:pt>
                <c:pt idx="37">
                  <c:v>0.38613900000000001</c:v>
                </c:pt>
                <c:pt idx="38">
                  <c:v>0.38613900000000001</c:v>
                </c:pt>
                <c:pt idx="39">
                  <c:v>0.38613900000000001</c:v>
                </c:pt>
                <c:pt idx="40">
                  <c:v>0.38613900000000001</c:v>
                </c:pt>
                <c:pt idx="41">
                  <c:v>0.38613900000000001</c:v>
                </c:pt>
                <c:pt idx="42">
                  <c:v>0.39108900000000002</c:v>
                </c:pt>
                <c:pt idx="43">
                  <c:v>0.405941</c:v>
                </c:pt>
                <c:pt idx="44">
                  <c:v>0.44059399999999999</c:v>
                </c:pt>
                <c:pt idx="45">
                  <c:v>0.44059399999999999</c:v>
                </c:pt>
                <c:pt idx="46">
                  <c:v>0.44059399999999999</c:v>
                </c:pt>
                <c:pt idx="47">
                  <c:v>0.44059399999999999</c:v>
                </c:pt>
                <c:pt idx="48">
                  <c:v>0.44059399999999999</c:v>
                </c:pt>
                <c:pt idx="49">
                  <c:v>0.46534700000000001</c:v>
                </c:pt>
                <c:pt idx="50">
                  <c:v>0.46534700000000001</c:v>
                </c:pt>
                <c:pt idx="51">
                  <c:v>0.49504999999999999</c:v>
                </c:pt>
                <c:pt idx="52">
                  <c:v>0.49504999999999999</c:v>
                </c:pt>
                <c:pt idx="53">
                  <c:v>0.49504999999999999</c:v>
                </c:pt>
                <c:pt idx="54">
                  <c:v>0.5</c:v>
                </c:pt>
                <c:pt idx="55">
                  <c:v>0.5</c:v>
                </c:pt>
                <c:pt idx="56">
                  <c:v>0.5</c:v>
                </c:pt>
                <c:pt idx="57">
                  <c:v>0.53960399999999997</c:v>
                </c:pt>
                <c:pt idx="58">
                  <c:v>0.54950500000000002</c:v>
                </c:pt>
                <c:pt idx="59">
                  <c:v>0.58415799999999996</c:v>
                </c:pt>
                <c:pt idx="60">
                  <c:v>0.58415799999999996</c:v>
                </c:pt>
                <c:pt idx="61">
                  <c:v>0.58910899999999999</c:v>
                </c:pt>
                <c:pt idx="62">
                  <c:v>0.58910899999999999</c:v>
                </c:pt>
                <c:pt idx="63">
                  <c:v>0.58910899999999999</c:v>
                </c:pt>
                <c:pt idx="64">
                  <c:v>0.58910899999999999</c:v>
                </c:pt>
                <c:pt idx="65">
                  <c:v>0.59901000000000004</c:v>
                </c:pt>
                <c:pt idx="66">
                  <c:v>0.59901000000000004</c:v>
                </c:pt>
                <c:pt idx="67">
                  <c:v>0.62871299999999997</c:v>
                </c:pt>
                <c:pt idx="68">
                  <c:v>0.63366299999999998</c:v>
                </c:pt>
                <c:pt idx="69">
                  <c:v>0.63366299999999998</c:v>
                </c:pt>
                <c:pt idx="70">
                  <c:v>0.63366299999999998</c:v>
                </c:pt>
                <c:pt idx="71">
                  <c:v>0.63861400000000001</c:v>
                </c:pt>
                <c:pt idx="72">
                  <c:v>0.66336600000000001</c:v>
                </c:pt>
                <c:pt idx="73">
                  <c:v>0.66336600000000001</c:v>
                </c:pt>
                <c:pt idx="74">
                  <c:v>0.66336600000000001</c:v>
                </c:pt>
                <c:pt idx="75">
                  <c:v>0.66336600000000001</c:v>
                </c:pt>
                <c:pt idx="76">
                  <c:v>0.68811900000000004</c:v>
                </c:pt>
                <c:pt idx="77">
                  <c:v>0.70792100000000002</c:v>
                </c:pt>
                <c:pt idx="78">
                  <c:v>0.70792100000000002</c:v>
                </c:pt>
                <c:pt idx="79">
                  <c:v>0.74257399999999996</c:v>
                </c:pt>
                <c:pt idx="80">
                  <c:v>0.74257399999999996</c:v>
                </c:pt>
                <c:pt idx="81">
                  <c:v>0.74257399999999996</c:v>
                </c:pt>
                <c:pt idx="82">
                  <c:v>0.74257399999999996</c:v>
                </c:pt>
                <c:pt idx="83">
                  <c:v>0.752475</c:v>
                </c:pt>
                <c:pt idx="84">
                  <c:v>0.75742600000000004</c:v>
                </c:pt>
                <c:pt idx="85">
                  <c:v>0.76732699999999998</c:v>
                </c:pt>
                <c:pt idx="86">
                  <c:v>0.76732699999999998</c:v>
                </c:pt>
                <c:pt idx="87">
                  <c:v>0.77227699999999999</c:v>
                </c:pt>
                <c:pt idx="88">
                  <c:v>0.78712899999999997</c:v>
                </c:pt>
                <c:pt idx="89">
                  <c:v>0.80198000000000003</c:v>
                </c:pt>
                <c:pt idx="90">
                  <c:v>0.80198000000000003</c:v>
                </c:pt>
                <c:pt idx="91">
                  <c:v>0.82178200000000001</c:v>
                </c:pt>
                <c:pt idx="92">
                  <c:v>0.83663399999999999</c:v>
                </c:pt>
                <c:pt idx="93">
                  <c:v>0.84653500000000004</c:v>
                </c:pt>
                <c:pt idx="94">
                  <c:v>0.86633700000000002</c:v>
                </c:pt>
                <c:pt idx="95">
                  <c:v>0.88613900000000001</c:v>
                </c:pt>
                <c:pt idx="96">
                  <c:v>0.89108900000000002</c:v>
                </c:pt>
                <c:pt idx="97">
                  <c:v>0.89603999999999995</c:v>
                </c:pt>
                <c:pt idx="98">
                  <c:v>0.92574299999999998</c:v>
                </c:pt>
                <c:pt idx="99">
                  <c:v>0.95544600000000002</c:v>
                </c:pt>
              </c:numCache>
            </c:numRef>
          </c:yVal>
          <c:smooth val="0"/>
          <c:extLst>
            <c:ext xmlns:c16="http://schemas.microsoft.com/office/drawing/2014/chart" uri="{C3380CC4-5D6E-409C-BE32-E72D297353CC}">
              <c16:uniqueId val="{00000000-AEBC-45D9-85AE-EBB01EF4B0EE}"/>
            </c:ext>
          </c:extLst>
        </c:ser>
        <c:ser>
          <c:idx val="1"/>
          <c:order val="1"/>
          <c:tx>
            <c:v>Model 2</c:v>
          </c:tx>
          <c:spPr>
            <a:ln w="19050" cap="rnd">
              <a:solidFill>
                <a:schemeClr val="bg1">
                  <a:lumMod val="50000"/>
                </a:schemeClr>
              </a:solidFill>
              <a:prstDash val="dash"/>
              <a:round/>
            </a:ln>
            <a:effectLst/>
          </c:spPr>
          <c:marker>
            <c:symbol val="diamond"/>
            <c:size val="3"/>
            <c:spPr>
              <a:noFill/>
              <a:ln w="9525">
                <a:solidFill>
                  <a:schemeClr val="bg1">
                    <a:lumMod val="50000"/>
                  </a:schemeClr>
                </a:solidFill>
                <a:prstDash val="solid"/>
              </a:ln>
              <a:effectLst/>
            </c:spPr>
          </c:marker>
          <c:xVal>
            <c:numRef>
              <c:f>'heuristics FN-FP'!$B$2:$B$101</c:f>
              <c:numCache>
                <c:formatCode>General</c:formatCode>
                <c:ptCount val="100"/>
                <c:pt idx="0">
                  <c:v>1</c:v>
                </c:pt>
                <c:pt idx="1">
                  <c:v>0.48405999999999999</c:v>
                </c:pt>
                <c:pt idx="2">
                  <c:v>0.24412800000000001</c:v>
                </c:pt>
                <c:pt idx="3">
                  <c:v>0.21560399999999999</c:v>
                </c:pt>
                <c:pt idx="4">
                  <c:v>0.20469799999999999</c:v>
                </c:pt>
                <c:pt idx="5">
                  <c:v>0.17533599999999999</c:v>
                </c:pt>
                <c:pt idx="6">
                  <c:v>0.169463</c:v>
                </c:pt>
                <c:pt idx="7">
                  <c:v>0.16023499999999999</c:v>
                </c:pt>
                <c:pt idx="8">
                  <c:v>0.157718</c:v>
                </c:pt>
                <c:pt idx="9">
                  <c:v>0.157718</c:v>
                </c:pt>
                <c:pt idx="10">
                  <c:v>0.15687899999999999</c:v>
                </c:pt>
                <c:pt idx="11">
                  <c:v>0.14094000000000001</c:v>
                </c:pt>
                <c:pt idx="12">
                  <c:v>0.14094000000000001</c:v>
                </c:pt>
                <c:pt idx="13">
                  <c:v>0.13842299999999999</c:v>
                </c:pt>
                <c:pt idx="14">
                  <c:v>0.13758400000000001</c:v>
                </c:pt>
                <c:pt idx="15">
                  <c:v>0.13758400000000001</c:v>
                </c:pt>
                <c:pt idx="16">
                  <c:v>0.13758400000000001</c:v>
                </c:pt>
                <c:pt idx="17">
                  <c:v>0.13758400000000001</c:v>
                </c:pt>
                <c:pt idx="18">
                  <c:v>0.100671</c:v>
                </c:pt>
                <c:pt idx="19">
                  <c:v>0.100671</c:v>
                </c:pt>
                <c:pt idx="20">
                  <c:v>9.8992999999999998E-2</c:v>
                </c:pt>
                <c:pt idx="21">
                  <c:v>6.9630999999999998E-2</c:v>
                </c:pt>
                <c:pt idx="22">
                  <c:v>6.3757999999999995E-2</c:v>
                </c:pt>
                <c:pt idx="23">
                  <c:v>6.3757999999999995E-2</c:v>
                </c:pt>
                <c:pt idx="24">
                  <c:v>6.3757999999999995E-2</c:v>
                </c:pt>
                <c:pt idx="25">
                  <c:v>6.3757999999999995E-2</c:v>
                </c:pt>
                <c:pt idx="26">
                  <c:v>6.2080999999999997E-2</c:v>
                </c:pt>
                <c:pt idx="27">
                  <c:v>6.2080999999999997E-2</c:v>
                </c:pt>
                <c:pt idx="28">
                  <c:v>6.2080999999999997E-2</c:v>
                </c:pt>
                <c:pt idx="29">
                  <c:v>6.2080999999999997E-2</c:v>
                </c:pt>
                <c:pt idx="30">
                  <c:v>3.6074000000000002E-2</c:v>
                </c:pt>
                <c:pt idx="31">
                  <c:v>3.6074000000000002E-2</c:v>
                </c:pt>
                <c:pt idx="32">
                  <c:v>3.6074000000000002E-2</c:v>
                </c:pt>
                <c:pt idx="33">
                  <c:v>3.4396000000000003E-2</c:v>
                </c:pt>
                <c:pt idx="34">
                  <c:v>3.4396000000000003E-2</c:v>
                </c:pt>
                <c:pt idx="35">
                  <c:v>1.9295E-2</c:v>
                </c:pt>
                <c:pt idx="36">
                  <c:v>1.9295E-2</c:v>
                </c:pt>
                <c:pt idx="37">
                  <c:v>1.7617000000000001E-2</c:v>
                </c:pt>
                <c:pt idx="38">
                  <c:v>1.6778999999999999E-2</c:v>
                </c:pt>
                <c:pt idx="39">
                  <c:v>1.6778999999999999E-2</c:v>
                </c:pt>
                <c:pt idx="40">
                  <c:v>1.6778999999999999E-2</c:v>
                </c:pt>
                <c:pt idx="41">
                  <c:v>1.6778999999999999E-2</c:v>
                </c:pt>
                <c:pt idx="42">
                  <c:v>1.6778999999999999E-2</c:v>
                </c:pt>
                <c:pt idx="43">
                  <c:v>1.6778999999999999E-2</c:v>
                </c:pt>
                <c:pt idx="44">
                  <c:v>1.6778999999999999E-2</c:v>
                </c:pt>
                <c:pt idx="45">
                  <c:v>1.5939999999999999E-2</c:v>
                </c:pt>
                <c:pt idx="46">
                  <c:v>1.5939999999999999E-2</c:v>
                </c:pt>
                <c:pt idx="47">
                  <c:v>1.3422999999999999E-2</c:v>
                </c:pt>
                <c:pt idx="48">
                  <c:v>1.3422999999999999E-2</c:v>
                </c:pt>
                <c:pt idx="49">
                  <c:v>1.3422999999999999E-2</c:v>
                </c:pt>
                <c:pt idx="50">
                  <c:v>1.2584E-2</c:v>
                </c:pt>
                <c:pt idx="51">
                  <c:v>1.2584E-2</c:v>
                </c:pt>
                <c:pt idx="52">
                  <c:v>1.1745E-2</c:v>
                </c:pt>
                <c:pt idx="53">
                  <c:v>1.1745E-2</c:v>
                </c:pt>
                <c:pt idx="54">
                  <c:v>1.1745E-2</c:v>
                </c:pt>
                <c:pt idx="55">
                  <c:v>1.1745E-2</c:v>
                </c:pt>
                <c:pt idx="56">
                  <c:v>1.1745E-2</c:v>
                </c:pt>
                <c:pt idx="57">
                  <c:v>1.1745E-2</c:v>
                </c:pt>
                <c:pt idx="58">
                  <c:v>1.0906000000000001E-2</c:v>
                </c:pt>
                <c:pt idx="59">
                  <c:v>1.0067E-2</c:v>
                </c:pt>
                <c:pt idx="60">
                  <c:v>1.0067E-2</c:v>
                </c:pt>
                <c:pt idx="61">
                  <c:v>1.0067E-2</c:v>
                </c:pt>
                <c:pt idx="62">
                  <c:v>1.0067E-2</c:v>
                </c:pt>
                <c:pt idx="63">
                  <c:v>9.2280000000000001E-3</c:v>
                </c:pt>
                <c:pt idx="64">
                  <c:v>9.2280000000000001E-3</c:v>
                </c:pt>
                <c:pt idx="65">
                  <c:v>6.711E-3</c:v>
                </c:pt>
                <c:pt idx="66">
                  <c:v>6.711E-3</c:v>
                </c:pt>
                <c:pt idx="67">
                  <c:v>6.711E-3</c:v>
                </c:pt>
                <c:pt idx="68">
                  <c:v>6.711E-3</c:v>
                </c:pt>
                <c:pt idx="69">
                  <c:v>5.0340000000000003E-3</c:v>
                </c:pt>
                <c:pt idx="70">
                  <c:v>4.1949999999999999E-3</c:v>
                </c:pt>
                <c:pt idx="71">
                  <c:v>4.1949999999999999E-3</c:v>
                </c:pt>
                <c:pt idx="72">
                  <c:v>4.1949999999999999E-3</c:v>
                </c:pt>
                <c:pt idx="73">
                  <c:v>4.1949999999999999E-3</c:v>
                </c:pt>
                <c:pt idx="74">
                  <c:v>4.1949999999999999E-3</c:v>
                </c:pt>
                <c:pt idx="75">
                  <c:v>2.5170000000000001E-3</c:v>
                </c:pt>
                <c:pt idx="76">
                  <c:v>2.5170000000000001E-3</c:v>
                </c:pt>
                <c:pt idx="77">
                  <c:v>2.5170000000000001E-3</c:v>
                </c:pt>
                <c:pt idx="78">
                  <c:v>2.5170000000000001E-3</c:v>
                </c:pt>
                <c:pt idx="79">
                  <c:v>2.5170000000000001E-3</c:v>
                </c:pt>
                <c:pt idx="80">
                  <c:v>2.5170000000000001E-3</c:v>
                </c:pt>
                <c:pt idx="81">
                  <c:v>2.5170000000000001E-3</c:v>
                </c:pt>
                <c:pt idx="82">
                  <c:v>2.5170000000000001E-3</c:v>
                </c:pt>
                <c:pt idx="83">
                  <c:v>2.5170000000000001E-3</c:v>
                </c:pt>
                <c:pt idx="84">
                  <c:v>2.5170000000000001E-3</c:v>
                </c:pt>
                <c:pt idx="85">
                  <c:v>2.5170000000000001E-3</c:v>
                </c:pt>
                <c:pt idx="86">
                  <c:v>2.5170000000000001E-3</c:v>
                </c:pt>
                <c:pt idx="87">
                  <c:v>2.5170000000000001E-3</c:v>
                </c:pt>
                <c:pt idx="88">
                  <c:v>2.5170000000000001E-3</c:v>
                </c:pt>
                <c:pt idx="89">
                  <c:v>2.5170000000000001E-3</c:v>
                </c:pt>
                <c:pt idx="90">
                  <c:v>2.5170000000000001E-3</c:v>
                </c:pt>
                <c:pt idx="91">
                  <c:v>2.5170000000000001E-3</c:v>
                </c:pt>
                <c:pt idx="92">
                  <c:v>2.5170000000000001E-3</c:v>
                </c:pt>
                <c:pt idx="93">
                  <c:v>2.5170000000000001E-3</c:v>
                </c:pt>
                <c:pt idx="94">
                  <c:v>2.5170000000000001E-3</c:v>
                </c:pt>
                <c:pt idx="95">
                  <c:v>2.5170000000000001E-3</c:v>
                </c:pt>
                <c:pt idx="96">
                  <c:v>2.5170000000000001E-3</c:v>
                </c:pt>
                <c:pt idx="97">
                  <c:v>2.5170000000000001E-3</c:v>
                </c:pt>
                <c:pt idx="98">
                  <c:v>2.5170000000000001E-3</c:v>
                </c:pt>
                <c:pt idx="99">
                  <c:v>0</c:v>
                </c:pt>
              </c:numCache>
            </c:numRef>
          </c:xVal>
          <c:yVal>
            <c:numRef>
              <c:f>'heuristics FN-FP'!$C$2:$C$101</c:f>
              <c:numCache>
                <c:formatCode>General</c:formatCode>
                <c:ptCount val="100"/>
                <c:pt idx="0">
                  <c:v>0</c:v>
                </c:pt>
                <c:pt idx="1">
                  <c:v>7.0000000000000007E-2</c:v>
                </c:pt>
                <c:pt idx="2">
                  <c:v>0.1</c:v>
                </c:pt>
                <c:pt idx="3">
                  <c:v>0.11</c:v>
                </c:pt>
                <c:pt idx="4">
                  <c:v>0.125</c:v>
                </c:pt>
                <c:pt idx="5">
                  <c:v>0.125</c:v>
                </c:pt>
                <c:pt idx="6">
                  <c:v>0.125</c:v>
                </c:pt>
                <c:pt idx="7">
                  <c:v>0.125</c:v>
                </c:pt>
                <c:pt idx="8">
                  <c:v>0.13</c:v>
                </c:pt>
                <c:pt idx="9">
                  <c:v>0.13</c:v>
                </c:pt>
                <c:pt idx="10">
                  <c:v>0.13</c:v>
                </c:pt>
                <c:pt idx="11">
                  <c:v>0.13</c:v>
                </c:pt>
                <c:pt idx="12">
                  <c:v>0.13</c:v>
                </c:pt>
                <c:pt idx="13">
                  <c:v>0.13</c:v>
                </c:pt>
                <c:pt idx="14">
                  <c:v>0.13</c:v>
                </c:pt>
                <c:pt idx="15">
                  <c:v>0.13</c:v>
                </c:pt>
                <c:pt idx="16">
                  <c:v>0.13</c:v>
                </c:pt>
                <c:pt idx="17">
                  <c:v>0.13</c:v>
                </c:pt>
                <c:pt idx="18">
                  <c:v>0.14000000000000001</c:v>
                </c:pt>
                <c:pt idx="19">
                  <c:v>0.15</c:v>
                </c:pt>
                <c:pt idx="20">
                  <c:v>0.15</c:v>
                </c:pt>
                <c:pt idx="21">
                  <c:v>0.18</c:v>
                </c:pt>
                <c:pt idx="22">
                  <c:v>0.18</c:v>
                </c:pt>
                <c:pt idx="23">
                  <c:v>0.18</c:v>
                </c:pt>
                <c:pt idx="24">
                  <c:v>0.18</c:v>
                </c:pt>
                <c:pt idx="25">
                  <c:v>0.18</c:v>
                </c:pt>
                <c:pt idx="26">
                  <c:v>0.18</c:v>
                </c:pt>
                <c:pt idx="27">
                  <c:v>0.18</c:v>
                </c:pt>
                <c:pt idx="28">
                  <c:v>0.18</c:v>
                </c:pt>
                <c:pt idx="29">
                  <c:v>0.18</c:v>
                </c:pt>
                <c:pt idx="30">
                  <c:v>0.2</c:v>
                </c:pt>
                <c:pt idx="31">
                  <c:v>0.2</c:v>
                </c:pt>
                <c:pt idx="32">
                  <c:v>0.2</c:v>
                </c:pt>
                <c:pt idx="33">
                  <c:v>0.2</c:v>
                </c:pt>
                <c:pt idx="34">
                  <c:v>0.2</c:v>
                </c:pt>
                <c:pt idx="35">
                  <c:v>0.21782199999999999</c:v>
                </c:pt>
                <c:pt idx="36">
                  <c:v>0.21782199999999999</c:v>
                </c:pt>
                <c:pt idx="37">
                  <c:v>0.24257400000000001</c:v>
                </c:pt>
                <c:pt idx="38">
                  <c:v>0.24257400000000001</c:v>
                </c:pt>
                <c:pt idx="39">
                  <c:v>0.24257400000000001</c:v>
                </c:pt>
                <c:pt idx="40">
                  <c:v>0.252475</c:v>
                </c:pt>
                <c:pt idx="41">
                  <c:v>0.252475</c:v>
                </c:pt>
                <c:pt idx="42">
                  <c:v>0.29207899999999998</c:v>
                </c:pt>
                <c:pt idx="43">
                  <c:v>0.29207899999999998</c:v>
                </c:pt>
                <c:pt idx="44">
                  <c:v>0.29207899999999998</c:v>
                </c:pt>
                <c:pt idx="45">
                  <c:v>0.29207899999999998</c:v>
                </c:pt>
                <c:pt idx="46">
                  <c:v>0.29207899999999998</c:v>
                </c:pt>
                <c:pt idx="47">
                  <c:v>0.33168300000000001</c:v>
                </c:pt>
                <c:pt idx="48">
                  <c:v>0.33168300000000001</c:v>
                </c:pt>
                <c:pt idx="49">
                  <c:v>0.33168300000000001</c:v>
                </c:pt>
                <c:pt idx="50">
                  <c:v>0.33168300000000001</c:v>
                </c:pt>
                <c:pt idx="51">
                  <c:v>0.33168300000000001</c:v>
                </c:pt>
                <c:pt idx="52">
                  <c:v>0.33168300000000001</c:v>
                </c:pt>
                <c:pt idx="53">
                  <c:v>0.33168300000000001</c:v>
                </c:pt>
                <c:pt idx="54">
                  <c:v>0.33168300000000001</c:v>
                </c:pt>
                <c:pt idx="55">
                  <c:v>0.33663399999999999</c:v>
                </c:pt>
                <c:pt idx="56">
                  <c:v>0.33663399999999999</c:v>
                </c:pt>
                <c:pt idx="57">
                  <c:v>0.33663399999999999</c:v>
                </c:pt>
                <c:pt idx="58">
                  <c:v>0.34653499999999998</c:v>
                </c:pt>
                <c:pt idx="59">
                  <c:v>0.35148499999999999</c:v>
                </c:pt>
                <c:pt idx="60">
                  <c:v>0.35643599999999998</c:v>
                </c:pt>
                <c:pt idx="61">
                  <c:v>0.35643599999999998</c:v>
                </c:pt>
                <c:pt idx="62">
                  <c:v>0.35643599999999998</c:v>
                </c:pt>
                <c:pt idx="63">
                  <c:v>0.37128699999999998</c:v>
                </c:pt>
                <c:pt idx="64">
                  <c:v>0.37128699999999998</c:v>
                </c:pt>
                <c:pt idx="65">
                  <c:v>0.37623800000000002</c:v>
                </c:pt>
                <c:pt idx="66">
                  <c:v>0.37623800000000002</c:v>
                </c:pt>
                <c:pt idx="67">
                  <c:v>0.39108900000000002</c:v>
                </c:pt>
                <c:pt idx="68">
                  <c:v>0.39604</c:v>
                </c:pt>
                <c:pt idx="69">
                  <c:v>0.41584199999999999</c:v>
                </c:pt>
                <c:pt idx="70">
                  <c:v>0.41584199999999999</c:v>
                </c:pt>
                <c:pt idx="71">
                  <c:v>0.42574299999999998</c:v>
                </c:pt>
                <c:pt idx="72">
                  <c:v>0.44059399999999999</c:v>
                </c:pt>
                <c:pt idx="73">
                  <c:v>0.475248</c:v>
                </c:pt>
                <c:pt idx="74">
                  <c:v>0.475248</c:v>
                </c:pt>
                <c:pt idx="75">
                  <c:v>0.51980199999999999</c:v>
                </c:pt>
                <c:pt idx="76">
                  <c:v>0.51980199999999999</c:v>
                </c:pt>
                <c:pt idx="77">
                  <c:v>0.51980199999999999</c:v>
                </c:pt>
                <c:pt idx="78">
                  <c:v>0.53960399999999997</c:v>
                </c:pt>
                <c:pt idx="79">
                  <c:v>0.54950500000000002</c:v>
                </c:pt>
                <c:pt idx="80">
                  <c:v>0.55445500000000003</c:v>
                </c:pt>
                <c:pt idx="81">
                  <c:v>0.55445500000000003</c:v>
                </c:pt>
                <c:pt idx="82">
                  <c:v>0.58415799999999996</c:v>
                </c:pt>
                <c:pt idx="83">
                  <c:v>0.59901000000000004</c:v>
                </c:pt>
                <c:pt idx="84">
                  <c:v>0.61881200000000003</c:v>
                </c:pt>
                <c:pt idx="85">
                  <c:v>0.61881200000000003</c:v>
                </c:pt>
                <c:pt idx="86">
                  <c:v>0.62871299999999997</c:v>
                </c:pt>
                <c:pt idx="87">
                  <c:v>0.63861400000000001</c:v>
                </c:pt>
                <c:pt idx="88">
                  <c:v>0.66336600000000001</c:v>
                </c:pt>
                <c:pt idx="89">
                  <c:v>0.67821799999999999</c:v>
                </c:pt>
                <c:pt idx="90">
                  <c:v>0.70296999999999998</c:v>
                </c:pt>
                <c:pt idx="91">
                  <c:v>0.72277199999999997</c:v>
                </c:pt>
                <c:pt idx="92">
                  <c:v>0.73267300000000002</c:v>
                </c:pt>
                <c:pt idx="93">
                  <c:v>0.752475</c:v>
                </c:pt>
                <c:pt idx="94">
                  <c:v>0.80693099999999995</c:v>
                </c:pt>
                <c:pt idx="95">
                  <c:v>0.82673300000000005</c:v>
                </c:pt>
                <c:pt idx="96">
                  <c:v>0.86633700000000002</c:v>
                </c:pt>
                <c:pt idx="97">
                  <c:v>0.88118799999999997</c:v>
                </c:pt>
                <c:pt idx="98">
                  <c:v>0.93069299999999999</c:v>
                </c:pt>
                <c:pt idx="99">
                  <c:v>0.94059400000000004</c:v>
                </c:pt>
              </c:numCache>
            </c:numRef>
          </c:yVal>
          <c:smooth val="0"/>
          <c:extLst>
            <c:ext xmlns:c16="http://schemas.microsoft.com/office/drawing/2014/chart" uri="{C3380CC4-5D6E-409C-BE32-E72D297353CC}">
              <c16:uniqueId val="{00000001-AEBC-45D9-85AE-EBB01EF4B0EE}"/>
            </c:ext>
          </c:extLst>
        </c:ser>
        <c:dLbls>
          <c:showLegendKey val="0"/>
          <c:showVal val="0"/>
          <c:showCatName val="0"/>
          <c:showSerName val="0"/>
          <c:showPercent val="0"/>
          <c:showBubbleSize val="0"/>
        </c:dLbls>
        <c:axId val="-324820608"/>
        <c:axId val="-324817344"/>
      </c:scatterChart>
      <c:valAx>
        <c:axId val="-324820608"/>
        <c:scaling>
          <c:orientation val="minMax"/>
          <c:max val="1"/>
        </c:scaling>
        <c:delete val="0"/>
        <c:axPos val="t"/>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False Positive Rate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4817344"/>
        <c:crosses val="autoZero"/>
        <c:crossBetween val="midCat"/>
        <c:majorUnit val="0.1"/>
      </c:valAx>
      <c:valAx>
        <c:axId val="-324817344"/>
        <c:scaling>
          <c:orientation val="maxMin"/>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False Negative Rate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4820608"/>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v>Model 1</c:v>
          </c:tx>
          <c:spPr>
            <a:ln w="19050" cap="rnd">
              <a:solidFill>
                <a:schemeClr val="bg1">
                  <a:lumMod val="50000"/>
                </a:schemeClr>
              </a:solidFill>
              <a:prstDash val="sysDot"/>
              <a:round/>
            </a:ln>
            <a:effectLst/>
          </c:spPr>
          <c:marker>
            <c:symbol val="circle"/>
            <c:size val="5"/>
            <c:spPr>
              <a:noFill/>
              <a:ln w="9525">
                <a:solidFill>
                  <a:schemeClr val="bg1">
                    <a:lumMod val="50000"/>
                  </a:schemeClr>
                </a:solidFill>
              </a:ln>
              <a:effectLst/>
            </c:spPr>
          </c:marker>
          <c:xVal>
            <c:numRef>
              <c:f>'no heuristics FN-FP'!$B$2:$B$101</c:f>
              <c:numCache>
                <c:formatCode>General</c:formatCode>
                <c:ptCount val="100"/>
                <c:pt idx="0">
                  <c:v>1</c:v>
                </c:pt>
                <c:pt idx="1">
                  <c:v>1</c:v>
                </c:pt>
                <c:pt idx="2">
                  <c:v>1</c:v>
                </c:pt>
                <c:pt idx="3">
                  <c:v>0.59479899999999997</c:v>
                </c:pt>
                <c:pt idx="4">
                  <c:v>0.59479899999999997</c:v>
                </c:pt>
                <c:pt idx="5">
                  <c:v>0.41107399999999999</c:v>
                </c:pt>
                <c:pt idx="6">
                  <c:v>0.41107399999999999</c:v>
                </c:pt>
                <c:pt idx="7">
                  <c:v>0.41107399999999999</c:v>
                </c:pt>
                <c:pt idx="8">
                  <c:v>0.223993</c:v>
                </c:pt>
                <c:pt idx="9">
                  <c:v>0.21224799999999999</c:v>
                </c:pt>
                <c:pt idx="10">
                  <c:v>0.21224799999999999</c:v>
                </c:pt>
                <c:pt idx="11">
                  <c:v>0.21224799999999999</c:v>
                </c:pt>
                <c:pt idx="12">
                  <c:v>0.21224799999999999</c:v>
                </c:pt>
                <c:pt idx="13">
                  <c:v>8.3892999999999995E-2</c:v>
                </c:pt>
                <c:pt idx="14">
                  <c:v>6.7953E-2</c:v>
                </c:pt>
                <c:pt idx="15">
                  <c:v>6.7953E-2</c:v>
                </c:pt>
                <c:pt idx="16">
                  <c:v>6.7953E-2</c:v>
                </c:pt>
                <c:pt idx="17">
                  <c:v>6.6275000000000001E-2</c:v>
                </c:pt>
                <c:pt idx="18">
                  <c:v>6.6275000000000001E-2</c:v>
                </c:pt>
                <c:pt idx="19">
                  <c:v>6.6275000000000001E-2</c:v>
                </c:pt>
                <c:pt idx="20">
                  <c:v>5.4530000000000002E-2</c:v>
                </c:pt>
                <c:pt idx="21">
                  <c:v>5.4530000000000002E-2</c:v>
                </c:pt>
                <c:pt idx="22">
                  <c:v>5.4530000000000002E-2</c:v>
                </c:pt>
                <c:pt idx="23">
                  <c:v>3.3556999999999997E-2</c:v>
                </c:pt>
                <c:pt idx="24">
                  <c:v>3.3556999999999997E-2</c:v>
                </c:pt>
                <c:pt idx="25">
                  <c:v>3.3556999999999997E-2</c:v>
                </c:pt>
                <c:pt idx="26">
                  <c:v>3.3556999999999997E-2</c:v>
                </c:pt>
                <c:pt idx="27">
                  <c:v>3.1878999999999998E-2</c:v>
                </c:pt>
                <c:pt idx="28">
                  <c:v>3.1878999999999998E-2</c:v>
                </c:pt>
                <c:pt idx="29">
                  <c:v>3.1878999999999998E-2</c:v>
                </c:pt>
                <c:pt idx="30">
                  <c:v>3.1878999999999998E-2</c:v>
                </c:pt>
                <c:pt idx="31">
                  <c:v>2.4329E-2</c:v>
                </c:pt>
                <c:pt idx="32">
                  <c:v>2.4329E-2</c:v>
                </c:pt>
                <c:pt idx="33">
                  <c:v>2.4329E-2</c:v>
                </c:pt>
                <c:pt idx="34">
                  <c:v>2.349E-2</c:v>
                </c:pt>
                <c:pt idx="35">
                  <c:v>2.349E-2</c:v>
                </c:pt>
                <c:pt idx="36">
                  <c:v>2.1812000000000002E-2</c:v>
                </c:pt>
                <c:pt idx="37">
                  <c:v>2.1812000000000002E-2</c:v>
                </c:pt>
                <c:pt idx="38">
                  <c:v>2.1812000000000002E-2</c:v>
                </c:pt>
                <c:pt idx="39">
                  <c:v>2.1812000000000002E-2</c:v>
                </c:pt>
                <c:pt idx="40">
                  <c:v>2.0972999999999999E-2</c:v>
                </c:pt>
                <c:pt idx="41">
                  <c:v>2.0972999999999999E-2</c:v>
                </c:pt>
                <c:pt idx="42">
                  <c:v>1.9295E-2</c:v>
                </c:pt>
                <c:pt idx="43">
                  <c:v>1.9295E-2</c:v>
                </c:pt>
                <c:pt idx="44">
                  <c:v>1.0067E-2</c:v>
                </c:pt>
                <c:pt idx="45">
                  <c:v>1.0067E-2</c:v>
                </c:pt>
                <c:pt idx="46">
                  <c:v>1.0067E-2</c:v>
                </c:pt>
                <c:pt idx="47">
                  <c:v>1.0067E-2</c:v>
                </c:pt>
                <c:pt idx="48">
                  <c:v>1.0067E-2</c:v>
                </c:pt>
                <c:pt idx="49">
                  <c:v>1.0067E-2</c:v>
                </c:pt>
                <c:pt idx="50">
                  <c:v>1.0067E-2</c:v>
                </c:pt>
                <c:pt idx="51">
                  <c:v>7.5500000000000003E-3</c:v>
                </c:pt>
                <c:pt idx="52">
                  <c:v>7.5500000000000003E-3</c:v>
                </c:pt>
                <c:pt idx="53">
                  <c:v>7.5500000000000003E-3</c:v>
                </c:pt>
                <c:pt idx="54">
                  <c:v>7.5500000000000003E-3</c:v>
                </c:pt>
                <c:pt idx="55">
                  <c:v>7.5500000000000003E-3</c:v>
                </c:pt>
                <c:pt idx="56">
                  <c:v>7.5500000000000003E-3</c:v>
                </c:pt>
                <c:pt idx="57">
                  <c:v>7.5500000000000003E-3</c:v>
                </c:pt>
                <c:pt idx="58">
                  <c:v>7.5500000000000003E-3</c:v>
                </c:pt>
                <c:pt idx="59">
                  <c:v>5.8719999999999996E-3</c:v>
                </c:pt>
                <c:pt idx="60">
                  <c:v>5.8719999999999996E-3</c:v>
                </c:pt>
                <c:pt idx="61">
                  <c:v>5.0340000000000003E-3</c:v>
                </c:pt>
                <c:pt idx="62">
                  <c:v>5.0340000000000003E-3</c:v>
                </c:pt>
                <c:pt idx="63">
                  <c:v>5.0340000000000003E-3</c:v>
                </c:pt>
                <c:pt idx="64">
                  <c:v>5.0340000000000003E-3</c:v>
                </c:pt>
                <c:pt idx="65">
                  <c:v>5.0340000000000003E-3</c:v>
                </c:pt>
                <c:pt idx="66">
                  <c:v>5.0340000000000003E-3</c:v>
                </c:pt>
                <c:pt idx="67">
                  <c:v>5.0340000000000003E-3</c:v>
                </c:pt>
                <c:pt idx="68">
                  <c:v>5.0340000000000003E-3</c:v>
                </c:pt>
                <c:pt idx="69">
                  <c:v>5.0340000000000003E-3</c:v>
                </c:pt>
                <c:pt idx="70">
                  <c:v>5.0340000000000003E-3</c:v>
                </c:pt>
                <c:pt idx="71">
                  <c:v>5.0340000000000003E-3</c:v>
                </c:pt>
                <c:pt idx="72">
                  <c:v>4.1949999999999999E-3</c:v>
                </c:pt>
                <c:pt idx="73">
                  <c:v>4.1949999999999999E-3</c:v>
                </c:pt>
                <c:pt idx="74">
                  <c:v>4.1949999999999999E-3</c:v>
                </c:pt>
                <c:pt idx="75">
                  <c:v>4.1949999999999999E-3</c:v>
                </c:pt>
                <c:pt idx="76">
                  <c:v>4.1949999999999999E-3</c:v>
                </c:pt>
                <c:pt idx="77">
                  <c:v>4.1949999999999999E-3</c:v>
                </c:pt>
                <c:pt idx="78">
                  <c:v>4.1949999999999999E-3</c:v>
                </c:pt>
                <c:pt idx="79">
                  <c:v>4.1949999999999999E-3</c:v>
                </c:pt>
                <c:pt idx="80">
                  <c:v>4.1949999999999999E-3</c:v>
                </c:pt>
                <c:pt idx="81">
                  <c:v>3.356E-3</c:v>
                </c:pt>
                <c:pt idx="82">
                  <c:v>3.356E-3</c:v>
                </c:pt>
                <c:pt idx="83">
                  <c:v>3.356E-3</c:v>
                </c:pt>
                <c:pt idx="84">
                  <c:v>3.356E-3</c:v>
                </c:pt>
                <c:pt idx="85">
                  <c:v>3.356E-3</c:v>
                </c:pt>
                <c:pt idx="86">
                  <c:v>3.356E-3</c:v>
                </c:pt>
                <c:pt idx="87">
                  <c:v>3.356E-3</c:v>
                </c:pt>
                <c:pt idx="88">
                  <c:v>3.356E-3</c:v>
                </c:pt>
                <c:pt idx="89">
                  <c:v>2.5170000000000001E-3</c:v>
                </c:pt>
                <c:pt idx="90">
                  <c:v>2.5170000000000001E-3</c:v>
                </c:pt>
                <c:pt idx="91">
                  <c:v>2.5170000000000001E-3</c:v>
                </c:pt>
                <c:pt idx="92">
                  <c:v>2.5170000000000001E-3</c:v>
                </c:pt>
                <c:pt idx="93">
                  <c:v>2.5170000000000001E-3</c:v>
                </c:pt>
                <c:pt idx="94">
                  <c:v>2.5170000000000001E-3</c:v>
                </c:pt>
                <c:pt idx="95">
                  <c:v>2.5170000000000001E-3</c:v>
                </c:pt>
                <c:pt idx="96">
                  <c:v>0</c:v>
                </c:pt>
                <c:pt idx="97">
                  <c:v>0</c:v>
                </c:pt>
                <c:pt idx="98">
                  <c:v>0</c:v>
                </c:pt>
                <c:pt idx="99">
                  <c:v>0</c:v>
                </c:pt>
              </c:numCache>
            </c:numRef>
          </c:xVal>
          <c:yVal>
            <c:numRef>
              <c:f>'no heuristics FN-FP'!$C$2:$C$101</c:f>
              <c:numCache>
                <c:formatCode>General</c:formatCode>
                <c:ptCount val="100"/>
                <c:pt idx="0">
                  <c:v>0</c:v>
                </c:pt>
                <c:pt idx="1">
                  <c:v>0</c:v>
                </c:pt>
                <c:pt idx="2">
                  <c:v>0</c:v>
                </c:pt>
                <c:pt idx="3">
                  <c:v>0.02</c:v>
                </c:pt>
                <c:pt idx="4">
                  <c:v>0.02</c:v>
                </c:pt>
                <c:pt idx="5">
                  <c:v>0.03</c:v>
                </c:pt>
                <c:pt idx="6">
                  <c:v>0.03</c:v>
                </c:pt>
                <c:pt idx="7">
                  <c:v>0.03</c:v>
                </c:pt>
                <c:pt idx="8">
                  <c:v>4.4999999999999998E-2</c:v>
                </c:pt>
                <c:pt idx="9">
                  <c:v>0.05</c:v>
                </c:pt>
                <c:pt idx="10">
                  <c:v>0.05</c:v>
                </c:pt>
                <c:pt idx="11">
                  <c:v>0.05</c:v>
                </c:pt>
                <c:pt idx="12">
                  <c:v>0.05</c:v>
                </c:pt>
                <c:pt idx="13">
                  <c:v>0.1</c:v>
                </c:pt>
                <c:pt idx="14">
                  <c:v>0.15</c:v>
                </c:pt>
                <c:pt idx="15">
                  <c:v>0.15</c:v>
                </c:pt>
                <c:pt idx="16">
                  <c:v>0.15</c:v>
                </c:pt>
                <c:pt idx="17">
                  <c:v>0.15</c:v>
                </c:pt>
                <c:pt idx="18">
                  <c:v>0.15</c:v>
                </c:pt>
                <c:pt idx="19">
                  <c:v>0.15</c:v>
                </c:pt>
                <c:pt idx="20">
                  <c:v>0.25</c:v>
                </c:pt>
                <c:pt idx="21">
                  <c:v>0.25</c:v>
                </c:pt>
                <c:pt idx="22">
                  <c:v>0.25</c:v>
                </c:pt>
                <c:pt idx="23">
                  <c:v>0.35148499999999999</c:v>
                </c:pt>
                <c:pt idx="24">
                  <c:v>0.35148499999999999</c:v>
                </c:pt>
                <c:pt idx="25">
                  <c:v>0.35148499999999999</c:v>
                </c:pt>
                <c:pt idx="26">
                  <c:v>0.35148499999999999</c:v>
                </c:pt>
                <c:pt idx="27">
                  <c:v>0.36138599999999999</c:v>
                </c:pt>
                <c:pt idx="28">
                  <c:v>0.36138599999999999</c:v>
                </c:pt>
                <c:pt idx="29">
                  <c:v>0.36138599999999999</c:v>
                </c:pt>
                <c:pt idx="30">
                  <c:v>0.36138599999999999</c:v>
                </c:pt>
                <c:pt idx="31">
                  <c:v>0.37128699999999998</c:v>
                </c:pt>
                <c:pt idx="32">
                  <c:v>0.37128699999999998</c:v>
                </c:pt>
                <c:pt idx="33">
                  <c:v>0.37128699999999998</c:v>
                </c:pt>
                <c:pt idx="34">
                  <c:v>0.38613900000000001</c:v>
                </c:pt>
                <c:pt idx="35">
                  <c:v>0.38613900000000001</c:v>
                </c:pt>
                <c:pt idx="36">
                  <c:v>0.38613900000000001</c:v>
                </c:pt>
                <c:pt idx="37">
                  <c:v>0.38613900000000001</c:v>
                </c:pt>
                <c:pt idx="38">
                  <c:v>0.38613900000000001</c:v>
                </c:pt>
                <c:pt idx="39">
                  <c:v>0.38613900000000001</c:v>
                </c:pt>
                <c:pt idx="40">
                  <c:v>0.38613900000000001</c:v>
                </c:pt>
                <c:pt idx="41">
                  <c:v>0.38613900000000001</c:v>
                </c:pt>
                <c:pt idx="42">
                  <c:v>0.39108900000000002</c:v>
                </c:pt>
                <c:pt idx="43">
                  <c:v>0.405941</c:v>
                </c:pt>
                <c:pt idx="44">
                  <c:v>0.44059399999999999</c:v>
                </c:pt>
                <c:pt idx="45">
                  <c:v>0.44059399999999999</c:v>
                </c:pt>
                <c:pt idx="46">
                  <c:v>0.44059399999999999</c:v>
                </c:pt>
                <c:pt idx="47">
                  <c:v>0.44059399999999999</c:v>
                </c:pt>
                <c:pt idx="48">
                  <c:v>0.44059399999999999</c:v>
                </c:pt>
                <c:pt idx="49">
                  <c:v>0.46534700000000001</c:v>
                </c:pt>
                <c:pt idx="50">
                  <c:v>0.46534700000000001</c:v>
                </c:pt>
                <c:pt idx="51">
                  <c:v>0.49504999999999999</c:v>
                </c:pt>
                <c:pt idx="52">
                  <c:v>0.49504999999999999</c:v>
                </c:pt>
                <c:pt idx="53">
                  <c:v>0.49504999999999999</c:v>
                </c:pt>
                <c:pt idx="54">
                  <c:v>0.5</c:v>
                </c:pt>
                <c:pt idx="55">
                  <c:v>0.5</c:v>
                </c:pt>
                <c:pt idx="56">
                  <c:v>0.5</c:v>
                </c:pt>
                <c:pt idx="57">
                  <c:v>0.53960399999999997</c:v>
                </c:pt>
                <c:pt idx="58">
                  <c:v>0.54950500000000002</c:v>
                </c:pt>
                <c:pt idx="59">
                  <c:v>0.58415799999999996</c:v>
                </c:pt>
                <c:pt idx="60">
                  <c:v>0.58415799999999996</c:v>
                </c:pt>
                <c:pt idx="61">
                  <c:v>0.58910899999999999</c:v>
                </c:pt>
                <c:pt idx="62">
                  <c:v>0.58910899999999999</c:v>
                </c:pt>
                <c:pt idx="63">
                  <c:v>0.58910899999999999</c:v>
                </c:pt>
                <c:pt idx="64">
                  <c:v>0.58910899999999999</c:v>
                </c:pt>
                <c:pt idx="65">
                  <c:v>0.59901000000000004</c:v>
                </c:pt>
                <c:pt idx="66">
                  <c:v>0.59901000000000004</c:v>
                </c:pt>
                <c:pt idx="67">
                  <c:v>0.62871299999999997</c:v>
                </c:pt>
                <c:pt idx="68">
                  <c:v>0.63366299999999998</c:v>
                </c:pt>
                <c:pt idx="69">
                  <c:v>0.63366299999999998</c:v>
                </c:pt>
                <c:pt idx="70">
                  <c:v>0.63366299999999998</c:v>
                </c:pt>
                <c:pt idx="71">
                  <c:v>0.63861400000000001</c:v>
                </c:pt>
                <c:pt idx="72">
                  <c:v>0.66336600000000001</c:v>
                </c:pt>
                <c:pt idx="73">
                  <c:v>0.66336600000000001</c:v>
                </c:pt>
                <c:pt idx="74">
                  <c:v>0.66336600000000001</c:v>
                </c:pt>
                <c:pt idx="75">
                  <c:v>0.66336600000000001</c:v>
                </c:pt>
                <c:pt idx="76">
                  <c:v>0.68811900000000004</c:v>
                </c:pt>
                <c:pt idx="77">
                  <c:v>0.70792100000000002</c:v>
                </c:pt>
                <c:pt idx="78">
                  <c:v>0.70792100000000002</c:v>
                </c:pt>
                <c:pt idx="79">
                  <c:v>0.74257399999999996</c:v>
                </c:pt>
                <c:pt idx="80">
                  <c:v>0.74257399999999996</c:v>
                </c:pt>
                <c:pt idx="81">
                  <c:v>0.74257399999999996</c:v>
                </c:pt>
                <c:pt idx="82">
                  <c:v>0.74257399999999996</c:v>
                </c:pt>
                <c:pt idx="83">
                  <c:v>0.752475</c:v>
                </c:pt>
                <c:pt idx="84">
                  <c:v>0.75742600000000004</c:v>
                </c:pt>
                <c:pt idx="85">
                  <c:v>0.76732699999999998</c:v>
                </c:pt>
                <c:pt idx="86">
                  <c:v>0.76732699999999998</c:v>
                </c:pt>
                <c:pt idx="87">
                  <c:v>0.77227699999999999</c:v>
                </c:pt>
                <c:pt idx="88">
                  <c:v>0.78712899999999997</c:v>
                </c:pt>
                <c:pt idx="89">
                  <c:v>0.80198000000000003</c:v>
                </c:pt>
                <c:pt idx="90">
                  <c:v>0.80198000000000003</c:v>
                </c:pt>
                <c:pt idx="91">
                  <c:v>0.82178200000000001</c:v>
                </c:pt>
                <c:pt idx="92">
                  <c:v>0.83663399999999999</c:v>
                </c:pt>
                <c:pt idx="93">
                  <c:v>0.84653500000000004</c:v>
                </c:pt>
                <c:pt idx="94">
                  <c:v>0.86633700000000002</c:v>
                </c:pt>
                <c:pt idx="95">
                  <c:v>0.88613900000000001</c:v>
                </c:pt>
                <c:pt idx="96">
                  <c:v>0.89108900000000002</c:v>
                </c:pt>
                <c:pt idx="97">
                  <c:v>0.89603999999999995</c:v>
                </c:pt>
                <c:pt idx="98">
                  <c:v>0.92574299999999998</c:v>
                </c:pt>
                <c:pt idx="99">
                  <c:v>0.95544600000000002</c:v>
                </c:pt>
              </c:numCache>
            </c:numRef>
          </c:yVal>
          <c:smooth val="0"/>
          <c:extLst>
            <c:ext xmlns:c16="http://schemas.microsoft.com/office/drawing/2014/chart" uri="{C3380CC4-5D6E-409C-BE32-E72D297353CC}">
              <c16:uniqueId val="{00000000-7FF7-4F40-B97A-AC67D7656838}"/>
            </c:ext>
          </c:extLst>
        </c:ser>
        <c:ser>
          <c:idx val="1"/>
          <c:order val="1"/>
          <c:tx>
            <c:v>Model 2</c:v>
          </c:tx>
          <c:spPr>
            <a:ln w="19050" cap="rnd">
              <a:solidFill>
                <a:schemeClr val="bg1">
                  <a:lumMod val="50000"/>
                </a:schemeClr>
              </a:solidFill>
              <a:prstDash val="dash"/>
              <a:round/>
            </a:ln>
            <a:effectLst/>
          </c:spPr>
          <c:marker>
            <c:symbol val="diamond"/>
            <c:size val="3"/>
            <c:spPr>
              <a:noFill/>
              <a:ln w="9525">
                <a:solidFill>
                  <a:schemeClr val="bg1">
                    <a:lumMod val="50000"/>
                  </a:schemeClr>
                </a:solidFill>
                <a:prstDash val="solid"/>
              </a:ln>
              <a:effectLst/>
            </c:spPr>
          </c:marker>
          <c:xVal>
            <c:numRef>
              <c:f>'heuristics FN-FP'!$B$2:$B$101</c:f>
              <c:numCache>
                <c:formatCode>General</c:formatCode>
                <c:ptCount val="100"/>
                <c:pt idx="0">
                  <c:v>1</c:v>
                </c:pt>
                <c:pt idx="1">
                  <c:v>0.48405999999999999</c:v>
                </c:pt>
                <c:pt idx="2">
                  <c:v>0.24412800000000001</c:v>
                </c:pt>
                <c:pt idx="3">
                  <c:v>0.21560399999999999</c:v>
                </c:pt>
                <c:pt idx="4">
                  <c:v>0.20469799999999999</c:v>
                </c:pt>
                <c:pt idx="5">
                  <c:v>0.17533599999999999</c:v>
                </c:pt>
                <c:pt idx="6">
                  <c:v>0.169463</c:v>
                </c:pt>
                <c:pt idx="7">
                  <c:v>0.16023499999999999</c:v>
                </c:pt>
                <c:pt idx="8">
                  <c:v>0.157718</c:v>
                </c:pt>
                <c:pt idx="9">
                  <c:v>0.157718</c:v>
                </c:pt>
                <c:pt idx="10">
                  <c:v>0.15687899999999999</c:v>
                </c:pt>
                <c:pt idx="11">
                  <c:v>0.14094000000000001</c:v>
                </c:pt>
                <c:pt idx="12">
                  <c:v>0.14094000000000001</c:v>
                </c:pt>
                <c:pt idx="13">
                  <c:v>0.13842299999999999</c:v>
                </c:pt>
                <c:pt idx="14">
                  <c:v>0.13758400000000001</c:v>
                </c:pt>
                <c:pt idx="15">
                  <c:v>0.13758400000000001</c:v>
                </c:pt>
                <c:pt idx="16">
                  <c:v>0.13758400000000001</c:v>
                </c:pt>
                <c:pt idx="17">
                  <c:v>0.13758400000000001</c:v>
                </c:pt>
                <c:pt idx="18">
                  <c:v>0.100671</c:v>
                </c:pt>
                <c:pt idx="19">
                  <c:v>0.100671</c:v>
                </c:pt>
                <c:pt idx="20">
                  <c:v>9.8992999999999998E-2</c:v>
                </c:pt>
                <c:pt idx="21">
                  <c:v>6.9630999999999998E-2</c:v>
                </c:pt>
                <c:pt idx="22">
                  <c:v>6.3757999999999995E-2</c:v>
                </c:pt>
                <c:pt idx="23">
                  <c:v>6.3757999999999995E-2</c:v>
                </c:pt>
                <c:pt idx="24">
                  <c:v>6.3757999999999995E-2</c:v>
                </c:pt>
                <c:pt idx="25">
                  <c:v>6.3757999999999995E-2</c:v>
                </c:pt>
                <c:pt idx="26">
                  <c:v>6.2080999999999997E-2</c:v>
                </c:pt>
                <c:pt idx="27">
                  <c:v>6.2080999999999997E-2</c:v>
                </c:pt>
                <c:pt idx="28">
                  <c:v>6.2080999999999997E-2</c:v>
                </c:pt>
                <c:pt idx="29">
                  <c:v>6.2080999999999997E-2</c:v>
                </c:pt>
                <c:pt idx="30">
                  <c:v>3.6074000000000002E-2</c:v>
                </c:pt>
                <c:pt idx="31">
                  <c:v>3.6074000000000002E-2</c:v>
                </c:pt>
                <c:pt idx="32">
                  <c:v>3.6074000000000002E-2</c:v>
                </c:pt>
                <c:pt idx="33">
                  <c:v>3.4396000000000003E-2</c:v>
                </c:pt>
                <c:pt idx="34">
                  <c:v>3.4396000000000003E-2</c:v>
                </c:pt>
                <c:pt idx="35">
                  <c:v>1.9295E-2</c:v>
                </c:pt>
                <c:pt idx="36">
                  <c:v>1.9295E-2</c:v>
                </c:pt>
                <c:pt idx="37">
                  <c:v>1.7617000000000001E-2</c:v>
                </c:pt>
                <c:pt idx="38">
                  <c:v>1.6778999999999999E-2</c:v>
                </c:pt>
                <c:pt idx="39">
                  <c:v>1.6778999999999999E-2</c:v>
                </c:pt>
                <c:pt idx="40">
                  <c:v>1.6778999999999999E-2</c:v>
                </c:pt>
                <c:pt idx="41">
                  <c:v>1.6778999999999999E-2</c:v>
                </c:pt>
                <c:pt idx="42">
                  <c:v>1.6778999999999999E-2</c:v>
                </c:pt>
                <c:pt idx="43">
                  <c:v>1.6778999999999999E-2</c:v>
                </c:pt>
                <c:pt idx="44">
                  <c:v>1.6778999999999999E-2</c:v>
                </c:pt>
                <c:pt idx="45">
                  <c:v>1.5939999999999999E-2</c:v>
                </c:pt>
                <c:pt idx="46">
                  <c:v>1.5939999999999999E-2</c:v>
                </c:pt>
                <c:pt idx="47">
                  <c:v>1.3422999999999999E-2</c:v>
                </c:pt>
                <c:pt idx="48">
                  <c:v>1.3422999999999999E-2</c:v>
                </c:pt>
                <c:pt idx="49">
                  <c:v>1.3422999999999999E-2</c:v>
                </c:pt>
                <c:pt idx="50">
                  <c:v>1.2584E-2</c:v>
                </c:pt>
                <c:pt idx="51">
                  <c:v>1.2584E-2</c:v>
                </c:pt>
                <c:pt idx="52">
                  <c:v>1.1745E-2</c:v>
                </c:pt>
                <c:pt idx="53">
                  <c:v>1.1745E-2</c:v>
                </c:pt>
                <c:pt idx="54">
                  <c:v>1.1745E-2</c:v>
                </c:pt>
                <c:pt idx="55">
                  <c:v>1.1745E-2</c:v>
                </c:pt>
                <c:pt idx="56">
                  <c:v>1.1745E-2</c:v>
                </c:pt>
                <c:pt idx="57">
                  <c:v>1.1745E-2</c:v>
                </c:pt>
                <c:pt idx="58">
                  <c:v>1.0906000000000001E-2</c:v>
                </c:pt>
                <c:pt idx="59">
                  <c:v>1.0067E-2</c:v>
                </c:pt>
                <c:pt idx="60">
                  <c:v>1.0067E-2</c:v>
                </c:pt>
                <c:pt idx="61">
                  <c:v>1.0067E-2</c:v>
                </c:pt>
                <c:pt idx="62">
                  <c:v>1.0067E-2</c:v>
                </c:pt>
                <c:pt idx="63">
                  <c:v>9.2280000000000001E-3</c:v>
                </c:pt>
                <c:pt idx="64">
                  <c:v>9.2280000000000001E-3</c:v>
                </c:pt>
                <c:pt idx="65">
                  <c:v>6.711E-3</c:v>
                </c:pt>
                <c:pt idx="66">
                  <c:v>6.711E-3</c:v>
                </c:pt>
                <c:pt idx="67">
                  <c:v>6.711E-3</c:v>
                </c:pt>
                <c:pt idx="68">
                  <c:v>6.711E-3</c:v>
                </c:pt>
                <c:pt idx="69">
                  <c:v>5.0340000000000003E-3</c:v>
                </c:pt>
                <c:pt idx="70">
                  <c:v>4.1949999999999999E-3</c:v>
                </c:pt>
                <c:pt idx="71">
                  <c:v>4.1949999999999999E-3</c:v>
                </c:pt>
                <c:pt idx="72">
                  <c:v>4.1949999999999999E-3</c:v>
                </c:pt>
                <c:pt idx="73">
                  <c:v>4.1949999999999999E-3</c:v>
                </c:pt>
                <c:pt idx="74">
                  <c:v>4.1949999999999999E-3</c:v>
                </c:pt>
                <c:pt idx="75">
                  <c:v>2.5170000000000001E-3</c:v>
                </c:pt>
                <c:pt idx="76">
                  <c:v>2.5170000000000001E-3</c:v>
                </c:pt>
                <c:pt idx="77">
                  <c:v>2.5170000000000001E-3</c:v>
                </c:pt>
                <c:pt idx="78">
                  <c:v>2.5170000000000001E-3</c:v>
                </c:pt>
                <c:pt idx="79">
                  <c:v>2.5170000000000001E-3</c:v>
                </c:pt>
                <c:pt idx="80">
                  <c:v>2.5170000000000001E-3</c:v>
                </c:pt>
                <c:pt idx="81">
                  <c:v>2.5170000000000001E-3</c:v>
                </c:pt>
                <c:pt idx="82">
                  <c:v>2.5170000000000001E-3</c:v>
                </c:pt>
                <c:pt idx="83">
                  <c:v>2.5170000000000001E-3</c:v>
                </c:pt>
                <c:pt idx="84">
                  <c:v>2.5170000000000001E-3</c:v>
                </c:pt>
                <c:pt idx="85">
                  <c:v>2.5170000000000001E-3</c:v>
                </c:pt>
                <c:pt idx="86">
                  <c:v>2.5170000000000001E-3</c:v>
                </c:pt>
                <c:pt idx="87">
                  <c:v>2.5170000000000001E-3</c:v>
                </c:pt>
                <c:pt idx="88">
                  <c:v>2.5170000000000001E-3</c:v>
                </c:pt>
                <c:pt idx="89">
                  <c:v>2.5170000000000001E-3</c:v>
                </c:pt>
                <c:pt idx="90">
                  <c:v>2.5170000000000001E-3</c:v>
                </c:pt>
                <c:pt idx="91">
                  <c:v>2.5170000000000001E-3</c:v>
                </c:pt>
                <c:pt idx="92">
                  <c:v>2.5170000000000001E-3</c:v>
                </c:pt>
                <c:pt idx="93">
                  <c:v>2.5170000000000001E-3</c:v>
                </c:pt>
                <c:pt idx="94">
                  <c:v>2.5170000000000001E-3</c:v>
                </c:pt>
                <c:pt idx="95">
                  <c:v>2.5170000000000001E-3</c:v>
                </c:pt>
                <c:pt idx="96">
                  <c:v>2.5170000000000001E-3</c:v>
                </c:pt>
                <c:pt idx="97">
                  <c:v>2.5170000000000001E-3</c:v>
                </c:pt>
                <c:pt idx="98">
                  <c:v>2.5170000000000001E-3</c:v>
                </c:pt>
                <c:pt idx="99">
                  <c:v>0</c:v>
                </c:pt>
              </c:numCache>
            </c:numRef>
          </c:xVal>
          <c:yVal>
            <c:numRef>
              <c:f>'heuristics FN-FP'!$C$2:$C$101</c:f>
              <c:numCache>
                <c:formatCode>General</c:formatCode>
                <c:ptCount val="100"/>
                <c:pt idx="0">
                  <c:v>0</c:v>
                </c:pt>
                <c:pt idx="1">
                  <c:v>7.0000000000000007E-2</c:v>
                </c:pt>
                <c:pt idx="2">
                  <c:v>0.1</c:v>
                </c:pt>
                <c:pt idx="3">
                  <c:v>0.11</c:v>
                </c:pt>
                <c:pt idx="4">
                  <c:v>0.125</c:v>
                </c:pt>
                <c:pt idx="5">
                  <c:v>0.125</c:v>
                </c:pt>
                <c:pt idx="6">
                  <c:v>0.125</c:v>
                </c:pt>
                <c:pt idx="7">
                  <c:v>0.125</c:v>
                </c:pt>
                <c:pt idx="8">
                  <c:v>0.13</c:v>
                </c:pt>
                <c:pt idx="9">
                  <c:v>0.13</c:v>
                </c:pt>
                <c:pt idx="10">
                  <c:v>0.13</c:v>
                </c:pt>
                <c:pt idx="11">
                  <c:v>0.13</c:v>
                </c:pt>
                <c:pt idx="12">
                  <c:v>0.13</c:v>
                </c:pt>
                <c:pt idx="13">
                  <c:v>0.13</c:v>
                </c:pt>
                <c:pt idx="14">
                  <c:v>0.13</c:v>
                </c:pt>
                <c:pt idx="15">
                  <c:v>0.13</c:v>
                </c:pt>
                <c:pt idx="16">
                  <c:v>0.13</c:v>
                </c:pt>
                <c:pt idx="17">
                  <c:v>0.13</c:v>
                </c:pt>
                <c:pt idx="18">
                  <c:v>0.14000000000000001</c:v>
                </c:pt>
                <c:pt idx="19">
                  <c:v>0.15</c:v>
                </c:pt>
                <c:pt idx="20">
                  <c:v>0.15</c:v>
                </c:pt>
                <c:pt idx="21">
                  <c:v>0.18</c:v>
                </c:pt>
                <c:pt idx="22">
                  <c:v>0.18</c:v>
                </c:pt>
                <c:pt idx="23">
                  <c:v>0.18</c:v>
                </c:pt>
                <c:pt idx="24">
                  <c:v>0.18</c:v>
                </c:pt>
                <c:pt idx="25">
                  <c:v>0.18</c:v>
                </c:pt>
                <c:pt idx="26">
                  <c:v>0.18</c:v>
                </c:pt>
                <c:pt idx="27">
                  <c:v>0.18</c:v>
                </c:pt>
                <c:pt idx="28">
                  <c:v>0.18</c:v>
                </c:pt>
                <c:pt idx="29">
                  <c:v>0.18</c:v>
                </c:pt>
                <c:pt idx="30">
                  <c:v>0.2</c:v>
                </c:pt>
                <c:pt idx="31">
                  <c:v>0.2</c:v>
                </c:pt>
                <c:pt idx="32">
                  <c:v>0.2</c:v>
                </c:pt>
                <c:pt idx="33">
                  <c:v>0.2</c:v>
                </c:pt>
                <c:pt idx="34">
                  <c:v>0.2</c:v>
                </c:pt>
                <c:pt idx="35">
                  <c:v>0.21782199999999999</c:v>
                </c:pt>
                <c:pt idx="36">
                  <c:v>0.21782199999999999</c:v>
                </c:pt>
                <c:pt idx="37">
                  <c:v>0.24257400000000001</c:v>
                </c:pt>
                <c:pt idx="38">
                  <c:v>0.24257400000000001</c:v>
                </c:pt>
                <c:pt idx="39">
                  <c:v>0.24257400000000001</c:v>
                </c:pt>
                <c:pt idx="40">
                  <c:v>0.252475</c:v>
                </c:pt>
                <c:pt idx="41">
                  <c:v>0.252475</c:v>
                </c:pt>
                <c:pt idx="42">
                  <c:v>0.29207899999999998</c:v>
                </c:pt>
                <c:pt idx="43">
                  <c:v>0.29207899999999998</c:v>
                </c:pt>
                <c:pt idx="44">
                  <c:v>0.29207899999999998</c:v>
                </c:pt>
                <c:pt idx="45">
                  <c:v>0.29207899999999998</c:v>
                </c:pt>
                <c:pt idx="46">
                  <c:v>0.29207899999999998</c:v>
                </c:pt>
                <c:pt idx="47">
                  <c:v>0.33168300000000001</c:v>
                </c:pt>
                <c:pt idx="48">
                  <c:v>0.33168300000000001</c:v>
                </c:pt>
                <c:pt idx="49">
                  <c:v>0.33168300000000001</c:v>
                </c:pt>
                <c:pt idx="50">
                  <c:v>0.33168300000000001</c:v>
                </c:pt>
                <c:pt idx="51">
                  <c:v>0.33168300000000001</c:v>
                </c:pt>
                <c:pt idx="52">
                  <c:v>0.33168300000000001</c:v>
                </c:pt>
                <c:pt idx="53">
                  <c:v>0.33168300000000001</c:v>
                </c:pt>
                <c:pt idx="54">
                  <c:v>0.33168300000000001</c:v>
                </c:pt>
                <c:pt idx="55">
                  <c:v>0.33663399999999999</c:v>
                </c:pt>
                <c:pt idx="56">
                  <c:v>0.33663399999999999</c:v>
                </c:pt>
                <c:pt idx="57">
                  <c:v>0.33663399999999999</c:v>
                </c:pt>
                <c:pt idx="58">
                  <c:v>0.34653499999999998</c:v>
                </c:pt>
                <c:pt idx="59">
                  <c:v>0.35148499999999999</c:v>
                </c:pt>
                <c:pt idx="60">
                  <c:v>0.35643599999999998</c:v>
                </c:pt>
                <c:pt idx="61">
                  <c:v>0.35643599999999998</c:v>
                </c:pt>
                <c:pt idx="62">
                  <c:v>0.35643599999999998</c:v>
                </c:pt>
                <c:pt idx="63">
                  <c:v>0.37128699999999998</c:v>
                </c:pt>
                <c:pt idx="64">
                  <c:v>0.37128699999999998</c:v>
                </c:pt>
                <c:pt idx="65">
                  <c:v>0.37623800000000002</c:v>
                </c:pt>
                <c:pt idx="66">
                  <c:v>0.37623800000000002</c:v>
                </c:pt>
                <c:pt idx="67">
                  <c:v>0.39108900000000002</c:v>
                </c:pt>
                <c:pt idx="68">
                  <c:v>0.39604</c:v>
                </c:pt>
                <c:pt idx="69">
                  <c:v>0.41584199999999999</c:v>
                </c:pt>
                <c:pt idx="70">
                  <c:v>0.41584199999999999</c:v>
                </c:pt>
                <c:pt idx="71">
                  <c:v>0.42574299999999998</c:v>
                </c:pt>
                <c:pt idx="72">
                  <c:v>0.44059399999999999</c:v>
                </c:pt>
                <c:pt idx="73">
                  <c:v>0.475248</c:v>
                </c:pt>
                <c:pt idx="74">
                  <c:v>0.475248</c:v>
                </c:pt>
                <c:pt idx="75">
                  <c:v>0.51980199999999999</c:v>
                </c:pt>
                <c:pt idx="76">
                  <c:v>0.51980199999999999</c:v>
                </c:pt>
                <c:pt idx="77">
                  <c:v>0.51980199999999999</c:v>
                </c:pt>
                <c:pt idx="78">
                  <c:v>0.53960399999999997</c:v>
                </c:pt>
                <c:pt idx="79">
                  <c:v>0.54950500000000002</c:v>
                </c:pt>
                <c:pt idx="80">
                  <c:v>0.55445500000000003</c:v>
                </c:pt>
                <c:pt idx="81">
                  <c:v>0.55445500000000003</c:v>
                </c:pt>
                <c:pt idx="82">
                  <c:v>0.58415799999999996</c:v>
                </c:pt>
                <c:pt idx="83">
                  <c:v>0.59901000000000004</c:v>
                </c:pt>
                <c:pt idx="84">
                  <c:v>0.61881200000000003</c:v>
                </c:pt>
                <c:pt idx="85">
                  <c:v>0.61881200000000003</c:v>
                </c:pt>
                <c:pt idx="86">
                  <c:v>0.62871299999999997</c:v>
                </c:pt>
                <c:pt idx="87">
                  <c:v>0.63861400000000001</c:v>
                </c:pt>
                <c:pt idx="88">
                  <c:v>0.66336600000000001</c:v>
                </c:pt>
                <c:pt idx="89">
                  <c:v>0.67821799999999999</c:v>
                </c:pt>
                <c:pt idx="90">
                  <c:v>0.70296999999999998</c:v>
                </c:pt>
                <c:pt idx="91">
                  <c:v>0.72277199999999997</c:v>
                </c:pt>
                <c:pt idx="92">
                  <c:v>0.73267300000000002</c:v>
                </c:pt>
                <c:pt idx="93">
                  <c:v>0.752475</c:v>
                </c:pt>
                <c:pt idx="94">
                  <c:v>0.80693099999999995</c:v>
                </c:pt>
                <c:pt idx="95">
                  <c:v>0.82673300000000005</c:v>
                </c:pt>
                <c:pt idx="96">
                  <c:v>0.86633700000000002</c:v>
                </c:pt>
                <c:pt idx="97">
                  <c:v>0.88118799999999997</c:v>
                </c:pt>
                <c:pt idx="98">
                  <c:v>0.93069299999999999</c:v>
                </c:pt>
                <c:pt idx="99">
                  <c:v>0.94059400000000004</c:v>
                </c:pt>
              </c:numCache>
            </c:numRef>
          </c:yVal>
          <c:smooth val="0"/>
          <c:extLst>
            <c:ext xmlns:c16="http://schemas.microsoft.com/office/drawing/2014/chart" uri="{C3380CC4-5D6E-409C-BE32-E72D297353CC}">
              <c16:uniqueId val="{00000001-7FF7-4F40-B97A-AC67D7656838}"/>
            </c:ext>
          </c:extLst>
        </c:ser>
        <c:dLbls>
          <c:showLegendKey val="0"/>
          <c:showVal val="0"/>
          <c:showCatName val="0"/>
          <c:showSerName val="0"/>
          <c:showPercent val="0"/>
          <c:showBubbleSize val="0"/>
        </c:dLbls>
        <c:axId val="-324815168"/>
        <c:axId val="-324823872"/>
      </c:scatterChart>
      <c:valAx>
        <c:axId val="-324815168"/>
        <c:scaling>
          <c:orientation val="minMax"/>
          <c:max val="0.1"/>
        </c:scaling>
        <c:delete val="0"/>
        <c:axPos val="t"/>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False Positive Rate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4823872"/>
        <c:crosses val="autoZero"/>
        <c:crossBetween val="midCat"/>
        <c:majorUnit val="1.0000000000000002E-2"/>
      </c:valAx>
      <c:valAx>
        <c:axId val="-324823872"/>
        <c:scaling>
          <c:orientation val="maxMin"/>
          <c:max val="0.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False Negative Rate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4815168"/>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668F08-4F66-40FF-BC5F-A0E876577444}" type="datetimeFigureOut">
              <a:rPr lang="en-IN" smtClean="0"/>
              <a:t>08-03-2026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D42FAE-3390-45AC-AD91-6C712B2FE386}" type="slidenum">
              <a:rPr lang="en-IN" smtClean="0"/>
              <a:t>‹#›</a:t>
            </a:fld>
            <a:endParaRPr lang="en-IN"/>
          </a:p>
        </p:txBody>
      </p:sp>
    </p:spTree>
    <p:extLst>
      <p:ext uri="{BB962C8B-B14F-4D97-AF65-F5344CB8AC3E}">
        <p14:creationId xmlns:p14="http://schemas.microsoft.com/office/powerpoint/2010/main" val="3659581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Before we start experimentation, we need to have a good idea about what</a:t>
            </a:r>
          </a:p>
          <a:p>
            <a:r>
              <a:rPr lang="en-US" sz="1200" b="0" i="0" u="none" strike="noStrike" kern="1200" baseline="0" dirty="0">
                <a:solidFill>
                  <a:schemeClr val="tx1"/>
                </a:solidFill>
                <a:latin typeface="+mn-lt"/>
                <a:ea typeface="+mn-ea"/>
                <a:cs typeface="+mn-cs"/>
              </a:rPr>
              <a:t>it is we are studying, how the data is to be collected, and how we are planning</a:t>
            </a:r>
          </a:p>
          <a:p>
            <a:r>
              <a:rPr lang="en-US" sz="1200" b="0" i="0" u="none" strike="noStrike" kern="1200" baseline="0" dirty="0">
                <a:solidFill>
                  <a:schemeClr val="tx1"/>
                </a:solidFill>
                <a:latin typeface="+mn-lt"/>
                <a:ea typeface="+mn-ea"/>
                <a:cs typeface="+mn-cs"/>
              </a:rPr>
              <a:t>to analyze it. The steps in machine learning are the same as for any</a:t>
            </a:r>
          </a:p>
          <a:p>
            <a:r>
              <a:rPr lang="en-US" sz="1200" b="0" i="0" u="none" strike="noStrike" kern="1200" baseline="0" dirty="0">
                <a:solidFill>
                  <a:schemeClr val="tx1"/>
                </a:solidFill>
                <a:latin typeface="+mn-lt"/>
                <a:ea typeface="+mn-ea"/>
                <a:cs typeface="+mn-cs"/>
              </a:rPr>
              <a:t>type of experimentation (Montgomery 2005). Note that at this point, it is</a:t>
            </a:r>
          </a:p>
          <a:p>
            <a:r>
              <a:rPr lang="en-US" sz="1200" b="0" i="0" u="none" strike="noStrike" kern="1200" baseline="0" dirty="0">
                <a:solidFill>
                  <a:schemeClr val="tx1"/>
                </a:solidFill>
                <a:latin typeface="+mn-lt"/>
                <a:ea typeface="+mn-ea"/>
                <a:cs typeface="+mn-cs"/>
              </a:rPr>
              <a:t>not important whether the task is classification or regression, or whether</a:t>
            </a:r>
          </a:p>
          <a:p>
            <a:r>
              <a:rPr lang="en-US" sz="1200" b="0" i="0" u="none" strike="noStrike" kern="1200" baseline="0" dirty="0">
                <a:solidFill>
                  <a:schemeClr val="tx1"/>
                </a:solidFill>
                <a:latin typeface="+mn-lt"/>
                <a:ea typeface="+mn-ea"/>
                <a:cs typeface="+mn-cs"/>
              </a:rPr>
              <a:t>it is an unsupervised or a reinforcement learning application. The same</a:t>
            </a:r>
          </a:p>
          <a:p>
            <a:r>
              <a:rPr lang="en-US" sz="1200" b="0" i="0" u="none" strike="noStrike" kern="1200" baseline="0" dirty="0">
                <a:solidFill>
                  <a:schemeClr val="tx1"/>
                </a:solidFill>
                <a:latin typeface="+mn-lt"/>
                <a:ea typeface="+mn-ea"/>
                <a:cs typeface="+mn-cs"/>
              </a:rPr>
              <a:t>overall discussion applies; the difference is only in the sampling distribution</a:t>
            </a:r>
          </a:p>
          <a:p>
            <a:r>
              <a:rPr lang="en-US" sz="1200" b="0" i="0" u="none" strike="noStrike" kern="1200" baseline="0" dirty="0">
                <a:solidFill>
                  <a:schemeClr val="tx1"/>
                </a:solidFill>
                <a:latin typeface="+mn-lt"/>
                <a:ea typeface="+mn-ea"/>
                <a:cs typeface="+mn-cs"/>
              </a:rPr>
              <a:t>of the response data that is collected.</a:t>
            </a:r>
            <a:endParaRPr lang="en-IN" dirty="0"/>
          </a:p>
        </p:txBody>
      </p:sp>
      <p:sp>
        <p:nvSpPr>
          <p:cNvPr id="4" name="Slide Number Placeholder 3"/>
          <p:cNvSpPr>
            <a:spLocks noGrp="1"/>
          </p:cNvSpPr>
          <p:nvPr>
            <p:ph type="sldNum" sz="quarter" idx="10"/>
          </p:nvPr>
        </p:nvSpPr>
        <p:spPr/>
        <p:txBody>
          <a:bodyPr/>
          <a:lstStyle/>
          <a:p>
            <a:fld id="{D0D42FAE-3390-45AC-AD91-6C712B2FE386}" type="slidenum">
              <a:rPr lang="en-IN" smtClean="0"/>
              <a:t>5</a:t>
            </a:fld>
            <a:endParaRPr lang="en-IN"/>
          </a:p>
        </p:txBody>
      </p:sp>
    </p:spTree>
    <p:extLst>
      <p:ext uri="{BB962C8B-B14F-4D97-AF65-F5344CB8AC3E}">
        <p14:creationId xmlns:p14="http://schemas.microsoft.com/office/powerpoint/2010/main" val="19197529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89C511C-053D-419B-867C-BAB34794CDA4}" type="slidenum">
              <a:rPr lang="en-US" smtClean="0"/>
              <a:t>58</a:t>
            </a:fld>
            <a:endParaRPr lang="en-US"/>
          </a:p>
        </p:txBody>
      </p:sp>
    </p:spTree>
    <p:extLst>
      <p:ext uri="{BB962C8B-B14F-4D97-AF65-F5344CB8AC3E}">
        <p14:creationId xmlns:p14="http://schemas.microsoft.com/office/powerpoint/2010/main" val="2738868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E03BE11-0EAE-4EF7-950C-2074EAFDEF1D}"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2541AD-5FDD-489B-9BE8-7640D0D87B60}" type="slidenum">
              <a:rPr lang="en-IN" smtClean="0"/>
              <a:t>‹#›</a:t>
            </a:fld>
            <a:endParaRPr lang="en-IN"/>
          </a:p>
        </p:txBody>
      </p:sp>
    </p:spTree>
    <p:extLst>
      <p:ext uri="{BB962C8B-B14F-4D97-AF65-F5344CB8AC3E}">
        <p14:creationId xmlns:p14="http://schemas.microsoft.com/office/powerpoint/2010/main" val="1030890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E03BE11-0EAE-4EF7-950C-2074EAFDEF1D}"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2541AD-5FDD-489B-9BE8-7640D0D87B60}" type="slidenum">
              <a:rPr lang="en-IN" smtClean="0"/>
              <a:t>‹#›</a:t>
            </a:fld>
            <a:endParaRPr lang="en-IN"/>
          </a:p>
        </p:txBody>
      </p:sp>
    </p:spTree>
    <p:extLst>
      <p:ext uri="{BB962C8B-B14F-4D97-AF65-F5344CB8AC3E}">
        <p14:creationId xmlns:p14="http://schemas.microsoft.com/office/powerpoint/2010/main" val="3122949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03BE11-0EAE-4EF7-950C-2074EAFDEF1D}"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2541AD-5FDD-489B-9BE8-7640D0D87B60}" type="slidenum">
              <a:rPr lang="en-IN" smtClean="0"/>
              <a:t>‹#›</a:t>
            </a:fld>
            <a:endParaRPr lang="en-IN"/>
          </a:p>
        </p:txBody>
      </p:sp>
    </p:spTree>
    <p:extLst>
      <p:ext uri="{BB962C8B-B14F-4D97-AF65-F5344CB8AC3E}">
        <p14:creationId xmlns:p14="http://schemas.microsoft.com/office/powerpoint/2010/main" val="2325982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E03BE11-0EAE-4EF7-950C-2074EAFDEF1D}" type="datetimeFigureOut">
              <a:rPr lang="en-IN" smtClean="0"/>
              <a:t>08-03-2026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92541AD-5FDD-489B-9BE8-7640D0D87B60}" type="slidenum">
              <a:rPr lang="en-IN" smtClean="0"/>
              <a:t>‹#›</a:t>
            </a:fld>
            <a:endParaRPr lang="en-IN"/>
          </a:p>
        </p:txBody>
      </p:sp>
    </p:spTree>
    <p:extLst>
      <p:ext uri="{BB962C8B-B14F-4D97-AF65-F5344CB8AC3E}">
        <p14:creationId xmlns:p14="http://schemas.microsoft.com/office/powerpoint/2010/main" val="2616971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E03BE11-0EAE-4EF7-950C-2074EAFDEF1D}" type="datetimeFigureOut">
              <a:rPr lang="en-IN" smtClean="0"/>
              <a:t>08-03-2026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92541AD-5FDD-489B-9BE8-7640D0D87B60}" type="slidenum">
              <a:rPr lang="en-IN" smtClean="0"/>
              <a:t>‹#›</a:t>
            </a:fld>
            <a:endParaRPr lang="en-IN"/>
          </a:p>
        </p:txBody>
      </p:sp>
    </p:spTree>
    <p:extLst>
      <p:ext uri="{BB962C8B-B14F-4D97-AF65-F5344CB8AC3E}">
        <p14:creationId xmlns:p14="http://schemas.microsoft.com/office/powerpoint/2010/main" val="1335882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E03BE11-0EAE-4EF7-950C-2074EAFDEF1D}" type="datetimeFigureOut">
              <a:rPr lang="en-IN" smtClean="0"/>
              <a:t>08-03-2026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92541AD-5FDD-489B-9BE8-7640D0D87B60}" type="slidenum">
              <a:rPr lang="en-IN" smtClean="0"/>
              <a:t>‹#›</a:t>
            </a:fld>
            <a:endParaRPr lang="en-IN"/>
          </a:p>
        </p:txBody>
      </p:sp>
    </p:spTree>
    <p:extLst>
      <p:ext uri="{BB962C8B-B14F-4D97-AF65-F5344CB8AC3E}">
        <p14:creationId xmlns:p14="http://schemas.microsoft.com/office/powerpoint/2010/main" val="3851557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03BE11-0EAE-4EF7-950C-2074EAFDEF1D}" type="datetimeFigureOut">
              <a:rPr lang="en-IN" smtClean="0"/>
              <a:t>08-03-2026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92541AD-5FDD-489B-9BE8-7640D0D87B60}" type="slidenum">
              <a:rPr lang="en-IN" smtClean="0"/>
              <a:t>‹#›</a:t>
            </a:fld>
            <a:endParaRPr lang="en-IN"/>
          </a:p>
        </p:txBody>
      </p:sp>
    </p:spTree>
    <p:extLst>
      <p:ext uri="{BB962C8B-B14F-4D97-AF65-F5344CB8AC3E}">
        <p14:creationId xmlns:p14="http://schemas.microsoft.com/office/powerpoint/2010/main" val="4013138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E03BE11-0EAE-4EF7-950C-2074EAFDEF1D}" type="datetimeFigureOut">
              <a:rPr lang="en-IN" smtClean="0"/>
              <a:t>08-03-2026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92541AD-5FDD-489B-9BE8-7640D0D87B60}" type="slidenum">
              <a:rPr lang="en-IN" smtClean="0"/>
              <a:t>‹#›</a:t>
            </a:fld>
            <a:endParaRPr lang="en-IN"/>
          </a:p>
        </p:txBody>
      </p:sp>
    </p:spTree>
    <p:extLst>
      <p:ext uri="{BB962C8B-B14F-4D97-AF65-F5344CB8AC3E}">
        <p14:creationId xmlns:p14="http://schemas.microsoft.com/office/powerpoint/2010/main" val="3398215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E03BE11-0EAE-4EF7-950C-2074EAFDEF1D}" type="datetimeFigureOut">
              <a:rPr lang="en-IN" smtClean="0"/>
              <a:t>08-03-2026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92541AD-5FDD-489B-9BE8-7640D0D87B60}" type="slidenum">
              <a:rPr lang="en-IN" smtClean="0"/>
              <a:t>‹#›</a:t>
            </a:fld>
            <a:endParaRPr lang="en-IN"/>
          </a:p>
        </p:txBody>
      </p:sp>
    </p:spTree>
    <p:extLst>
      <p:ext uri="{BB962C8B-B14F-4D97-AF65-F5344CB8AC3E}">
        <p14:creationId xmlns:p14="http://schemas.microsoft.com/office/powerpoint/2010/main" val="3345494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E03BE11-0EAE-4EF7-950C-2074EAFDEF1D}"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2541AD-5FDD-489B-9BE8-7640D0D87B60}" type="slidenum">
              <a:rPr lang="en-IN" smtClean="0"/>
              <a:t>‹#›</a:t>
            </a:fld>
            <a:endParaRPr lang="en-IN"/>
          </a:p>
        </p:txBody>
      </p:sp>
    </p:spTree>
    <p:extLst>
      <p:ext uri="{BB962C8B-B14F-4D97-AF65-F5344CB8AC3E}">
        <p14:creationId xmlns:p14="http://schemas.microsoft.com/office/powerpoint/2010/main" val="2445350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E03BE11-0EAE-4EF7-950C-2074EAFDEF1D}"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2541AD-5FDD-489B-9BE8-7640D0D87B60}" type="slidenum">
              <a:rPr lang="en-IN" smtClean="0"/>
              <a:t>‹#›</a:t>
            </a:fld>
            <a:endParaRPr lang="en-IN"/>
          </a:p>
        </p:txBody>
      </p:sp>
    </p:spTree>
    <p:extLst>
      <p:ext uri="{BB962C8B-B14F-4D97-AF65-F5344CB8AC3E}">
        <p14:creationId xmlns:p14="http://schemas.microsoft.com/office/powerpoint/2010/main" val="906290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03BE11-0EAE-4EF7-950C-2074EAFDEF1D}" type="datetimeFigureOut">
              <a:rPr lang="en-IN" smtClean="0"/>
              <a:t>08-03-2026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2541AD-5FDD-489B-9BE8-7640D0D87B60}" type="slidenum">
              <a:rPr lang="en-IN" smtClean="0"/>
              <a:t>‹#›</a:t>
            </a:fld>
            <a:endParaRPr lang="en-IN"/>
          </a:p>
        </p:txBody>
      </p:sp>
    </p:spTree>
    <p:extLst>
      <p:ext uri="{BB962C8B-B14F-4D97-AF65-F5344CB8AC3E}">
        <p14:creationId xmlns:p14="http://schemas.microsoft.com/office/powerpoint/2010/main" val="1822487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towardsdatascience.com/tag/classification/"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UNIT 3</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968066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rPr>
              <a:t>Design and Analysis of Machine</a:t>
            </a:r>
            <a:br>
              <a:rPr lang="en-US" b="1" dirty="0">
                <a:solidFill>
                  <a:srgbClr val="FF0000"/>
                </a:solidFill>
              </a:rPr>
            </a:br>
            <a:r>
              <a:rPr lang="en-IN" b="1" dirty="0">
                <a:solidFill>
                  <a:srgbClr val="FF0000"/>
                </a:solidFill>
              </a:rPr>
              <a:t>Learning Experiments</a:t>
            </a:r>
            <a:endParaRPr lang="en-IN" dirty="0">
              <a:solidFill>
                <a:srgbClr val="FF0000"/>
              </a:solidFill>
            </a:endParaRPr>
          </a:p>
        </p:txBody>
      </p:sp>
      <p:sp>
        <p:nvSpPr>
          <p:cNvPr id="3" name="Content Placeholder 2"/>
          <p:cNvSpPr>
            <a:spLocks noGrp="1"/>
          </p:cNvSpPr>
          <p:nvPr>
            <p:ph idx="1"/>
          </p:nvPr>
        </p:nvSpPr>
        <p:spPr>
          <a:xfrm>
            <a:off x="933734" y="2442949"/>
            <a:ext cx="10515600" cy="1937982"/>
          </a:xfrm>
          <a:solidFill>
            <a:schemeClr val="accent3">
              <a:lumMod val="20000"/>
              <a:lumOff val="80000"/>
            </a:schemeClr>
          </a:solidFill>
        </p:spPr>
        <p:txBody>
          <a:bodyPr>
            <a:noAutofit/>
          </a:bodyPr>
          <a:lstStyle/>
          <a:p>
            <a:pPr marL="0" indent="0" algn="just">
              <a:buNone/>
            </a:pPr>
            <a:r>
              <a:rPr lang="en-US" sz="3200" i="1" dirty="0"/>
              <a:t>Design of machine learning experiments to assess and compare the performances of learning algorithms in practice and the statistical tests to analyze the results of these experiments</a:t>
            </a:r>
            <a:endParaRPr lang="en-IN" sz="3200" dirty="0"/>
          </a:p>
        </p:txBody>
      </p:sp>
    </p:spTree>
    <p:extLst>
      <p:ext uri="{BB962C8B-B14F-4D97-AF65-F5344CB8AC3E}">
        <p14:creationId xmlns:p14="http://schemas.microsoft.com/office/powerpoint/2010/main" val="2097243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8708"/>
          </a:xfrm>
        </p:spPr>
        <p:txBody>
          <a:bodyPr>
            <a:normAutofit fontScale="90000"/>
          </a:bodyPr>
          <a:lstStyle/>
          <a:p>
            <a:r>
              <a:rPr lang="en-US" sz="4000" b="1" dirty="0">
                <a:solidFill>
                  <a:srgbClr val="FF0000"/>
                </a:solidFill>
              </a:rPr>
              <a:t>Design and Analysis of Machine </a:t>
            </a:r>
            <a:r>
              <a:rPr lang="en-IN" sz="4000" b="1" dirty="0">
                <a:solidFill>
                  <a:srgbClr val="FF0000"/>
                </a:solidFill>
              </a:rPr>
              <a:t>Learning Experiments</a:t>
            </a:r>
            <a:endParaRPr lang="en-IN" sz="4000" dirty="0">
              <a:solidFill>
                <a:srgbClr val="FF0000"/>
              </a:solidFill>
            </a:endParaRPr>
          </a:p>
        </p:txBody>
      </p:sp>
      <p:sp>
        <p:nvSpPr>
          <p:cNvPr id="3" name="Content Placeholder 2"/>
          <p:cNvSpPr>
            <a:spLocks noGrp="1"/>
          </p:cNvSpPr>
          <p:nvPr>
            <p:ph idx="1"/>
          </p:nvPr>
        </p:nvSpPr>
        <p:spPr>
          <a:xfrm>
            <a:off x="838200" y="1457135"/>
            <a:ext cx="10515600" cy="5230267"/>
          </a:xfrm>
        </p:spPr>
        <p:txBody>
          <a:bodyPr/>
          <a:lstStyle/>
          <a:p>
            <a:r>
              <a:rPr lang="en-US" dirty="0"/>
              <a:t>We explored various learning algorithms and observed that multiple algorithms can be suitable for a given application. Now, we focus on </a:t>
            </a:r>
            <a:r>
              <a:rPr lang="en-US" b="1" dirty="0"/>
              <a:t>two key questions </a:t>
            </a:r>
          </a:p>
          <a:p>
            <a:pPr lvl="1" algn="just"/>
            <a:r>
              <a:rPr lang="en-US" sz="2800" b="1" dirty="0">
                <a:solidFill>
                  <a:srgbClr val="FF0000"/>
                </a:solidFill>
              </a:rPr>
              <a:t>How can we assess the expected error of a learning algorithm on a problem</a:t>
            </a:r>
            <a:r>
              <a:rPr lang="en-US" sz="2800" dirty="0">
                <a:solidFill>
                  <a:srgbClr val="FF0000"/>
                </a:solidFill>
              </a:rPr>
              <a:t>? </a:t>
            </a:r>
          </a:p>
          <a:p>
            <a:pPr lvl="2" algn="just"/>
            <a:r>
              <a:rPr lang="en-US" sz="2400" dirty="0"/>
              <a:t>For instance, after training a classifier on a dataset from a specific application, can we confidently predict that its error rate in real-world use will be below a certain threshold, such as 2%?</a:t>
            </a:r>
          </a:p>
          <a:p>
            <a:pPr lvl="2" algn="just"/>
            <a:r>
              <a:rPr lang="en-US" sz="2400" dirty="0"/>
              <a:t>Suppose we train a spam detection model using a classification algorithm on a dataset of emails. To deploy it in real-world scenarios, we need to estimate its expected error rate. If our evaluation methods (e.g., cross-validation, test set analysis) indicate that the model misclassifies less than 2% of emails, we can be reasonably confident that its real-world error rate will also stay within this limit</a:t>
            </a:r>
            <a:r>
              <a:rPr lang="en-US" dirty="0"/>
              <a:t>.</a:t>
            </a:r>
            <a:endParaRPr lang="en-IN" dirty="0"/>
          </a:p>
        </p:txBody>
      </p:sp>
    </p:spTree>
    <p:extLst>
      <p:ext uri="{BB962C8B-B14F-4D97-AF65-F5344CB8AC3E}">
        <p14:creationId xmlns:p14="http://schemas.microsoft.com/office/powerpoint/2010/main" val="4218947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25374"/>
            <a:ext cx="10515600" cy="4351338"/>
          </a:xfrm>
        </p:spPr>
        <p:txBody>
          <a:bodyPr/>
          <a:lstStyle/>
          <a:p>
            <a:r>
              <a:rPr lang="en-US" sz="3200" dirty="0">
                <a:solidFill>
                  <a:srgbClr val="FF0000"/>
                </a:solidFill>
              </a:rPr>
              <a:t>Given two learning algorithms, how can we say one has less error than the other one, for a given application?</a:t>
            </a:r>
          </a:p>
          <a:p>
            <a:pPr lvl="1" algn="just"/>
            <a:r>
              <a:rPr lang="en-US" sz="2800" dirty="0"/>
              <a:t>The algorithms being compared may differ in type, such as parametric versus nonparametric, or in their </a:t>
            </a:r>
            <a:r>
              <a:rPr lang="en-US" sz="2800" dirty="0" err="1"/>
              <a:t>hyperparameter</a:t>
            </a:r>
            <a:r>
              <a:rPr lang="en-US" sz="2800" dirty="0"/>
              <a:t> settings.</a:t>
            </a:r>
          </a:p>
          <a:p>
            <a:pPr lvl="1" algn="just"/>
            <a:r>
              <a:rPr lang="en-US" sz="2800" dirty="0"/>
              <a:t> For instance, when evaluating a multilayer perceptron with four hidden units versus one with eight, we need a method to identify which has a lower expected error. Similarly, in the case of the k-nearest neighbor classifier, we must determine the optimal value of k for better performance.</a:t>
            </a:r>
            <a:endParaRPr lang="en-IN" sz="2800" dirty="0"/>
          </a:p>
        </p:txBody>
      </p:sp>
      <p:sp>
        <p:nvSpPr>
          <p:cNvPr id="4" name="Title 1"/>
          <p:cNvSpPr>
            <a:spLocks noGrp="1"/>
          </p:cNvSpPr>
          <p:nvPr>
            <p:ph type="title"/>
          </p:nvPr>
        </p:nvSpPr>
        <p:spPr>
          <a:xfrm>
            <a:off x="838200" y="365126"/>
            <a:ext cx="10515600" cy="958708"/>
          </a:xfrm>
        </p:spPr>
        <p:txBody>
          <a:bodyPr>
            <a:normAutofit fontScale="90000"/>
          </a:bodyPr>
          <a:lstStyle/>
          <a:p>
            <a:r>
              <a:rPr lang="en-US" sz="4000" b="1" dirty="0">
                <a:solidFill>
                  <a:schemeClr val="tx1">
                    <a:lumMod val="95000"/>
                    <a:lumOff val="5000"/>
                  </a:schemeClr>
                </a:solidFill>
              </a:rPr>
              <a:t>Design and Analysis of Machine </a:t>
            </a:r>
            <a:r>
              <a:rPr lang="en-IN" sz="4000" b="1" dirty="0">
                <a:solidFill>
                  <a:schemeClr val="tx1">
                    <a:lumMod val="95000"/>
                    <a:lumOff val="5000"/>
                  </a:schemeClr>
                </a:solidFill>
              </a:rPr>
              <a:t>Learning Experiments</a:t>
            </a:r>
            <a:endParaRPr lang="en-IN" sz="4000" dirty="0">
              <a:solidFill>
                <a:schemeClr val="tx1">
                  <a:lumMod val="95000"/>
                  <a:lumOff val="5000"/>
                </a:schemeClr>
              </a:solidFill>
            </a:endParaRPr>
          </a:p>
        </p:txBody>
      </p:sp>
    </p:spTree>
    <p:extLst>
      <p:ext uri="{BB962C8B-B14F-4D97-AF65-F5344CB8AC3E}">
        <p14:creationId xmlns:p14="http://schemas.microsoft.com/office/powerpoint/2010/main" val="1595376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Guidelines for Machine Learning Experiments</a:t>
            </a:r>
            <a:endParaRPr lang="en-IN" dirty="0">
              <a:solidFill>
                <a:srgbClr val="FF0000"/>
              </a:solidFill>
            </a:endParaRPr>
          </a:p>
        </p:txBody>
      </p:sp>
      <p:sp>
        <p:nvSpPr>
          <p:cNvPr id="3" name="Content Placeholder 2"/>
          <p:cNvSpPr>
            <a:spLocks noGrp="1"/>
          </p:cNvSpPr>
          <p:nvPr>
            <p:ph idx="1"/>
          </p:nvPr>
        </p:nvSpPr>
        <p:spPr/>
        <p:txBody>
          <a:bodyPr>
            <a:normAutofit/>
          </a:bodyPr>
          <a:lstStyle/>
          <a:p>
            <a:r>
              <a:rPr lang="en-IN" sz="3200" b="1" dirty="0"/>
              <a:t>Aim of the Study</a:t>
            </a:r>
          </a:p>
          <a:p>
            <a:r>
              <a:rPr lang="en-US" sz="3200" b="1" dirty="0"/>
              <a:t>Selection of the Response Variable</a:t>
            </a:r>
          </a:p>
          <a:p>
            <a:r>
              <a:rPr lang="en-US" sz="3200" b="1" dirty="0"/>
              <a:t>Choice of Factors and Levels</a:t>
            </a:r>
          </a:p>
          <a:p>
            <a:r>
              <a:rPr lang="en-IN" sz="3200" b="1" dirty="0"/>
              <a:t>Choice of Experimental Design</a:t>
            </a:r>
          </a:p>
          <a:p>
            <a:r>
              <a:rPr lang="en-IN" sz="3200" b="1" dirty="0"/>
              <a:t>Performing the Experiment</a:t>
            </a:r>
          </a:p>
          <a:p>
            <a:r>
              <a:rPr lang="en-US" sz="3200" b="1" dirty="0"/>
              <a:t>Statistical Analysis of the Data</a:t>
            </a:r>
            <a:endParaRPr lang="en-IN" sz="3200" dirty="0"/>
          </a:p>
        </p:txBody>
      </p:sp>
    </p:spTree>
    <p:extLst>
      <p:ext uri="{BB962C8B-B14F-4D97-AF65-F5344CB8AC3E}">
        <p14:creationId xmlns:p14="http://schemas.microsoft.com/office/powerpoint/2010/main" val="825643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3048"/>
          </a:xfrm>
        </p:spPr>
        <p:txBody>
          <a:bodyPr>
            <a:normAutofit fontScale="90000"/>
          </a:bodyPr>
          <a:lstStyle/>
          <a:p>
            <a:br>
              <a:rPr lang="en-IN" b="1" dirty="0">
                <a:solidFill>
                  <a:srgbClr val="FF0000"/>
                </a:solidFill>
              </a:rPr>
            </a:br>
            <a:r>
              <a:rPr lang="en-IN" b="1" dirty="0">
                <a:solidFill>
                  <a:srgbClr val="FF0000"/>
                </a:solidFill>
              </a:rPr>
              <a:t>Aim of the Study</a:t>
            </a:r>
            <a:br>
              <a:rPr lang="en-IN" b="1" dirty="0"/>
            </a:br>
            <a:endParaRPr lang="en-IN" dirty="0"/>
          </a:p>
        </p:txBody>
      </p:sp>
      <p:sp>
        <p:nvSpPr>
          <p:cNvPr id="3" name="Content Placeholder 2"/>
          <p:cNvSpPr>
            <a:spLocks noGrp="1"/>
          </p:cNvSpPr>
          <p:nvPr>
            <p:ph idx="1"/>
          </p:nvPr>
        </p:nvSpPr>
        <p:spPr>
          <a:xfrm>
            <a:off x="838200" y="1282890"/>
            <a:ext cx="10515600" cy="4894073"/>
          </a:xfrm>
        </p:spPr>
        <p:txBody>
          <a:bodyPr>
            <a:normAutofit lnSpcReduction="10000"/>
          </a:bodyPr>
          <a:lstStyle/>
          <a:p>
            <a:r>
              <a:rPr lang="en-US" dirty="0"/>
              <a:t>Clearly define the problem and objectives.</a:t>
            </a:r>
          </a:p>
          <a:p>
            <a:r>
              <a:rPr lang="en-US" dirty="0"/>
              <a:t>Common goals include estimating a learning algorithm's expected error and ensuring it meets an acceptable threshold.</a:t>
            </a:r>
          </a:p>
          <a:p>
            <a:r>
              <a:rPr lang="en-US" dirty="0"/>
              <a:t>Given two algorithms and a dataset, we aim to determine which has lower generalization error.</a:t>
            </a:r>
          </a:p>
          <a:p>
            <a:r>
              <a:rPr lang="en-US" dirty="0"/>
              <a:t>Comparisons can involve:</a:t>
            </a:r>
          </a:p>
          <a:p>
            <a:pPr lvl="1"/>
            <a:r>
              <a:rPr lang="en-US" dirty="0"/>
              <a:t>Different algorithms</a:t>
            </a:r>
          </a:p>
          <a:p>
            <a:pPr lvl="1"/>
            <a:r>
              <a:rPr lang="en-US" dirty="0"/>
              <a:t>Variants of the same algorithm (e.g., improved feature extraction)</a:t>
            </a:r>
          </a:p>
          <a:p>
            <a:r>
              <a:rPr lang="en-US" dirty="0"/>
              <a:t>In broader cases, we may:</a:t>
            </a:r>
          </a:p>
          <a:p>
            <a:pPr lvl="1"/>
            <a:r>
              <a:rPr lang="en-US" dirty="0"/>
              <a:t>Compare multiple algorithms and rank them by error.</a:t>
            </a:r>
          </a:p>
          <a:p>
            <a:pPr lvl="1"/>
            <a:r>
              <a:rPr lang="en-US" dirty="0"/>
              <a:t>Evaluate algorithms across multiple datasets for a comprehensive assessment.</a:t>
            </a:r>
            <a:endParaRPr lang="en-IN" dirty="0"/>
          </a:p>
        </p:txBody>
      </p:sp>
    </p:spTree>
    <p:extLst>
      <p:ext uri="{BB962C8B-B14F-4D97-AF65-F5344CB8AC3E}">
        <p14:creationId xmlns:p14="http://schemas.microsoft.com/office/powerpoint/2010/main" val="2559410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Selection of the Response Variable</a:t>
            </a:r>
            <a:endParaRPr lang="en-IN" dirty="0"/>
          </a:p>
        </p:txBody>
      </p:sp>
      <p:sp>
        <p:nvSpPr>
          <p:cNvPr id="3" name="Content Placeholder 2"/>
          <p:cNvSpPr>
            <a:spLocks noGrp="1"/>
          </p:cNvSpPr>
          <p:nvPr>
            <p:ph idx="1"/>
          </p:nvPr>
        </p:nvSpPr>
        <p:spPr/>
        <p:txBody>
          <a:bodyPr>
            <a:normAutofit/>
          </a:bodyPr>
          <a:lstStyle/>
          <a:p>
            <a:pPr marL="0" indent="0">
              <a:buNone/>
            </a:pPr>
            <a:r>
              <a:rPr lang="en-IN" sz="3200" dirty="0">
                <a:solidFill>
                  <a:srgbClr val="FF0000"/>
                </a:solidFill>
              </a:rPr>
              <a:t>Common Measures</a:t>
            </a:r>
          </a:p>
          <a:p>
            <a:pPr lvl="1"/>
            <a:r>
              <a:rPr lang="en-IN" sz="2800" dirty="0"/>
              <a:t>Classification: Misclassification error (0/1 loss)</a:t>
            </a:r>
          </a:p>
          <a:p>
            <a:pPr lvl="1"/>
            <a:r>
              <a:rPr lang="en-IN" sz="2800" dirty="0"/>
              <a:t>Regression: Mean Squared Error (MSE)</a:t>
            </a:r>
          </a:p>
          <a:p>
            <a:pPr marL="0" indent="0">
              <a:buNone/>
            </a:pPr>
            <a:r>
              <a:rPr lang="en-IN" dirty="0">
                <a:solidFill>
                  <a:srgbClr val="FF0000"/>
                </a:solidFill>
              </a:rPr>
              <a:t>Alternative Metrics</a:t>
            </a:r>
          </a:p>
          <a:p>
            <a:pPr lvl="1"/>
            <a:r>
              <a:rPr lang="en-IN" sz="2800" dirty="0"/>
              <a:t>Risk measures (generalized loss functions)</a:t>
            </a:r>
          </a:p>
          <a:p>
            <a:pPr lvl="1"/>
            <a:r>
              <a:rPr lang="en-IN" sz="2800" dirty="0"/>
              <a:t>Information Retrieval: Precision, Recall </a:t>
            </a:r>
          </a:p>
          <a:p>
            <a:pPr lvl="1"/>
            <a:r>
              <a:rPr lang="en-IN" sz="2800" dirty="0"/>
              <a:t>Cost-Sensitive Learning: Considers both output accuracy and system complexity.</a:t>
            </a:r>
          </a:p>
        </p:txBody>
      </p:sp>
    </p:spTree>
    <p:extLst>
      <p:ext uri="{BB962C8B-B14F-4D97-AF65-F5344CB8AC3E}">
        <p14:creationId xmlns:p14="http://schemas.microsoft.com/office/powerpoint/2010/main" val="3012058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Choice of Factors and Levels</a:t>
            </a:r>
            <a:br>
              <a:rPr lang="en-US" b="1" dirty="0"/>
            </a:br>
            <a:endParaRPr lang="en-IN" dirty="0"/>
          </a:p>
        </p:txBody>
      </p:sp>
      <p:sp>
        <p:nvSpPr>
          <p:cNvPr id="3" name="Content Placeholder 2"/>
          <p:cNvSpPr>
            <a:spLocks noGrp="1"/>
          </p:cNvSpPr>
          <p:nvPr>
            <p:ph idx="1"/>
          </p:nvPr>
        </p:nvSpPr>
        <p:spPr/>
        <p:txBody>
          <a:bodyPr>
            <a:normAutofit lnSpcReduction="10000"/>
          </a:bodyPr>
          <a:lstStyle/>
          <a:p>
            <a:pPr marL="0" indent="0">
              <a:buNone/>
            </a:pPr>
            <a:r>
              <a:rPr lang="en-US" b="1" dirty="0"/>
              <a:t>Factors depend on study objectives</a:t>
            </a:r>
          </a:p>
          <a:p>
            <a:pPr lvl="1"/>
            <a:r>
              <a:rPr lang="en-US" dirty="0" err="1"/>
              <a:t>Hyperparameter</a:t>
            </a:r>
            <a:r>
              <a:rPr lang="en-US" dirty="0"/>
              <a:t> tuning: Factors are the algorithm’s parameters.</a:t>
            </a:r>
          </a:p>
          <a:p>
            <a:pPr lvl="1"/>
            <a:r>
              <a:rPr lang="en-US" dirty="0"/>
              <a:t>Algorithm comparison: The learning algorithm itself is a factor.</a:t>
            </a:r>
          </a:p>
          <a:p>
            <a:pPr lvl="1"/>
            <a:r>
              <a:rPr lang="en-US" dirty="0"/>
              <a:t>Dataset variations: Different datasets become a factor.</a:t>
            </a:r>
          </a:p>
          <a:p>
            <a:pPr marL="0" indent="0">
              <a:buNone/>
            </a:pPr>
            <a:r>
              <a:rPr lang="en-US" b="1" dirty="0"/>
              <a:t>Choosing Factor Levels</a:t>
            </a:r>
          </a:p>
          <a:p>
            <a:pPr lvl="1"/>
            <a:r>
              <a:rPr lang="en-US" dirty="0"/>
              <a:t>Carefully select levels to avoid missing optimal configurations or unnecessary experiments.</a:t>
            </a:r>
          </a:p>
          <a:p>
            <a:pPr lvl="1"/>
            <a:r>
              <a:rPr lang="en-US" dirty="0"/>
              <a:t>Normalize factor levels when needed (e.g., scale-dependent parameters like </a:t>
            </a:r>
            <a:r>
              <a:rPr lang="en-US" dirty="0" err="1"/>
              <a:t>Parzen</a:t>
            </a:r>
            <a:r>
              <a:rPr lang="en-US" dirty="0"/>
              <a:t> window spread).</a:t>
            </a:r>
          </a:p>
          <a:p>
            <a:pPr marL="0" indent="0">
              <a:buNone/>
            </a:pPr>
            <a:r>
              <a:rPr lang="en-US" b="1" dirty="0"/>
              <a:t>Best Practices:</a:t>
            </a:r>
          </a:p>
          <a:p>
            <a:pPr lvl="1"/>
            <a:r>
              <a:rPr lang="en-US" dirty="0"/>
              <a:t>Use domain expertise but remain open to exploring all relevant factors.</a:t>
            </a:r>
            <a:endParaRPr lang="en-IN" dirty="0"/>
          </a:p>
        </p:txBody>
      </p:sp>
    </p:spTree>
    <p:extLst>
      <p:ext uri="{BB962C8B-B14F-4D97-AF65-F5344CB8AC3E}">
        <p14:creationId xmlns:p14="http://schemas.microsoft.com/office/powerpoint/2010/main" val="4253781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rPr>
              <a:t>Choice of Experimental Design</a:t>
            </a:r>
            <a:br>
              <a:rPr lang="en-IN" b="1" dirty="0"/>
            </a:br>
            <a:endParaRPr lang="en-IN" dirty="0"/>
          </a:p>
        </p:txBody>
      </p:sp>
      <p:sp>
        <p:nvSpPr>
          <p:cNvPr id="3" name="Content Placeholder 2"/>
          <p:cNvSpPr>
            <a:spLocks noGrp="1"/>
          </p:cNvSpPr>
          <p:nvPr>
            <p:ph idx="1"/>
          </p:nvPr>
        </p:nvSpPr>
        <p:spPr>
          <a:xfrm>
            <a:off x="838200" y="1419367"/>
            <a:ext cx="10515600" cy="4757596"/>
          </a:xfrm>
        </p:spPr>
        <p:txBody>
          <a:bodyPr>
            <a:normAutofit fontScale="92500" lnSpcReduction="20000"/>
          </a:bodyPr>
          <a:lstStyle/>
          <a:p>
            <a:pPr marL="0" indent="0">
              <a:buNone/>
            </a:pPr>
            <a:r>
              <a:rPr lang="en-US" b="1" dirty="0"/>
              <a:t>Factorial Design:</a:t>
            </a:r>
          </a:p>
          <a:p>
            <a:pPr lvl="1"/>
            <a:r>
              <a:rPr lang="en-US" sz="2600" dirty="0"/>
              <a:t>Preferred unless factors are proven to be independent.</a:t>
            </a:r>
          </a:p>
          <a:p>
            <a:pPr lvl="1"/>
            <a:r>
              <a:rPr lang="en-US" sz="2600" dirty="0"/>
              <a:t>Most factors interact, so factorial analysis ensures better insights</a:t>
            </a:r>
            <a:r>
              <a:rPr lang="en-US" dirty="0"/>
              <a:t>.</a:t>
            </a:r>
          </a:p>
          <a:p>
            <a:pPr marL="0" indent="0">
              <a:buNone/>
            </a:pPr>
            <a:r>
              <a:rPr lang="en-US" b="1" dirty="0"/>
              <a:t>Replication &amp; Dataset Size</a:t>
            </a:r>
            <a:r>
              <a:rPr lang="en-US" dirty="0"/>
              <a:t>:</a:t>
            </a:r>
          </a:p>
          <a:p>
            <a:pPr lvl="1"/>
            <a:r>
              <a:rPr lang="en-US" sz="2600" dirty="0"/>
              <a:t>Large datasets require fewer replications.</a:t>
            </a:r>
          </a:p>
          <a:p>
            <a:pPr lvl="1"/>
            <a:r>
              <a:rPr lang="en-US" sz="2600" dirty="0"/>
              <a:t>Too few replicates lead to unreliable comparisons and invalid statistical tests.</a:t>
            </a:r>
          </a:p>
          <a:p>
            <a:pPr marL="0" indent="0">
              <a:buNone/>
            </a:pPr>
            <a:r>
              <a:rPr lang="en-US" b="1" dirty="0"/>
              <a:t>Train-Test Splitting &amp; Resampling:</a:t>
            </a:r>
          </a:p>
          <a:p>
            <a:pPr lvl="1"/>
            <a:r>
              <a:rPr lang="en-US" sz="2600" dirty="0"/>
              <a:t>Reserve a portion of data for testing, using resampling for training and validation.</a:t>
            </a:r>
          </a:p>
          <a:p>
            <a:pPr lvl="1"/>
            <a:r>
              <a:rPr lang="en-US" sz="2600" dirty="0"/>
              <a:t>Poor splitting can lead to high variance and inconclusive results.</a:t>
            </a:r>
          </a:p>
          <a:p>
            <a:pPr marL="0" indent="0">
              <a:buNone/>
            </a:pPr>
            <a:r>
              <a:rPr lang="en-US" b="1" dirty="0"/>
              <a:t>Choice of Datasets</a:t>
            </a:r>
            <a:r>
              <a:rPr lang="en-US" dirty="0"/>
              <a:t>:</a:t>
            </a:r>
          </a:p>
          <a:p>
            <a:pPr lvl="1"/>
            <a:r>
              <a:rPr lang="en-US" sz="2600" dirty="0"/>
              <a:t>Avoid synthetic and toy datasets; prefer real-world data.</a:t>
            </a:r>
          </a:p>
          <a:p>
            <a:pPr lvl="1"/>
            <a:r>
              <a:rPr lang="en-US" sz="2600" dirty="0"/>
              <a:t>Simple datasets help with intuition but may not reflect real-world complexity in high-dimensional spaces</a:t>
            </a:r>
            <a:endParaRPr lang="en-IN" sz="2600" dirty="0"/>
          </a:p>
        </p:txBody>
      </p:sp>
    </p:spTree>
    <p:extLst>
      <p:ext uri="{BB962C8B-B14F-4D97-AF65-F5344CB8AC3E}">
        <p14:creationId xmlns:p14="http://schemas.microsoft.com/office/powerpoint/2010/main" val="3338087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rPr>
              <a:t>Performing the Experiment</a:t>
            </a:r>
            <a:br>
              <a:rPr lang="en-IN" b="1" dirty="0"/>
            </a:br>
            <a:endParaRPr lang="en-IN" dirty="0"/>
          </a:p>
        </p:txBody>
      </p:sp>
      <p:sp>
        <p:nvSpPr>
          <p:cNvPr id="3" name="Content Placeholder 2"/>
          <p:cNvSpPr>
            <a:spLocks noGrp="1"/>
          </p:cNvSpPr>
          <p:nvPr>
            <p:ph idx="1"/>
          </p:nvPr>
        </p:nvSpPr>
        <p:spPr/>
        <p:txBody>
          <a:bodyPr>
            <a:normAutofit lnSpcReduction="10000"/>
          </a:bodyPr>
          <a:lstStyle/>
          <a:p>
            <a:pPr marL="0" indent="0">
              <a:buNone/>
            </a:pPr>
            <a:r>
              <a:rPr lang="en-US" b="1" dirty="0"/>
              <a:t>Preliminary Checks:</a:t>
            </a:r>
          </a:p>
          <a:p>
            <a:pPr lvl="1"/>
            <a:r>
              <a:rPr lang="en-US" dirty="0"/>
              <a:t>Conduct trial runs with random settings before large experiments.</a:t>
            </a:r>
          </a:p>
          <a:p>
            <a:pPr lvl="1"/>
            <a:r>
              <a:rPr lang="en-US" dirty="0"/>
              <a:t>Save intermediate results or random seeds for reproducibility.</a:t>
            </a:r>
          </a:p>
          <a:p>
            <a:pPr marL="0" indent="0">
              <a:buNone/>
            </a:pPr>
            <a:r>
              <a:rPr lang="en-US" b="1" dirty="0"/>
              <a:t>Experimental Integrity:</a:t>
            </a:r>
          </a:p>
          <a:p>
            <a:pPr lvl="1"/>
            <a:r>
              <a:rPr lang="en-US" dirty="0"/>
              <a:t>Be aware of software aging effects in long experiments.</a:t>
            </a:r>
          </a:p>
          <a:p>
            <a:pPr lvl="1"/>
            <a:r>
              <a:rPr lang="en-US" dirty="0"/>
              <a:t>Maintain unbiased evaluation, especially when comparing algorithms.</a:t>
            </a:r>
          </a:p>
          <a:p>
            <a:pPr lvl="1"/>
            <a:r>
              <a:rPr lang="en-US" dirty="0"/>
              <a:t>Ideally, separate developers from testers in large-scale studies.</a:t>
            </a:r>
          </a:p>
          <a:p>
            <a:pPr marL="0" indent="0">
              <a:buNone/>
            </a:pPr>
            <a:r>
              <a:rPr lang="en-US" b="1" dirty="0"/>
              <a:t>Reliable Code &amp; Documentation:</a:t>
            </a:r>
          </a:p>
          <a:p>
            <a:pPr lvl="1"/>
            <a:r>
              <a:rPr lang="en-US" dirty="0"/>
              <a:t>Use well-tested libraries instead of writing custom implementations.</a:t>
            </a:r>
          </a:p>
          <a:p>
            <a:pPr lvl="1"/>
            <a:r>
              <a:rPr lang="en-US" dirty="0"/>
              <a:t>Maintain clear documentation, especially for collaborative work.</a:t>
            </a:r>
          </a:p>
          <a:p>
            <a:pPr lvl="1"/>
            <a:r>
              <a:rPr lang="en-US" dirty="0"/>
              <a:t>Apply software engineering best practices to ensure experiment quality.</a:t>
            </a:r>
          </a:p>
          <a:p>
            <a:endParaRPr lang="en-IN" dirty="0"/>
          </a:p>
        </p:txBody>
      </p:sp>
    </p:spTree>
    <p:extLst>
      <p:ext uri="{BB962C8B-B14F-4D97-AF65-F5344CB8AC3E}">
        <p14:creationId xmlns:p14="http://schemas.microsoft.com/office/powerpoint/2010/main" val="2430622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Statistical Analysis of the Data</a:t>
            </a:r>
            <a:br>
              <a:rPr lang="en-IN" dirty="0"/>
            </a:br>
            <a:endParaRPr lang="en-IN" dirty="0"/>
          </a:p>
        </p:txBody>
      </p:sp>
      <p:sp>
        <p:nvSpPr>
          <p:cNvPr id="3" name="Content Placeholder 2"/>
          <p:cNvSpPr>
            <a:spLocks noGrp="1"/>
          </p:cNvSpPr>
          <p:nvPr>
            <p:ph idx="1"/>
          </p:nvPr>
        </p:nvSpPr>
        <p:spPr/>
        <p:txBody>
          <a:bodyPr>
            <a:normAutofit/>
          </a:bodyPr>
          <a:lstStyle/>
          <a:p>
            <a:pPr marL="0" indent="0">
              <a:buNone/>
            </a:pPr>
            <a:r>
              <a:rPr lang="en-US" b="1" dirty="0"/>
              <a:t>Ensuring Reliable Conclusions:</a:t>
            </a:r>
          </a:p>
          <a:p>
            <a:r>
              <a:rPr lang="en-US" dirty="0"/>
              <a:t>Avoid subjective or chance-based interpretations.</a:t>
            </a:r>
          </a:p>
          <a:p>
            <a:r>
              <a:rPr lang="en-US" dirty="0"/>
              <a:t>Use hypothesis testing to validate claims.</a:t>
            </a:r>
          </a:p>
          <a:p>
            <a:pPr marL="0" indent="0">
              <a:buNone/>
            </a:pPr>
            <a:r>
              <a:rPr lang="en-US" b="1" dirty="0"/>
              <a:t>Example:</a:t>
            </a:r>
          </a:p>
          <a:p>
            <a:r>
              <a:rPr lang="en-US" dirty="0"/>
              <a:t>Instead of asking, "Is Algorithm A more accurate than B?"</a:t>
            </a:r>
          </a:p>
          <a:p>
            <a:r>
              <a:rPr lang="en-US" dirty="0"/>
              <a:t>Formulate as: "Is the average error of A significantly lower than B?"</a:t>
            </a:r>
          </a:p>
          <a:p>
            <a:pPr marL="0" indent="0">
              <a:buNone/>
            </a:pPr>
            <a:r>
              <a:rPr lang="en-US" b="1" dirty="0"/>
              <a:t>Visualization Techniques:</a:t>
            </a:r>
          </a:p>
          <a:p>
            <a:r>
              <a:rPr lang="en-US" dirty="0"/>
              <a:t>Histograms, box plots, range plots help analyze error distributions.</a:t>
            </a:r>
            <a:endParaRPr lang="en-IN" dirty="0"/>
          </a:p>
        </p:txBody>
      </p:sp>
    </p:spTree>
    <p:extLst>
      <p:ext uri="{BB962C8B-B14F-4D97-AF65-F5344CB8AC3E}">
        <p14:creationId xmlns:p14="http://schemas.microsoft.com/office/powerpoint/2010/main" val="1914036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lassification - Train test split with time and person indexed data - Cross  Valid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348" y="259306"/>
            <a:ext cx="6846924" cy="344669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plit Your Dataset With scikit-learn's train_test_split() – Real Pyth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0985" y="1173707"/>
            <a:ext cx="3401707" cy="5272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2743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Cross-Validation (CV)</a:t>
            </a:r>
          </a:p>
        </p:txBody>
      </p:sp>
      <p:sp>
        <p:nvSpPr>
          <p:cNvPr id="3" name="Content Placeholder 2"/>
          <p:cNvSpPr>
            <a:spLocks noGrp="1"/>
          </p:cNvSpPr>
          <p:nvPr>
            <p:ph idx="1"/>
          </p:nvPr>
        </p:nvSpPr>
        <p:spPr/>
        <p:txBody>
          <a:bodyPr/>
          <a:lstStyle/>
          <a:p>
            <a:pPr algn="just"/>
            <a:r>
              <a:rPr lang="en-US" dirty="0"/>
              <a:t>Cross-validation is a technique used in machine learning to assess the performance and generalizability of a model by splitting the dataset into multiple subsets. </a:t>
            </a:r>
          </a:p>
          <a:p>
            <a:pPr algn="just"/>
            <a:r>
              <a:rPr lang="en-US" dirty="0"/>
              <a:t>It helps prevent overfitting and ensures that the model performs well on unseen data.</a:t>
            </a:r>
            <a:endParaRPr lang="en-IN" dirty="0"/>
          </a:p>
        </p:txBody>
      </p:sp>
    </p:spTree>
    <p:extLst>
      <p:ext uri="{BB962C8B-B14F-4D97-AF65-F5344CB8AC3E}">
        <p14:creationId xmlns:p14="http://schemas.microsoft.com/office/powerpoint/2010/main" val="3240435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rPr>
              <a:t>Types of Cross-Validation</a:t>
            </a:r>
            <a:br>
              <a:rPr lang="en-IN" b="1" dirty="0"/>
            </a:br>
            <a:endParaRPr lang="en-IN" dirty="0"/>
          </a:p>
        </p:txBody>
      </p:sp>
      <p:sp>
        <p:nvSpPr>
          <p:cNvPr id="3" name="Content Placeholder 2"/>
          <p:cNvSpPr>
            <a:spLocks noGrp="1"/>
          </p:cNvSpPr>
          <p:nvPr>
            <p:ph idx="1"/>
          </p:nvPr>
        </p:nvSpPr>
        <p:spPr>
          <a:xfrm>
            <a:off x="838200" y="1184180"/>
            <a:ext cx="10515600" cy="5243916"/>
          </a:xfrm>
        </p:spPr>
        <p:txBody>
          <a:bodyPr>
            <a:noAutofit/>
          </a:bodyPr>
          <a:lstStyle/>
          <a:p>
            <a:pPr algn="just"/>
            <a:r>
              <a:rPr lang="en-US" sz="2400" b="1" dirty="0"/>
              <a:t>Holdout Validation</a:t>
            </a:r>
            <a:r>
              <a:rPr lang="en-US" sz="2400" dirty="0"/>
              <a:t>: The dataset is split into training and testing sets (e.g., 80% training, 20% testing).</a:t>
            </a:r>
          </a:p>
          <a:p>
            <a:pPr algn="just"/>
            <a:r>
              <a:rPr lang="en-US" sz="2400" b="1" dirty="0">
                <a:highlight>
                  <a:srgbClr val="FFFF00"/>
                </a:highlight>
              </a:rPr>
              <a:t>k-Fold Cross-Validation</a:t>
            </a:r>
            <a:r>
              <a:rPr lang="en-US" sz="2400" dirty="0">
                <a:highlight>
                  <a:srgbClr val="FFFF00"/>
                </a:highlight>
              </a:rPr>
              <a:t>: </a:t>
            </a:r>
            <a:r>
              <a:rPr lang="en-US" sz="2400" dirty="0"/>
              <a:t>The dataset is divided into k equal-sized folds. The model is trained on k-1 folds and tested on the remaining one. This is repeated k times, and the results are averaged.</a:t>
            </a:r>
          </a:p>
          <a:p>
            <a:pPr algn="just"/>
            <a:r>
              <a:rPr lang="en-US" sz="2400" b="1" dirty="0">
                <a:highlight>
                  <a:srgbClr val="FFFF00"/>
                </a:highlight>
              </a:rPr>
              <a:t>Stratified k-Fold Cross-Validation</a:t>
            </a:r>
            <a:r>
              <a:rPr lang="en-US" sz="2400" dirty="0"/>
              <a:t>: Similar to k-Fold but ensures that class distributions are maintained in each fold (useful for imbalanced datasets).</a:t>
            </a:r>
          </a:p>
          <a:p>
            <a:pPr algn="just"/>
            <a:r>
              <a:rPr lang="en-US" sz="2400" b="1" dirty="0"/>
              <a:t>Leave-One-Out Cross-Validation (LOOCV): </a:t>
            </a:r>
            <a:r>
              <a:rPr lang="en-US" sz="2400" dirty="0"/>
              <a:t>A special case of k-Fold where k is equal to the number of samples, meaning each sample is used as a test set once.</a:t>
            </a:r>
          </a:p>
          <a:p>
            <a:pPr algn="just"/>
            <a:r>
              <a:rPr lang="en-US" sz="2400" b="1" dirty="0"/>
              <a:t>Leave-P-Out Cross-Validation</a:t>
            </a:r>
            <a:r>
              <a:rPr lang="en-US" sz="2400" dirty="0"/>
              <a:t>: p samples are left out for validation while the remaining are used for training.</a:t>
            </a:r>
          </a:p>
          <a:p>
            <a:pPr algn="just"/>
            <a:r>
              <a:rPr lang="en-US" sz="2400" b="1" dirty="0"/>
              <a:t>Time Series Cross-Validation</a:t>
            </a:r>
            <a:r>
              <a:rPr lang="en-US" sz="2400" dirty="0"/>
              <a:t>: Used for time-dependent data, where past data is used for training and future data for testing.</a:t>
            </a:r>
            <a:endParaRPr lang="en-IN" sz="2400" dirty="0"/>
          </a:p>
        </p:txBody>
      </p:sp>
    </p:spTree>
    <p:extLst>
      <p:ext uri="{BB962C8B-B14F-4D97-AF65-F5344CB8AC3E}">
        <p14:creationId xmlns:p14="http://schemas.microsoft.com/office/powerpoint/2010/main" val="3485938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0659"/>
            <a:ext cx="10515600" cy="644809"/>
          </a:xfrm>
        </p:spPr>
        <p:txBody>
          <a:bodyPr>
            <a:normAutofit fontScale="90000"/>
          </a:bodyPr>
          <a:lstStyle/>
          <a:p>
            <a:r>
              <a:rPr lang="en-IN" b="1" dirty="0">
                <a:solidFill>
                  <a:srgbClr val="FF0000"/>
                </a:solidFill>
              </a:rPr>
              <a:t>k-Fold Cross-Validation</a:t>
            </a:r>
          </a:p>
        </p:txBody>
      </p:sp>
      <p:sp>
        <p:nvSpPr>
          <p:cNvPr id="3" name="Content Placeholder 2"/>
          <p:cNvSpPr>
            <a:spLocks noGrp="1"/>
          </p:cNvSpPr>
          <p:nvPr>
            <p:ph idx="1"/>
          </p:nvPr>
        </p:nvSpPr>
        <p:spPr>
          <a:xfrm>
            <a:off x="729018" y="1828801"/>
            <a:ext cx="10515600" cy="3616656"/>
          </a:xfrm>
        </p:spPr>
        <p:txBody>
          <a:bodyPr>
            <a:noAutofit/>
          </a:bodyPr>
          <a:lstStyle/>
          <a:p>
            <a:pPr algn="just"/>
            <a:r>
              <a:rPr lang="en-US" dirty="0"/>
              <a:t>k-Fold Cross-Validation is a technique used to evaluate the performance of a machine learning model by splitting the dataset into </a:t>
            </a:r>
            <a:r>
              <a:rPr lang="en-US" i="1" dirty="0"/>
              <a:t>k</a:t>
            </a:r>
            <a:r>
              <a:rPr lang="en-US" dirty="0"/>
              <a:t> subsets (folds). </a:t>
            </a:r>
          </a:p>
          <a:p>
            <a:pPr algn="just"/>
            <a:r>
              <a:rPr lang="en-US" dirty="0"/>
              <a:t>The model is trained </a:t>
            </a:r>
            <a:r>
              <a:rPr lang="en-US" i="1" dirty="0"/>
              <a:t>k</a:t>
            </a:r>
            <a:r>
              <a:rPr lang="en-US" dirty="0"/>
              <a:t> times, each time using </a:t>
            </a:r>
            <a:r>
              <a:rPr lang="en-US" i="1" dirty="0"/>
              <a:t>k-1</a:t>
            </a:r>
            <a:r>
              <a:rPr lang="en-US" dirty="0"/>
              <a:t> folds for training and the remaining one for testing. </a:t>
            </a:r>
          </a:p>
          <a:p>
            <a:pPr algn="just"/>
            <a:r>
              <a:rPr lang="en-US" dirty="0"/>
              <a:t>The final model performance is the average of all </a:t>
            </a:r>
            <a:r>
              <a:rPr lang="en-US" i="1" dirty="0"/>
              <a:t>k</a:t>
            </a:r>
            <a:r>
              <a:rPr lang="en-US" dirty="0"/>
              <a:t> iterations.</a:t>
            </a:r>
            <a:endParaRPr lang="en-IN" dirty="0"/>
          </a:p>
        </p:txBody>
      </p:sp>
    </p:spTree>
    <p:extLst>
      <p:ext uri="{BB962C8B-B14F-4D97-AF65-F5344CB8AC3E}">
        <p14:creationId xmlns:p14="http://schemas.microsoft.com/office/powerpoint/2010/main" val="1449759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A depiction of a 5 fold cross validation on a training set, while holding out a test s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179" y="313899"/>
            <a:ext cx="6994444" cy="484474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106769" y="1099110"/>
            <a:ext cx="3616657" cy="4247317"/>
          </a:xfrm>
          <a:prstGeom prst="rect">
            <a:avLst/>
          </a:prstGeom>
        </p:spPr>
        <p:txBody>
          <a:bodyPr wrap="square">
            <a:spAutoFit/>
          </a:bodyPr>
          <a:lstStyle/>
          <a:p>
            <a:r>
              <a:rPr lang="en-US" b="1" dirty="0"/>
              <a:t>Steps in k-Fold Cross-Validation</a:t>
            </a:r>
          </a:p>
          <a:p>
            <a:pPr marL="285750" indent="-285750">
              <a:buFont typeface="Arial" panose="020B0604020202020204" pitchFamily="34" charset="0"/>
              <a:buChar char="•"/>
            </a:pPr>
            <a:r>
              <a:rPr lang="en-US" dirty="0"/>
              <a:t>Shuffle the dataset (optional but recommended).</a:t>
            </a:r>
          </a:p>
          <a:p>
            <a:pPr marL="285750" indent="-285750">
              <a:buFont typeface="Arial" panose="020B0604020202020204" pitchFamily="34" charset="0"/>
              <a:buChar char="•"/>
            </a:pPr>
            <a:r>
              <a:rPr lang="en-US" dirty="0"/>
              <a:t>Split the dataset into k equal-sized subsets (folds).</a:t>
            </a:r>
          </a:p>
          <a:p>
            <a:pPr marL="285750" indent="-285750">
              <a:buFont typeface="Arial" panose="020B0604020202020204" pitchFamily="34" charset="0"/>
              <a:buChar char="•"/>
            </a:pPr>
            <a:r>
              <a:rPr lang="en-US" dirty="0"/>
              <a:t>Train the model k times, each time using k-1 folds for training and the remaining fold for validation.</a:t>
            </a:r>
          </a:p>
          <a:p>
            <a:pPr marL="285750" indent="-285750">
              <a:buFont typeface="Arial" panose="020B0604020202020204" pitchFamily="34" charset="0"/>
              <a:buChar char="•"/>
            </a:pPr>
            <a:r>
              <a:rPr lang="en-US" dirty="0"/>
              <a:t>Compute the evaluation metric (e.g., accuracy, F1-score) for each fold.</a:t>
            </a:r>
          </a:p>
          <a:p>
            <a:pPr marL="285750" indent="-285750">
              <a:buFont typeface="Arial" panose="020B0604020202020204" pitchFamily="34" charset="0"/>
              <a:buChar char="•"/>
            </a:pPr>
            <a:r>
              <a:rPr lang="en-US" dirty="0"/>
              <a:t>Average the results from all folds to get the final model performance.</a:t>
            </a:r>
          </a:p>
        </p:txBody>
      </p:sp>
    </p:spTree>
    <p:extLst>
      <p:ext uri="{BB962C8B-B14F-4D97-AF65-F5344CB8AC3E}">
        <p14:creationId xmlns:p14="http://schemas.microsoft.com/office/powerpoint/2010/main" val="1796695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401500-B60F-4804-A514-EF39280D914A}"/>
              </a:ext>
            </a:extLst>
          </p:cNvPr>
          <p:cNvPicPr>
            <a:picLocks noChangeAspect="1"/>
          </p:cNvPicPr>
          <p:nvPr/>
        </p:nvPicPr>
        <p:blipFill>
          <a:blip r:embed="rId2"/>
          <a:stretch>
            <a:fillRect/>
          </a:stretch>
        </p:blipFill>
        <p:spPr>
          <a:xfrm>
            <a:off x="464025" y="261013"/>
            <a:ext cx="11491414" cy="6463921"/>
          </a:xfrm>
          <a:prstGeom prst="rect">
            <a:avLst/>
          </a:prstGeom>
        </p:spPr>
      </p:pic>
    </p:spTree>
    <p:extLst>
      <p:ext uri="{BB962C8B-B14F-4D97-AF65-F5344CB8AC3E}">
        <p14:creationId xmlns:p14="http://schemas.microsoft.com/office/powerpoint/2010/main" val="1987718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3106003" cy="5808473"/>
          </a:xfrm>
          <a:ln>
            <a:solidFill>
              <a:schemeClr val="accent1"/>
            </a:solidFill>
          </a:ln>
        </p:spPr>
        <p:txBody>
          <a:bodyPr/>
          <a:lstStyle/>
          <a:p>
            <a:pPr marL="0" indent="0">
              <a:buNone/>
            </a:pPr>
            <a:r>
              <a:rPr lang="en-US" dirty="0"/>
              <a:t>Let’s say we have </a:t>
            </a:r>
            <a:r>
              <a:rPr lang="en-US" b="1" dirty="0"/>
              <a:t>10 data samples</a:t>
            </a:r>
            <a:r>
              <a:rPr lang="en-US" dirty="0"/>
              <a:t>, labeled S1 to S10:</a:t>
            </a:r>
          </a:p>
          <a:p>
            <a:endParaRPr lang="en-IN" dirty="0"/>
          </a:p>
        </p:txBody>
      </p:sp>
      <p:graphicFrame>
        <p:nvGraphicFramePr>
          <p:cNvPr id="4" name="Table 3"/>
          <p:cNvGraphicFramePr>
            <a:graphicFrameLocks noGrp="1"/>
          </p:cNvGraphicFramePr>
          <p:nvPr/>
        </p:nvGraphicFramePr>
        <p:xfrm>
          <a:off x="838200" y="1989614"/>
          <a:ext cx="2259842" cy="4023360"/>
        </p:xfrm>
        <a:graphic>
          <a:graphicData uri="http://schemas.openxmlformats.org/drawingml/2006/table">
            <a:tbl>
              <a:tblPr/>
              <a:tblGrid>
                <a:gridCol w="2259842">
                  <a:extLst>
                    <a:ext uri="{9D8B030D-6E8A-4147-A177-3AD203B41FA5}">
                      <a16:colId xmlns:a16="http://schemas.microsoft.com/office/drawing/2014/main" val="20000"/>
                    </a:ext>
                  </a:extLst>
                </a:gridCol>
              </a:tblGrid>
              <a:tr h="0">
                <a:tc>
                  <a:txBody>
                    <a:bodyPr/>
                    <a:lstStyle/>
                    <a:p>
                      <a:r>
                        <a:rPr lang="en-IN"/>
                        <a:t>Sample</a:t>
                      </a:r>
                    </a:p>
                  </a:txBody>
                  <a:tcPr anchor="ctr">
                    <a:lnL>
                      <a:noFill/>
                    </a:lnL>
                    <a:lnR>
                      <a:noFill/>
                    </a:lnR>
                    <a:lnT>
                      <a:noFill/>
                    </a:lnT>
                    <a:lnB>
                      <a:noFill/>
                    </a:lnB>
                  </a:tcPr>
                </a:tc>
                <a:extLst>
                  <a:ext uri="{0D108BD9-81ED-4DB2-BD59-A6C34878D82A}">
                    <a16:rowId xmlns:a16="http://schemas.microsoft.com/office/drawing/2014/main" val="10000"/>
                  </a:ext>
                </a:extLst>
              </a:tr>
              <a:tr h="0">
                <a:tc>
                  <a:txBody>
                    <a:bodyPr/>
                    <a:lstStyle/>
                    <a:p>
                      <a:r>
                        <a:rPr lang="en-IN"/>
                        <a:t>S1</a:t>
                      </a:r>
                    </a:p>
                  </a:txBody>
                  <a:tcPr anchor="ctr">
                    <a:lnL>
                      <a:noFill/>
                    </a:lnL>
                    <a:lnR>
                      <a:noFill/>
                    </a:lnR>
                    <a:lnT>
                      <a:noFill/>
                    </a:lnT>
                    <a:lnB>
                      <a:noFill/>
                    </a:lnB>
                  </a:tcPr>
                </a:tc>
                <a:extLst>
                  <a:ext uri="{0D108BD9-81ED-4DB2-BD59-A6C34878D82A}">
                    <a16:rowId xmlns:a16="http://schemas.microsoft.com/office/drawing/2014/main" val="10001"/>
                  </a:ext>
                </a:extLst>
              </a:tr>
              <a:tr h="0">
                <a:tc>
                  <a:txBody>
                    <a:bodyPr/>
                    <a:lstStyle/>
                    <a:p>
                      <a:r>
                        <a:rPr lang="en-IN"/>
                        <a:t>S2</a:t>
                      </a:r>
                    </a:p>
                  </a:txBody>
                  <a:tcPr anchor="ctr">
                    <a:lnL>
                      <a:noFill/>
                    </a:lnL>
                    <a:lnR>
                      <a:noFill/>
                    </a:lnR>
                    <a:lnT>
                      <a:noFill/>
                    </a:lnT>
                    <a:lnB>
                      <a:noFill/>
                    </a:lnB>
                  </a:tcPr>
                </a:tc>
                <a:extLst>
                  <a:ext uri="{0D108BD9-81ED-4DB2-BD59-A6C34878D82A}">
                    <a16:rowId xmlns:a16="http://schemas.microsoft.com/office/drawing/2014/main" val="10002"/>
                  </a:ext>
                </a:extLst>
              </a:tr>
              <a:tr h="0">
                <a:tc>
                  <a:txBody>
                    <a:bodyPr/>
                    <a:lstStyle/>
                    <a:p>
                      <a:r>
                        <a:rPr lang="en-IN"/>
                        <a:t>S3</a:t>
                      </a:r>
                    </a:p>
                  </a:txBody>
                  <a:tcPr anchor="ctr">
                    <a:lnL>
                      <a:noFill/>
                    </a:lnL>
                    <a:lnR>
                      <a:noFill/>
                    </a:lnR>
                    <a:lnT>
                      <a:noFill/>
                    </a:lnT>
                    <a:lnB>
                      <a:noFill/>
                    </a:lnB>
                  </a:tcPr>
                </a:tc>
                <a:extLst>
                  <a:ext uri="{0D108BD9-81ED-4DB2-BD59-A6C34878D82A}">
                    <a16:rowId xmlns:a16="http://schemas.microsoft.com/office/drawing/2014/main" val="10003"/>
                  </a:ext>
                </a:extLst>
              </a:tr>
              <a:tr h="0">
                <a:tc>
                  <a:txBody>
                    <a:bodyPr/>
                    <a:lstStyle/>
                    <a:p>
                      <a:r>
                        <a:rPr lang="en-IN"/>
                        <a:t>S4</a:t>
                      </a:r>
                    </a:p>
                  </a:txBody>
                  <a:tcPr anchor="ctr">
                    <a:lnL>
                      <a:noFill/>
                    </a:lnL>
                    <a:lnR>
                      <a:noFill/>
                    </a:lnR>
                    <a:lnT>
                      <a:noFill/>
                    </a:lnT>
                    <a:lnB>
                      <a:noFill/>
                    </a:lnB>
                  </a:tcPr>
                </a:tc>
                <a:extLst>
                  <a:ext uri="{0D108BD9-81ED-4DB2-BD59-A6C34878D82A}">
                    <a16:rowId xmlns:a16="http://schemas.microsoft.com/office/drawing/2014/main" val="10004"/>
                  </a:ext>
                </a:extLst>
              </a:tr>
              <a:tr h="0">
                <a:tc>
                  <a:txBody>
                    <a:bodyPr/>
                    <a:lstStyle/>
                    <a:p>
                      <a:r>
                        <a:rPr lang="en-IN"/>
                        <a:t>S5</a:t>
                      </a:r>
                    </a:p>
                  </a:txBody>
                  <a:tcPr anchor="ctr">
                    <a:lnL>
                      <a:noFill/>
                    </a:lnL>
                    <a:lnR>
                      <a:noFill/>
                    </a:lnR>
                    <a:lnT>
                      <a:noFill/>
                    </a:lnT>
                    <a:lnB>
                      <a:noFill/>
                    </a:lnB>
                  </a:tcPr>
                </a:tc>
                <a:extLst>
                  <a:ext uri="{0D108BD9-81ED-4DB2-BD59-A6C34878D82A}">
                    <a16:rowId xmlns:a16="http://schemas.microsoft.com/office/drawing/2014/main" val="10005"/>
                  </a:ext>
                </a:extLst>
              </a:tr>
              <a:tr h="0">
                <a:tc>
                  <a:txBody>
                    <a:bodyPr/>
                    <a:lstStyle/>
                    <a:p>
                      <a:r>
                        <a:rPr lang="en-IN"/>
                        <a:t>S6</a:t>
                      </a:r>
                    </a:p>
                  </a:txBody>
                  <a:tcPr anchor="ctr">
                    <a:lnL>
                      <a:noFill/>
                    </a:lnL>
                    <a:lnR>
                      <a:noFill/>
                    </a:lnR>
                    <a:lnT>
                      <a:noFill/>
                    </a:lnT>
                    <a:lnB>
                      <a:noFill/>
                    </a:lnB>
                  </a:tcPr>
                </a:tc>
                <a:extLst>
                  <a:ext uri="{0D108BD9-81ED-4DB2-BD59-A6C34878D82A}">
                    <a16:rowId xmlns:a16="http://schemas.microsoft.com/office/drawing/2014/main" val="10006"/>
                  </a:ext>
                </a:extLst>
              </a:tr>
              <a:tr h="0">
                <a:tc>
                  <a:txBody>
                    <a:bodyPr/>
                    <a:lstStyle/>
                    <a:p>
                      <a:r>
                        <a:rPr lang="en-IN"/>
                        <a:t>S7</a:t>
                      </a:r>
                    </a:p>
                  </a:txBody>
                  <a:tcPr anchor="ctr">
                    <a:lnL>
                      <a:noFill/>
                    </a:lnL>
                    <a:lnR>
                      <a:noFill/>
                    </a:lnR>
                    <a:lnT>
                      <a:noFill/>
                    </a:lnT>
                    <a:lnB>
                      <a:noFill/>
                    </a:lnB>
                  </a:tcPr>
                </a:tc>
                <a:extLst>
                  <a:ext uri="{0D108BD9-81ED-4DB2-BD59-A6C34878D82A}">
                    <a16:rowId xmlns:a16="http://schemas.microsoft.com/office/drawing/2014/main" val="10007"/>
                  </a:ext>
                </a:extLst>
              </a:tr>
              <a:tr h="0">
                <a:tc>
                  <a:txBody>
                    <a:bodyPr/>
                    <a:lstStyle/>
                    <a:p>
                      <a:r>
                        <a:rPr lang="en-IN"/>
                        <a:t>S8</a:t>
                      </a:r>
                    </a:p>
                  </a:txBody>
                  <a:tcPr anchor="ctr">
                    <a:lnL>
                      <a:noFill/>
                    </a:lnL>
                    <a:lnR>
                      <a:noFill/>
                    </a:lnR>
                    <a:lnT>
                      <a:noFill/>
                    </a:lnT>
                    <a:lnB>
                      <a:noFill/>
                    </a:lnB>
                  </a:tcPr>
                </a:tc>
                <a:extLst>
                  <a:ext uri="{0D108BD9-81ED-4DB2-BD59-A6C34878D82A}">
                    <a16:rowId xmlns:a16="http://schemas.microsoft.com/office/drawing/2014/main" val="10008"/>
                  </a:ext>
                </a:extLst>
              </a:tr>
              <a:tr h="0">
                <a:tc>
                  <a:txBody>
                    <a:bodyPr/>
                    <a:lstStyle/>
                    <a:p>
                      <a:r>
                        <a:rPr lang="en-IN"/>
                        <a:t>S9</a:t>
                      </a:r>
                    </a:p>
                  </a:txBody>
                  <a:tcPr anchor="ctr">
                    <a:lnL>
                      <a:noFill/>
                    </a:lnL>
                    <a:lnR>
                      <a:noFill/>
                    </a:lnR>
                    <a:lnT>
                      <a:noFill/>
                    </a:lnT>
                    <a:lnB>
                      <a:noFill/>
                    </a:lnB>
                  </a:tcPr>
                </a:tc>
                <a:extLst>
                  <a:ext uri="{0D108BD9-81ED-4DB2-BD59-A6C34878D82A}">
                    <a16:rowId xmlns:a16="http://schemas.microsoft.com/office/drawing/2014/main" val="10009"/>
                  </a:ext>
                </a:extLst>
              </a:tr>
              <a:tr h="0">
                <a:tc>
                  <a:txBody>
                    <a:bodyPr/>
                    <a:lstStyle/>
                    <a:p>
                      <a:r>
                        <a:rPr lang="en-IN" dirty="0"/>
                        <a:t>S10</a:t>
                      </a:r>
                    </a:p>
                  </a:txBody>
                  <a:tcPr anchor="ctr">
                    <a:lnL>
                      <a:noFill/>
                    </a:lnL>
                    <a:lnR>
                      <a:noFill/>
                    </a:lnR>
                    <a:lnT>
                      <a:noFill/>
                    </a:lnT>
                    <a:lnB>
                      <a:noFill/>
                    </a:lnB>
                  </a:tcPr>
                </a:tc>
                <a:extLst>
                  <a:ext uri="{0D108BD9-81ED-4DB2-BD59-A6C34878D82A}">
                    <a16:rowId xmlns:a16="http://schemas.microsoft.com/office/drawing/2014/main" val="10010"/>
                  </a:ext>
                </a:extLst>
              </a:tr>
            </a:tbl>
          </a:graphicData>
        </a:graphic>
      </p:graphicFrame>
      <p:sp>
        <p:nvSpPr>
          <p:cNvPr id="5" name="Rectangle 4"/>
          <p:cNvSpPr/>
          <p:nvPr/>
        </p:nvSpPr>
        <p:spPr>
          <a:xfrm>
            <a:off x="4435523" y="368490"/>
            <a:ext cx="6782937" cy="1815882"/>
          </a:xfrm>
          <a:prstGeom prst="rect">
            <a:avLst/>
          </a:prstGeom>
          <a:solidFill>
            <a:schemeClr val="accent4">
              <a:lumMod val="20000"/>
              <a:lumOff val="80000"/>
            </a:schemeClr>
          </a:solidFill>
        </p:spPr>
        <p:txBody>
          <a:bodyPr wrap="square">
            <a:spAutoFit/>
          </a:bodyPr>
          <a:lstStyle/>
          <a:p>
            <a:r>
              <a:rPr lang="en-US" sz="2800" dirty="0"/>
              <a:t>We want to use </a:t>
            </a:r>
            <a:r>
              <a:rPr lang="en-US" sz="2800" b="1" dirty="0"/>
              <a:t>5-Fold Cross-Validation</a:t>
            </a:r>
            <a:r>
              <a:rPr lang="en-US" sz="2800" dirty="0"/>
              <a:t>, so:</a:t>
            </a:r>
          </a:p>
          <a:p>
            <a:pPr marL="342900" indent="-342900">
              <a:buFont typeface="Arial" panose="020B0604020202020204" pitchFamily="34" charset="0"/>
              <a:buChar char="•"/>
            </a:pPr>
            <a:r>
              <a:rPr lang="en-US" sz="2800" dirty="0"/>
              <a:t>Total samples = 10</a:t>
            </a:r>
          </a:p>
          <a:p>
            <a:pPr marL="342900" indent="-342900">
              <a:buFont typeface="Arial" panose="020B0604020202020204" pitchFamily="34" charset="0"/>
              <a:buChar char="•"/>
            </a:pPr>
            <a:r>
              <a:rPr lang="en-US" sz="2800" dirty="0"/>
              <a:t>Number of folds (</a:t>
            </a:r>
            <a:r>
              <a:rPr lang="en-US" sz="2800" b="1" dirty="0"/>
              <a:t>k</a:t>
            </a:r>
            <a:r>
              <a:rPr lang="en-US" sz="2800" dirty="0"/>
              <a:t>) = 5</a:t>
            </a:r>
          </a:p>
          <a:p>
            <a:pPr marL="342900" indent="-342900">
              <a:buFont typeface="Arial" panose="020B0604020202020204" pitchFamily="34" charset="0"/>
              <a:buChar char="•"/>
            </a:pPr>
            <a:r>
              <a:rPr lang="en-US" sz="2800" dirty="0"/>
              <a:t>Each fold will contain 2 samples (10 ÷ 5)</a:t>
            </a:r>
          </a:p>
        </p:txBody>
      </p:sp>
      <p:sp>
        <p:nvSpPr>
          <p:cNvPr id="6" name="Rectangle 5"/>
          <p:cNvSpPr/>
          <p:nvPr/>
        </p:nvSpPr>
        <p:spPr>
          <a:xfrm>
            <a:off x="5122460" y="2906679"/>
            <a:ext cx="6096000" cy="2677656"/>
          </a:xfrm>
          <a:prstGeom prst="rect">
            <a:avLst/>
          </a:prstGeom>
        </p:spPr>
        <p:txBody>
          <a:bodyPr>
            <a:spAutoFit/>
          </a:bodyPr>
          <a:lstStyle/>
          <a:p>
            <a:r>
              <a:rPr lang="en-US" sz="2800" dirty="0"/>
              <a:t>Let’s divide the dataset into 5 folds:</a:t>
            </a:r>
          </a:p>
          <a:p>
            <a:pPr marL="342900" indent="-342900">
              <a:buFont typeface="Arial" panose="020B0604020202020204" pitchFamily="34" charset="0"/>
              <a:buChar char="•"/>
            </a:pPr>
            <a:r>
              <a:rPr lang="en-US" sz="2800" b="1" dirty="0"/>
              <a:t>Fold 1</a:t>
            </a:r>
            <a:r>
              <a:rPr lang="en-US" sz="2800" dirty="0"/>
              <a:t>: [S1, S2]</a:t>
            </a:r>
          </a:p>
          <a:p>
            <a:pPr marL="342900" indent="-342900">
              <a:buFont typeface="Arial" panose="020B0604020202020204" pitchFamily="34" charset="0"/>
              <a:buChar char="•"/>
            </a:pPr>
            <a:r>
              <a:rPr lang="en-US" sz="2800" b="1" dirty="0"/>
              <a:t>Fold 2</a:t>
            </a:r>
            <a:r>
              <a:rPr lang="en-US" sz="2800" dirty="0"/>
              <a:t>: [S3, S4]</a:t>
            </a:r>
          </a:p>
          <a:p>
            <a:pPr marL="342900" indent="-342900">
              <a:buFont typeface="Arial" panose="020B0604020202020204" pitchFamily="34" charset="0"/>
              <a:buChar char="•"/>
            </a:pPr>
            <a:r>
              <a:rPr lang="en-US" sz="2800" b="1" dirty="0"/>
              <a:t>Fold 3</a:t>
            </a:r>
            <a:r>
              <a:rPr lang="en-US" sz="2800" dirty="0"/>
              <a:t>: [S5, S6]</a:t>
            </a:r>
          </a:p>
          <a:p>
            <a:pPr marL="342900" indent="-342900">
              <a:buFont typeface="Arial" panose="020B0604020202020204" pitchFamily="34" charset="0"/>
              <a:buChar char="•"/>
            </a:pPr>
            <a:r>
              <a:rPr lang="en-US" sz="2800" b="1" dirty="0"/>
              <a:t>Fold 4</a:t>
            </a:r>
            <a:r>
              <a:rPr lang="en-US" sz="2800" dirty="0"/>
              <a:t>: [S7, S8]</a:t>
            </a:r>
          </a:p>
          <a:p>
            <a:pPr marL="342900" indent="-342900">
              <a:buFont typeface="Arial" panose="020B0604020202020204" pitchFamily="34" charset="0"/>
              <a:buChar char="•"/>
            </a:pPr>
            <a:r>
              <a:rPr lang="en-US" sz="2800" b="1" dirty="0"/>
              <a:t>Fold 5</a:t>
            </a:r>
            <a:r>
              <a:rPr lang="en-US" sz="2800" dirty="0"/>
              <a:t>: [S9, S10]</a:t>
            </a:r>
          </a:p>
        </p:txBody>
      </p:sp>
    </p:spTree>
    <p:extLst>
      <p:ext uri="{BB962C8B-B14F-4D97-AF65-F5344CB8AC3E}">
        <p14:creationId xmlns:p14="http://schemas.microsoft.com/office/powerpoint/2010/main" val="4256485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2289" y="354841"/>
            <a:ext cx="5012088" cy="5835769"/>
          </a:xfrm>
          <a:ln>
            <a:solidFill>
              <a:schemeClr val="accent1"/>
            </a:solidFill>
          </a:ln>
        </p:spPr>
        <p:txBody>
          <a:bodyPr>
            <a:normAutofit fontScale="85000" lnSpcReduction="20000"/>
          </a:bodyPr>
          <a:lstStyle/>
          <a:p>
            <a:pPr marL="0" indent="0">
              <a:buNone/>
            </a:pPr>
            <a:r>
              <a:rPr lang="en-US" dirty="0"/>
              <a:t>🔂 Iteration 1</a:t>
            </a:r>
          </a:p>
          <a:p>
            <a:pPr marL="0" indent="0">
              <a:buNone/>
            </a:pPr>
            <a:r>
              <a:rPr lang="en-US" dirty="0">
                <a:solidFill>
                  <a:srgbClr val="0070C0"/>
                </a:solidFill>
              </a:rPr>
              <a:t>Test</a:t>
            </a:r>
            <a:r>
              <a:rPr lang="en-US" dirty="0"/>
              <a:t>: Fold 1 → [S1, S2]</a:t>
            </a:r>
          </a:p>
          <a:p>
            <a:pPr marL="0" indent="0">
              <a:buNone/>
            </a:pPr>
            <a:r>
              <a:rPr lang="en-US" dirty="0"/>
              <a:t>Train: [S3, S4, S5, S6, S7, S8, S9, S10]</a:t>
            </a:r>
          </a:p>
          <a:p>
            <a:pPr marL="0" indent="0">
              <a:buNone/>
            </a:pPr>
            <a:r>
              <a:rPr lang="en-US" dirty="0"/>
              <a:t>🔂 Iteration 2</a:t>
            </a:r>
          </a:p>
          <a:p>
            <a:pPr marL="0" indent="0">
              <a:buNone/>
            </a:pPr>
            <a:r>
              <a:rPr lang="en-US" dirty="0">
                <a:solidFill>
                  <a:srgbClr val="0070C0"/>
                </a:solidFill>
              </a:rPr>
              <a:t>Test</a:t>
            </a:r>
            <a:r>
              <a:rPr lang="en-US" dirty="0"/>
              <a:t>: Fold 2 → [S3, S4]</a:t>
            </a:r>
          </a:p>
          <a:p>
            <a:pPr marL="0" indent="0">
              <a:buNone/>
            </a:pPr>
            <a:r>
              <a:rPr lang="en-US" dirty="0"/>
              <a:t>Train: [S1, S2, S5, S6, S7, S8, S9, S10]</a:t>
            </a:r>
          </a:p>
          <a:p>
            <a:pPr marL="0" indent="0">
              <a:buNone/>
            </a:pPr>
            <a:r>
              <a:rPr lang="en-US" dirty="0"/>
              <a:t>🔂 Iteration 3</a:t>
            </a:r>
          </a:p>
          <a:p>
            <a:pPr marL="0" indent="0">
              <a:buNone/>
            </a:pPr>
            <a:r>
              <a:rPr lang="en-US" dirty="0">
                <a:solidFill>
                  <a:srgbClr val="0070C0"/>
                </a:solidFill>
              </a:rPr>
              <a:t>Test</a:t>
            </a:r>
            <a:r>
              <a:rPr lang="en-US" dirty="0"/>
              <a:t>: Fold 3 → [S5, S6]</a:t>
            </a:r>
          </a:p>
          <a:p>
            <a:pPr marL="0" indent="0">
              <a:buNone/>
            </a:pPr>
            <a:r>
              <a:rPr lang="en-US" dirty="0"/>
              <a:t>Train: [S1, S2, S3, S4, S7, S8, S9, S10]</a:t>
            </a:r>
          </a:p>
          <a:p>
            <a:pPr marL="0" indent="0">
              <a:buNone/>
            </a:pPr>
            <a:r>
              <a:rPr lang="en-US" dirty="0"/>
              <a:t>🔂 Iteration 4</a:t>
            </a:r>
          </a:p>
          <a:p>
            <a:pPr marL="0" indent="0">
              <a:buNone/>
            </a:pPr>
            <a:r>
              <a:rPr lang="en-US" dirty="0">
                <a:solidFill>
                  <a:srgbClr val="0070C0"/>
                </a:solidFill>
              </a:rPr>
              <a:t>Test</a:t>
            </a:r>
            <a:r>
              <a:rPr lang="en-US" dirty="0"/>
              <a:t>: Fold 4 → [S7, S8]</a:t>
            </a:r>
          </a:p>
          <a:p>
            <a:pPr marL="0" indent="0">
              <a:buNone/>
            </a:pPr>
            <a:r>
              <a:rPr lang="en-US" dirty="0"/>
              <a:t>Train: [S1, S2, S3, S4, S5, S6, S9, S10</a:t>
            </a:r>
          </a:p>
          <a:p>
            <a:pPr marL="0" indent="0">
              <a:buNone/>
            </a:pPr>
            <a:r>
              <a:rPr lang="en-US" dirty="0"/>
              <a:t>]🔂 Iteration 5</a:t>
            </a:r>
          </a:p>
          <a:p>
            <a:pPr marL="0" indent="0">
              <a:buNone/>
            </a:pPr>
            <a:r>
              <a:rPr lang="en-US" dirty="0">
                <a:solidFill>
                  <a:srgbClr val="0070C0"/>
                </a:solidFill>
              </a:rPr>
              <a:t>Test</a:t>
            </a:r>
            <a:r>
              <a:rPr lang="en-US" dirty="0"/>
              <a:t>: Fold 5 → [S9, S10]</a:t>
            </a:r>
          </a:p>
          <a:p>
            <a:pPr marL="0" indent="0">
              <a:buNone/>
            </a:pPr>
            <a:r>
              <a:rPr lang="en-US" dirty="0"/>
              <a:t>Train: [S1, S2, S3, S4, S5, S6, S7, S8]</a:t>
            </a:r>
            <a:endParaRPr lang="en-IN" dirty="0"/>
          </a:p>
        </p:txBody>
      </p:sp>
      <p:graphicFrame>
        <p:nvGraphicFramePr>
          <p:cNvPr id="22" name="Table 21"/>
          <p:cNvGraphicFramePr>
            <a:graphicFrameLocks noGrp="1"/>
          </p:cNvGraphicFramePr>
          <p:nvPr/>
        </p:nvGraphicFramePr>
        <p:xfrm>
          <a:off x="6428096" y="501104"/>
          <a:ext cx="5390866" cy="2743200"/>
        </p:xfrm>
        <a:graphic>
          <a:graphicData uri="http://schemas.openxmlformats.org/drawingml/2006/table">
            <a:tbl>
              <a:tblPr/>
              <a:tblGrid>
                <a:gridCol w="2695433">
                  <a:extLst>
                    <a:ext uri="{9D8B030D-6E8A-4147-A177-3AD203B41FA5}">
                      <a16:colId xmlns:a16="http://schemas.microsoft.com/office/drawing/2014/main" val="20000"/>
                    </a:ext>
                  </a:extLst>
                </a:gridCol>
                <a:gridCol w="2695433">
                  <a:extLst>
                    <a:ext uri="{9D8B030D-6E8A-4147-A177-3AD203B41FA5}">
                      <a16:colId xmlns:a16="http://schemas.microsoft.com/office/drawing/2014/main" val="20001"/>
                    </a:ext>
                  </a:extLst>
                </a:gridCol>
              </a:tblGrid>
              <a:tr h="0">
                <a:tc>
                  <a:txBody>
                    <a:bodyPr/>
                    <a:lstStyle/>
                    <a:p>
                      <a:r>
                        <a:rPr lang="en-IN" sz="2400" dirty="0">
                          <a:solidFill>
                            <a:srgbClr val="0070C0"/>
                          </a:solidFill>
                        </a:rPr>
                        <a:t>Fold</a:t>
                      </a:r>
                      <a:endParaRPr lang="en-IN" dirty="0">
                        <a:solidFill>
                          <a:srgbClr val="0070C0"/>
                        </a:solidFill>
                      </a:endParaRPr>
                    </a:p>
                  </a:txBody>
                  <a:tcPr anchor="ctr">
                    <a:lnL>
                      <a:noFill/>
                    </a:lnL>
                    <a:lnR>
                      <a:noFill/>
                    </a:lnR>
                    <a:lnT>
                      <a:noFill/>
                    </a:lnT>
                    <a:lnB>
                      <a:noFill/>
                    </a:lnB>
                  </a:tcPr>
                </a:tc>
                <a:tc>
                  <a:txBody>
                    <a:bodyPr/>
                    <a:lstStyle/>
                    <a:p>
                      <a:r>
                        <a:rPr lang="en-IN" sz="2400" dirty="0">
                          <a:solidFill>
                            <a:srgbClr val="0070C0"/>
                          </a:solidFill>
                        </a:rPr>
                        <a:t>Accuracy</a:t>
                      </a:r>
                      <a:endParaRPr lang="en-IN" dirty="0">
                        <a:solidFill>
                          <a:srgbClr val="0070C0"/>
                        </a:solidFill>
                      </a:endParaRPr>
                    </a:p>
                  </a:txBody>
                  <a:tcPr anchor="ctr">
                    <a:lnL>
                      <a:noFill/>
                    </a:lnL>
                    <a:lnR>
                      <a:noFill/>
                    </a:lnR>
                    <a:lnT>
                      <a:noFill/>
                    </a:lnT>
                    <a:lnB>
                      <a:noFill/>
                    </a:lnB>
                  </a:tcPr>
                </a:tc>
                <a:extLst>
                  <a:ext uri="{0D108BD9-81ED-4DB2-BD59-A6C34878D82A}">
                    <a16:rowId xmlns:a16="http://schemas.microsoft.com/office/drawing/2014/main" val="10000"/>
                  </a:ext>
                </a:extLst>
              </a:tr>
              <a:tr h="0">
                <a:tc>
                  <a:txBody>
                    <a:bodyPr/>
                    <a:lstStyle/>
                    <a:p>
                      <a:r>
                        <a:rPr lang="en-IN" sz="2400" dirty="0"/>
                        <a:t>1</a:t>
                      </a:r>
                    </a:p>
                  </a:txBody>
                  <a:tcPr anchor="ctr">
                    <a:lnL>
                      <a:noFill/>
                    </a:lnL>
                    <a:lnR>
                      <a:noFill/>
                    </a:lnR>
                    <a:lnT>
                      <a:noFill/>
                    </a:lnT>
                    <a:lnB>
                      <a:noFill/>
                    </a:lnB>
                  </a:tcPr>
                </a:tc>
                <a:tc>
                  <a:txBody>
                    <a:bodyPr/>
                    <a:lstStyle/>
                    <a:p>
                      <a:r>
                        <a:rPr lang="en-IN" sz="2400"/>
                        <a:t>80%</a:t>
                      </a:r>
                    </a:p>
                  </a:txBody>
                  <a:tcPr anchor="ctr">
                    <a:lnL>
                      <a:noFill/>
                    </a:lnL>
                    <a:lnR>
                      <a:noFill/>
                    </a:lnR>
                    <a:lnT>
                      <a:noFill/>
                    </a:lnT>
                    <a:lnB>
                      <a:noFill/>
                    </a:lnB>
                  </a:tcPr>
                </a:tc>
                <a:extLst>
                  <a:ext uri="{0D108BD9-81ED-4DB2-BD59-A6C34878D82A}">
                    <a16:rowId xmlns:a16="http://schemas.microsoft.com/office/drawing/2014/main" val="10001"/>
                  </a:ext>
                </a:extLst>
              </a:tr>
              <a:tr h="0">
                <a:tc>
                  <a:txBody>
                    <a:bodyPr/>
                    <a:lstStyle/>
                    <a:p>
                      <a:r>
                        <a:rPr lang="en-IN" sz="2400" dirty="0"/>
                        <a:t>2</a:t>
                      </a:r>
                    </a:p>
                  </a:txBody>
                  <a:tcPr anchor="ctr">
                    <a:lnL>
                      <a:noFill/>
                    </a:lnL>
                    <a:lnR>
                      <a:noFill/>
                    </a:lnR>
                    <a:lnT>
                      <a:noFill/>
                    </a:lnT>
                    <a:lnB>
                      <a:noFill/>
                    </a:lnB>
                  </a:tcPr>
                </a:tc>
                <a:tc>
                  <a:txBody>
                    <a:bodyPr/>
                    <a:lstStyle/>
                    <a:p>
                      <a:r>
                        <a:rPr lang="en-IN" sz="2400"/>
                        <a:t>90%</a:t>
                      </a:r>
                    </a:p>
                  </a:txBody>
                  <a:tcPr anchor="ctr">
                    <a:lnL>
                      <a:noFill/>
                    </a:lnL>
                    <a:lnR>
                      <a:noFill/>
                    </a:lnR>
                    <a:lnT>
                      <a:noFill/>
                    </a:lnT>
                    <a:lnB>
                      <a:noFill/>
                    </a:lnB>
                  </a:tcPr>
                </a:tc>
                <a:extLst>
                  <a:ext uri="{0D108BD9-81ED-4DB2-BD59-A6C34878D82A}">
                    <a16:rowId xmlns:a16="http://schemas.microsoft.com/office/drawing/2014/main" val="10002"/>
                  </a:ext>
                </a:extLst>
              </a:tr>
              <a:tr h="0">
                <a:tc>
                  <a:txBody>
                    <a:bodyPr/>
                    <a:lstStyle/>
                    <a:p>
                      <a:r>
                        <a:rPr lang="en-IN" sz="2400" dirty="0"/>
                        <a:t>3</a:t>
                      </a:r>
                    </a:p>
                  </a:txBody>
                  <a:tcPr anchor="ctr">
                    <a:lnL>
                      <a:noFill/>
                    </a:lnL>
                    <a:lnR>
                      <a:noFill/>
                    </a:lnR>
                    <a:lnT>
                      <a:noFill/>
                    </a:lnT>
                    <a:lnB>
                      <a:noFill/>
                    </a:lnB>
                  </a:tcPr>
                </a:tc>
                <a:tc>
                  <a:txBody>
                    <a:bodyPr/>
                    <a:lstStyle/>
                    <a:p>
                      <a:r>
                        <a:rPr lang="en-IN" sz="2400"/>
                        <a:t>70%</a:t>
                      </a:r>
                    </a:p>
                  </a:txBody>
                  <a:tcPr anchor="ctr">
                    <a:lnL>
                      <a:noFill/>
                    </a:lnL>
                    <a:lnR>
                      <a:noFill/>
                    </a:lnR>
                    <a:lnT>
                      <a:noFill/>
                    </a:lnT>
                    <a:lnB>
                      <a:noFill/>
                    </a:lnB>
                  </a:tcPr>
                </a:tc>
                <a:extLst>
                  <a:ext uri="{0D108BD9-81ED-4DB2-BD59-A6C34878D82A}">
                    <a16:rowId xmlns:a16="http://schemas.microsoft.com/office/drawing/2014/main" val="10003"/>
                  </a:ext>
                </a:extLst>
              </a:tr>
              <a:tr h="0">
                <a:tc>
                  <a:txBody>
                    <a:bodyPr/>
                    <a:lstStyle/>
                    <a:p>
                      <a:r>
                        <a:rPr lang="en-IN" sz="2400" dirty="0"/>
                        <a:t>4</a:t>
                      </a:r>
                    </a:p>
                  </a:txBody>
                  <a:tcPr anchor="ctr">
                    <a:lnL>
                      <a:noFill/>
                    </a:lnL>
                    <a:lnR>
                      <a:noFill/>
                    </a:lnR>
                    <a:lnT>
                      <a:noFill/>
                    </a:lnT>
                    <a:lnB>
                      <a:noFill/>
                    </a:lnB>
                  </a:tcPr>
                </a:tc>
                <a:tc>
                  <a:txBody>
                    <a:bodyPr/>
                    <a:lstStyle/>
                    <a:p>
                      <a:r>
                        <a:rPr lang="en-IN" sz="2400"/>
                        <a:t>85%</a:t>
                      </a:r>
                    </a:p>
                  </a:txBody>
                  <a:tcPr anchor="ctr">
                    <a:lnL>
                      <a:noFill/>
                    </a:lnL>
                    <a:lnR>
                      <a:noFill/>
                    </a:lnR>
                    <a:lnT>
                      <a:noFill/>
                    </a:lnT>
                    <a:lnB>
                      <a:noFill/>
                    </a:lnB>
                  </a:tcPr>
                </a:tc>
                <a:extLst>
                  <a:ext uri="{0D108BD9-81ED-4DB2-BD59-A6C34878D82A}">
                    <a16:rowId xmlns:a16="http://schemas.microsoft.com/office/drawing/2014/main" val="10004"/>
                  </a:ext>
                </a:extLst>
              </a:tr>
              <a:tr h="0">
                <a:tc>
                  <a:txBody>
                    <a:bodyPr/>
                    <a:lstStyle/>
                    <a:p>
                      <a:r>
                        <a:rPr lang="en-IN" sz="2400" dirty="0"/>
                        <a:t>5</a:t>
                      </a:r>
                    </a:p>
                  </a:txBody>
                  <a:tcPr anchor="ctr">
                    <a:lnL>
                      <a:noFill/>
                    </a:lnL>
                    <a:lnR>
                      <a:noFill/>
                    </a:lnR>
                    <a:lnT>
                      <a:noFill/>
                    </a:lnT>
                    <a:lnB>
                      <a:noFill/>
                    </a:lnB>
                  </a:tcPr>
                </a:tc>
                <a:tc>
                  <a:txBody>
                    <a:bodyPr/>
                    <a:lstStyle/>
                    <a:p>
                      <a:r>
                        <a:rPr lang="en-IN" sz="2400" dirty="0"/>
                        <a:t>75%</a:t>
                      </a:r>
                    </a:p>
                  </a:txBody>
                  <a:tcPr anchor="ctr">
                    <a:lnL>
                      <a:noFill/>
                    </a:lnL>
                    <a:lnR>
                      <a:noFill/>
                    </a:lnR>
                    <a:lnT>
                      <a:noFill/>
                    </a:lnT>
                    <a:lnB>
                      <a:noFill/>
                    </a:lnB>
                  </a:tcPr>
                </a:tc>
                <a:extLst>
                  <a:ext uri="{0D108BD9-81ED-4DB2-BD59-A6C34878D82A}">
                    <a16:rowId xmlns:a16="http://schemas.microsoft.com/office/drawing/2014/main" val="10005"/>
                  </a:ext>
                </a:extLst>
              </a:tr>
            </a:tbl>
          </a:graphicData>
        </a:graphic>
      </p:graphicFrame>
      <p:sp>
        <p:nvSpPr>
          <p:cNvPr id="23" name="Rectangle 19"/>
          <p:cNvSpPr>
            <a:spLocks noChangeArrowheads="1"/>
          </p:cNvSpPr>
          <p:nvPr/>
        </p:nvSpPr>
        <p:spPr bwMode="auto">
          <a:xfrm>
            <a:off x="5904879" y="3642038"/>
            <a:ext cx="6123346" cy="369332"/>
          </a:xfrm>
          <a:prstGeom prst="rect">
            <a:avLst/>
          </a:prstGeom>
          <a:solidFill>
            <a:schemeClr val="accent4">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Average Accuracy</a:t>
            </a:r>
            <a:r>
              <a:rPr kumimoji="0" lang="en-US" altLang="en-US" sz="1800" b="0" i="0" u="none" strike="noStrike" cap="none" normalizeH="0" baseline="0" dirty="0">
                <a:ln>
                  <a:noFill/>
                </a:ln>
                <a:solidFill>
                  <a:schemeClr val="tx1"/>
                </a:solidFill>
                <a:effectLst/>
                <a:latin typeface="Arial" panose="020B0604020202020204" pitchFamily="34" charset="0"/>
              </a:rPr>
              <a:t> = (80 + 90 + 70 + 85 + 75) ÷ 5 = </a:t>
            </a:r>
            <a:r>
              <a:rPr kumimoji="0" lang="en-US" altLang="en-US" sz="1800" b="1" i="0" u="none" strike="noStrike" cap="none" normalizeH="0" baseline="0" dirty="0">
                <a:ln>
                  <a:noFill/>
                </a:ln>
                <a:solidFill>
                  <a:schemeClr val="tx1"/>
                </a:solidFill>
                <a:effectLst/>
                <a:latin typeface="Arial" panose="020B0604020202020204" pitchFamily="34" charset="0"/>
              </a:rPr>
              <a:t>80%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815614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86313" y="369332"/>
            <a:ext cx="6737820" cy="3522345"/>
          </a:xfrm>
          <a:prstGeom prst="rect">
            <a:avLst/>
          </a:prstGeom>
        </p:spPr>
      </p:pic>
      <p:sp>
        <p:nvSpPr>
          <p:cNvPr id="6" name="Rectangle 5"/>
          <p:cNvSpPr/>
          <p:nvPr/>
        </p:nvSpPr>
        <p:spPr>
          <a:xfrm>
            <a:off x="481847" y="0"/>
            <a:ext cx="5809091" cy="461665"/>
          </a:xfrm>
          <a:prstGeom prst="rect">
            <a:avLst/>
          </a:prstGeom>
        </p:spPr>
        <p:txBody>
          <a:bodyPr wrap="none">
            <a:spAutoFit/>
          </a:bodyPr>
          <a:lstStyle/>
          <a:p>
            <a:r>
              <a:rPr lang="en-US" sz="2400" dirty="0">
                <a:solidFill>
                  <a:srgbClr val="FF0000"/>
                </a:solidFill>
              </a:rPr>
              <a:t>Small dataset with 10 samples and 2 features</a:t>
            </a:r>
            <a:endParaRPr lang="en-IN" sz="2400" dirty="0">
              <a:solidFill>
                <a:srgbClr val="FF0000"/>
              </a:solidFill>
            </a:endParaRPr>
          </a:p>
        </p:txBody>
      </p:sp>
      <p:pic>
        <p:nvPicPr>
          <p:cNvPr id="7" name="Picture 6"/>
          <p:cNvPicPr>
            <a:picLocks noChangeAspect="1"/>
          </p:cNvPicPr>
          <p:nvPr/>
        </p:nvPicPr>
        <p:blipFill>
          <a:blip r:embed="rId3"/>
          <a:stretch>
            <a:fillRect/>
          </a:stretch>
        </p:blipFill>
        <p:spPr>
          <a:xfrm>
            <a:off x="386313" y="3846551"/>
            <a:ext cx="7792512" cy="3011449"/>
          </a:xfrm>
          <a:prstGeom prst="rect">
            <a:avLst/>
          </a:prstGeom>
        </p:spPr>
      </p:pic>
      <p:sp>
        <p:nvSpPr>
          <p:cNvPr id="8" name="Rectangle 7"/>
          <p:cNvSpPr/>
          <p:nvPr/>
        </p:nvSpPr>
        <p:spPr>
          <a:xfrm>
            <a:off x="7424383" y="369332"/>
            <a:ext cx="4285396" cy="3416320"/>
          </a:xfrm>
          <a:prstGeom prst="rect">
            <a:avLst/>
          </a:prstGeom>
        </p:spPr>
        <p:txBody>
          <a:bodyPr wrap="square">
            <a:spAutoFit/>
          </a:bodyPr>
          <a:lstStyle/>
          <a:p>
            <a:r>
              <a:rPr lang="en-US" sz="2400" dirty="0"/>
              <a:t>The accuracy varies across 5 folds.</a:t>
            </a:r>
          </a:p>
          <a:p>
            <a:pPr marL="285750" indent="-285750">
              <a:buFont typeface="Arial" panose="020B0604020202020204" pitchFamily="34" charset="0"/>
              <a:buChar char="•"/>
            </a:pPr>
            <a:r>
              <a:rPr lang="en-US" sz="2400" dirty="0"/>
              <a:t>4 out of 5 folds had 100% accuracy.</a:t>
            </a:r>
          </a:p>
          <a:p>
            <a:pPr marL="285750" indent="-285750">
              <a:buFont typeface="Arial" panose="020B0604020202020204" pitchFamily="34" charset="0"/>
              <a:buChar char="•"/>
            </a:pPr>
            <a:r>
              <a:rPr lang="en-US" sz="2400" dirty="0"/>
              <a:t>1 fold (Fold 3) had 0% accuracy due to a misclassification.</a:t>
            </a:r>
          </a:p>
          <a:p>
            <a:pPr marL="285750" indent="-285750">
              <a:buFont typeface="Arial" panose="020B0604020202020204" pitchFamily="34" charset="0"/>
              <a:buChar char="•"/>
            </a:pPr>
            <a:r>
              <a:rPr lang="en-US" sz="2400" b="1" dirty="0"/>
              <a:t>The final average accuracy is 80% (0.8000).</a:t>
            </a:r>
            <a:endParaRPr lang="en-IN" sz="2400" b="1" dirty="0"/>
          </a:p>
        </p:txBody>
      </p:sp>
    </p:spTree>
    <p:extLst>
      <p:ext uri="{BB962C8B-B14F-4D97-AF65-F5344CB8AC3E}">
        <p14:creationId xmlns:p14="http://schemas.microsoft.com/office/powerpoint/2010/main" val="1390673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2513" y="475356"/>
            <a:ext cx="10290412" cy="2677656"/>
          </a:xfrm>
          <a:prstGeom prst="rect">
            <a:avLst/>
          </a:prstGeom>
        </p:spPr>
        <p:txBody>
          <a:bodyPr wrap="square">
            <a:spAutoFit/>
          </a:bodyPr>
          <a:lstStyle/>
          <a:p>
            <a:pPr algn="just"/>
            <a:r>
              <a:rPr lang="en-US" sz="2800" dirty="0">
                <a:solidFill>
                  <a:srgbClr val="383838"/>
                </a:solidFill>
              </a:rPr>
              <a:t>Let’s have a generalized K value. If K=5, it means, in the given dataset and we are splitting into 5 folds and running the Train and Test. During each run, one fold is considered for testing and the rest will be for training and moving on with iterations, the below pictorial representation would give you an idea of the flow of the fold-defined size.</a:t>
            </a:r>
            <a:endParaRPr lang="en-IN" sz="2800" dirty="0"/>
          </a:p>
        </p:txBody>
      </p:sp>
      <p:pic>
        <p:nvPicPr>
          <p:cNvPr id="5122" name="Picture 2" descr="Example KFC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8569" y="3700818"/>
            <a:ext cx="92583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6243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The Problem with Imbalanced Data</a:t>
            </a:r>
            <a:br>
              <a:rPr lang="en-US" b="1" dirty="0"/>
            </a:br>
            <a:endParaRPr lang="en-IN" dirty="0"/>
          </a:p>
        </p:txBody>
      </p:sp>
      <p:sp>
        <p:nvSpPr>
          <p:cNvPr id="3" name="Content Placeholder 2"/>
          <p:cNvSpPr>
            <a:spLocks noGrp="1"/>
          </p:cNvSpPr>
          <p:nvPr>
            <p:ph idx="1"/>
          </p:nvPr>
        </p:nvSpPr>
        <p:spPr/>
        <p:txBody>
          <a:bodyPr/>
          <a:lstStyle/>
          <a:p>
            <a:pPr algn="just"/>
            <a:r>
              <a:rPr lang="en-US" dirty="0"/>
              <a:t>Standard K-Fold cross-validation, while a robust method for many scenarios, randomly divides the dataset into K equal-sized folds. This randomness does not guarantee the representation of minority classes in each fold.</a:t>
            </a:r>
          </a:p>
          <a:p>
            <a:pPr algn="just"/>
            <a:r>
              <a:rPr lang="en-US" dirty="0"/>
              <a:t>This could severely impact the model’s ability to learn and generalize about those minority classes, leading to biased or inaccurate models.</a:t>
            </a:r>
          </a:p>
          <a:p>
            <a:pPr algn="just"/>
            <a:endParaRPr lang="en-IN" dirty="0"/>
          </a:p>
        </p:txBody>
      </p:sp>
    </p:spTree>
    <p:extLst>
      <p:ext uri="{BB962C8B-B14F-4D97-AF65-F5344CB8AC3E}">
        <p14:creationId xmlns:p14="http://schemas.microsoft.com/office/powerpoint/2010/main" val="211536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rPr>
              <a:t>Stratified k-Fold Cross-Validation</a:t>
            </a:r>
          </a:p>
        </p:txBody>
      </p:sp>
      <p:sp>
        <p:nvSpPr>
          <p:cNvPr id="3" name="Content Placeholder 2"/>
          <p:cNvSpPr>
            <a:spLocks noGrp="1"/>
          </p:cNvSpPr>
          <p:nvPr>
            <p:ph idx="1"/>
          </p:nvPr>
        </p:nvSpPr>
        <p:spPr/>
        <p:txBody>
          <a:bodyPr>
            <a:normAutofit lnSpcReduction="10000"/>
          </a:bodyPr>
          <a:lstStyle/>
          <a:p>
            <a:r>
              <a:rPr lang="en-US" dirty="0"/>
              <a:t>Stratified k-Fold Cross-Validation is a variation of k-Fold CV that ensures each fold maintains the </a:t>
            </a:r>
            <a:r>
              <a:rPr lang="en-US" b="1" dirty="0"/>
              <a:t>same proportion of class labels</a:t>
            </a:r>
            <a:r>
              <a:rPr lang="en-US" dirty="0"/>
              <a:t> as the entire dataset. </a:t>
            </a:r>
          </a:p>
          <a:p>
            <a:r>
              <a:rPr lang="en-US" dirty="0"/>
              <a:t>This is particularly useful for </a:t>
            </a:r>
            <a:r>
              <a:rPr lang="en-US" b="1" dirty="0"/>
              <a:t>imbalanced datasets</a:t>
            </a:r>
            <a:r>
              <a:rPr lang="en-US" dirty="0"/>
              <a:t>, where some classes appear much less frequently than others.</a:t>
            </a:r>
          </a:p>
          <a:p>
            <a:r>
              <a:rPr lang="en-US" dirty="0"/>
              <a:t>Prevents </a:t>
            </a:r>
            <a:r>
              <a:rPr lang="en-US" b="1" dirty="0"/>
              <a:t>biased training</a:t>
            </a:r>
            <a:r>
              <a:rPr lang="en-US" dirty="0"/>
              <a:t> when class distributions are uneven.</a:t>
            </a:r>
          </a:p>
          <a:p>
            <a:r>
              <a:rPr lang="en-US" dirty="0"/>
              <a:t>Ensures that </a:t>
            </a:r>
            <a:r>
              <a:rPr lang="en-US" b="1" dirty="0"/>
              <a:t>each fold</a:t>
            </a:r>
            <a:r>
              <a:rPr lang="en-US" dirty="0"/>
              <a:t> has a similar </a:t>
            </a:r>
            <a:r>
              <a:rPr lang="en-US" b="1" dirty="0"/>
              <a:t>class proportion</a:t>
            </a:r>
            <a:r>
              <a:rPr lang="en-US" dirty="0"/>
              <a:t> as the full dataset.</a:t>
            </a:r>
          </a:p>
          <a:p>
            <a:r>
              <a:rPr lang="en-US" dirty="0"/>
              <a:t>Useful for </a:t>
            </a:r>
            <a:r>
              <a:rPr lang="en-US" b="1" dirty="0"/>
              <a:t>classification problems</a:t>
            </a:r>
            <a:r>
              <a:rPr lang="en-US" dirty="0"/>
              <a:t>, especially when some classes are rare.</a:t>
            </a:r>
          </a:p>
          <a:p>
            <a:endParaRPr lang="en-IN" dirty="0"/>
          </a:p>
        </p:txBody>
      </p:sp>
    </p:spTree>
    <p:extLst>
      <p:ext uri="{BB962C8B-B14F-4D97-AF65-F5344CB8AC3E}">
        <p14:creationId xmlns:p14="http://schemas.microsoft.com/office/powerpoint/2010/main" val="28936968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2388" y="232729"/>
            <a:ext cx="10290412" cy="6370975"/>
          </a:xfrm>
          <a:prstGeom prst="rect">
            <a:avLst/>
          </a:prstGeom>
        </p:spPr>
        <p:txBody>
          <a:bodyPr wrap="square">
            <a:spAutoFit/>
          </a:bodyPr>
          <a:lstStyle/>
          <a:p>
            <a:pPr algn="just"/>
            <a:r>
              <a:rPr lang="en-US" sz="2400" b="1" dirty="0">
                <a:solidFill>
                  <a:srgbClr val="242424"/>
                </a:solidFill>
              </a:rPr>
              <a:t>Order Samples Per Class</a:t>
            </a:r>
            <a:r>
              <a:rPr lang="en-US" sz="2400" dirty="0">
                <a:solidFill>
                  <a:srgbClr val="242424"/>
                </a:solidFill>
              </a:rPr>
              <a:t>: First, the samples in the dataset are ordered by class, grouping all samples belonging to the same class together.</a:t>
            </a:r>
          </a:p>
          <a:p>
            <a:pPr algn="just"/>
            <a:endParaRPr lang="en-US" sz="2400" dirty="0">
              <a:solidFill>
                <a:srgbClr val="242424"/>
              </a:solidFill>
            </a:endParaRPr>
          </a:p>
          <a:p>
            <a:pPr algn="just"/>
            <a:r>
              <a:rPr lang="en-US" sz="2400" b="1" dirty="0">
                <a:solidFill>
                  <a:srgbClr val="242424"/>
                </a:solidFill>
              </a:rPr>
              <a:t>Creating Strata</a:t>
            </a:r>
            <a:r>
              <a:rPr lang="en-US" sz="2400" dirty="0">
                <a:solidFill>
                  <a:srgbClr val="242424"/>
                </a:solidFill>
              </a:rPr>
              <a:t>: For each class, the samples are divided into K non-overlapping sets or strata. It ensures each class is proportionally represented in every fold. These strata are created in such a way that the number of samples in each stratum is approximately equal, or as close as possible if the class size is not divisible by K.</a:t>
            </a:r>
          </a:p>
          <a:p>
            <a:pPr algn="just"/>
            <a:endParaRPr lang="en-US" sz="2400" dirty="0">
              <a:solidFill>
                <a:srgbClr val="242424"/>
              </a:solidFill>
            </a:endParaRPr>
          </a:p>
          <a:p>
            <a:pPr algn="just"/>
            <a:r>
              <a:rPr lang="en-US" sz="2400" b="1" dirty="0">
                <a:solidFill>
                  <a:srgbClr val="242424"/>
                </a:solidFill>
              </a:rPr>
              <a:t>Combining Strata into Folds</a:t>
            </a:r>
            <a:r>
              <a:rPr lang="en-US" sz="2400" dirty="0">
                <a:solidFill>
                  <a:srgbClr val="242424"/>
                </a:solidFill>
              </a:rPr>
              <a:t>: The stratified folds are then created by taking the first stratum from each class and combining them into the first fold, the second stratum from each class into the second fold, and so on. This way, we form folds that reflect the dataset’s original class distribution.</a:t>
            </a:r>
          </a:p>
          <a:p>
            <a:pPr algn="just"/>
            <a:endParaRPr lang="en-US" sz="2400" dirty="0">
              <a:solidFill>
                <a:srgbClr val="242424"/>
              </a:solidFill>
            </a:endParaRPr>
          </a:p>
          <a:p>
            <a:pPr algn="just"/>
            <a:r>
              <a:rPr lang="en-US" sz="2400" b="1" dirty="0">
                <a:solidFill>
                  <a:srgbClr val="242424"/>
                </a:solidFill>
              </a:rPr>
              <a:t>Perform K-Fold Cross-Validation</a:t>
            </a:r>
            <a:r>
              <a:rPr lang="en-US" sz="2400" dirty="0">
                <a:solidFill>
                  <a:srgbClr val="242424"/>
                </a:solidFill>
              </a:rPr>
              <a:t>: The K-Fold Cross-Validation process is then carried out as usual, with one fold serving as the test set and the remaining K-1 folds used for training in each iteration.</a:t>
            </a:r>
            <a:endParaRPr lang="en-US" sz="2400" b="0" i="0" dirty="0">
              <a:solidFill>
                <a:srgbClr val="242424"/>
              </a:solidFill>
              <a:effectLst/>
            </a:endParaRPr>
          </a:p>
        </p:txBody>
      </p:sp>
    </p:spTree>
    <p:extLst>
      <p:ext uri="{BB962C8B-B14F-4D97-AF65-F5344CB8AC3E}">
        <p14:creationId xmlns:p14="http://schemas.microsoft.com/office/powerpoint/2010/main" val="9634390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6437" y="175846"/>
            <a:ext cx="10874326" cy="523220"/>
          </a:xfrm>
          <a:prstGeom prst="rect">
            <a:avLst/>
          </a:prstGeom>
          <a:ln>
            <a:solidFill>
              <a:schemeClr val="tx1"/>
            </a:solidFill>
          </a:ln>
        </p:spPr>
        <p:txBody>
          <a:bodyPr wrap="square">
            <a:spAutoFit/>
          </a:bodyPr>
          <a:lstStyle/>
          <a:p>
            <a:r>
              <a:rPr lang="en-US" sz="2800" dirty="0"/>
              <a:t>10-sample dataset with 2 features and an imbalanced class distribution.</a:t>
            </a:r>
            <a:endParaRPr lang="en-IN" sz="2800" dirty="0"/>
          </a:p>
        </p:txBody>
      </p:sp>
      <p:sp>
        <p:nvSpPr>
          <p:cNvPr id="6" name="Rectangle 5"/>
          <p:cNvSpPr/>
          <p:nvPr/>
        </p:nvSpPr>
        <p:spPr>
          <a:xfrm>
            <a:off x="1491176" y="1026649"/>
            <a:ext cx="8750104" cy="523220"/>
          </a:xfrm>
          <a:prstGeom prst="rect">
            <a:avLst/>
          </a:prstGeom>
          <a:solidFill>
            <a:schemeClr val="accent2">
              <a:lumMod val="20000"/>
              <a:lumOff val="80000"/>
            </a:schemeClr>
          </a:solidFill>
        </p:spPr>
        <p:txBody>
          <a:bodyPr wrap="square">
            <a:spAutoFit/>
          </a:bodyPr>
          <a:lstStyle/>
          <a:p>
            <a:r>
              <a:rPr lang="en-US" dirty="0"/>
              <a:t> </a:t>
            </a:r>
            <a:r>
              <a:rPr lang="en-US" sz="2800" dirty="0"/>
              <a:t>Class Distribution: Class 0: 4 samples Class 1: 6 samples</a:t>
            </a:r>
            <a:endParaRPr lang="en-IN" sz="2000" dirty="0"/>
          </a:p>
        </p:txBody>
      </p:sp>
      <p:pic>
        <p:nvPicPr>
          <p:cNvPr id="12" name="Picture 11"/>
          <p:cNvPicPr>
            <a:picLocks noChangeAspect="1"/>
          </p:cNvPicPr>
          <p:nvPr/>
        </p:nvPicPr>
        <p:blipFill>
          <a:blip r:embed="rId2"/>
          <a:stretch>
            <a:fillRect/>
          </a:stretch>
        </p:blipFill>
        <p:spPr>
          <a:xfrm>
            <a:off x="1698040" y="1754343"/>
            <a:ext cx="7832281" cy="4927811"/>
          </a:xfrm>
          <a:prstGeom prst="rect">
            <a:avLst/>
          </a:prstGeom>
          <a:ln>
            <a:solidFill>
              <a:schemeClr val="accent1"/>
            </a:solidFill>
          </a:ln>
        </p:spPr>
      </p:pic>
    </p:spTree>
    <p:extLst>
      <p:ext uri="{BB962C8B-B14F-4D97-AF65-F5344CB8AC3E}">
        <p14:creationId xmlns:p14="http://schemas.microsoft.com/office/powerpoint/2010/main" val="531345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45993" y="502672"/>
            <a:ext cx="9679693" cy="400110"/>
          </a:xfrm>
          <a:prstGeom prst="rect">
            <a:avLst/>
          </a:prstGeom>
        </p:spPr>
        <p:txBody>
          <a:bodyPr wrap="square">
            <a:spAutoFit/>
          </a:bodyPr>
          <a:lstStyle/>
          <a:p>
            <a:r>
              <a:rPr lang="en-US" sz="2000" dirty="0"/>
              <a:t>Dataset into 5 folds, ensuring that each fold has a similar class proportion.</a:t>
            </a:r>
            <a:endParaRPr lang="en-IN" sz="2000" dirty="0"/>
          </a:p>
        </p:txBody>
      </p:sp>
      <p:pic>
        <p:nvPicPr>
          <p:cNvPr id="5" name="Picture 4"/>
          <p:cNvPicPr>
            <a:picLocks noChangeAspect="1"/>
          </p:cNvPicPr>
          <p:nvPr/>
        </p:nvPicPr>
        <p:blipFill>
          <a:blip r:embed="rId2"/>
          <a:stretch>
            <a:fillRect/>
          </a:stretch>
        </p:blipFill>
        <p:spPr>
          <a:xfrm>
            <a:off x="645993" y="813853"/>
            <a:ext cx="8023999" cy="2714389"/>
          </a:xfrm>
          <a:prstGeom prst="rect">
            <a:avLst/>
          </a:prstGeom>
        </p:spPr>
      </p:pic>
      <p:sp>
        <p:nvSpPr>
          <p:cNvPr id="6" name="Rectangle 5"/>
          <p:cNvSpPr/>
          <p:nvPr/>
        </p:nvSpPr>
        <p:spPr>
          <a:xfrm>
            <a:off x="645993" y="122275"/>
            <a:ext cx="9034817" cy="400110"/>
          </a:xfrm>
          <a:prstGeom prst="rect">
            <a:avLst/>
          </a:prstGeom>
        </p:spPr>
        <p:txBody>
          <a:bodyPr wrap="square">
            <a:spAutoFit/>
          </a:bodyPr>
          <a:lstStyle/>
          <a:p>
            <a:r>
              <a:rPr lang="en-US" sz="2000" dirty="0"/>
              <a:t>Stratified k-Fold Cross-Validation to maintain class proportions across 5 folds.</a:t>
            </a:r>
            <a:endParaRPr lang="en-IN" sz="2000" dirty="0"/>
          </a:p>
        </p:txBody>
      </p:sp>
      <p:pic>
        <p:nvPicPr>
          <p:cNvPr id="7" name="Picture 6"/>
          <p:cNvPicPr>
            <a:picLocks noChangeAspect="1"/>
          </p:cNvPicPr>
          <p:nvPr/>
        </p:nvPicPr>
        <p:blipFill>
          <a:blip r:embed="rId3"/>
          <a:stretch>
            <a:fillRect/>
          </a:stretch>
        </p:blipFill>
        <p:spPr>
          <a:xfrm>
            <a:off x="550459" y="3489812"/>
            <a:ext cx="8904737" cy="3368188"/>
          </a:xfrm>
          <a:prstGeom prst="rect">
            <a:avLst/>
          </a:prstGeom>
        </p:spPr>
      </p:pic>
    </p:spTree>
    <p:extLst>
      <p:ext uri="{BB962C8B-B14F-4D97-AF65-F5344CB8AC3E}">
        <p14:creationId xmlns:p14="http://schemas.microsoft.com/office/powerpoint/2010/main" val="4085176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2230"/>
          </a:xfrm>
        </p:spPr>
        <p:txBody>
          <a:bodyPr>
            <a:normAutofit fontScale="90000"/>
          </a:bodyPr>
          <a:lstStyle/>
          <a:p>
            <a:br>
              <a:rPr lang="en-IN" dirty="0">
                <a:solidFill>
                  <a:srgbClr val="FF0000"/>
                </a:solidFill>
              </a:rPr>
            </a:br>
            <a:r>
              <a:rPr lang="en-IN" dirty="0">
                <a:solidFill>
                  <a:srgbClr val="FF0000"/>
                </a:solidFill>
              </a:rPr>
              <a:t>Measuring classifier performance 	</a:t>
            </a:r>
            <a:br>
              <a:rPr lang="en-IN"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429840"/>
            <a:ext cx="10515600" cy="5063034"/>
          </a:xfrm>
        </p:spPr>
        <p:txBody>
          <a:bodyPr/>
          <a:lstStyle/>
          <a:p>
            <a:pPr algn="just"/>
            <a:r>
              <a:rPr lang="en-US" sz="3200" dirty="0"/>
              <a:t>Evaluating a machine learning classifier involves several key metrics. These help us understand how well the model is making predictions.</a:t>
            </a:r>
          </a:p>
          <a:p>
            <a:pPr marL="0" indent="0">
              <a:buNone/>
            </a:pPr>
            <a:endParaRPr lang="en-US" sz="3200" dirty="0"/>
          </a:p>
          <a:p>
            <a:pPr marL="0" indent="0">
              <a:buNone/>
            </a:pPr>
            <a:r>
              <a:rPr lang="en-IN" sz="3200" b="1" dirty="0"/>
              <a:t>Common Classification Metrics</a:t>
            </a:r>
          </a:p>
          <a:p>
            <a:pPr lvl="1"/>
            <a:r>
              <a:rPr lang="en-IN" sz="2800" dirty="0"/>
              <a:t>Accuracy</a:t>
            </a:r>
          </a:p>
          <a:p>
            <a:pPr lvl="1"/>
            <a:r>
              <a:rPr lang="en-IN" sz="2800" dirty="0"/>
              <a:t>Precision (Positive Predictive Value)</a:t>
            </a:r>
          </a:p>
          <a:p>
            <a:pPr lvl="1"/>
            <a:r>
              <a:rPr lang="en-US" sz="2800" dirty="0"/>
              <a:t>Recall (Sensitivity or True Positive Rate)</a:t>
            </a:r>
          </a:p>
          <a:p>
            <a:pPr lvl="1"/>
            <a:r>
              <a:rPr lang="en-US" sz="2800" dirty="0"/>
              <a:t>F1 Score (Harmonic Mean of Precision &amp; Recall)</a:t>
            </a:r>
          </a:p>
          <a:p>
            <a:pPr lvl="1"/>
            <a:r>
              <a:rPr lang="en-IN" sz="2800" dirty="0"/>
              <a:t>Confusion Matrix</a:t>
            </a:r>
            <a:endParaRPr lang="en-US" sz="2800" dirty="0"/>
          </a:p>
          <a:p>
            <a:endParaRPr lang="en-IN" dirty="0"/>
          </a:p>
        </p:txBody>
      </p:sp>
    </p:spTree>
    <p:extLst>
      <p:ext uri="{BB962C8B-B14F-4D97-AF65-F5344CB8AC3E}">
        <p14:creationId xmlns:p14="http://schemas.microsoft.com/office/powerpoint/2010/main" val="21201977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6821"/>
          </a:xfrm>
        </p:spPr>
        <p:txBody>
          <a:bodyPr/>
          <a:lstStyle/>
          <a:p>
            <a:r>
              <a:rPr lang="en-IN" dirty="0">
                <a:solidFill>
                  <a:srgbClr val="FF0000"/>
                </a:solidFill>
              </a:rPr>
              <a:t>Accuracy</a:t>
            </a:r>
          </a:p>
        </p:txBody>
      </p:sp>
      <p:pic>
        <p:nvPicPr>
          <p:cNvPr id="4" name="Picture 3"/>
          <p:cNvPicPr>
            <a:picLocks noChangeAspect="1"/>
          </p:cNvPicPr>
          <p:nvPr/>
        </p:nvPicPr>
        <p:blipFill>
          <a:blip r:embed="rId2"/>
          <a:stretch>
            <a:fillRect/>
          </a:stretch>
        </p:blipFill>
        <p:spPr>
          <a:xfrm>
            <a:off x="3216728" y="2813240"/>
            <a:ext cx="3986447" cy="1011712"/>
          </a:xfrm>
          <a:prstGeom prst="rect">
            <a:avLst/>
          </a:prstGeom>
          <a:ln>
            <a:solidFill>
              <a:schemeClr val="accent1"/>
            </a:solidFill>
          </a:ln>
        </p:spPr>
      </p:pic>
      <p:sp>
        <p:nvSpPr>
          <p:cNvPr id="5" name="Rectangle 4"/>
          <p:cNvSpPr/>
          <p:nvPr/>
        </p:nvSpPr>
        <p:spPr>
          <a:xfrm>
            <a:off x="1956581" y="4185594"/>
            <a:ext cx="9397219" cy="2492990"/>
          </a:xfrm>
          <a:prstGeom prst="rect">
            <a:avLst/>
          </a:prstGeom>
        </p:spPr>
        <p:txBody>
          <a:bodyPr wrap="square">
            <a:spAutoFit/>
          </a:bodyPr>
          <a:lstStyle/>
          <a:p>
            <a:pPr>
              <a:buFont typeface="Arial" panose="020B0604020202020204" pitchFamily="34" charset="0"/>
              <a:buChar char="•"/>
            </a:pPr>
            <a:r>
              <a:rPr lang="en-US" sz="2400" b="1" dirty="0"/>
              <a:t>TP (True Positives):</a:t>
            </a:r>
            <a:r>
              <a:rPr lang="en-US" sz="2400" dirty="0"/>
              <a:t> Correctly predicted positive cases</a:t>
            </a:r>
          </a:p>
          <a:p>
            <a:pPr>
              <a:buFont typeface="Arial" panose="020B0604020202020204" pitchFamily="34" charset="0"/>
              <a:buChar char="•"/>
            </a:pPr>
            <a:r>
              <a:rPr lang="en-US" sz="2400" b="1" dirty="0"/>
              <a:t>TN (True Negatives):</a:t>
            </a:r>
            <a:r>
              <a:rPr lang="en-US" sz="2400" dirty="0"/>
              <a:t> Correctly predicted negative cases</a:t>
            </a:r>
          </a:p>
          <a:p>
            <a:pPr>
              <a:buFont typeface="Arial" panose="020B0604020202020204" pitchFamily="34" charset="0"/>
              <a:buChar char="•"/>
            </a:pPr>
            <a:r>
              <a:rPr lang="en-US" sz="2400" b="1" dirty="0"/>
              <a:t>FP (False Positives):</a:t>
            </a:r>
            <a:r>
              <a:rPr lang="en-US" sz="2400" dirty="0"/>
              <a:t> Incorrectly predicted as positive</a:t>
            </a:r>
          </a:p>
          <a:p>
            <a:pPr>
              <a:buFont typeface="Arial" panose="020B0604020202020204" pitchFamily="34" charset="0"/>
              <a:buChar char="•"/>
            </a:pPr>
            <a:r>
              <a:rPr lang="en-US" sz="2400" b="1" dirty="0"/>
              <a:t>FN (False Negatives):</a:t>
            </a:r>
            <a:r>
              <a:rPr lang="en-US" sz="2400" dirty="0"/>
              <a:t> Incorrectly predicted as negative</a:t>
            </a:r>
          </a:p>
          <a:p>
            <a:pPr algn="ctr">
              <a:buFont typeface="Arial" panose="020B0604020202020204" pitchFamily="34" charset="0"/>
              <a:buChar char="•"/>
            </a:pPr>
            <a:endParaRPr lang="en-US" dirty="0"/>
          </a:p>
          <a:p>
            <a:pPr algn="ctr">
              <a:buFont typeface="Arial" panose="020B0604020202020204" pitchFamily="34" charset="0"/>
              <a:buChar char="•"/>
            </a:pPr>
            <a:endParaRPr lang="en-US" dirty="0"/>
          </a:p>
          <a:p>
            <a:r>
              <a:rPr lang="en-US" dirty="0"/>
              <a:t> </a:t>
            </a:r>
            <a:r>
              <a:rPr lang="en-US" sz="2400" b="1" dirty="0">
                <a:highlight>
                  <a:srgbClr val="FFFF00"/>
                </a:highlight>
              </a:rPr>
              <a:t>Good for balanced datasets, but misleading for imbalanced data.</a:t>
            </a:r>
            <a:endParaRPr lang="en-US" dirty="0">
              <a:highlight>
                <a:srgbClr val="FFFF00"/>
              </a:highlight>
            </a:endParaRPr>
          </a:p>
        </p:txBody>
      </p:sp>
      <p:sp>
        <p:nvSpPr>
          <p:cNvPr id="3" name="Rectangle 2"/>
          <p:cNvSpPr/>
          <p:nvPr/>
        </p:nvSpPr>
        <p:spPr>
          <a:xfrm>
            <a:off x="890233" y="1241946"/>
            <a:ext cx="10411534" cy="1200329"/>
          </a:xfrm>
          <a:prstGeom prst="rect">
            <a:avLst/>
          </a:prstGeom>
        </p:spPr>
        <p:txBody>
          <a:bodyPr wrap="square">
            <a:spAutoFit/>
          </a:bodyPr>
          <a:lstStyle/>
          <a:p>
            <a:pPr algn="just"/>
            <a:r>
              <a:rPr lang="en-US" sz="2400" dirty="0"/>
              <a:t>Accuracy is the proportion of correctly classified instances out of the total instances. It is one of the most commonly used metrics to measure a classifier’s performance.</a:t>
            </a:r>
            <a:endParaRPr lang="en-IN" sz="2400" dirty="0"/>
          </a:p>
        </p:txBody>
      </p:sp>
    </p:spTree>
    <p:extLst>
      <p:ext uri="{BB962C8B-B14F-4D97-AF65-F5344CB8AC3E}">
        <p14:creationId xmlns:p14="http://schemas.microsoft.com/office/powerpoint/2010/main" val="19365418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Accuracy :</a:t>
            </a:r>
            <a:r>
              <a:rPr lang="en-US" dirty="0">
                <a:solidFill>
                  <a:srgbClr val="FF0000"/>
                </a:solidFill>
              </a:rPr>
              <a:t>Example</a:t>
            </a:r>
            <a:endParaRPr lang="en-IN" dirty="0">
              <a:solidFill>
                <a:srgbClr val="FF0000"/>
              </a:solidFill>
            </a:endParaRPr>
          </a:p>
        </p:txBody>
      </p:sp>
      <p:sp>
        <p:nvSpPr>
          <p:cNvPr id="3" name="Content Placeholder 2"/>
          <p:cNvSpPr>
            <a:spLocks noGrp="1"/>
          </p:cNvSpPr>
          <p:nvPr>
            <p:ph idx="1"/>
          </p:nvPr>
        </p:nvSpPr>
        <p:spPr>
          <a:xfrm>
            <a:off x="838200" y="1825625"/>
            <a:ext cx="10515600" cy="3128512"/>
          </a:xfrm>
        </p:spPr>
        <p:txBody>
          <a:bodyPr/>
          <a:lstStyle/>
          <a:p>
            <a:pPr marL="0" indent="0">
              <a:buNone/>
            </a:pPr>
            <a:r>
              <a:rPr lang="en-IN" dirty="0"/>
              <a:t>Imagine a classifier that predicts whether an email is spam or not. If we have the following results:</a:t>
            </a:r>
          </a:p>
          <a:p>
            <a:pPr algn="just"/>
            <a:r>
              <a:rPr lang="en-IN" b="1" dirty="0"/>
              <a:t>TP = 50</a:t>
            </a:r>
            <a:r>
              <a:rPr lang="en-IN" dirty="0"/>
              <a:t> (Spam emails correctly classified as spam)</a:t>
            </a:r>
          </a:p>
          <a:p>
            <a:pPr algn="just"/>
            <a:r>
              <a:rPr lang="en-IN" b="1" dirty="0"/>
              <a:t>TN = 40</a:t>
            </a:r>
            <a:r>
              <a:rPr lang="en-IN" dirty="0"/>
              <a:t> (Non-spam emails correctly classified as non-spam)</a:t>
            </a:r>
          </a:p>
          <a:p>
            <a:pPr algn="just"/>
            <a:r>
              <a:rPr lang="en-IN" b="1" dirty="0"/>
              <a:t>FP = 5</a:t>
            </a:r>
            <a:r>
              <a:rPr lang="en-IN" dirty="0"/>
              <a:t> (Non-spam emails wrongly classified as spam)</a:t>
            </a:r>
          </a:p>
          <a:p>
            <a:pPr algn="just"/>
            <a:r>
              <a:rPr lang="en-IN" b="1" dirty="0"/>
              <a:t>FN = 5</a:t>
            </a:r>
            <a:r>
              <a:rPr lang="en-IN" dirty="0"/>
              <a:t> (Spam emails wrongly classified as non-spam)</a:t>
            </a:r>
          </a:p>
        </p:txBody>
      </p:sp>
      <p:pic>
        <p:nvPicPr>
          <p:cNvPr id="5" name="Picture 4"/>
          <p:cNvPicPr>
            <a:picLocks noChangeAspect="1"/>
          </p:cNvPicPr>
          <p:nvPr/>
        </p:nvPicPr>
        <p:blipFill>
          <a:blip r:embed="rId2"/>
          <a:stretch>
            <a:fillRect/>
          </a:stretch>
        </p:blipFill>
        <p:spPr>
          <a:xfrm>
            <a:off x="2401842" y="5089074"/>
            <a:ext cx="5773167" cy="1171367"/>
          </a:xfrm>
          <a:prstGeom prst="rect">
            <a:avLst/>
          </a:prstGeom>
          <a:ln>
            <a:solidFill>
              <a:schemeClr val="accent1"/>
            </a:solidFill>
          </a:ln>
        </p:spPr>
      </p:pic>
    </p:spTree>
    <p:extLst>
      <p:ext uri="{BB962C8B-B14F-4D97-AF65-F5344CB8AC3E}">
        <p14:creationId xmlns:p14="http://schemas.microsoft.com/office/powerpoint/2010/main" val="9045881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Limitations of Accuracy</a:t>
            </a:r>
          </a:p>
        </p:txBody>
      </p:sp>
      <p:sp>
        <p:nvSpPr>
          <p:cNvPr id="3" name="Content Placeholder 2"/>
          <p:cNvSpPr>
            <a:spLocks noGrp="1"/>
          </p:cNvSpPr>
          <p:nvPr>
            <p:ph idx="1"/>
          </p:nvPr>
        </p:nvSpPr>
        <p:spPr>
          <a:xfrm>
            <a:off x="838200" y="1690688"/>
            <a:ext cx="10515600" cy="4351338"/>
          </a:xfrm>
        </p:spPr>
        <p:txBody>
          <a:bodyPr/>
          <a:lstStyle/>
          <a:p>
            <a:r>
              <a:rPr lang="en-US" dirty="0"/>
              <a:t>Accuracy is useful when the dataset is </a:t>
            </a:r>
            <a:r>
              <a:rPr lang="en-US" b="1" dirty="0"/>
              <a:t>balanced</a:t>
            </a:r>
            <a:r>
              <a:rPr lang="en-US" dirty="0"/>
              <a:t> (i.e., classes have nearly equal representation). However, it can be misleading when the dataset is </a:t>
            </a:r>
            <a:r>
              <a:rPr lang="en-US" b="1" dirty="0"/>
              <a:t>imbalanced</a:t>
            </a:r>
            <a:r>
              <a:rPr lang="en-US" dirty="0"/>
              <a:t> (one class significantly outnumbers the other).</a:t>
            </a:r>
          </a:p>
          <a:p>
            <a:r>
              <a:rPr lang="en-US" dirty="0"/>
              <a:t> </a:t>
            </a:r>
            <a:r>
              <a:rPr lang="en-US" b="1" dirty="0"/>
              <a:t>Example of misleading accuracy:</a:t>
            </a:r>
            <a:br>
              <a:rPr lang="en-US" dirty="0"/>
            </a:br>
            <a:r>
              <a:rPr lang="en-US" dirty="0"/>
              <a:t>If a dataset contains </a:t>
            </a:r>
            <a:r>
              <a:rPr lang="en-US" b="1" dirty="0"/>
              <a:t>95% negative</a:t>
            </a:r>
            <a:r>
              <a:rPr lang="en-US" dirty="0"/>
              <a:t> cases and </a:t>
            </a:r>
            <a:r>
              <a:rPr lang="en-US" b="1" dirty="0"/>
              <a:t>5% positive</a:t>
            </a:r>
            <a:r>
              <a:rPr lang="en-US" dirty="0"/>
              <a:t> cases, a model that always predicts "negative" will have </a:t>
            </a:r>
            <a:r>
              <a:rPr lang="en-US" b="1" dirty="0"/>
              <a:t>95% accuracy</a:t>
            </a:r>
            <a:r>
              <a:rPr lang="en-US" dirty="0"/>
              <a:t> but is useless for detecting positive cases.</a:t>
            </a:r>
          </a:p>
          <a:p>
            <a:r>
              <a:rPr lang="en-US" dirty="0"/>
              <a:t>To handle imbalanced datasets, consider additional metrics like </a:t>
            </a:r>
            <a:r>
              <a:rPr lang="en-US" b="1" dirty="0"/>
              <a:t>Precision, Recall, F1-Score, and MCC</a:t>
            </a:r>
            <a:r>
              <a:rPr lang="en-US" dirty="0"/>
              <a:t>.</a:t>
            </a:r>
          </a:p>
          <a:p>
            <a:endParaRPr lang="en-IN" dirty="0"/>
          </a:p>
        </p:txBody>
      </p:sp>
    </p:spTree>
    <p:extLst>
      <p:ext uri="{BB962C8B-B14F-4D97-AF65-F5344CB8AC3E}">
        <p14:creationId xmlns:p14="http://schemas.microsoft.com/office/powerpoint/2010/main" val="42695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Precision (Positive Predictive Value)</a:t>
            </a:r>
          </a:p>
        </p:txBody>
      </p:sp>
      <p:pic>
        <p:nvPicPr>
          <p:cNvPr id="4" name="Picture 3"/>
          <p:cNvPicPr>
            <a:picLocks noChangeAspect="1"/>
          </p:cNvPicPr>
          <p:nvPr/>
        </p:nvPicPr>
        <p:blipFill>
          <a:blip r:embed="rId2"/>
          <a:stretch>
            <a:fillRect/>
          </a:stretch>
        </p:blipFill>
        <p:spPr>
          <a:xfrm>
            <a:off x="3864022" y="3014521"/>
            <a:ext cx="2964834" cy="916959"/>
          </a:xfrm>
          <a:prstGeom prst="rect">
            <a:avLst/>
          </a:prstGeom>
          <a:ln>
            <a:solidFill>
              <a:schemeClr val="accent1"/>
            </a:solidFill>
          </a:ln>
        </p:spPr>
      </p:pic>
      <p:sp>
        <p:nvSpPr>
          <p:cNvPr id="3" name="Rectangle 2"/>
          <p:cNvSpPr/>
          <p:nvPr/>
        </p:nvSpPr>
        <p:spPr>
          <a:xfrm>
            <a:off x="838200" y="1429274"/>
            <a:ext cx="9711519" cy="1200329"/>
          </a:xfrm>
          <a:prstGeom prst="rect">
            <a:avLst/>
          </a:prstGeom>
        </p:spPr>
        <p:txBody>
          <a:bodyPr wrap="square">
            <a:spAutoFit/>
          </a:bodyPr>
          <a:lstStyle/>
          <a:p>
            <a:pPr algn="just"/>
            <a:r>
              <a:rPr lang="en-US" sz="2400" dirty="0"/>
              <a:t>Precision (also called Positive Predictive Value) measures how many of the predicted positive instances are actually correct. It is particularly </a:t>
            </a:r>
            <a:r>
              <a:rPr lang="en-US" sz="2400" dirty="0">
                <a:highlight>
                  <a:srgbClr val="FFFF00"/>
                </a:highlight>
              </a:rPr>
              <a:t>useful when false positives (FP) are costly,</a:t>
            </a:r>
            <a:r>
              <a:rPr lang="en-US" sz="2400" dirty="0"/>
              <a:t> such as in spam detection.</a:t>
            </a:r>
            <a:endParaRPr lang="en-IN" sz="2400" dirty="0"/>
          </a:p>
        </p:txBody>
      </p:sp>
      <p:sp>
        <p:nvSpPr>
          <p:cNvPr id="6" name="Rectangle 5"/>
          <p:cNvSpPr/>
          <p:nvPr/>
        </p:nvSpPr>
        <p:spPr>
          <a:xfrm>
            <a:off x="1015619" y="4741544"/>
            <a:ext cx="9534100" cy="1631216"/>
          </a:xfrm>
          <a:prstGeom prst="rect">
            <a:avLst/>
          </a:prstGeom>
        </p:spPr>
        <p:txBody>
          <a:bodyPr wrap="square">
            <a:spAutoFit/>
          </a:bodyPr>
          <a:lstStyle/>
          <a:p>
            <a:r>
              <a:rPr lang="en-US" sz="2400" dirty="0"/>
              <a:t>Where:</a:t>
            </a:r>
          </a:p>
          <a:p>
            <a:r>
              <a:rPr lang="en-US" sz="2400" dirty="0"/>
              <a:t>TP (True Positives): Correctly predicted positive instances</a:t>
            </a:r>
          </a:p>
          <a:p>
            <a:r>
              <a:rPr lang="en-US" sz="2400" dirty="0"/>
              <a:t>FP (False Positives): Incorrectly predicted positive instances (Type I error)</a:t>
            </a:r>
          </a:p>
          <a:p>
            <a:pPr algn="ctr"/>
            <a:r>
              <a:rPr lang="en-US" sz="2800" dirty="0">
                <a:solidFill>
                  <a:srgbClr val="FF0000"/>
                </a:solidFill>
              </a:rPr>
              <a:t>Punishes Wrong Alarms</a:t>
            </a:r>
            <a:endParaRPr lang="en-IN" sz="2800" dirty="0">
              <a:solidFill>
                <a:srgbClr val="FF0000"/>
              </a:solidFill>
            </a:endParaRPr>
          </a:p>
        </p:txBody>
      </p:sp>
    </p:spTree>
    <p:extLst>
      <p:ext uri="{BB962C8B-B14F-4D97-AF65-F5344CB8AC3E}">
        <p14:creationId xmlns:p14="http://schemas.microsoft.com/office/powerpoint/2010/main" val="27613115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Precision: Example</a:t>
            </a:r>
            <a:endParaRPr lang="en-IN" dirty="0"/>
          </a:p>
        </p:txBody>
      </p:sp>
      <p:sp>
        <p:nvSpPr>
          <p:cNvPr id="3" name="Content Placeholder 2"/>
          <p:cNvSpPr>
            <a:spLocks noGrp="1"/>
          </p:cNvSpPr>
          <p:nvPr>
            <p:ph idx="1"/>
          </p:nvPr>
        </p:nvSpPr>
        <p:spPr>
          <a:xfrm>
            <a:off x="838200" y="1825625"/>
            <a:ext cx="10515600" cy="2923796"/>
          </a:xfrm>
        </p:spPr>
        <p:txBody>
          <a:bodyPr/>
          <a:lstStyle/>
          <a:p>
            <a:r>
              <a:rPr lang="en-US" dirty="0"/>
              <a:t>Imagine a classifier predicting whether an email is </a:t>
            </a:r>
            <a:r>
              <a:rPr lang="en-US" b="1" dirty="0"/>
              <a:t>spam</a:t>
            </a:r>
            <a:r>
              <a:rPr lang="en-US" dirty="0"/>
              <a:t> (positive class) or </a:t>
            </a:r>
            <a:r>
              <a:rPr lang="en-US" b="1" dirty="0"/>
              <a:t>not spam</a:t>
            </a:r>
            <a:r>
              <a:rPr lang="en-US" dirty="0"/>
              <a:t> (negative class).</a:t>
            </a:r>
          </a:p>
          <a:p>
            <a:r>
              <a:rPr lang="en-US" dirty="0"/>
              <a:t>If the model predicts 100 emails as spam, but only </a:t>
            </a:r>
            <a:r>
              <a:rPr lang="en-US" b="1" dirty="0"/>
              <a:t>80</a:t>
            </a:r>
            <a:r>
              <a:rPr lang="en-US" dirty="0"/>
              <a:t> are actually spam, and </a:t>
            </a:r>
            <a:r>
              <a:rPr lang="en-US" b="1" dirty="0"/>
              <a:t>20</a:t>
            </a:r>
            <a:r>
              <a:rPr lang="en-US" dirty="0"/>
              <a:t> are wrongly classified as spam:</a:t>
            </a:r>
          </a:p>
          <a:p>
            <a:pPr lvl="1"/>
            <a:r>
              <a:rPr lang="en-US" b="1" dirty="0"/>
              <a:t>TP = 80</a:t>
            </a:r>
            <a:r>
              <a:rPr lang="en-US" dirty="0"/>
              <a:t> (Correctly predicted spam emails)</a:t>
            </a:r>
          </a:p>
          <a:p>
            <a:pPr lvl="1"/>
            <a:r>
              <a:rPr lang="en-US" b="1" dirty="0"/>
              <a:t>FP = 20</a:t>
            </a:r>
            <a:r>
              <a:rPr lang="en-US" dirty="0"/>
              <a:t> (Non-spam emails wrongly classified as spam)</a:t>
            </a:r>
          </a:p>
          <a:p>
            <a:endParaRPr lang="en-IN" dirty="0"/>
          </a:p>
        </p:txBody>
      </p:sp>
      <p:pic>
        <p:nvPicPr>
          <p:cNvPr id="4" name="Picture 3"/>
          <p:cNvPicPr>
            <a:picLocks noChangeAspect="1"/>
          </p:cNvPicPr>
          <p:nvPr/>
        </p:nvPicPr>
        <p:blipFill>
          <a:blip r:embed="rId2"/>
          <a:stretch>
            <a:fillRect/>
          </a:stretch>
        </p:blipFill>
        <p:spPr>
          <a:xfrm>
            <a:off x="3058949" y="4653887"/>
            <a:ext cx="4991172" cy="1091819"/>
          </a:xfrm>
          <a:prstGeom prst="rect">
            <a:avLst/>
          </a:prstGeom>
        </p:spPr>
      </p:pic>
    </p:spTree>
    <p:extLst>
      <p:ext uri="{BB962C8B-B14F-4D97-AF65-F5344CB8AC3E}">
        <p14:creationId xmlns:p14="http://schemas.microsoft.com/office/powerpoint/2010/main" val="30996291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rPr>
              <a:t>When is Precision Important?</a:t>
            </a:r>
          </a:p>
        </p:txBody>
      </p:sp>
      <p:sp>
        <p:nvSpPr>
          <p:cNvPr id="3" name="Content Placeholder 2"/>
          <p:cNvSpPr>
            <a:spLocks noGrp="1"/>
          </p:cNvSpPr>
          <p:nvPr>
            <p:ph idx="1"/>
          </p:nvPr>
        </p:nvSpPr>
        <p:spPr/>
        <p:txBody>
          <a:bodyPr/>
          <a:lstStyle/>
          <a:p>
            <a:r>
              <a:rPr lang="en-US" sz="3200" dirty="0"/>
              <a:t>When false positives are more harmful than false negatives.</a:t>
            </a:r>
          </a:p>
          <a:p>
            <a:r>
              <a:rPr lang="en-US" sz="3200" dirty="0"/>
              <a:t>Example scenarios:</a:t>
            </a:r>
          </a:p>
          <a:p>
            <a:pPr lvl="1"/>
            <a:r>
              <a:rPr lang="en-US" sz="2800" b="1" dirty="0"/>
              <a:t>Spam filtering:</a:t>
            </a:r>
            <a:r>
              <a:rPr lang="en-US" sz="2800" dirty="0"/>
              <a:t> Predicting an important email as spam (FP) could cause a user to miss critical messages.</a:t>
            </a:r>
          </a:p>
          <a:p>
            <a:endParaRPr lang="en-IN" dirty="0"/>
          </a:p>
        </p:txBody>
      </p:sp>
    </p:spTree>
    <p:extLst>
      <p:ext uri="{BB962C8B-B14F-4D97-AF65-F5344CB8AC3E}">
        <p14:creationId xmlns:p14="http://schemas.microsoft.com/office/powerpoint/2010/main" val="8175551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Recall (Sensitivity or True Positive Rate)</a:t>
            </a:r>
            <a:endParaRPr lang="en-IN" b="1" dirty="0">
              <a:solidFill>
                <a:srgbClr val="FF0000"/>
              </a:solidFill>
            </a:endParaRPr>
          </a:p>
        </p:txBody>
      </p:sp>
      <p:pic>
        <p:nvPicPr>
          <p:cNvPr id="4" name="Picture 3"/>
          <p:cNvPicPr>
            <a:picLocks noChangeAspect="1"/>
          </p:cNvPicPr>
          <p:nvPr/>
        </p:nvPicPr>
        <p:blipFill>
          <a:blip r:embed="rId2"/>
          <a:stretch>
            <a:fillRect/>
          </a:stretch>
        </p:blipFill>
        <p:spPr>
          <a:xfrm>
            <a:off x="4123293" y="3268326"/>
            <a:ext cx="2796121" cy="956093"/>
          </a:xfrm>
          <a:prstGeom prst="rect">
            <a:avLst/>
          </a:prstGeom>
        </p:spPr>
      </p:pic>
      <p:sp>
        <p:nvSpPr>
          <p:cNvPr id="3" name="Rectangle 2"/>
          <p:cNvSpPr/>
          <p:nvPr/>
        </p:nvSpPr>
        <p:spPr>
          <a:xfrm>
            <a:off x="801236" y="1591745"/>
            <a:ext cx="9393641" cy="1569660"/>
          </a:xfrm>
          <a:prstGeom prst="rect">
            <a:avLst/>
          </a:prstGeom>
        </p:spPr>
        <p:txBody>
          <a:bodyPr wrap="square">
            <a:spAutoFit/>
          </a:bodyPr>
          <a:lstStyle/>
          <a:p>
            <a:pPr algn="just"/>
            <a:r>
              <a:rPr lang="en-US" sz="2400" dirty="0"/>
              <a:t>Recall (also called Sensitivity or True Positive Rate) measures how many of the actual positive instances were correctly predicted by the model. It is crucial when missing positive cases (</a:t>
            </a:r>
            <a:r>
              <a:rPr lang="en-US" sz="2400" dirty="0">
                <a:highlight>
                  <a:srgbClr val="FFFF00"/>
                </a:highlight>
              </a:rPr>
              <a:t>false negatives</a:t>
            </a:r>
            <a:r>
              <a:rPr lang="en-US" sz="2400" dirty="0"/>
              <a:t>) is costly, such as in medical diagnoses</a:t>
            </a:r>
            <a:endParaRPr lang="en-IN" sz="2400" dirty="0"/>
          </a:p>
        </p:txBody>
      </p:sp>
      <p:sp>
        <p:nvSpPr>
          <p:cNvPr id="6" name="Rectangle 5"/>
          <p:cNvSpPr/>
          <p:nvPr/>
        </p:nvSpPr>
        <p:spPr>
          <a:xfrm>
            <a:off x="1724167" y="4671284"/>
            <a:ext cx="8634484" cy="1938992"/>
          </a:xfrm>
          <a:prstGeom prst="rect">
            <a:avLst/>
          </a:prstGeom>
        </p:spPr>
        <p:txBody>
          <a:bodyPr wrap="square">
            <a:spAutoFit/>
          </a:bodyPr>
          <a:lstStyle/>
          <a:p>
            <a:r>
              <a:rPr lang="en-US" sz="2400" dirty="0"/>
              <a:t>Where:</a:t>
            </a:r>
          </a:p>
          <a:p>
            <a:pPr>
              <a:buFont typeface="Arial" panose="020B0604020202020204" pitchFamily="34" charset="0"/>
              <a:buChar char="•"/>
            </a:pPr>
            <a:r>
              <a:rPr lang="en-US" sz="2400" b="1" dirty="0"/>
              <a:t>TP (True Positives):</a:t>
            </a:r>
            <a:r>
              <a:rPr lang="en-US" sz="2400" dirty="0"/>
              <a:t> Correctly predicted positive instances</a:t>
            </a:r>
          </a:p>
          <a:p>
            <a:pPr>
              <a:buFont typeface="Arial" panose="020B0604020202020204" pitchFamily="34" charset="0"/>
              <a:buChar char="•"/>
            </a:pPr>
            <a:r>
              <a:rPr lang="en-US" sz="2400" b="1" dirty="0"/>
              <a:t>FN (False Negatives):</a:t>
            </a:r>
            <a:r>
              <a:rPr lang="en-US" sz="2400" dirty="0"/>
              <a:t> Positive instances incorrectly classified as negative (Type II error)</a:t>
            </a:r>
          </a:p>
          <a:p>
            <a:pPr algn="ctr"/>
            <a:r>
              <a:rPr lang="en-US" sz="2400" dirty="0">
                <a:solidFill>
                  <a:srgbClr val="FF0000"/>
                </a:solidFill>
              </a:rPr>
              <a:t>Punishes Missed Cases</a:t>
            </a:r>
          </a:p>
        </p:txBody>
      </p:sp>
    </p:spTree>
    <p:extLst>
      <p:ext uri="{BB962C8B-B14F-4D97-AF65-F5344CB8AC3E}">
        <p14:creationId xmlns:p14="http://schemas.microsoft.com/office/powerpoint/2010/main" val="23304683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Recall : Example</a:t>
            </a:r>
            <a:endParaRPr lang="en-IN" dirty="0"/>
          </a:p>
        </p:txBody>
      </p:sp>
      <p:sp>
        <p:nvSpPr>
          <p:cNvPr id="3" name="Content Placeholder 2"/>
          <p:cNvSpPr>
            <a:spLocks noGrp="1"/>
          </p:cNvSpPr>
          <p:nvPr>
            <p:ph idx="1"/>
          </p:nvPr>
        </p:nvSpPr>
        <p:spPr>
          <a:xfrm>
            <a:off x="838200" y="1825625"/>
            <a:ext cx="10515600" cy="2091282"/>
          </a:xfrm>
        </p:spPr>
        <p:txBody>
          <a:bodyPr/>
          <a:lstStyle/>
          <a:p>
            <a:r>
              <a:rPr lang="en-US" dirty="0"/>
              <a:t>Imagine a medical test for </a:t>
            </a:r>
            <a:r>
              <a:rPr lang="en-US" b="1" dirty="0"/>
              <a:t>cancer detection</a:t>
            </a:r>
            <a:r>
              <a:rPr lang="en-US" dirty="0"/>
              <a:t>:</a:t>
            </a:r>
          </a:p>
          <a:p>
            <a:pPr lvl="1"/>
            <a:r>
              <a:rPr lang="en-US" b="1" dirty="0"/>
              <a:t>100 patients have cancer (actual positives).</a:t>
            </a:r>
            <a:endParaRPr lang="en-US" dirty="0"/>
          </a:p>
          <a:p>
            <a:pPr lvl="1"/>
            <a:r>
              <a:rPr lang="en-US" dirty="0"/>
              <a:t>The model correctly identifies </a:t>
            </a:r>
            <a:r>
              <a:rPr lang="en-US" b="1" dirty="0"/>
              <a:t>80</a:t>
            </a:r>
            <a:r>
              <a:rPr lang="en-US" dirty="0"/>
              <a:t> as cancerous (</a:t>
            </a:r>
            <a:r>
              <a:rPr lang="en-US" b="1" dirty="0"/>
              <a:t>TP = 80</a:t>
            </a:r>
            <a:r>
              <a:rPr lang="en-US" dirty="0"/>
              <a:t>).</a:t>
            </a:r>
          </a:p>
          <a:p>
            <a:pPr lvl="1"/>
            <a:r>
              <a:rPr lang="en-US" dirty="0"/>
              <a:t>However, it misses </a:t>
            </a:r>
            <a:r>
              <a:rPr lang="en-US" b="1" dirty="0"/>
              <a:t>20</a:t>
            </a:r>
            <a:r>
              <a:rPr lang="en-US" dirty="0"/>
              <a:t> cases (</a:t>
            </a:r>
            <a:r>
              <a:rPr lang="en-US" b="1" dirty="0"/>
              <a:t>FN = 20</a:t>
            </a:r>
            <a:r>
              <a:rPr lang="en-US" dirty="0"/>
              <a:t>).</a:t>
            </a:r>
          </a:p>
          <a:p>
            <a:pPr lvl="1"/>
            <a:endParaRPr lang="en-IN" dirty="0"/>
          </a:p>
        </p:txBody>
      </p:sp>
      <p:pic>
        <p:nvPicPr>
          <p:cNvPr id="4" name="Picture 3"/>
          <p:cNvPicPr>
            <a:picLocks noChangeAspect="1"/>
          </p:cNvPicPr>
          <p:nvPr/>
        </p:nvPicPr>
        <p:blipFill>
          <a:blip r:embed="rId2"/>
          <a:stretch>
            <a:fillRect/>
          </a:stretch>
        </p:blipFill>
        <p:spPr>
          <a:xfrm>
            <a:off x="2933771" y="3710650"/>
            <a:ext cx="5111469" cy="970532"/>
          </a:xfrm>
          <a:prstGeom prst="rect">
            <a:avLst/>
          </a:prstGeom>
        </p:spPr>
      </p:pic>
      <p:sp>
        <p:nvSpPr>
          <p:cNvPr id="5" name="Rectangle 4"/>
          <p:cNvSpPr/>
          <p:nvPr/>
        </p:nvSpPr>
        <p:spPr>
          <a:xfrm>
            <a:off x="838200" y="4948283"/>
            <a:ext cx="10025418" cy="461665"/>
          </a:xfrm>
          <a:prstGeom prst="rect">
            <a:avLst/>
          </a:prstGeom>
          <a:ln>
            <a:solidFill>
              <a:schemeClr val="accent1"/>
            </a:solidFill>
          </a:ln>
        </p:spPr>
        <p:txBody>
          <a:bodyPr wrap="square">
            <a:spAutoFit/>
          </a:bodyPr>
          <a:lstStyle/>
          <a:p>
            <a:r>
              <a:rPr lang="en-US" sz="2400" dirty="0"/>
              <a:t>This means the model correctly detects 80% of cancer cases, but misses 20%.</a:t>
            </a:r>
            <a:endParaRPr lang="en-IN" sz="2400" dirty="0"/>
          </a:p>
        </p:txBody>
      </p:sp>
    </p:spTree>
    <p:extLst>
      <p:ext uri="{BB962C8B-B14F-4D97-AF65-F5344CB8AC3E}">
        <p14:creationId xmlns:p14="http://schemas.microsoft.com/office/powerpoint/2010/main" val="38950336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rPr>
              <a:t>When is Recall Important?</a:t>
            </a:r>
          </a:p>
        </p:txBody>
      </p:sp>
      <p:sp>
        <p:nvSpPr>
          <p:cNvPr id="3" name="Content Placeholder 2"/>
          <p:cNvSpPr>
            <a:spLocks noGrp="1"/>
          </p:cNvSpPr>
          <p:nvPr>
            <p:ph idx="1"/>
          </p:nvPr>
        </p:nvSpPr>
        <p:spPr/>
        <p:txBody>
          <a:bodyPr/>
          <a:lstStyle/>
          <a:p>
            <a:r>
              <a:rPr lang="en-IN" dirty="0"/>
              <a:t>When false negatives (FN) are more </a:t>
            </a:r>
            <a:r>
              <a:rPr lang="en-IN" b="1" dirty="0"/>
              <a:t>dangerous</a:t>
            </a:r>
            <a:r>
              <a:rPr lang="en-IN" dirty="0"/>
              <a:t> than false positives (FP).</a:t>
            </a:r>
          </a:p>
          <a:p>
            <a:r>
              <a:rPr lang="en-IN" dirty="0"/>
              <a:t>Example scenarios:</a:t>
            </a:r>
          </a:p>
          <a:p>
            <a:pPr lvl="1"/>
            <a:r>
              <a:rPr lang="en-IN" b="1" dirty="0"/>
              <a:t>Medical Diagnosis:</a:t>
            </a:r>
            <a:r>
              <a:rPr lang="en-IN" dirty="0"/>
              <a:t> Missing a cancer diagnosis (FN) is much worse than a false alarm (FP).</a:t>
            </a:r>
          </a:p>
          <a:p>
            <a:pPr lvl="1"/>
            <a:r>
              <a:rPr lang="en-IN" b="1" dirty="0"/>
              <a:t>Security Systems:</a:t>
            </a:r>
            <a:r>
              <a:rPr lang="en-IN" dirty="0"/>
              <a:t> Letting an intruder pass undetected (FN) is more critical than a false alert (FP).</a:t>
            </a:r>
          </a:p>
          <a:p>
            <a:endParaRPr lang="en-IN" dirty="0"/>
          </a:p>
        </p:txBody>
      </p:sp>
    </p:spTree>
    <p:extLst>
      <p:ext uri="{BB962C8B-B14F-4D97-AF65-F5344CB8AC3E}">
        <p14:creationId xmlns:p14="http://schemas.microsoft.com/office/powerpoint/2010/main" val="40130750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F1 Score</a:t>
            </a:r>
            <a:endParaRPr lang="en-IN" dirty="0">
              <a:solidFill>
                <a:srgbClr val="FF0000"/>
              </a:solidFill>
            </a:endParaRPr>
          </a:p>
        </p:txBody>
      </p:sp>
      <p:pic>
        <p:nvPicPr>
          <p:cNvPr id="4" name="Picture 3"/>
          <p:cNvPicPr>
            <a:picLocks noChangeAspect="1"/>
          </p:cNvPicPr>
          <p:nvPr/>
        </p:nvPicPr>
        <p:blipFill>
          <a:blip r:embed="rId2"/>
          <a:stretch>
            <a:fillRect/>
          </a:stretch>
        </p:blipFill>
        <p:spPr>
          <a:xfrm>
            <a:off x="3704129" y="4031888"/>
            <a:ext cx="3566003" cy="921721"/>
          </a:xfrm>
          <a:prstGeom prst="rect">
            <a:avLst/>
          </a:prstGeom>
        </p:spPr>
      </p:pic>
      <p:sp>
        <p:nvSpPr>
          <p:cNvPr id="3" name="Rectangle 2"/>
          <p:cNvSpPr/>
          <p:nvPr/>
        </p:nvSpPr>
        <p:spPr>
          <a:xfrm>
            <a:off x="838200" y="1520996"/>
            <a:ext cx="9629633" cy="1815882"/>
          </a:xfrm>
          <a:prstGeom prst="rect">
            <a:avLst/>
          </a:prstGeom>
        </p:spPr>
        <p:txBody>
          <a:bodyPr wrap="square">
            <a:spAutoFit/>
          </a:bodyPr>
          <a:lstStyle/>
          <a:p>
            <a:pPr algn="just"/>
            <a:r>
              <a:rPr lang="en-US" sz="2800" dirty="0"/>
              <a:t>The F1-score is the harmonic mean of Precision and Recall. It provides a single metric that balances both values, making it useful when a dataset has an imbalanced class distribution (i.e., one class is much more frequent than the other)</a:t>
            </a:r>
            <a:endParaRPr lang="en-IN" sz="2800" dirty="0"/>
          </a:p>
        </p:txBody>
      </p:sp>
    </p:spTree>
    <p:extLst>
      <p:ext uri="{BB962C8B-B14F-4D97-AF65-F5344CB8AC3E}">
        <p14:creationId xmlns:p14="http://schemas.microsoft.com/office/powerpoint/2010/main" val="16774520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FA3BA-147C-4801-B51C-F9BF374AC4FC}"/>
              </a:ext>
            </a:extLst>
          </p:cNvPr>
          <p:cNvSpPr>
            <a:spLocks noGrp="1"/>
          </p:cNvSpPr>
          <p:nvPr>
            <p:ph type="title"/>
          </p:nvPr>
        </p:nvSpPr>
        <p:spPr/>
        <p:txBody>
          <a:bodyPr/>
          <a:lstStyle/>
          <a:p>
            <a:r>
              <a:rPr lang="en-US" dirty="0">
                <a:solidFill>
                  <a:srgbClr val="FF0000"/>
                </a:solidFill>
              </a:rPr>
              <a:t>F1 Score</a:t>
            </a:r>
            <a:endParaRPr lang="en-IN" dirty="0"/>
          </a:p>
        </p:txBody>
      </p:sp>
      <p:sp>
        <p:nvSpPr>
          <p:cNvPr id="3" name="Content Placeholder 2">
            <a:extLst>
              <a:ext uri="{FF2B5EF4-FFF2-40B4-BE49-F238E27FC236}">
                <a16:creationId xmlns:a16="http://schemas.microsoft.com/office/drawing/2014/main" id="{79BDDF96-B0F6-47A3-9A3B-DFF4D74295A9}"/>
              </a:ext>
            </a:extLst>
          </p:cNvPr>
          <p:cNvSpPr>
            <a:spLocks noGrp="1"/>
          </p:cNvSpPr>
          <p:nvPr>
            <p:ph idx="1"/>
          </p:nvPr>
        </p:nvSpPr>
        <p:spPr/>
        <p:txBody>
          <a:bodyPr/>
          <a:lstStyle/>
          <a:p>
            <a:pPr marL="0" indent="0">
              <a:buNone/>
            </a:pPr>
            <a:r>
              <a:rPr lang="en-US" b="1" dirty="0"/>
              <a:t>Fraud Detection (Balanced/Context Dependent)</a:t>
            </a:r>
          </a:p>
          <a:p>
            <a:pPr marL="0" indent="0">
              <a:buNone/>
            </a:pPr>
            <a:r>
              <a:rPr lang="en-US" b="1" dirty="0"/>
              <a:t>Scenario</a:t>
            </a:r>
            <a:r>
              <a:rPr lang="en-US" dirty="0"/>
              <a:t>: A bank flags credit card transactions.</a:t>
            </a:r>
          </a:p>
          <a:p>
            <a:pPr marL="0" indent="0" algn="just">
              <a:buNone/>
            </a:pPr>
            <a:r>
              <a:rPr lang="en-US" b="1" dirty="0"/>
              <a:t>High Recall (Focus): </a:t>
            </a:r>
            <a:r>
              <a:rPr lang="en-US" dirty="0"/>
              <a:t>The system flags every transaction that looks slightly suspicious, reducing the chance of missed fraud, even if many valid customer transactions are temporarily blocked.</a:t>
            </a:r>
          </a:p>
          <a:p>
            <a:pPr marL="0" indent="0" algn="just">
              <a:buNone/>
            </a:pPr>
            <a:r>
              <a:rPr lang="en-US" b="1" dirty="0"/>
              <a:t>High Precision (Focus): </a:t>
            </a:r>
            <a:r>
              <a:rPr lang="en-US" dirty="0"/>
              <a:t>The system only flags transactions it is absolutely certain are fraudulent. This results in fewer customer complaints about blocked cards, but actual fraudulent transactions might go unnoticed</a:t>
            </a:r>
            <a:endParaRPr lang="en-IN" dirty="0"/>
          </a:p>
        </p:txBody>
      </p:sp>
    </p:spTree>
    <p:extLst>
      <p:ext uri="{BB962C8B-B14F-4D97-AF65-F5344CB8AC3E}">
        <p14:creationId xmlns:p14="http://schemas.microsoft.com/office/powerpoint/2010/main" val="28708904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374711" y="410119"/>
            <a:ext cx="6346209" cy="5916997"/>
          </a:xfrm>
          <a:prstGeom prst="rect">
            <a:avLst/>
          </a:prstGeom>
          <a:ln>
            <a:solidFill>
              <a:schemeClr val="accent1"/>
            </a:solidFill>
          </a:ln>
        </p:spPr>
      </p:pic>
    </p:spTree>
    <p:extLst>
      <p:ext uri="{BB962C8B-B14F-4D97-AF65-F5344CB8AC3E}">
        <p14:creationId xmlns:p14="http://schemas.microsoft.com/office/powerpoint/2010/main" val="31859168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When is F1-Score Important?</a:t>
            </a:r>
          </a:p>
        </p:txBody>
      </p:sp>
      <p:sp>
        <p:nvSpPr>
          <p:cNvPr id="3" name="Content Placeholder 2"/>
          <p:cNvSpPr>
            <a:spLocks noGrp="1"/>
          </p:cNvSpPr>
          <p:nvPr>
            <p:ph idx="1"/>
          </p:nvPr>
        </p:nvSpPr>
        <p:spPr/>
        <p:txBody>
          <a:bodyPr/>
          <a:lstStyle/>
          <a:p>
            <a:r>
              <a:rPr lang="en-US" dirty="0"/>
              <a:t>F1-score is useful when:</a:t>
            </a:r>
          </a:p>
          <a:p>
            <a:pPr lvl="1"/>
            <a:r>
              <a:rPr lang="en-US" sz="2800" dirty="0"/>
              <a:t>The dataset is </a:t>
            </a:r>
            <a:r>
              <a:rPr lang="en-US" sz="2800" b="1" dirty="0"/>
              <a:t>imbalanced</a:t>
            </a:r>
            <a:r>
              <a:rPr lang="en-US" sz="2800" dirty="0"/>
              <a:t> (e.g., fraud detection, rare disease classification).</a:t>
            </a:r>
          </a:p>
          <a:p>
            <a:pPr lvl="1"/>
            <a:r>
              <a:rPr lang="en-US" sz="2800" dirty="0"/>
              <a:t>Both </a:t>
            </a:r>
            <a:r>
              <a:rPr lang="en-US" sz="2800" b="1" dirty="0"/>
              <a:t>false positives (FP)</a:t>
            </a:r>
            <a:r>
              <a:rPr lang="en-US" sz="2800" dirty="0"/>
              <a:t> and </a:t>
            </a:r>
            <a:r>
              <a:rPr lang="en-US" sz="2800" b="1" dirty="0"/>
              <a:t>false negatives (FN)</a:t>
            </a:r>
            <a:r>
              <a:rPr lang="en-US" sz="2800" dirty="0"/>
              <a:t> need to be minimized.</a:t>
            </a:r>
          </a:p>
          <a:p>
            <a:pPr lvl="1"/>
            <a:r>
              <a:rPr lang="en-US" sz="2800" dirty="0"/>
              <a:t>A model must balance </a:t>
            </a:r>
            <a:r>
              <a:rPr lang="en-US" sz="2800" b="1" dirty="0"/>
              <a:t>precision and recall</a:t>
            </a:r>
            <a:r>
              <a:rPr lang="en-US" sz="2800" dirty="0"/>
              <a:t>, instead of focusing on just one.</a:t>
            </a:r>
          </a:p>
          <a:p>
            <a:endParaRPr lang="en-IN" dirty="0"/>
          </a:p>
        </p:txBody>
      </p:sp>
    </p:spTree>
    <p:extLst>
      <p:ext uri="{BB962C8B-B14F-4D97-AF65-F5344CB8AC3E}">
        <p14:creationId xmlns:p14="http://schemas.microsoft.com/office/powerpoint/2010/main" val="3450403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3EA78-5690-49BC-9115-E2591F207F62}"/>
              </a:ext>
            </a:extLst>
          </p:cNvPr>
          <p:cNvSpPr>
            <a:spLocks noGrp="1"/>
          </p:cNvSpPr>
          <p:nvPr>
            <p:ph type="title"/>
          </p:nvPr>
        </p:nvSpPr>
        <p:spPr/>
        <p:txBody>
          <a:bodyPr/>
          <a:lstStyle/>
          <a:p>
            <a:r>
              <a:rPr lang="en-US">
                <a:solidFill>
                  <a:srgbClr val="C00000"/>
                </a:solidFill>
              </a:rPr>
              <a:t>Exercise Problem</a:t>
            </a:r>
            <a:endParaRPr lang="en-IN" dirty="0">
              <a:solidFill>
                <a:srgbClr val="C00000"/>
              </a:solidFill>
            </a:endParaRPr>
          </a:p>
        </p:txBody>
      </p:sp>
      <p:sp>
        <p:nvSpPr>
          <p:cNvPr id="3" name="Content Placeholder 2">
            <a:extLst>
              <a:ext uri="{FF2B5EF4-FFF2-40B4-BE49-F238E27FC236}">
                <a16:creationId xmlns:a16="http://schemas.microsoft.com/office/drawing/2014/main" id="{2EFB4C5B-A88B-491F-9951-7745A3DAB2A3}"/>
              </a:ext>
            </a:extLst>
          </p:cNvPr>
          <p:cNvSpPr>
            <a:spLocks noGrp="1"/>
          </p:cNvSpPr>
          <p:nvPr>
            <p:ph idx="1"/>
          </p:nvPr>
        </p:nvSpPr>
        <p:spPr/>
        <p:txBody>
          <a:bodyPr>
            <a:normAutofit/>
          </a:bodyPr>
          <a:lstStyle/>
          <a:p>
            <a:r>
              <a:rPr lang="en-US" sz="3200" dirty="0"/>
              <a:t>A model for disease detection reports: </a:t>
            </a:r>
          </a:p>
          <a:p>
            <a:r>
              <a:rPr lang="en-US" sz="3200" dirty="0"/>
              <a:t>Accuracy = 97%</a:t>
            </a:r>
          </a:p>
          <a:p>
            <a:r>
              <a:rPr lang="en-US" sz="3200" dirty="0"/>
              <a:t> Recall = 0.22 </a:t>
            </a:r>
          </a:p>
          <a:p>
            <a:pPr marL="0" indent="0">
              <a:buNone/>
            </a:pPr>
            <a:r>
              <a:rPr lang="en-US" sz="3200" dirty="0"/>
              <a:t>Questions: </a:t>
            </a:r>
          </a:p>
          <a:p>
            <a:pPr marL="0" indent="0">
              <a:buNone/>
            </a:pPr>
            <a:r>
              <a:rPr lang="en-US" sz="3200" dirty="0"/>
              <a:t>What does this tell you about the dataset? </a:t>
            </a:r>
          </a:p>
          <a:p>
            <a:pPr marL="0" indent="0">
              <a:buNone/>
            </a:pPr>
            <a:r>
              <a:rPr lang="en-US" sz="3200" dirty="0"/>
              <a:t>What does Recall = 0.22 imply in real life?</a:t>
            </a:r>
          </a:p>
          <a:p>
            <a:pPr marL="0" indent="0">
              <a:buNone/>
            </a:pPr>
            <a:r>
              <a:rPr lang="en-US" sz="3200" dirty="0"/>
              <a:t>Would you approve this model for hospital deployment? </a:t>
            </a:r>
          </a:p>
        </p:txBody>
      </p:sp>
    </p:spTree>
    <p:extLst>
      <p:ext uri="{BB962C8B-B14F-4D97-AF65-F5344CB8AC3E}">
        <p14:creationId xmlns:p14="http://schemas.microsoft.com/office/powerpoint/2010/main" val="15544512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543E9-73CE-4933-B52B-F5FDB9270242}"/>
              </a:ext>
            </a:extLst>
          </p:cNvPr>
          <p:cNvSpPr>
            <a:spLocks noGrp="1"/>
          </p:cNvSpPr>
          <p:nvPr>
            <p:ph type="title"/>
          </p:nvPr>
        </p:nvSpPr>
        <p:spPr>
          <a:xfrm>
            <a:off x="838200" y="365125"/>
            <a:ext cx="10515600" cy="816561"/>
          </a:xfrm>
        </p:spPr>
        <p:txBody>
          <a:bodyPr/>
          <a:lstStyle/>
          <a:p>
            <a:r>
              <a:rPr lang="en-US" b="1" dirty="0">
                <a:solidFill>
                  <a:srgbClr val="FF0000"/>
                </a:solidFill>
              </a:rPr>
              <a:t>Answer</a:t>
            </a:r>
            <a:endParaRPr lang="en-IN" b="1" dirty="0">
              <a:solidFill>
                <a:srgbClr val="FF0000"/>
              </a:solidFill>
            </a:endParaRPr>
          </a:p>
        </p:txBody>
      </p:sp>
      <p:sp>
        <p:nvSpPr>
          <p:cNvPr id="3" name="Content Placeholder 2">
            <a:extLst>
              <a:ext uri="{FF2B5EF4-FFF2-40B4-BE49-F238E27FC236}">
                <a16:creationId xmlns:a16="http://schemas.microsoft.com/office/drawing/2014/main" id="{9467E869-44DC-4E4D-95CB-106D81F58CC9}"/>
              </a:ext>
            </a:extLst>
          </p:cNvPr>
          <p:cNvSpPr>
            <a:spLocks noGrp="1"/>
          </p:cNvSpPr>
          <p:nvPr>
            <p:ph idx="1"/>
          </p:nvPr>
        </p:nvSpPr>
        <p:spPr>
          <a:xfrm>
            <a:off x="838200" y="1322363"/>
            <a:ext cx="10515600" cy="4854600"/>
          </a:xfrm>
        </p:spPr>
        <p:txBody>
          <a:bodyPr>
            <a:normAutofit fontScale="92500" lnSpcReduction="10000"/>
          </a:bodyPr>
          <a:lstStyle/>
          <a:p>
            <a:r>
              <a:rPr lang="en-US" b="1" dirty="0"/>
              <a:t>What does this tell you about the dataset?</a:t>
            </a:r>
          </a:p>
          <a:p>
            <a:pPr marL="0" indent="0">
              <a:buNone/>
            </a:pPr>
            <a:r>
              <a:rPr lang="en-US" dirty="0"/>
              <a:t>This strongly suggests </a:t>
            </a:r>
            <a:r>
              <a:rPr lang="en-US" dirty="0">
                <a:highlight>
                  <a:srgbClr val="FFFF00"/>
                </a:highlight>
              </a:rPr>
              <a:t>the dataset is highly imbalanced</a:t>
            </a:r>
            <a:r>
              <a:rPr lang="en-US" dirty="0"/>
              <a:t>.</a:t>
            </a:r>
          </a:p>
          <a:p>
            <a:pPr marL="0" indent="0">
              <a:buNone/>
            </a:pPr>
            <a:r>
              <a:rPr lang="en-US" dirty="0"/>
              <a:t>Why?</a:t>
            </a:r>
          </a:p>
          <a:p>
            <a:pPr lvl="1"/>
            <a:r>
              <a:rPr lang="en-US" dirty="0"/>
              <a:t>If Recall is only 0.22, the model is detecting only 22% of actual disease cases.</a:t>
            </a:r>
          </a:p>
          <a:p>
            <a:pPr lvl="1"/>
            <a:r>
              <a:rPr lang="en-US" dirty="0"/>
              <a:t>Yet Accuracy is 97%, meaning overall predictions are mostly correct</a:t>
            </a:r>
          </a:p>
          <a:p>
            <a:pPr lvl="1"/>
            <a:r>
              <a:rPr lang="en-US" dirty="0"/>
              <a:t>This can only happen if the majority of patients are healthy.</a:t>
            </a:r>
          </a:p>
          <a:p>
            <a:pPr marL="0" indent="0">
              <a:buNone/>
            </a:pPr>
            <a:r>
              <a:rPr lang="en-US" dirty="0"/>
              <a:t>So most likely: </a:t>
            </a:r>
          </a:p>
          <a:p>
            <a:pPr lvl="1"/>
            <a:r>
              <a:rPr lang="en-US" dirty="0"/>
              <a:t>Disease cases are rare.</a:t>
            </a:r>
          </a:p>
          <a:p>
            <a:pPr lvl="1"/>
            <a:r>
              <a:rPr lang="en-US" dirty="0"/>
              <a:t>The model is correctly predicting healthy cases</a:t>
            </a:r>
          </a:p>
          <a:p>
            <a:pPr lvl="1"/>
            <a:r>
              <a:rPr lang="en-US" dirty="0"/>
              <a:t>It is missing many actual disease cases.</a:t>
            </a:r>
          </a:p>
          <a:p>
            <a:r>
              <a:rPr lang="en-US" dirty="0"/>
              <a:t>In other words: </a:t>
            </a:r>
          </a:p>
          <a:p>
            <a:pPr lvl="1"/>
            <a:r>
              <a:rPr lang="en-US" dirty="0"/>
              <a:t>The model is performing well on the majority class and poorly on the minority (disease) class.</a:t>
            </a:r>
            <a:endParaRPr lang="en-IN" dirty="0"/>
          </a:p>
        </p:txBody>
      </p:sp>
    </p:spTree>
    <p:extLst>
      <p:ext uri="{BB962C8B-B14F-4D97-AF65-F5344CB8AC3E}">
        <p14:creationId xmlns:p14="http://schemas.microsoft.com/office/powerpoint/2010/main" val="21546976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6D2AC-9DFC-427E-BCD1-44A3A220B9FC}"/>
              </a:ext>
            </a:extLst>
          </p:cNvPr>
          <p:cNvSpPr>
            <a:spLocks noGrp="1"/>
          </p:cNvSpPr>
          <p:nvPr>
            <p:ph type="title"/>
          </p:nvPr>
        </p:nvSpPr>
        <p:spPr>
          <a:xfrm>
            <a:off x="838200" y="365125"/>
            <a:ext cx="10515600" cy="1182321"/>
          </a:xfrm>
        </p:spPr>
        <p:txBody>
          <a:bodyPr>
            <a:normAutofit/>
          </a:bodyPr>
          <a:lstStyle/>
          <a:p>
            <a:r>
              <a:rPr lang="en-US" dirty="0">
                <a:solidFill>
                  <a:srgbClr val="FF0000"/>
                </a:solidFill>
              </a:rPr>
              <a:t>What does Recall = 0.22 imply in real life?</a:t>
            </a:r>
            <a:endParaRPr lang="en-IN" dirty="0">
              <a:solidFill>
                <a:srgbClr val="FF0000"/>
              </a:solidFill>
            </a:endParaRPr>
          </a:p>
        </p:txBody>
      </p:sp>
      <p:sp>
        <p:nvSpPr>
          <p:cNvPr id="3" name="Content Placeholder 2">
            <a:extLst>
              <a:ext uri="{FF2B5EF4-FFF2-40B4-BE49-F238E27FC236}">
                <a16:creationId xmlns:a16="http://schemas.microsoft.com/office/drawing/2014/main" id="{44AD6096-0236-4D3D-8F83-41ACEC42126F}"/>
              </a:ext>
            </a:extLst>
          </p:cNvPr>
          <p:cNvSpPr>
            <a:spLocks noGrp="1"/>
          </p:cNvSpPr>
          <p:nvPr>
            <p:ph idx="1"/>
          </p:nvPr>
        </p:nvSpPr>
        <p:spPr>
          <a:xfrm>
            <a:off x="838200" y="1825625"/>
            <a:ext cx="10515600" cy="4667250"/>
          </a:xfrm>
        </p:spPr>
        <p:txBody>
          <a:bodyPr>
            <a:normAutofit/>
          </a:bodyPr>
          <a:lstStyle/>
          <a:p>
            <a:pPr marL="0" indent="0">
              <a:buNone/>
            </a:pPr>
            <a:r>
              <a:rPr lang="en-US" dirty="0"/>
              <a:t>Recall = 0.22 means:</a:t>
            </a:r>
          </a:p>
          <a:p>
            <a:pPr lvl="1"/>
            <a:r>
              <a:rPr lang="en-US" dirty="0"/>
              <a:t>Out of 100 actual sick patients, the model correctly detects only 22.</a:t>
            </a:r>
          </a:p>
          <a:p>
            <a:pPr marL="0" indent="0">
              <a:buNone/>
            </a:pPr>
            <a:r>
              <a:rPr lang="en-US" dirty="0"/>
              <a:t>That means:</a:t>
            </a:r>
          </a:p>
          <a:p>
            <a:pPr lvl="1"/>
            <a:r>
              <a:rPr lang="en-US" dirty="0"/>
              <a:t>78% of sick patients are missed (False Negatives).</a:t>
            </a:r>
          </a:p>
          <a:p>
            <a:pPr marL="0" indent="0">
              <a:buNone/>
            </a:pPr>
            <a:r>
              <a:rPr lang="en-US" dirty="0"/>
              <a:t>In real life:</a:t>
            </a:r>
          </a:p>
          <a:p>
            <a:pPr lvl="1"/>
            <a:r>
              <a:rPr lang="en-US" dirty="0"/>
              <a:t>Patients may go untreated. Disease may worsen.</a:t>
            </a:r>
          </a:p>
          <a:p>
            <a:pPr lvl="1"/>
            <a:r>
              <a:rPr lang="en-US" dirty="0"/>
              <a:t>Legal and ethical consequences may occur.</a:t>
            </a:r>
          </a:p>
          <a:p>
            <a:pPr lvl="1"/>
            <a:r>
              <a:rPr lang="en-US" dirty="0"/>
              <a:t>The hospital may lose trust.</a:t>
            </a:r>
          </a:p>
          <a:p>
            <a:r>
              <a:rPr lang="en-US" dirty="0"/>
              <a:t>In healthcare, False Negatives are often far more dangerous than False Positives.</a:t>
            </a:r>
            <a:endParaRPr lang="en-IN" dirty="0"/>
          </a:p>
        </p:txBody>
      </p:sp>
    </p:spTree>
    <p:extLst>
      <p:ext uri="{BB962C8B-B14F-4D97-AF65-F5344CB8AC3E}">
        <p14:creationId xmlns:p14="http://schemas.microsoft.com/office/powerpoint/2010/main" val="6292794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0480A-CF47-4307-B38B-618CD0664F14}"/>
              </a:ext>
            </a:extLst>
          </p:cNvPr>
          <p:cNvSpPr>
            <a:spLocks noGrp="1"/>
          </p:cNvSpPr>
          <p:nvPr>
            <p:ph type="title"/>
          </p:nvPr>
        </p:nvSpPr>
        <p:spPr/>
        <p:txBody>
          <a:bodyPr>
            <a:normAutofit fontScale="90000"/>
          </a:bodyPr>
          <a:lstStyle/>
          <a:p>
            <a:r>
              <a:rPr lang="en-US" sz="4000" b="1" dirty="0">
                <a:solidFill>
                  <a:srgbClr val="FF0000"/>
                </a:solidFill>
              </a:rPr>
              <a:t>Would you approve this model for hospital deployment?</a:t>
            </a:r>
            <a:br>
              <a:rPr lang="en-US" b="1" dirty="0"/>
            </a:br>
            <a:endParaRPr lang="en-IN" dirty="0"/>
          </a:p>
        </p:txBody>
      </p:sp>
      <p:sp>
        <p:nvSpPr>
          <p:cNvPr id="3" name="Content Placeholder 2">
            <a:extLst>
              <a:ext uri="{FF2B5EF4-FFF2-40B4-BE49-F238E27FC236}">
                <a16:creationId xmlns:a16="http://schemas.microsoft.com/office/drawing/2014/main" id="{0BD0A739-DB70-4518-81D9-306F2550D6FE}"/>
              </a:ext>
            </a:extLst>
          </p:cNvPr>
          <p:cNvSpPr>
            <a:spLocks noGrp="1"/>
          </p:cNvSpPr>
          <p:nvPr>
            <p:ph idx="1"/>
          </p:nvPr>
        </p:nvSpPr>
        <p:spPr/>
        <p:txBody>
          <a:bodyPr/>
          <a:lstStyle/>
          <a:p>
            <a:r>
              <a:rPr lang="en-US" dirty="0"/>
              <a:t>No.</a:t>
            </a:r>
          </a:p>
          <a:p>
            <a:pPr marL="0" indent="0">
              <a:buNone/>
            </a:pPr>
            <a:r>
              <a:rPr lang="en-US" dirty="0"/>
              <a:t>Reason:</a:t>
            </a:r>
          </a:p>
          <a:p>
            <a:pPr lvl="1"/>
            <a:r>
              <a:rPr lang="en-US" dirty="0"/>
              <a:t>Missing 78% of actual patients is unacceptable in medical diagnosis.</a:t>
            </a:r>
          </a:p>
          <a:p>
            <a:pPr lvl="1"/>
            <a:r>
              <a:rPr lang="en-US" dirty="0"/>
              <a:t>High accuracy is misleading.</a:t>
            </a:r>
          </a:p>
          <a:p>
            <a:pPr lvl="1"/>
            <a:r>
              <a:rPr lang="en-US" dirty="0"/>
              <a:t>The model is effectively acting like a “mostly healthy predictor.”</a:t>
            </a:r>
          </a:p>
          <a:p>
            <a:r>
              <a:rPr lang="en-US" dirty="0"/>
              <a:t>This model is unsafe for deployment.</a:t>
            </a:r>
          </a:p>
          <a:p>
            <a:endParaRPr lang="en-IN" dirty="0"/>
          </a:p>
        </p:txBody>
      </p:sp>
    </p:spTree>
    <p:extLst>
      <p:ext uri="{BB962C8B-B14F-4D97-AF65-F5344CB8AC3E}">
        <p14:creationId xmlns:p14="http://schemas.microsoft.com/office/powerpoint/2010/main" val="32801393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rPr>
              <a:t>Confusion Matrix</a:t>
            </a:r>
          </a:p>
        </p:txBody>
      </p:sp>
      <p:sp>
        <p:nvSpPr>
          <p:cNvPr id="3" name="Content Placeholder 2"/>
          <p:cNvSpPr>
            <a:spLocks noGrp="1"/>
          </p:cNvSpPr>
          <p:nvPr>
            <p:ph idx="1"/>
          </p:nvPr>
        </p:nvSpPr>
        <p:spPr>
          <a:xfrm>
            <a:off x="838200" y="1364776"/>
            <a:ext cx="10515600" cy="1665027"/>
          </a:xfrm>
        </p:spPr>
        <p:txBody>
          <a:bodyPr>
            <a:normAutofit fontScale="92500"/>
          </a:bodyPr>
          <a:lstStyle/>
          <a:p>
            <a:r>
              <a:rPr lang="en-US" dirty="0"/>
              <a:t>A </a:t>
            </a:r>
            <a:r>
              <a:rPr lang="en-US" b="1" dirty="0"/>
              <a:t>confusion matrix</a:t>
            </a:r>
            <a:r>
              <a:rPr lang="en-US" dirty="0"/>
              <a:t> is a table that helps evaluate a classification model’s performance by </a:t>
            </a:r>
            <a:r>
              <a:rPr lang="en-US" dirty="0">
                <a:highlight>
                  <a:srgbClr val="FFFF00"/>
                </a:highlight>
              </a:rPr>
              <a:t>showing the actual vs. predicted classifications</a:t>
            </a:r>
            <a:r>
              <a:rPr lang="en-US" dirty="0"/>
              <a:t>. It is especially useful for understanding model errors.</a:t>
            </a:r>
          </a:p>
          <a:p>
            <a:r>
              <a:rPr lang="en-US" dirty="0"/>
              <a:t>A table that shows the counts of </a:t>
            </a:r>
            <a:r>
              <a:rPr lang="en-US" b="1" dirty="0"/>
              <a:t>TP, TN, FP, FN</a:t>
            </a:r>
            <a:r>
              <a:rPr lang="en-US" dirty="0"/>
              <a:t> for a classifier. Example:</a:t>
            </a:r>
            <a:endParaRPr lang="en-IN" dirty="0"/>
          </a:p>
        </p:txBody>
      </p:sp>
      <p:pic>
        <p:nvPicPr>
          <p:cNvPr id="1026" name="Picture 2" descr="Measuring Performance: The Confusion Matrix – Glass 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8525" y="3029802"/>
            <a:ext cx="6643124" cy="37367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04524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48937" y="249626"/>
            <a:ext cx="10345783" cy="6261375"/>
          </a:xfrm>
          <a:prstGeom prst="rect">
            <a:avLst/>
          </a:prstGeom>
          <a:ln>
            <a:solidFill>
              <a:schemeClr val="accent1"/>
            </a:solidFill>
          </a:ln>
        </p:spPr>
      </p:pic>
    </p:spTree>
    <p:extLst>
      <p:ext uri="{BB962C8B-B14F-4D97-AF65-F5344CB8AC3E}">
        <p14:creationId xmlns:p14="http://schemas.microsoft.com/office/powerpoint/2010/main" val="21482767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47915"/>
            <a:ext cx="10515600" cy="3827353"/>
          </a:xfrm>
        </p:spPr>
        <p:txBody>
          <a:bodyPr>
            <a:normAutofit fontScale="85000" lnSpcReduction="10000"/>
          </a:bodyPr>
          <a:lstStyle/>
          <a:p>
            <a:pPr algn="just">
              <a:lnSpc>
                <a:spcPct val="120000"/>
              </a:lnSpc>
            </a:pPr>
            <a:r>
              <a:rPr lang="en-US" dirty="0"/>
              <a:t>There are two possible predicted classes: "yes" and "no". If we were predicting the presence of a disease, for example, "yes" would mean they have the disease, and "no" would mean they don't have the disease.</a:t>
            </a:r>
          </a:p>
          <a:p>
            <a:pPr algn="just">
              <a:lnSpc>
                <a:spcPct val="120000"/>
              </a:lnSpc>
            </a:pPr>
            <a:r>
              <a:rPr lang="en-US" dirty="0"/>
              <a:t>The classifier made a total of 165 predictions (e.g., 165 patients were being tested for the presence of that disease).</a:t>
            </a:r>
          </a:p>
          <a:p>
            <a:pPr algn="just">
              <a:lnSpc>
                <a:spcPct val="120000"/>
              </a:lnSpc>
            </a:pPr>
            <a:r>
              <a:rPr lang="en-US" dirty="0"/>
              <a:t>Out of those 165 cases, the classifier predicted "yes" 110 times, and "no" 55 times.</a:t>
            </a:r>
          </a:p>
          <a:p>
            <a:pPr algn="just">
              <a:lnSpc>
                <a:spcPct val="120000"/>
              </a:lnSpc>
            </a:pPr>
            <a:r>
              <a:rPr lang="en-US" dirty="0"/>
              <a:t>In reality, 105 patients in the sample have the disease, and 60 patients do not.</a:t>
            </a:r>
          </a:p>
          <a:p>
            <a:endParaRPr lang="en-IN" dirty="0"/>
          </a:p>
        </p:txBody>
      </p:sp>
      <p:pic>
        <p:nvPicPr>
          <p:cNvPr id="4" name="Picture 3"/>
          <p:cNvPicPr>
            <a:picLocks noChangeAspect="1"/>
          </p:cNvPicPr>
          <p:nvPr/>
        </p:nvPicPr>
        <p:blipFill>
          <a:blip r:embed="rId2"/>
          <a:stretch>
            <a:fillRect/>
          </a:stretch>
        </p:blipFill>
        <p:spPr>
          <a:xfrm>
            <a:off x="4052959" y="0"/>
            <a:ext cx="3676650" cy="1943100"/>
          </a:xfrm>
          <a:prstGeom prst="rect">
            <a:avLst/>
          </a:prstGeom>
        </p:spPr>
      </p:pic>
      <p:sp>
        <p:nvSpPr>
          <p:cNvPr id="5" name="Rectangle 4"/>
          <p:cNvSpPr/>
          <p:nvPr/>
        </p:nvSpPr>
        <p:spPr>
          <a:xfrm>
            <a:off x="888242" y="2076176"/>
            <a:ext cx="4735655" cy="461665"/>
          </a:xfrm>
          <a:prstGeom prst="rect">
            <a:avLst/>
          </a:prstGeom>
          <a:solidFill>
            <a:schemeClr val="accent2">
              <a:lumMod val="20000"/>
              <a:lumOff val="80000"/>
            </a:schemeClr>
          </a:solidFill>
          <a:ln>
            <a:solidFill>
              <a:schemeClr val="accent1"/>
            </a:solidFill>
          </a:ln>
        </p:spPr>
        <p:txBody>
          <a:bodyPr wrap="none">
            <a:spAutoFit/>
          </a:bodyPr>
          <a:lstStyle/>
          <a:p>
            <a:r>
              <a:rPr lang="en-US" sz="2400" dirty="0"/>
              <a:t>What can we learn from this matrix?</a:t>
            </a:r>
            <a:endParaRPr lang="en-IN" sz="2400" dirty="0"/>
          </a:p>
        </p:txBody>
      </p:sp>
    </p:spTree>
    <p:extLst>
      <p:ext uri="{BB962C8B-B14F-4D97-AF65-F5344CB8AC3E}">
        <p14:creationId xmlns:p14="http://schemas.microsoft.com/office/powerpoint/2010/main" val="18469852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9228" y="3511374"/>
            <a:ext cx="10953206" cy="3188102"/>
          </a:xfrm>
        </p:spPr>
        <p:txBody>
          <a:bodyPr/>
          <a:lstStyle/>
          <a:p>
            <a:r>
              <a:rPr lang="en-US" b="1" dirty="0"/>
              <a:t>Accuracy:</a:t>
            </a:r>
            <a:r>
              <a:rPr lang="en-US" dirty="0"/>
              <a:t> Overall, how often is the classifier correct?</a:t>
            </a:r>
          </a:p>
          <a:p>
            <a:pPr lvl="1"/>
            <a:r>
              <a:rPr lang="en-US" sz="2800" dirty="0"/>
              <a:t>(TP+TN)/total = (100+50)/165 = 0.91</a:t>
            </a:r>
          </a:p>
          <a:p>
            <a:r>
              <a:rPr lang="en-US" b="1" dirty="0"/>
              <a:t>Misclassification Rate:</a:t>
            </a:r>
            <a:r>
              <a:rPr lang="en-US" dirty="0"/>
              <a:t> Overall, how often is it wrong?</a:t>
            </a:r>
          </a:p>
          <a:p>
            <a:pPr lvl="1"/>
            <a:r>
              <a:rPr lang="en-US" sz="2800" dirty="0"/>
              <a:t>(FP+FN)/total = (10+5)/165 = 0.09</a:t>
            </a:r>
          </a:p>
          <a:p>
            <a:pPr lvl="1"/>
            <a:r>
              <a:rPr lang="en-US" sz="2800" dirty="0"/>
              <a:t>equivalent to 1 minus Accuracy</a:t>
            </a:r>
          </a:p>
          <a:p>
            <a:pPr lvl="1"/>
            <a:r>
              <a:rPr lang="en-US" sz="2800" dirty="0"/>
              <a:t>also known as "Error Rate"</a:t>
            </a:r>
          </a:p>
          <a:p>
            <a:endParaRPr lang="en-IN" dirty="0"/>
          </a:p>
        </p:txBody>
      </p:sp>
      <p:pic>
        <p:nvPicPr>
          <p:cNvPr id="4" name="Picture 3"/>
          <p:cNvPicPr>
            <a:picLocks noChangeAspect="1"/>
          </p:cNvPicPr>
          <p:nvPr/>
        </p:nvPicPr>
        <p:blipFill>
          <a:blip r:embed="rId2"/>
          <a:stretch>
            <a:fillRect/>
          </a:stretch>
        </p:blipFill>
        <p:spPr>
          <a:xfrm>
            <a:off x="3503707" y="-1"/>
            <a:ext cx="5805756" cy="3314169"/>
          </a:xfrm>
          <a:prstGeom prst="rect">
            <a:avLst/>
          </a:prstGeom>
        </p:spPr>
      </p:pic>
    </p:spTree>
    <p:extLst>
      <p:ext uri="{BB962C8B-B14F-4D97-AF65-F5344CB8AC3E}">
        <p14:creationId xmlns:p14="http://schemas.microsoft.com/office/powerpoint/2010/main" val="17344045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88860"/>
            <a:ext cx="10515600" cy="3559986"/>
          </a:xfrm>
        </p:spPr>
        <p:txBody>
          <a:bodyPr>
            <a:normAutofit fontScale="92500" lnSpcReduction="10000"/>
          </a:bodyPr>
          <a:lstStyle/>
          <a:p>
            <a:r>
              <a:rPr lang="en-US" b="1" dirty="0"/>
              <a:t>True Positive Rate:</a:t>
            </a:r>
            <a:r>
              <a:rPr lang="en-US" dirty="0"/>
              <a:t> When it's actually yes, how often does it predict yes?</a:t>
            </a:r>
          </a:p>
          <a:p>
            <a:pPr lvl="1"/>
            <a:r>
              <a:rPr lang="en-US" sz="2600" dirty="0"/>
              <a:t>TP/actual yes = 100/105 = 0.95</a:t>
            </a:r>
          </a:p>
          <a:p>
            <a:pPr lvl="1"/>
            <a:r>
              <a:rPr lang="en-US" sz="2600" dirty="0"/>
              <a:t>also known as "</a:t>
            </a:r>
            <a:r>
              <a:rPr lang="en-US" sz="2600" dirty="0">
                <a:solidFill>
                  <a:srgbClr val="FF0000"/>
                </a:solidFill>
              </a:rPr>
              <a:t>Sensitivity</a:t>
            </a:r>
            <a:r>
              <a:rPr lang="en-US" sz="2600" dirty="0"/>
              <a:t>" or "</a:t>
            </a:r>
            <a:r>
              <a:rPr lang="en-US" sz="2600" dirty="0">
                <a:solidFill>
                  <a:srgbClr val="FF0000"/>
                </a:solidFill>
              </a:rPr>
              <a:t>Recall</a:t>
            </a:r>
            <a:r>
              <a:rPr lang="en-US" sz="2600" dirty="0"/>
              <a:t>"</a:t>
            </a:r>
          </a:p>
          <a:p>
            <a:r>
              <a:rPr lang="en-US" b="1" dirty="0"/>
              <a:t>False Positive Rate:</a:t>
            </a:r>
            <a:r>
              <a:rPr lang="en-US" dirty="0"/>
              <a:t> When it's actually no, how often does it predict yes?</a:t>
            </a:r>
          </a:p>
          <a:p>
            <a:pPr lvl="1"/>
            <a:r>
              <a:rPr lang="en-US" sz="2600" dirty="0"/>
              <a:t>FP/actual no = 10/60 = 0.17</a:t>
            </a:r>
          </a:p>
          <a:p>
            <a:r>
              <a:rPr lang="en-US" b="1" dirty="0"/>
              <a:t>True Negative Rate:</a:t>
            </a:r>
            <a:r>
              <a:rPr lang="en-US" dirty="0"/>
              <a:t> When it's actually no, how often does it predict no?</a:t>
            </a:r>
          </a:p>
          <a:p>
            <a:pPr lvl="1"/>
            <a:r>
              <a:rPr lang="en-US" sz="2600" dirty="0"/>
              <a:t>TN/actual no = 50/60 = 0.83</a:t>
            </a:r>
          </a:p>
          <a:p>
            <a:pPr lvl="1"/>
            <a:r>
              <a:rPr lang="en-US" sz="2600" dirty="0"/>
              <a:t>equivalent to 1 minus False Positive Rate</a:t>
            </a:r>
          </a:p>
          <a:p>
            <a:pPr lvl="1"/>
            <a:r>
              <a:rPr lang="en-US" sz="2600" dirty="0"/>
              <a:t>also known as "</a:t>
            </a:r>
            <a:r>
              <a:rPr lang="en-US" sz="2600" dirty="0">
                <a:solidFill>
                  <a:srgbClr val="FF0000"/>
                </a:solidFill>
              </a:rPr>
              <a:t>Specificity</a:t>
            </a:r>
            <a:r>
              <a:rPr lang="en-US" sz="2600" dirty="0"/>
              <a:t>"</a:t>
            </a:r>
          </a:p>
          <a:p>
            <a:endParaRPr lang="en-IN" dirty="0"/>
          </a:p>
        </p:txBody>
      </p:sp>
      <p:pic>
        <p:nvPicPr>
          <p:cNvPr id="4" name="Picture 3"/>
          <p:cNvPicPr>
            <a:picLocks noChangeAspect="1"/>
          </p:cNvPicPr>
          <p:nvPr/>
        </p:nvPicPr>
        <p:blipFill>
          <a:blip r:embed="rId2"/>
          <a:stretch>
            <a:fillRect/>
          </a:stretch>
        </p:blipFill>
        <p:spPr>
          <a:xfrm>
            <a:off x="3503707" y="0"/>
            <a:ext cx="4638675" cy="2647950"/>
          </a:xfrm>
          <a:prstGeom prst="rect">
            <a:avLst/>
          </a:prstGeom>
        </p:spPr>
      </p:pic>
    </p:spTree>
    <p:extLst>
      <p:ext uri="{BB962C8B-B14F-4D97-AF65-F5344CB8AC3E}">
        <p14:creationId xmlns:p14="http://schemas.microsoft.com/office/powerpoint/2010/main" val="17479029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88860"/>
            <a:ext cx="10515600" cy="3188102"/>
          </a:xfrm>
        </p:spPr>
        <p:txBody>
          <a:bodyPr>
            <a:normAutofit/>
          </a:bodyPr>
          <a:lstStyle/>
          <a:p>
            <a:r>
              <a:rPr lang="en-US" b="1" dirty="0"/>
              <a:t>Precision:</a:t>
            </a:r>
            <a:r>
              <a:rPr lang="en-US" dirty="0"/>
              <a:t> When it predicts yes, how often is it correct?</a:t>
            </a:r>
          </a:p>
          <a:p>
            <a:pPr lvl="1"/>
            <a:r>
              <a:rPr lang="en-US" dirty="0"/>
              <a:t>TP/predicted yes = 100/110 = 0.91</a:t>
            </a:r>
          </a:p>
          <a:p>
            <a:r>
              <a:rPr lang="en-US" b="1" dirty="0"/>
              <a:t>Prevalence:</a:t>
            </a:r>
            <a:r>
              <a:rPr lang="en-US" dirty="0"/>
              <a:t> How often does the yes condition actually occur in our sample?</a:t>
            </a:r>
          </a:p>
          <a:p>
            <a:pPr lvl="1"/>
            <a:r>
              <a:rPr lang="en-US" dirty="0"/>
              <a:t>actual yes/total = 105/165 = 0.64</a:t>
            </a:r>
          </a:p>
          <a:p>
            <a:endParaRPr lang="en-IN" dirty="0"/>
          </a:p>
        </p:txBody>
      </p:sp>
      <p:pic>
        <p:nvPicPr>
          <p:cNvPr id="4" name="Picture 3"/>
          <p:cNvPicPr>
            <a:picLocks noChangeAspect="1"/>
          </p:cNvPicPr>
          <p:nvPr/>
        </p:nvPicPr>
        <p:blipFill>
          <a:blip r:embed="rId2"/>
          <a:stretch>
            <a:fillRect/>
          </a:stretch>
        </p:blipFill>
        <p:spPr>
          <a:xfrm>
            <a:off x="3503707" y="0"/>
            <a:ext cx="4638675" cy="2647950"/>
          </a:xfrm>
          <a:prstGeom prst="rect">
            <a:avLst/>
          </a:prstGeom>
        </p:spPr>
      </p:pic>
    </p:spTree>
    <p:extLst>
      <p:ext uri="{BB962C8B-B14F-4D97-AF65-F5344CB8AC3E}">
        <p14:creationId xmlns:p14="http://schemas.microsoft.com/office/powerpoint/2010/main" val="29160637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ROC Curve</a:t>
            </a:r>
          </a:p>
        </p:txBody>
      </p:sp>
      <p:sp>
        <p:nvSpPr>
          <p:cNvPr id="3" name="Rectangle 2"/>
          <p:cNvSpPr/>
          <p:nvPr/>
        </p:nvSpPr>
        <p:spPr>
          <a:xfrm>
            <a:off x="742665" y="1857822"/>
            <a:ext cx="10093658" cy="4339650"/>
          </a:xfrm>
          <a:prstGeom prst="rect">
            <a:avLst/>
          </a:prstGeom>
        </p:spPr>
        <p:txBody>
          <a:bodyPr wrap="square">
            <a:spAutoFit/>
          </a:bodyPr>
          <a:lstStyle/>
          <a:p>
            <a:pPr marL="457200" indent="-457200" algn="just">
              <a:buFont typeface="Arial" panose="020B0604020202020204" pitchFamily="34" charset="0"/>
              <a:buChar char="•"/>
            </a:pPr>
            <a:r>
              <a:rPr lang="en-US" sz="2800" dirty="0"/>
              <a:t>The </a:t>
            </a:r>
            <a:r>
              <a:rPr lang="en-US" sz="2800" b="1" dirty="0"/>
              <a:t>receiver operating characteristic (ROC) curve</a:t>
            </a:r>
            <a:r>
              <a:rPr lang="en-US" sz="2800" dirty="0"/>
              <a:t> is frequently used for evaluating the performance of binary </a:t>
            </a:r>
            <a:r>
              <a:rPr lang="en-US" sz="2800" u="sng" dirty="0">
                <a:hlinkClick r:id="rId2" tooltip="Classification"/>
              </a:rPr>
              <a:t>Classification</a:t>
            </a:r>
            <a:r>
              <a:rPr lang="en-US" sz="2800" dirty="0"/>
              <a:t> algorithms</a:t>
            </a:r>
          </a:p>
          <a:p>
            <a:pPr marL="457200" indent="-457200" algn="just">
              <a:buFont typeface="Arial" panose="020B0604020202020204" pitchFamily="34" charset="0"/>
              <a:buChar char="•"/>
            </a:pPr>
            <a:r>
              <a:rPr lang="en-US" sz="2800" dirty="0"/>
              <a:t>ROC is a probability curve that depicts the TPR (rate of true positives) on the y-axis against the FPR (rate of false positives) on the x-axis. </a:t>
            </a:r>
          </a:p>
          <a:p>
            <a:pPr marL="457200" indent="-457200" algn="just">
              <a:buFont typeface="Arial" panose="020B0604020202020204" pitchFamily="34" charset="0"/>
              <a:buChar char="•"/>
            </a:pPr>
            <a:r>
              <a:rPr lang="en-US" sz="2800" dirty="0"/>
              <a:t>It essentially distinguishes the ‘signal’ from the ‘noise’, thereby highlighting the Sensitivity of the classifier model.</a:t>
            </a:r>
          </a:p>
          <a:p>
            <a:pPr marL="457200" indent="-457200" algn="just">
              <a:buFont typeface="Arial" panose="020B0604020202020204" pitchFamily="34" charset="0"/>
              <a:buChar char="•"/>
            </a:pPr>
            <a:r>
              <a:rPr lang="en-US" sz="2800" dirty="0"/>
              <a:t>Measures how well the model differentiates between classes.</a:t>
            </a:r>
          </a:p>
          <a:p>
            <a:pPr algn="just"/>
            <a:endParaRPr lang="en-IN" sz="2400" dirty="0"/>
          </a:p>
        </p:txBody>
      </p:sp>
    </p:spTree>
    <p:extLst>
      <p:ext uri="{BB962C8B-B14F-4D97-AF65-F5344CB8AC3E}">
        <p14:creationId xmlns:p14="http://schemas.microsoft.com/office/powerpoint/2010/main" val="18070534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70731" y="0"/>
            <a:ext cx="5798308" cy="4935676"/>
          </a:xfrm>
          <a:prstGeom prst="rect">
            <a:avLst/>
          </a:prstGeom>
        </p:spPr>
      </p:pic>
      <p:sp>
        <p:nvSpPr>
          <p:cNvPr id="5" name="Rectangle 4"/>
          <p:cNvSpPr/>
          <p:nvPr/>
        </p:nvSpPr>
        <p:spPr>
          <a:xfrm>
            <a:off x="7383439" y="750332"/>
            <a:ext cx="3875964" cy="3785652"/>
          </a:xfrm>
          <a:prstGeom prst="rect">
            <a:avLst/>
          </a:prstGeom>
        </p:spPr>
        <p:txBody>
          <a:bodyPr wrap="square">
            <a:spAutoFit/>
          </a:bodyPr>
          <a:lstStyle/>
          <a:p>
            <a:pPr marL="285750" indent="-285750" algn="just">
              <a:buFont typeface="Arial" panose="020B0604020202020204" pitchFamily="34" charset="0"/>
              <a:buChar char="•"/>
            </a:pPr>
            <a:r>
              <a:rPr lang="en-US" sz="2000" dirty="0"/>
              <a:t>The graph below demonstrates theoretically how the ROC curve would be plotted for a classifier model. </a:t>
            </a:r>
          </a:p>
          <a:p>
            <a:pPr marL="285750" indent="-285750" algn="just">
              <a:buFont typeface="Arial" panose="020B0604020202020204" pitchFamily="34" charset="0"/>
              <a:buChar char="•"/>
            </a:pPr>
            <a:r>
              <a:rPr lang="en-US" sz="2000" dirty="0"/>
              <a:t>A perfect classifier will have a ROC where the graph would hit a true positive rate of 100% with zero false positives. </a:t>
            </a:r>
          </a:p>
          <a:p>
            <a:pPr marL="285750" indent="-285750" algn="just">
              <a:buFont typeface="Arial" panose="020B0604020202020204" pitchFamily="34" charset="0"/>
              <a:buChar char="•"/>
            </a:pPr>
            <a:r>
              <a:rPr lang="en-US" sz="2000" dirty="0"/>
              <a:t>The grey diagonal line represents a classifier with no predictive power – one that guesses randomly</a:t>
            </a:r>
          </a:p>
        </p:txBody>
      </p:sp>
      <p:sp>
        <p:nvSpPr>
          <p:cNvPr id="6" name="Rectangle 5"/>
          <p:cNvSpPr/>
          <p:nvPr/>
        </p:nvSpPr>
        <p:spPr>
          <a:xfrm>
            <a:off x="670731" y="4935676"/>
            <a:ext cx="10354101" cy="1631216"/>
          </a:xfrm>
          <a:prstGeom prst="rect">
            <a:avLst/>
          </a:prstGeom>
          <a:solidFill>
            <a:schemeClr val="accent2">
              <a:lumMod val="20000"/>
              <a:lumOff val="80000"/>
            </a:schemeClr>
          </a:solidFill>
        </p:spPr>
        <p:txBody>
          <a:bodyPr wrap="square">
            <a:spAutoFit/>
          </a:bodyPr>
          <a:lstStyle/>
          <a:p>
            <a:pPr marL="285750" indent="-285750">
              <a:buFont typeface="Arial" panose="020B0604020202020204" pitchFamily="34" charset="0"/>
              <a:buChar char="•"/>
            </a:pPr>
            <a:r>
              <a:rPr lang="en-US" sz="2000" dirty="0"/>
              <a:t>Nearly all real-world classifiers would fall between these two extremes – having some predictive power. Generally, we look for a classifier that maintains a high TPR while also low FPR.</a:t>
            </a:r>
          </a:p>
          <a:p>
            <a:pPr marL="285750" indent="-285750">
              <a:buFont typeface="Arial" panose="020B0604020202020204" pitchFamily="34" charset="0"/>
              <a:buChar char="•"/>
            </a:pPr>
            <a:r>
              <a:rPr lang="en-US" sz="2000" dirty="0"/>
              <a:t>ROC Curves help determine the exact trade-off between the TPR and FPR for a classifier using different measures of probability thresholds.</a:t>
            </a:r>
            <a:endParaRPr lang="en-IN" sz="2000" dirty="0"/>
          </a:p>
        </p:txBody>
      </p:sp>
    </p:spTree>
    <p:extLst>
      <p:ext uri="{BB962C8B-B14F-4D97-AF65-F5344CB8AC3E}">
        <p14:creationId xmlns:p14="http://schemas.microsoft.com/office/powerpoint/2010/main" val="19591377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9CDB9-145E-41D1-BE03-2085373BFC00}"/>
              </a:ext>
            </a:extLst>
          </p:cNvPr>
          <p:cNvSpPr>
            <a:spLocks noGrp="1"/>
          </p:cNvSpPr>
          <p:nvPr>
            <p:ph type="title"/>
          </p:nvPr>
        </p:nvSpPr>
        <p:spPr>
          <a:xfrm>
            <a:off x="838200" y="365125"/>
            <a:ext cx="10515600" cy="841883"/>
          </a:xfrm>
        </p:spPr>
        <p:txBody>
          <a:bodyPr/>
          <a:lstStyle/>
          <a:p>
            <a:r>
              <a:rPr lang="en-US" dirty="0">
                <a:solidFill>
                  <a:srgbClr val="FF0000"/>
                </a:solidFill>
              </a:rPr>
              <a:t>Which Model should you use?</a:t>
            </a:r>
          </a:p>
        </p:txBody>
      </p:sp>
      <p:graphicFrame>
        <p:nvGraphicFramePr>
          <p:cNvPr id="4" name="Table 4">
            <a:extLst>
              <a:ext uri="{FF2B5EF4-FFF2-40B4-BE49-F238E27FC236}">
                <a16:creationId xmlns:a16="http://schemas.microsoft.com/office/drawing/2014/main" id="{F4EEFF92-471C-461E-B7EB-BB89EA2206F9}"/>
              </a:ext>
            </a:extLst>
          </p:cNvPr>
          <p:cNvGraphicFramePr>
            <a:graphicFrameLocks noGrp="1"/>
          </p:cNvGraphicFramePr>
          <p:nvPr>
            <p:ph idx="1"/>
            <p:extLst>
              <p:ext uri="{D42A27DB-BD31-4B8C-83A1-F6EECF244321}">
                <p14:modId xmlns:p14="http://schemas.microsoft.com/office/powerpoint/2010/main" val="3093216883"/>
              </p:ext>
            </p:extLst>
          </p:nvPr>
        </p:nvGraphicFramePr>
        <p:xfrm>
          <a:off x="978070" y="1487377"/>
          <a:ext cx="6611451" cy="1371600"/>
        </p:xfrm>
        <a:graphic>
          <a:graphicData uri="http://schemas.openxmlformats.org/drawingml/2006/table">
            <a:tbl>
              <a:tblPr firstRow="1" bandRow="1">
                <a:tableStyleId>{5940675A-B579-460E-94D1-54222C63F5DA}</a:tableStyleId>
              </a:tblPr>
              <a:tblGrid>
                <a:gridCol w="1500208">
                  <a:extLst>
                    <a:ext uri="{9D8B030D-6E8A-4147-A177-3AD203B41FA5}">
                      <a16:colId xmlns:a16="http://schemas.microsoft.com/office/drawing/2014/main" val="35350851"/>
                    </a:ext>
                  </a:extLst>
                </a:gridCol>
                <a:gridCol w="2481489">
                  <a:extLst>
                    <a:ext uri="{9D8B030D-6E8A-4147-A177-3AD203B41FA5}">
                      <a16:colId xmlns:a16="http://schemas.microsoft.com/office/drawing/2014/main" val="1886523142"/>
                    </a:ext>
                  </a:extLst>
                </a:gridCol>
                <a:gridCol w="2629754">
                  <a:extLst>
                    <a:ext uri="{9D8B030D-6E8A-4147-A177-3AD203B41FA5}">
                      <a16:colId xmlns:a16="http://schemas.microsoft.com/office/drawing/2014/main" val="567826405"/>
                    </a:ext>
                  </a:extLst>
                </a:gridCol>
              </a:tblGrid>
              <a:tr h="425715">
                <a:tc>
                  <a:txBody>
                    <a:bodyPr/>
                    <a:lstStyle/>
                    <a:p>
                      <a:endParaRPr lang="en-US" sz="2400" dirty="0"/>
                    </a:p>
                  </a:txBody>
                  <a:tcPr/>
                </a:tc>
                <a:tc>
                  <a:txBody>
                    <a:bodyPr/>
                    <a:lstStyle/>
                    <a:p>
                      <a:r>
                        <a:rPr lang="en-US" sz="2400" dirty="0"/>
                        <a:t>False Positive Rate</a:t>
                      </a:r>
                    </a:p>
                  </a:txBody>
                  <a:tcPr/>
                </a:tc>
                <a:tc>
                  <a:txBody>
                    <a:bodyPr/>
                    <a:lstStyle/>
                    <a:p>
                      <a:r>
                        <a:rPr lang="en-US" sz="2400" dirty="0"/>
                        <a:t>False Negative Rate</a:t>
                      </a:r>
                    </a:p>
                  </a:txBody>
                  <a:tcPr/>
                </a:tc>
                <a:extLst>
                  <a:ext uri="{0D108BD9-81ED-4DB2-BD59-A6C34878D82A}">
                    <a16:rowId xmlns:a16="http://schemas.microsoft.com/office/drawing/2014/main" val="4225023452"/>
                  </a:ext>
                </a:extLst>
              </a:tr>
              <a:tr h="4257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Model 1</a:t>
                      </a:r>
                    </a:p>
                  </a:txBody>
                  <a:tcPr/>
                </a:tc>
                <a:tc>
                  <a:txBody>
                    <a:bodyPr/>
                    <a:lstStyle/>
                    <a:p>
                      <a:pPr algn="ctr"/>
                      <a:r>
                        <a:rPr lang="en-US" sz="2400" dirty="0"/>
                        <a:t>41%</a:t>
                      </a:r>
                    </a:p>
                  </a:txBody>
                  <a:tcPr/>
                </a:tc>
                <a:tc>
                  <a:txBody>
                    <a:bodyPr/>
                    <a:lstStyle/>
                    <a:p>
                      <a:pPr algn="ctr"/>
                      <a:r>
                        <a:rPr lang="en-US" sz="2400" dirty="0"/>
                        <a:t>3%</a:t>
                      </a:r>
                    </a:p>
                  </a:txBody>
                  <a:tcPr/>
                </a:tc>
                <a:extLst>
                  <a:ext uri="{0D108BD9-81ED-4DB2-BD59-A6C34878D82A}">
                    <a16:rowId xmlns:a16="http://schemas.microsoft.com/office/drawing/2014/main" val="3125868734"/>
                  </a:ext>
                </a:extLst>
              </a:tr>
              <a:tr h="4257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Model 2</a:t>
                      </a:r>
                    </a:p>
                  </a:txBody>
                  <a:tcPr/>
                </a:tc>
                <a:tc>
                  <a:txBody>
                    <a:bodyPr/>
                    <a:lstStyle/>
                    <a:p>
                      <a:pPr algn="ctr"/>
                      <a:r>
                        <a:rPr lang="en-US" sz="2400" dirty="0"/>
                        <a:t>5%</a:t>
                      </a:r>
                    </a:p>
                  </a:txBody>
                  <a:tcPr/>
                </a:tc>
                <a:tc>
                  <a:txBody>
                    <a:bodyPr/>
                    <a:lstStyle/>
                    <a:p>
                      <a:pPr algn="ctr"/>
                      <a:r>
                        <a:rPr lang="en-US" sz="2400" dirty="0"/>
                        <a:t>25%</a:t>
                      </a:r>
                    </a:p>
                  </a:txBody>
                  <a:tcPr/>
                </a:tc>
                <a:extLst>
                  <a:ext uri="{0D108BD9-81ED-4DB2-BD59-A6C34878D82A}">
                    <a16:rowId xmlns:a16="http://schemas.microsoft.com/office/drawing/2014/main" val="2864794429"/>
                  </a:ext>
                </a:extLst>
              </a:tr>
            </a:tbl>
          </a:graphicData>
        </a:graphic>
      </p:graphicFrame>
      <p:sp>
        <p:nvSpPr>
          <p:cNvPr id="6" name="TextBox 5">
            <a:extLst>
              <a:ext uri="{FF2B5EF4-FFF2-40B4-BE49-F238E27FC236}">
                <a16:creationId xmlns:a16="http://schemas.microsoft.com/office/drawing/2014/main" id="{F7BEA2CC-07CA-48EF-BC8D-36B6FBF2A2F7}"/>
              </a:ext>
            </a:extLst>
          </p:cNvPr>
          <p:cNvSpPr txBox="1"/>
          <p:nvPr/>
        </p:nvSpPr>
        <p:spPr>
          <a:xfrm>
            <a:off x="5352157" y="3763603"/>
            <a:ext cx="6922857" cy="2893100"/>
          </a:xfrm>
          <a:prstGeom prst="rect">
            <a:avLst/>
          </a:prstGeom>
          <a:noFill/>
        </p:spPr>
        <p:txBody>
          <a:bodyPr wrap="none" rtlCol="0">
            <a:spAutoFit/>
          </a:bodyPr>
          <a:lstStyle/>
          <a:p>
            <a:r>
              <a:rPr lang="en-US" sz="2400" dirty="0"/>
              <a:t>Mistakes have different costs:</a:t>
            </a:r>
          </a:p>
          <a:p>
            <a:pPr marL="285750" indent="-285750">
              <a:buFont typeface="Arial" panose="020B0604020202020204" pitchFamily="34" charset="0"/>
              <a:buChar char="•"/>
            </a:pPr>
            <a:r>
              <a:rPr lang="en-US" sz="2400" dirty="0"/>
              <a:t>Disease Screening – LOW FN Rate</a:t>
            </a:r>
          </a:p>
          <a:p>
            <a:pPr marL="285750" indent="-285750">
              <a:buFont typeface="Arial" panose="020B0604020202020204" pitchFamily="34" charset="0"/>
              <a:buChar char="•"/>
            </a:pPr>
            <a:r>
              <a:rPr lang="en-US" sz="2400" dirty="0"/>
              <a:t>Spam filtering        – LOW FP Rate</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r>
              <a:rPr lang="en-US" sz="2400" dirty="0"/>
              <a:t>Conservative vs Aggressive settings:</a:t>
            </a:r>
          </a:p>
          <a:p>
            <a:pPr marL="285750" indent="-285750">
              <a:buFont typeface="Arial" panose="020B0604020202020204" pitchFamily="34" charset="0"/>
              <a:buChar char="•"/>
            </a:pPr>
            <a:r>
              <a:rPr lang="en-US" sz="2400" dirty="0"/>
              <a:t>The same application might need multiple tradeoffs</a:t>
            </a:r>
          </a:p>
          <a:p>
            <a:pPr marL="285750" indent="-285750">
              <a:buFont typeface="Arial" panose="020B0604020202020204" pitchFamily="34" charset="0"/>
              <a:buChar char="•"/>
            </a:pPr>
            <a:endParaRPr lang="en-US" sz="1400" dirty="0"/>
          </a:p>
        </p:txBody>
      </p:sp>
      <p:sp>
        <p:nvSpPr>
          <p:cNvPr id="7" name="TextBox 6">
            <a:extLst>
              <a:ext uri="{FF2B5EF4-FFF2-40B4-BE49-F238E27FC236}">
                <a16:creationId xmlns:a16="http://schemas.microsoft.com/office/drawing/2014/main" id="{6EEBAF4F-908A-4E0F-B511-200067D8A998}"/>
              </a:ext>
            </a:extLst>
          </p:cNvPr>
          <p:cNvSpPr txBox="1"/>
          <p:nvPr/>
        </p:nvSpPr>
        <p:spPr>
          <a:xfrm>
            <a:off x="768096" y="4724292"/>
            <a:ext cx="3502755" cy="830997"/>
          </a:xfrm>
          <a:prstGeom prst="rect">
            <a:avLst/>
          </a:prstGeom>
          <a:noFill/>
        </p:spPr>
        <p:txBody>
          <a:bodyPr wrap="square" rtlCol="0">
            <a:spAutoFit/>
          </a:bodyPr>
          <a:lstStyle/>
          <a:p>
            <a:r>
              <a:rPr lang="en-US" sz="2400" dirty="0"/>
              <a:t>Actually, the same model</a:t>
            </a:r>
          </a:p>
          <a:p>
            <a:r>
              <a:rPr lang="en-US" sz="2400" dirty="0"/>
              <a:t> - different thresholds</a:t>
            </a:r>
          </a:p>
        </p:txBody>
      </p:sp>
      <p:cxnSp>
        <p:nvCxnSpPr>
          <p:cNvPr id="8" name="Straight Connector 7">
            <a:extLst>
              <a:ext uri="{FF2B5EF4-FFF2-40B4-BE49-F238E27FC236}">
                <a16:creationId xmlns:a16="http://schemas.microsoft.com/office/drawing/2014/main" id="{3E5D9672-AE9D-40A3-B0CB-8677D8D70F73}"/>
              </a:ext>
            </a:extLst>
          </p:cNvPr>
          <p:cNvCxnSpPr>
            <a:cxnSpLocks/>
          </p:cNvCxnSpPr>
          <p:nvPr/>
        </p:nvCxnSpPr>
        <p:spPr>
          <a:xfrm flipH="1" flipV="1">
            <a:off x="1307255" y="2936133"/>
            <a:ext cx="1679785" cy="178815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8591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anim calcmode="lin" valueType="num">
                                      <p:cBhvr additive="base">
                                        <p:cTn id="25"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anim calcmode="lin" valueType="num">
                                      <p:cBhvr additive="base">
                                        <p:cTn id="29"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anim calcmode="lin" valueType="num">
                                      <p:cBhvr additive="base">
                                        <p:cTn id="35"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0" end="0"/>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7">
                                            <p:txEl>
                                              <p:pRg st="1" end="1"/>
                                            </p:txEl>
                                          </p:spTgt>
                                        </p:tgtEl>
                                        <p:attrNameLst>
                                          <p:attrName>style.visibility</p:attrName>
                                        </p:attrNameLst>
                                      </p:cBhvr>
                                      <p:to>
                                        <p:strVal val="visible"/>
                                      </p:to>
                                    </p:set>
                                    <p:anim calcmode="lin" valueType="num">
                                      <p:cBhvr additive="base">
                                        <p:cTn id="39"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
                                            <p:txEl>
                                              <p:pRg st="1" end="1"/>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F3DFF-FDDE-4C57-85D2-823B4D0BE136}"/>
              </a:ext>
            </a:extLst>
          </p:cNvPr>
          <p:cNvSpPr>
            <a:spLocks noGrp="1"/>
          </p:cNvSpPr>
          <p:nvPr>
            <p:ph type="title"/>
          </p:nvPr>
        </p:nvSpPr>
        <p:spPr/>
        <p:txBody>
          <a:bodyPr/>
          <a:lstStyle/>
          <a:p>
            <a:r>
              <a:rPr lang="en-US" dirty="0">
                <a:solidFill>
                  <a:srgbClr val="FF0000"/>
                </a:solidFill>
              </a:rPr>
              <a:t>Classifications and Probability Estimates</a:t>
            </a:r>
          </a:p>
        </p:txBody>
      </p:sp>
      <p:sp>
        <p:nvSpPr>
          <p:cNvPr id="3" name="Content Placeholder 2">
            <a:extLst>
              <a:ext uri="{FF2B5EF4-FFF2-40B4-BE49-F238E27FC236}">
                <a16:creationId xmlns:a16="http://schemas.microsoft.com/office/drawing/2014/main" id="{570119F4-B252-46BB-9A5F-6837EE6FC911}"/>
              </a:ext>
            </a:extLst>
          </p:cNvPr>
          <p:cNvSpPr>
            <a:spLocks noGrp="1"/>
          </p:cNvSpPr>
          <p:nvPr>
            <p:ph idx="1"/>
          </p:nvPr>
        </p:nvSpPr>
        <p:spPr>
          <a:xfrm>
            <a:off x="409903" y="1690688"/>
            <a:ext cx="6056586" cy="4351338"/>
          </a:xfrm>
        </p:spPr>
        <p:txBody>
          <a:bodyPr/>
          <a:lstStyle/>
          <a:p>
            <a:r>
              <a:rPr lang="en-US" dirty="0"/>
              <a:t>Logistic regression produces a score between 0 – 1 (probability estimate)</a:t>
            </a:r>
          </a:p>
          <a:p>
            <a:endParaRPr lang="en-US" dirty="0"/>
          </a:p>
          <a:p>
            <a:r>
              <a:rPr lang="en-US" dirty="0"/>
              <a:t>Use threshold to produce classification</a:t>
            </a:r>
          </a:p>
          <a:p>
            <a:endParaRPr lang="en-US" dirty="0"/>
          </a:p>
          <a:p>
            <a:r>
              <a:rPr lang="en-US" dirty="0"/>
              <a:t>What happens if you vary the threshold?</a:t>
            </a:r>
          </a:p>
        </p:txBody>
      </p:sp>
      <p:graphicFrame>
        <p:nvGraphicFramePr>
          <p:cNvPr id="6" name="Chart 5">
            <a:extLst>
              <a:ext uri="{FF2B5EF4-FFF2-40B4-BE49-F238E27FC236}">
                <a16:creationId xmlns:a16="http://schemas.microsoft.com/office/drawing/2014/main" id="{B4B380EF-7EEE-4205-B238-22F93524222F}"/>
              </a:ext>
            </a:extLst>
          </p:cNvPr>
          <p:cNvGraphicFramePr>
            <a:graphicFrameLocks/>
          </p:cNvGraphicFramePr>
          <p:nvPr/>
        </p:nvGraphicFramePr>
        <p:xfrm>
          <a:off x="7293272" y="2165012"/>
          <a:ext cx="3657600" cy="30937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783053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05640-D6F2-4FE9-BA20-1E4C562C0E18}"/>
              </a:ext>
            </a:extLst>
          </p:cNvPr>
          <p:cNvSpPr>
            <a:spLocks noGrp="1"/>
          </p:cNvSpPr>
          <p:nvPr>
            <p:ph type="title"/>
          </p:nvPr>
        </p:nvSpPr>
        <p:spPr/>
        <p:txBody>
          <a:bodyPr/>
          <a:lstStyle/>
          <a:p>
            <a:r>
              <a:rPr lang="en-US" dirty="0"/>
              <a:t>Example of Changing Thresholds</a:t>
            </a:r>
          </a:p>
        </p:txBody>
      </p:sp>
      <p:graphicFrame>
        <p:nvGraphicFramePr>
          <p:cNvPr id="4" name="Content Placeholder 3">
            <a:extLst>
              <a:ext uri="{FF2B5EF4-FFF2-40B4-BE49-F238E27FC236}">
                <a16:creationId xmlns:a16="http://schemas.microsoft.com/office/drawing/2014/main" id="{6CA671F7-2545-4F21-A55E-1A2B51912848}"/>
              </a:ext>
            </a:extLst>
          </p:cNvPr>
          <p:cNvGraphicFramePr>
            <a:graphicFrameLocks noGrp="1"/>
          </p:cNvGraphicFramePr>
          <p:nvPr>
            <p:ph idx="1"/>
          </p:nvPr>
        </p:nvGraphicFramePr>
        <p:xfrm>
          <a:off x="838200" y="1825624"/>
          <a:ext cx="3481551" cy="4333434"/>
        </p:xfrm>
        <a:graphic>
          <a:graphicData uri="http://schemas.openxmlformats.org/drawingml/2006/table">
            <a:tbl>
              <a:tblPr firstRow="1" bandRow="1">
                <a:tableStyleId>{5940675A-B579-460E-94D1-54222C63F5DA}</a:tableStyleId>
              </a:tblPr>
              <a:tblGrid>
                <a:gridCol w="1160517">
                  <a:extLst>
                    <a:ext uri="{9D8B030D-6E8A-4147-A177-3AD203B41FA5}">
                      <a16:colId xmlns:a16="http://schemas.microsoft.com/office/drawing/2014/main" val="1080406862"/>
                    </a:ext>
                  </a:extLst>
                </a:gridCol>
                <a:gridCol w="1160517">
                  <a:extLst>
                    <a:ext uri="{9D8B030D-6E8A-4147-A177-3AD203B41FA5}">
                      <a16:colId xmlns:a16="http://schemas.microsoft.com/office/drawing/2014/main" val="2856587337"/>
                    </a:ext>
                  </a:extLst>
                </a:gridCol>
                <a:gridCol w="1160517">
                  <a:extLst>
                    <a:ext uri="{9D8B030D-6E8A-4147-A177-3AD203B41FA5}">
                      <a16:colId xmlns:a16="http://schemas.microsoft.com/office/drawing/2014/main" val="2134574206"/>
                    </a:ext>
                  </a:extLst>
                </a:gridCol>
              </a:tblGrid>
              <a:tr h="619062">
                <a:tc>
                  <a:txBody>
                    <a:bodyPr/>
                    <a:lstStyle/>
                    <a:p>
                      <a:pPr algn="ctr"/>
                      <a:r>
                        <a:rPr lang="en-US" dirty="0"/>
                        <a:t>Score</a:t>
                      </a:r>
                    </a:p>
                  </a:txBody>
                  <a:tcPr anchor="ctr"/>
                </a:tc>
                <a:tc>
                  <a:txBody>
                    <a:bodyPr/>
                    <a:lstStyle/>
                    <a:p>
                      <a:pPr algn="ctr"/>
                      <a:r>
                        <a:rPr lang="en-US" dirty="0"/>
                        <a:t>Prediction</a:t>
                      </a:r>
                    </a:p>
                  </a:txBody>
                  <a:tcPr anchor="ctr"/>
                </a:tc>
                <a:tc>
                  <a:txBody>
                    <a:bodyPr/>
                    <a:lstStyle/>
                    <a:p>
                      <a:pPr algn="ctr"/>
                      <a:r>
                        <a:rPr lang="en-US" dirty="0"/>
                        <a:t>Y</a:t>
                      </a:r>
                    </a:p>
                  </a:txBody>
                  <a:tcPr anchor="ctr"/>
                </a:tc>
                <a:extLst>
                  <a:ext uri="{0D108BD9-81ED-4DB2-BD59-A6C34878D82A}">
                    <a16:rowId xmlns:a16="http://schemas.microsoft.com/office/drawing/2014/main" val="1121039471"/>
                  </a:ext>
                </a:extLst>
              </a:tr>
              <a:tr h="619062">
                <a:tc>
                  <a:txBody>
                    <a:bodyPr/>
                    <a:lstStyle/>
                    <a:p>
                      <a:pPr algn="ctr"/>
                      <a:r>
                        <a:rPr lang="en-US" dirty="0"/>
                        <a:t>.25</a:t>
                      </a:r>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1248060152"/>
                  </a:ext>
                </a:extLst>
              </a:tr>
              <a:tr h="619062">
                <a:tc>
                  <a:txBody>
                    <a:bodyPr/>
                    <a:lstStyle/>
                    <a:p>
                      <a:pPr algn="ctr"/>
                      <a:r>
                        <a:rPr lang="en-US" dirty="0"/>
                        <a:t>.45</a:t>
                      </a:r>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690655332"/>
                  </a:ext>
                </a:extLst>
              </a:tr>
              <a:tr h="619062">
                <a:tc>
                  <a:txBody>
                    <a:bodyPr/>
                    <a:lstStyle/>
                    <a:p>
                      <a:pPr algn="ctr"/>
                      <a:r>
                        <a:rPr lang="en-US" dirty="0"/>
                        <a:t>.55</a:t>
                      </a:r>
                    </a:p>
                  </a:txBody>
                  <a:tcPr anchor="ctr"/>
                </a:tc>
                <a:tc>
                  <a:txBody>
                    <a:bodyPr/>
                    <a:lstStyle/>
                    <a:p>
                      <a:pPr algn="ctr"/>
                      <a:endParaRPr lang="en-US" dirty="0"/>
                    </a:p>
                  </a:txBody>
                  <a:tcPr anchor="ctr"/>
                </a:tc>
                <a:tc>
                  <a:txBody>
                    <a:bodyPr/>
                    <a:lstStyle/>
                    <a:p>
                      <a:pPr algn="ctr"/>
                      <a:r>
                        <a:rPr lang="en-US" dirty="0"/>
                        <a:t>1</a:t>
                      </a:r>
                    </a:p>
                  </a:txBody>
                  <a:tcPr anchor="ctr"/>
                </a:tc>
                <a:extLst>
                  <a:ext uri="{0D108BD9-81ED-4DB2-BD59-A6C34878D82A}">
                    <a16:rowId xmlns:a16="http://schemas.microsoft.com/office/drawing/2014/main" val="2944087910"/>
                  </a:ext>
                </a:extLst>
              </a:tr>
              <a:tr h="619062">
                <a:tc>
                  <a:txBody>
                    <a:bodyPr/>
                    <a:lstStyle/>
                    <a:p>
                      <a:pPr algn="ctr"/>
                      <a:r>
                        <a:rPr lang="en-US" dirty="0"/>
                        <a:t>.67</a:t>
                      </a:r>
                    </a:p>
                  </a:txBody>
                  <a:tcPr anchor="ctr"/>
                </a:tc>
                <a:tc>
                  <a:txBody>
                    <a:bodyPr/>
                    <a:lstStyle/>
                    <a:p>
                      <a:pPr algn="ctr"/>
                      <a:endParaRPr lang="en-US"/>
                    </a:p>
                  </a:txBody>
                  <a:tcPr anchor="ctr"/>
                </a:tc>
                <a:tc>
                  <a:txBody>
                    <a:bodyPr/>
                    <a:lstStyle/>
                    <a:p>
                      <a:pPr algn="ctr"/>
                      <a:r>
                        <a:rPr lang="en-US" dirty="0"/>
                        <a:t>0</a:t>
                      </a:r>
                    </a:p>
                  </a:txBody>
                  <a:tcPr anchor="ctr"/>
                </a:tc>
                <a:extLst>
                  <a:ext uri="{0D108BD9-81ED-4DB2-BD59-A6C34878D82A}">
                    <a16:rowId xmlns:a16="http://schemas.microsoft.com/office/drawing/2014/main" val="2684199539"/>
                  </a:ext>
                </a:extLst>
              </a:tr>
              <a:tr h="619062">
                <a:tc>
                  <a:txBody>
                    <a:bodyPr/>
                    <a:lstStyle/>
                    <a:p>
                      <a:pPr algn="ctr"/>
                      <a:r>
                        <a:rPr lang="en-US" dirty="0"/>
                        <a:t>.82</a:t>
                      </a:r>
                    </a:p>
                  </a:txBody>
                  <a:tcPr anchor="ctr"/>
                </a:tc>
                <a:tc>
                  <a:txBody>
                    <a:bodyPr/>
                    <a:lstStyle/>
                    <a:p>
                      <a:pPr algn="ctr"/>
                      <a:endParaRPr lang="en-US"/>
                    </a:p>
                  </a:txBody>
                  <a:tcPr anchor="ctr"/>
                </a:tc>
                <a:tc>
                  <a:txBody>
                    <a:bodyPr/>
                    <a:lstStyle/>
                    <a:p>
                      <a:pPr algn="ctr"/>
                      <a:r>
                        <a:rPr lang="en-US" dirty="0"/>
                        <a:t>1</a:t>
                      </a:r>
                    </a:p>
                  </a:txBody>
                  <a:tcPr anchor="ctr"/>
                </a:tc>
                <a:extLst>
                  <a:ext uri="{0D108BD9-81ED-4DB2-BD59-A6C34878D82A}">
                    <a16:rowId xmlns:a16="http://schemas.microsoft.com/office/drawing/2014/main" val="4025275299"/>
                  </a:ext>
                </a:extLst>
              </a:tr>
              <a:tr h="619062">
                <a:tc>
                  <a:txBody>
                    <a:bodyPr/>
                    <a:lstStyle/>
                    <a:p>
                      <a:pPr algn="ctr"/>
                      <a:r>
                        <a:rPr lang="en-US" dirty="0"/>
                        <a:t>.95</a:t>
                      </a:r>
                    </a:p>
                  </a:txBody>
                  <a:tcPr anchor="ctr"/>
                </a:tc>
                <a:tc>
                  <a:txBody>
                    <a:bodyPr/>
                    <a:lstStyle/>
                    <a:p>
                      <a:pPr algn="ctr"/>
                      <a:endParaRPr lang="en-US"/>
                    </a:p>
                  </a:txBody>
                  <a:tcPr anchor="ctr"/>
                </a:tc>
                <a:tc>
                  <a:txBody>
                    <a:bodyPr/>
                    <a:lstStyle/>
                    <a:p>
                      <a:pPr algn="ctr"/>
                      <a:r>
                        <a:rPr lang="en-US" dirty="0"/>
                        <a:t>1</a:t>
                      </a:r>
                    </a:p>
                  </a:txBody>
                  <a:tcPr anchor="ctr"/>
                </a:tc>
                <a:extLst>
                  <a:ext uri="{0D108BD9-81ED-4DB2-BD59-A6C34878D82A}">
                    <a16:rowId xmlns:a16="http://schemas.microsoft.com/office/drawing/2014/main" val="3245782072"/>
                  </a:ext>
                </a:extLst>
              </a:tr>
            </a:tbl>
          </a:graphicData>
        </a:graphic>
      </p:graphicFrame>
      <p:graphicFrame>
        <p:nvGraphicFramePr>
          <p:cNvPr id="5" name="Table 4">
            <a:extLst>
              <a:ext uri="{FF2B5EF4-FFF2-40B4-BE49-F238E27FC236}">
                <a16:creationId xmlns:a16="http://schemas.microsoft.com/office/drawing/2014/main" id="{71345B43-0E0E-418C-AEB5-C147C0A343E9}"/>
              </a:ext>
            </a:extLst>
          </p:cNvPr>
          <p:cNvGraphicFramePr>
            <a:graphicFrameLocks noGrp="1"/>
          </p:cNvGraphicFramePr>
          <p:nvPr/>
        </p:nvGraphicFramePr>
        <p:xfrm>
          <a:off x="7041931" y="1538292"/>
          <a:ext cx="3699642" cy="1112520"/>
        </p:xfrm>
        <a:graphic>
          <a:graphicData uri="http://schemas.openxmlformats.org/drawingml/2006/table">
            <a:tbl>
              <a:tblPr firstRow="1" bandRow="1">
                <a:tableStyleId>{5940675A-B579-460E-94D1-54222C63F5DA}</a:tableStyleId>
              </a:tblPr>
              <a:tblGrid>
                <a:gridCol w="1849821">
                  <a:extLst>
                    <a:ext uri="{9D8B030D-6E8A-4147-A177-3AD203B41FA5}">
                      <a16:colId xmlns:a16="http://schemas.microsoft.com/office/drawing/2014/main" val="1217140008"/>
                    </a:ext>
                  </a:extLst>
                </a:gridCol>
                <a:gridCol w="1849821">
                  <a:extLst>
                    <a:ext uri="{9D8B030D-6E8A-4147-A177-3AD203B41FA5}">
                      <a16:colId xmlns:a16="http://schemas.microsoft.com/office/drawing/2014/main" val="2296640543"/>
                    </a:ext>
                  </a:extLst>
                </a:gridCol>
              </a:tblGrid>
              <a:tr h="370840">
                <a:tc>
                  <a:txBody>
                    <a:bodyPr/>
                    <a:lstStyle/>
                    <a:p>
                      <a:endParaRPr lang="en-US" dirty="0"/>
                    </a:p>
                  </a:txBody>
                  <a:tcPr/>
                </a:tc>
                <a:tc>
                  <a:txBody>
                    <a:bodyPr/>
                    <a:lstStyle/>
                    <a:p>
                      <a:r>
                        <a:rPr lang="en-US" dirty="0"/>
                        <a:t>Threshold = .5</a:t>
                      </a:r>
                    </a:p>
                  </a:txBody>
                  <a:tcPr/>
                </a:tc>
                <a:extLst>
                  <a:ext uri="{0D108BD9-81ED-4DB2-BD59-A6C34878D82A}">
                    <a16:rowId xmlns:a16="http://schemas.microsoft.com/office/drawing/2014/main" val="1494901250"/>
                  </a:ext>
                </a:extLst>
              </a:tr>
              <a:tr h="370840">
                <a:tc>
                  <a:txBody>
                    <a:bodyPr/>
                    <a:lstStyle/>
                    <a:p>
                      <a:r>
                        <a:rPr lang="en-US" sz="1600" dirty="0"/>
                        <a:t>False Positive Rate</a:t>
                      </a:r>
                    </a:p>
                  </a:txBody>
                  <a:tcPr/>
                </a:tc>
                <a:tc>
                  <a:txBody>
                    <a:bodyPr/>
                    <a:lstStyle/>
                    <a:p>
                      <a:r>
                        <a:rPr lang="en-US" sz="1600" dirty="0"/>
                        <a:t>33%</a:t>
                      </a:r>
                    </a:p>
                  </a:txBody>
                  <a:tcPr/>
                </a:tc>
                <a:extLst>
                  <a:ext uri="{0D108BD9-81ED-4DB2-BD59-A6C34878D82A}">
                    <a16:rowId xmlns:a16="http://schemas.microsoft.com/office/drawing/2014/main" val="1954063028"/>
                  </a:ext>
                </a:extLst>
              </a:tr>
              <a:tr h="370840">
                <a:tc>
                  <a:txBody>
                    <a:bodyPr/>
                    <a:lstStyle/>
                    <a:p>
                      <a:r>
                        <a:rPr lang="en-US" sz="1600" dirty="0"/>
                        <a:t>False Negative Rate</a:t>
                      </a:r>
                    </a:p>
                  </a:txBody>
                  <a:tcPr/>
                </a:tc>
                <a:tc>
                  <a:txBody>
                    <a:bodyPr/>
                    <a:lstStyle/>
                    <a:p>
                      <a:r>
                        <a:rPr lang="en-US" sz="1600" dirty="0"/>
                        <a:t>0%</a:t>
                      </a:r>
                    </a:p>
                  </a:txBody>
                  <a:tcPr/>
                </a:tc>
                <a:extLst>
                  <a:ext uri="{0D108BD9-81ED-4DB2-BD59-A6C34878D82A}">
                    <a16:rowId xmlns:a16="http://schemas.microsoft.com/office/drawing/2014/main" val="2720017053"/>
                  </a:ext>
                </a:extLst>
              </a:tr>
            </a:tbl>
          </a:graphicData>
        </a:graphic>
      </p:graphicFrame>
      <p:graphicFrame>
        <p:nvGraphicFramePr>
          <p:cNvPr id="6" name="Table 5">
            <a:extLst>
              <a:ext uri="{FF2B5EF4-FFF2-40B4-BE49-F238E27FC236}">
                <a16:creationId xmlns:a16="http://schemas.microsoft.com/office/drawing/2014/main" id="{1AE49A1A-C513-46B0-A232-400AB7DA0B9A}"/>
              </a:ext>
            </a:extLst>
          </p:cNvPr>
          <p:cNvGraphicFramePr>
            <a:graphicFrameLocks noGrp="1"/>
          </p:cNvGraphicFramePr>
          <p:nvPr/>
        </p:nvGraphicFramePr>
        <p:xfrm>
          <a:off x="7041931" y="3267719"/>
          <a:ext cx="3699642" cy="1112520"/>
        </p:xfrm>
        <a:graphic>
          <a:graphicData uri="http://schemas.openxmlformats.org/drawingml/2006/table">
            <a:tbl>
              <a:tblPr firstRow="1" bandRow="1">
                <a:tableStyleId>{5940675A-B579-460E-94D1-54222C63F5DA}</a:tableStyleId>
              </a:tblPr>
              <a:tblGrid>
                <a:gridCol w="1849821">
                  <a:extLst>
                    <a:ext uri="{9D8B030D-6E8A-4147-A177-3AD203B41FA5}">
                      <a16:colId xmlns:a16="http://schemas.microsoft.com/office/drawing/2014/main" val="1217140008"/>
                    </a:ext>
                  </a:extLst>
                </a:gridCol>
                <a:gridCol w="1849821">
                  <a:extLst>
                    <a:ext uri="{9D8B030D-6E8A-4147-A177-3AD203B41FA5}">
                      <a16:colId xmlns:a16="http://schemas.microsoft.com/office/drawing/2014/main" val="2296640543"/>
                    </a:ext>
                  </a:extLst>
                </a:gridCol>
              </a:tblGrid>
              <a:tr h="370840">
                <a:tc>
                  <a:txBody>
                    <a:bodyPr/>
                    <a:lstStyle/>
                    <a:p>
                      <a:endParaRPr lang="en-US" dirty="0"/>
                    </a:p>
                  </a:txBody>
                  <a:tcPr/>
                </a:tc>
                <a:tc>
                  <a:txBody>
                    <a:bodyPr/>
                    <a:lstStyle/>
                    <a:p>
                      <a:r>
                        <a:rPr lang="en-US" dirty="0"/>
                        <a:t>Threshold = .6</a:t>
                      </a:r>
                    </a:p>
                  </a:txBody>
                  <a:tcPr/>
                </a:tc>
                <a:extLst>
                  <a:ext uri="{0D108BD9-81ED-4DB2-BD59-A6C34878D82A}">
                    <a16:rowId xmlns:a16="http://schemas.microsoft.com/office/drawing/2014/main" val="1494901250"/>
                  </a:ext>
                </a:extLst>
              </a:tr>
              <a:tr h="370840">
                <a:tc>
                  <a:txBody>
                    <a:bodyPr/>
                    <a:lstStyle/>
                    <a:p>
                      <a:r>
                        <a:rPr lang="en-US" sz="1600" dirty="0"/>
                        <a:t>False Positive Rate</a:t>
                      </a:r>
                    </a:p>
                  </a:txBody>
                  <a:tcPr/>
                </a:tc>
                <a:tc>
                  <a:txBody>
                    <a:bodyPr/>
                    <a:lstStyle/>
                    <a:p>
                      <a:r>
                        <a:rPr lang="en-US" sz="1600" dirty="0"/>
                        <a:t>33%</a:t>
                      </a:r>
                    </a:p>
                  </a:txBody>
                  <a:tcPr/>
                </a:tc>
                <a:extLst>
                  <a:ext uri="{0D108BD9-81ED-4DB2-BD59-A6C34878D82A}">
                    <a16:rowId xmlns:a16="http://schemas.microsoft.com/office/drawing/2014/main" val="1954063028"/>
                  </a:ext>
                </a:extLst>
              </a:tr>
              <a:tr h="370840">
                <a:tc>
                  <a:txBody>
                    <a:bodyPr/>
                    <a:lstStyle/>
                    <a:p>
                      <a:r>
                        <a:rPr lang="en-US" sz="1600" dirty="0"/>
                        <a:t>False Negative Rate</a:t>
                      </a:r>
                    </a:p>
                  </a:txBody>
                  <a:tcPr/>
                </a:tc>
                <a:tc>
                  <a:txBody>
                    <a:bodyPr/>
                    <a:lstStyle/>
                    <a:p>
                      <a:r>
                        <a:rPr lang="en-US" sz="1600" dirty="0"/>
                        <a:t>33%</a:t>
                      </a:r>
                    </a:p>
                  </a:txBody>
                  <a:tcPr/>
                </a:tc>
                <a:extLst>
                  <a:ext uri="{0D108BD9-81ED-4DB2-BD59-A6C34878D82A}">
                    <a16:rowId xmlns:a16="http://schemas.microsoft.com/office/drawing/2014/main" val="2720017053"/>
                  </a:ext>
                </a:extLst>
              </a:tr>
            </a:tbl>
          </a:graphicData>
        </a:graphic>
      </p:graphicFrame>
      <p:graphicFrame>
        <p:nvGraphicFramePr>
          <p:cNvPr id="7" name="Table 6">
            <a:extLst>
              <a:ext uri="{FF2B5EF4-FFF2-40B4-BE49-F238E27FC236}">
                <a16:creationId xmlns:a16="http://schemas.microsoft.com/office/drawing/2014/main" id="{EA429BAE-4CEE-4867-92F5-D1DA31240FE4}"/>
              </a:ext>
            </a:extLst>
          </p:cNvPr>
          <p:cNvGraphicFramePr>
            <a:graphicFrameLocks noGrp="1"/>
          </p:cNvGraphicFramePr>
          <p:nvPr/>
        </p:nvGraphicFramePr>
        <p:xfrm>
          <a:off x="7041931" y="4997146"/>
          <a:ext cx="3699642" cy="1112520"/>
        </p:xfrm>
        <a:graphic>
          <a:graphicData uri="http://schemas.openxmlformats.org/drawingml/2006/table">
            <a:tbl>
              <a:tblPr firstRow="1" bandRow="1">
                <a:tableStyleId>{5940675A-B579-460E-94D1-54222C63F5DA}</a:tableStyleId>
              </a:tblPr>
              <a:tblGrid>
                <a:gridCol w="1849821">
                  <a:extLst>
                    <a:ext uri="{9D8B030D-6E8A-4147-A177-3AD203B41FA5}">
                      <a16:colId xmlns:a16="http://schemas.microsoft.com/office/drawing/2014/main" val="1217140008"/>
                    </a:ext>
                  </a:extLst>
                </a:gridCol>
                <a:gridCol w="1849821">
                  <a:extLst>
                    <a:ext uri="{9D8B030D-6E8A-4147-A177-3AD203B41FA5}">
                      <a16:colId xmlns:a16="http://schemas.microsoft.com/office/drawing/2014/main" val="2296640543"/>
                    </a:ext>
                  </a:extLst>
                </a:gridCol>
              </a:tblGrid>
              <a:tr h="370840">
                <a:tc>
                  <a:txBody>
                    <a:bodyPr/>
                    <a:lstStyle/>
                    <a:p>
                      <a:endParaRPr lang="en-US" dirty="0"/>
                    </a:p>
                  </a:txBody>
                  <a:tcPr/>
                </a:tc>
                <a:tc>
                  <a:txBody>
                    <a:bodyPr/>
                    <a:lstStyle/>
                    <a:p>
                      <a:r>
                        <a:rPr lang="en-US" dirty="0"/>
                        <a:t>Threshold = .7</a:t>
                      </a:r>
                    </a:p>
                  </a:txBody>
                  <a:tcPr/>
                </a:tc>
                <a:extLst>
                  <a:ext uri="{0D108BD9-81ED-4DB2-BD59-A6C34878D82A}">
                    <a16:rowId xmlns:a16="http://schemas.microsoft.com/office/drawing/2014/main" val="1494901250"/>
                  </a:ext>
                </a:extLst>
              </a:tr>
              <a:tr h="370840">
                <a:tc>
                  <a:txBody>
                    <a:bodyPr/>
                    <a:lstStyle/>
                    <a:p>
                      <a:r>
                        <a:rPr lang="en-US" sz="1600" dirty="0"/>
                        <a:t>False Positive Rate</a:t>
                      </a:r>
                    </a:p>
                  </a:txBody>
                  <a:tcPr/>
                </a:tc>
                <a:tc>
                  <a:txBody>
                    <a:bodyPr/>
                    <a:lstStyle/>
                    <a:p>
                      <a:r>
                        <a:rPr lang="en-US" sz="1600" dirty="0"/>
                        <a:t>0%</a:t>
                      </a:r>
                    </a:p>
                  </a:txBody>
                  <a:tcPr/>
                </a:tc>
                <a:extLst>
                  <a:ext uri="{0D108BD9-81ED-4DB2-BD59-A6C34878D82A}">
                    <a16:rowId xmlns:a16="http://schemas.microsoft.com/office/drawing/2014/main" val="1954063028"/>
                  </a:ext>
                </a:extLst>
              </a:tr>
              <a:tr h="370840">
                <a:tc>
                  <a:txBody>
                    <a:bodyPr/>
                    <a:lstStyle/>
                    <a:p>
                      <a:r>
                        <a:rPr lang="en-US" sz="1600" dirty="0"/>
                        <a:t>False Negative Rate</a:t>
                      </a:r>
                    </a:p>
                  </a:txBody>
                  <a:tcPr/>
                </a:tc>
                <a:tc>
                  <a:txBody>
                    <a:bodyPr/>
                    <a:lstStyle/>
                    <a:p>
                      <a:r>
                        <a:rPr lang="en-US" sz="1600" dirty="0"/>
                        <a:t>33%</a:t>
                      </a:r>
                    </a:p>
                  </a:txBody>
                  <a:tcPr/>
                </a:tc>
                <a:extLst>
                  <a:ext uri="{0D108BD9-81ED-4DB2-BD59-A6C34878D82A}">
                    <a16:rowId xmlns:a16="http://schemas.microsoft.com/office/drawing/2014/main" val="2720017053"/>
                  </a:ext>
                </a:extLst>
              </a:tr>
            </a:tbl>
          </a:graphicData>
        </a:graphic>
      </p:graphicFrame>
      <p:sp>
        <p:nvSpPr>
          <p:cNvPr id="8" name="Rectangle 7">
            <a:extLst>
              <a:ext uri="{FF2B5EF4-FFF2-40B4-BE49-F238E27FC236}">
                <a16:creationId xmlns:a16="http://schemas.microsoft.com/office/drawing/2014/main" id="{7AB4AD2E-B161-4C86-ACCD-1C96FC3352C1}"/>
              </a:ext>
            </a:extLst>
          </p:cNvPr>
          <p:cNvSpPr/>
          <p:nvPr/>
        </p:nvSpPr>
        <p:spPr>
          <a:xfrm>
            <a:off x="8954817" y="1918841"/>
            <a:ext cx="1164021" cy="3304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33E4BA5-AE21-4A5B-A7AE-8418FA7C8BD2}"/>
              </a:ext>
            </a:extLst>
          </p:cNvPr>
          <p:cNvSpPr/>
          <p:nvPr/>
        </p:nvSpPr>
        <p:spPr>
          <a:xfrm>
            <a:off x="8954816" y="2297085"/>
            <a:ext cx="1164021" cy="3304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8323745-A881-440B-899C-7494A5B8E370}"/>
              </a:ext>
            </a:extLst>
          </p:cNvPr>
          <p:cNvSpPr/>
          <p:nvPr/>
        </p:nvSpPr>
        <p:spPr>
          <a:xfrm>
            <a:off x="8954815" y="3648268"/>
            <a:ext cx="1164021" cy="3304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EBE3C7E-493C-4A33-9D02-5B2431DEC6CB}"/>
              </a:ext>
            </a:extLst>
          </p:cNvPr>
          <p:cNvSpPr/>
          <p:nvPr/>
        </p:nvSpPr>
        <p:spPr>
          <a:xfrm>
            <a:off x="8954814" y="4019508"/>
            <a:ext cx="1164021" cy="3304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052EDE6-27BE-4C99-B5D3-64A87C5B01FE}"/>
              </a:ext>
            </a:extLst>
          </p:cNvPr>
          <p:cNvSpPr/>
          <p:nvPr/>
        </p:nvSpPr>
        <p:spPr>
          <a:xfrm>
            <a:off x="8954814" y="5382799"/>
            <a:ext cx="1164021" cy="3304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8CD376-0CDF-4756-A50B-448F688B2FA7}"/>
              </a:ext>
            </a:extLst>
          </p:cNvPr>
          <p:cNvSpPr/>
          <p:nvPr/>
        </p:nvSpPr>
        <p:spPr>
          <a:xfrm>
            <a:off x="8954814" y="5756742"/>
            <a:ext cx="1164021" cy="3304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0425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9"/>
                                        </p:tgtEl>
                                      </p:cBhvr>
                                    </p:animEffect>
                                    <p:set>
                                      <p:cBhvr>
                                        <p:cTn id="10" dur="1" fill="hold">
                                          <p:stCondLst>
                                            <p:cond delay="499"/>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0" nodeType="clickEffect">
                                  <p:stCondLst>
                                    <p:cond delay="0"/>
                                  </p:stCondLst>
                                  <p:childTnLst>
                                    <p:animEffect transition="out" filter="fade">
                                      <p:cBhvr>
                                        <p:cTn id="14" dur="500"/>
                                        <p:tgtEl>
                                          <p:spTgt spid="10"/>
                                        </p:tgtEl>
                                      </p:cBhvr>
                                    </p:animEffect>
                                    <p:set>
                                      <p:cBhvr>
                                        <p:cTn id="15" dur="1" fill="hold">
                                          <p:stCondLst>
                                            <p:cond delay="499"/>
                                          </p:stCondLst>
                                        </p:cTn>
                                        <p:tgtEl>
                                          <p:spTgt spid="10"/>
                                        </p:tgtEl>
                                        <p:attrNameLst>
                                          <p:attrName>style.visibility</p:attrName>
                                        </p:attrNameLst>
                                      </p:cBhvr>
                                      <p:to>
                                        <p:strVal val="hidden"/>
                                      </p:to>
                                    </p:set>
                                  </p:childTnLst>
                                </p:cTn>
                              </p:par>
                              <p:par>
                                <p:cTn id="16" presetID="10" presetClass="exit" presetSubtype="0" fill="hold" grpId="0" nodeType="withEffect">
                                  <p:stCondLst>
                                    <p:cond delay="0"/>
                                  </p:stCondLst>
                                  <p:childTnLst>
                                    <p:animEffect transition="out" filter="fade">
                                      <p:cBhvr>
                                        <p:cTn id="17" dur="500"/>
                                        <p:tgtEl>
                                          <p:spTgt spid="11"/>
                                        </p:tgtEl>
                                      </p:cBhvr>
                                    </p:animEffect>
                                    <p:set>
                                      <p:cBhvr>
                                        <p:cTn id="18" dur="1" fill="hold">
                                          <p:stCondLst>
                                            <p:cond delay="499"/>
                                          </p:stCondLst>
                                        </p:cTn>
                                        <p:tgtEl>
                                          <p:spTgt spid="11"/>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0" nodeType="clickEffect">
                                  <p:stCondLst>
                                    <p:cond delay="0"/>
                                  </p:stCondLst>
                                  <p:childTnLst>
                                    <p:animEffect transition="out" filter="fade">
                                      <p:cBhvr>
                                        <p:cTn id="22" dur="500"/>
                                        <p:tgtEl>
                                          <p:spTgt spid="12"/>
                                        </p:tgtEl>
                                      </p:cBhvr>
                                    </p:animEffect>
                                    <p:set>
                                      <p:cBhvr>
                                        <p:cTn id="23" dur="1" fill="hold">
                                          <p:stCondLst>
                                            <p:cond delay="499"/>
                                          </p:stCondLst>
                                        </p:cTn>
                                        <p:tgtEl>
                                          <p:spTgt spid="12"/>
                                        </p:tgtEl>
                                        <p:attrNameLst>
                                          <p:attrName>style.visibility</p:attrName>
                                        </p:attrNameLst>
                                      </p:cBhvr>
                                      <p:to>
                                        <p:strVal val="hidden"/>
                                      </p:to>
                                    </p:set>
                                  </p:childTnLst>
                                </p:cTn>
                              </p:par>
                              <p:par>
                                <p:cTn id="24" presetID="10" presetClass="exit" presetSubtype="0" fill="hold" grpId="0" nodeType="withEffect">
                                  <p:stCondLst>
                                    <p:cond delay="0"/>
                                  </p:stCondLst>
                                  <p:childTnLst>
                                    <p:animEffect transition="out" filter="fade">
                                      <p:cBhvr>
                                        <p:cTn id="25" dur="500"/>
                                        <p:tgtEl>
                                          <p:spTgt spid="13"/>
                                        </p:tgtEl>
                                      </p:cBhvr>
                                    </p:animEffect>
                                    <p:set>
                                      <p:cBhvr>
                                        <p:cTn id="26"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C4EAE-5A9E-4E5C-9CA5-85188F1A2459}"/>
              </a:ext>
            </a:extLst>
          </p:cNvPr>
          <p:cNvSpPr>
            <a:spLocks noGrp="1"/>
          </p:cNvSpPr>
          <p:nvPr>
            <p:ph type="title"/>
          </p:nvPr>
        </p:nvSpPr>
        <p:spPr>
          <a:xfrm>
            <a:off x="830385" y="63022"/>
            <a:ext cx="10515600" cy="570025"/>
          </a:xfrm>
        </p:spPr>
        <p:txBody>
          <a:bodyPr>
            <a:normAutofit fontScale="90000"/>
          </a:bodyPr>
          <a:lstStyle/>
          <a:p>
            <a:r>
              <a:rPr lang="en-US" dirty="0"/>
              <a:t>ROC Curve</a:t>
            </a:r>
          </a:p>
        </p:txBody>
      </p:sp>
      <p:graphicFrame>
        <p:nvGraphicFramePr>
          <p:cNvPr id="5" name="Chart 4">
            <a:extLst>
              <a:ext uri="{FF2B5EF4-FFF2-40B4-BE49-F238E27FC236}">
                <a16:creationId xmlns:a16="http://schemas.microsoft.com/office/drawing/2014/main" id="{F9ADCB85-A85E-46FB-8EB3-8FE6E61E75CA}"/>
              </a:ext>
            </a:extLst>
          </p:cNvPr>
          <p:cNvGraphicFramePr>
            <a:graphicFrameLocks noGrp="1"/>
          </p:cNvGraphicFramePr>
          <p:nvPr/>
        </p:nvGraphicFramePr>
        <p:xfrm>
          <a:off x="3151818" y="1383325"/>
          <a:ext cx="4782312" cy="438912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748A01C2-7DF7-451F-96B4-5DF8AD4C6D4C}"/>
              </a:ext>
            </a:extLst>
          </p:cNvPr>
          <p:cNvSpPr txBox="1"/>
          <p:nvPr/>
        </p:nvSpPr>
        <p:spPr>
          <a:xfrm>
            <a:off x="3266831" y="163368"/>
            <a:ext cx="3425425" cy="369332"/>
          </a:xfrm>
          <a:prstGeom prst="rect">
            <a:avLst/>
          </a:prstGeom>
          <a:noFill/>
        </p:spPr>
        <p:txBody>
          <a:bodyPr wrap="none" rtlCol="0">
            <a:spAutoFit/>
          </a:bodyPr>
          <a:lstStyle/>
          <a:p>
            <a:r>
              <a:rPr lang="en-US" dirty="0">
                <a:solidFill>
                  <a:schemeClr val="bg1">
                    <a:lumMod val="50000"/>
                  </a:schemeClr>
                </a:solidFill>
              </a:rPr>
              <a:t>(Receiver Operating Characteristic)</a:t>
            </a:r>
          </a:p>
        </p:txBody>
      </p:sp>
      <p:sp>
        <p:nvSpPr>
          <p:cNvPr id="7" name="TextBox 6">
            <a:extLst>
              <a:ext uri="{FF2B5EF4-FFF2-40B4-BE49-F238E27FC236}">
                <a16:creationId xmlns:a16="http://schemas.microsoft.com/office/drawing/2014/main" id="{1506F106-3CC4-4BFD-9468-03CFED91FCB8}"/>
              </a:ext>
            </a:extLst>
          </p:cNvPr>
          <p:cNvSpPr txBox="1"/>
          <p:nvPr/>
        </p:nvSpPr>
        <p:spPr>
          <a:xfrm>
            <a:off x="8522643" y="3520831"/>
            <a:ext cx="3349956" cy="923330"/>
          </a:xfrm>
          <a:prstGeom prst="rect">
            <a:avLst/>
          </a:prstGeom>
          <a:noFill/>
        </p:spPr>
        <p:txBody>
          <a:bodyPr wrap="none" rtlCol="0">
            <a:spAutoFit/>
          </a:bodyPr>
          <a:lstStyle/>
          <a:p>
            <a:r>
              <a:rPr lang="en-US" dirty="0"/>
              <a:t>Sweep threshold from 0 to 1</a:t>
            </a:r>
          </a:p>
          <a:p>
            <a:pPr marL="285750" indent="-285750">
              <a:buFont typeface="Arial" panose="020B0604020202020204" pitchFamily="34" charset="0"/>
              <a:buChar char="•"/>
            </a:pPr>
            <a:r>
              <a:rPr lang="en-US" dirty="0"/>
              <a:t>Threshold 0: ‘all’ classified as 1</a:t>
            </a:r>
          </a:p>
          <a:p>
            <a:pPr marL="285750" indent="-285750">
              <a:buFont typeface="Arial" panose="020B0604020202020204" pitchFamily="34" charset="0"/>
              <a:buChar char="•"/>
            </a:pPr>
            <a:r>
              <a:rPr lang="en-US" dirty="0"/>
              <a:t>Threshold 1: ‘all’ classified as 0</a:t>
            </a:r>
          </a:p>
        </p:txBody>
      </p:sp>
      <p:cxnSp>
        <p:nvCxnSpPr>
          <p:cNvPr id="8" name="Straight Connector 7">
            <a:extLst>
              <a:ext uri="{FF2B5EF4-FFF2-40B4-BE49-F238E27FC236}">
                <a16:creationId xmlns:a16="http://schemas.microsoft.com/office/drawing/2014/main" id="{9C3D66DA-720C-4DE3-8F34-B24F22946015}"/>
              </a:ext>
            </a:extLst>
          </p:cNvPr>
          <p:cNvCxnSpPr>
            <a:cxnSpLocks/>
          </p:cNvCxnSpPr>
          <p:nvPr/>
        </p:nvCxnSpPr>
        <p:spPr>
          <a:xfrm>
            <a:off x="7229228" y="2141416"/>
            <a:ext cx="1094157" cy="149079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049425E-03FA-4EF5-A123-2E0F1BDF97E7}"/>
              </a:ext>
            </a:extLst>
          </p:cNvPr>
          <p:cNvCxnSpPr>
            <a:cxnSpLocks/>
          </p:cNvCxnSpPr>
          <p:nvPr/>
        </p:nvCxnSpPr>
        <p:spPr>
          <a:xfrm>
            <a:off x="5165966" y="2203940"/>
            <a:ext cx="3118342" cy="153962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2D57167-6139-43A7-AC8B-7019107F4277}"/>
              </a:ext>
            </a:extLst>
          </p:cNvPr>
          <p:cNvCxnSpPr>
            <a:cxnSpLocks/>
          </p:cNvCxnSpPr>
          <p:nvPr/>
        </p:nvCxnSpPr>
        <p:spPr>
          <a:xfrm flipV="1">
            <a:off x="4063996" y="3845169"/>
            <a:ext cx="4212496" cy="48455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060B4F5-CCBD-43F5-9333-64866FD9D889}"/>
              </a:ext>
            </a:extLst>
          </p:cNvPr>
          <p:cNvCxnSpPr>
            <a:cxnSpLocks/>
          </p:cNvCxnSpPr>
          <p:nvPr/>
        </p:nvCxnSpPr>
        <p:spPr>
          <a:xfrm flipV="1">
            <a:off x="3989618" y="4308446"/>
            <a:ext cx="4533025" cy="114671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AA15CEF-0E14-4B07-A4E8-363278E8EDB7}"/>
              </a:ext>
            </a:extLst>
          </p:cNvPr>
          <p:cNvCxnSpPr>
            <a:cxnSpLocks/>
          </p:cNvCxnSpPr>
          <p:nvPr/>
        </p:nvCxnSpPr>
        <p:spPr>
          <a:xfrm flipH="1" flipV="1">
            <a:off x="7783786" y="2055881"/>
            <a:ext cx="783121" cy="180508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97A8A3C-1AFC-4E4D-81F0-DBBC51E452D6}"/>
              </a:ext>
            </a:extLst>
          </p:cNvPr>
          <p:cNvSpPr txBox="1"/>
          <p:nvPr/>
        </p:nvSpPr>
        <p:spPr>
          <a:xfrm>
            <a:off x="415684" y="5015445"/>
            <a:ext cx="2736134" cy="369332"/>
          </a:xfrm>
          <a:prstGeom prst="rect">
            <a:avLst/>
          </a:prstGeom>
          <a:noFill/>
        </p:spPr>
        <p:txBody>
          <a:bodyPr wrap="none" rtlCol="0">
            <a:spAutoFit/>
          </a:bodyPr>
          <a:lstStyle/>
          <a:p>
            <a:r>
              <a:rPr lang="en-US" dirty="0"/>
              <a:t>Percent of 1s classified as 0</a:t>
            </a:r>
          </a:p>
        </p:txBody>
      </p:sp>
      <p:cxnSp>
        <p:nvCxnSpPr>
          <p:cNvPr id="24" name="Straight Connector 23">
            <a:extLst>
              <a:ext uri="{FF2B5EF4-FFF2-40B4-BE49-F238E27FC236}">
                <a16:creationId xmlns:a16="http://schemas.microsoft.com/office/drawing/2014/main" id="{BB198779-A610-4A61-9A3E-E20493911D3A}"/>
              </a:ext>
            </a:extLst>
          </p:cNvPr>
          <p:cNvCxnSpPr>
            <a:cxnSpLocks/>
            <a:stCxn id="23" idx="0"/>
          </p:cNvCxnSpPr>
          <p:nvPr/>
        </p:nvCxnSpPr>
        <p:spPr>
          <a:xfrm flipV="1">
            <a:off x="1783751" y="3991303"/>
            <a:ext cx="1475262" cy="102414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FC9C759F-3561-45F2-A037-79E9F7D65288}"/>
              </a:ext>
            </a:extLst>
          </p:cNvPr>
          <p:cNvSpPr txBox="1"/>
          <p:nvPr/>
        </p:nvSpPr>
        <p:spPr>
          <a:xfrm>
            <a:off x="7601930" y="544663"/>
            <a:ext cx="2736134" cy="369332"/>
          </a:xfrm>
          <a:prstGeom prst="rect">
            <a:avLst/>
          </a:prstGeom>
          <a:noFill/>
        </p:spPr>
        <p:txBody>
          <a:bodyPr wrap="square" rtlCol="0">
            <a:spAutoFit/>
          </a:bodyPr>
          <a:lstStyle/>
          <a:p>
            <a:r>
              <a:rPr lang="en-US" dirty="0"/>
              <a:t>Percent of 0s classified as 1</a:t>
            </a:r>
          </a:p>
        </p:txBody>
      </p:sp>
      <p:cxnSp>
        <p:nvCxnSpPr>
          <p:cNvPr id="28" name="Straight Connector 27">
            <a:extLst>
              <a:ext uri="{FF2B5EF4-FFF2-40B4-BE49-F238E27FC236}">
                <a16:creationId xmlns:a16="http://schemas.microsoft.com/office/drawing/2014/main" id="{19CD6F54-D488-400B-BC78-D0ABC8C0BA41}"/>
              </a:ext>
            </a:extLst>
          </p:cNvPr>
          <p:cNvCxnSpPr>
            <a:cxnSpLocks/>
          </p:cNvCxnSpPr>
          <p:nvPr/>
        </p:nvCxnSpPr>
        <p:spPr>
          <a:xfrm flipH="1">
            <a:off x="7229228" y="913995"/>
            <a:ext cx="1740769" cy="61371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3C8C27CA-307A-42F4-8627-6BE8A363C65E}"/>
              </a:ext>
            </a:extLst>
          </p:cNvPr>
          <p:cNvSpPr/>
          <p:nvPr/>
        </p:nvSpPr>
        <p:spPr>
          <a:xfrm>
            <a:off x="3784595" y="1855955"/>
            <a:ext cx="205023" cy="199924"/>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B3075C07-4E35-4D24-9BC3-4786CA4CC203}"/>
              </a:ext>
            </a:extLst>
          </p:cNvPr>
          <p:cNvSpPr txBox="1"/>
          <p:nvPr/>
        </p:nvSpPr>
        <p:spPr>
          <a:xfrm>
            <a:off x="530697" y="874621"/>
            <a:ext cx="2032608" cy="923330"/>
          </a:xfrm>
          <a:prstGeom prst="rect">
            <a:avLst/>
          </a:prstGeom>
          <a:noFill/>
        </p:spPr>
        <p:txBody>
          <a:bodyPr wrap="none" rtlCol="0">
            <a:spAutoFit/>
          </a:bodyPr>
          <a:lstStyle/>
          <a:p>
            <a:r>
              <a:rPr lang="en-US" dirty="0"/>
              <a:t>Perfect score:</a:t>
            </a:r>
          </a:p>
          <a:p>
            <a:pPr marL="285750" indent="-285750">
              <a:buFont typeface="Arial" panose="020B0604020202020204" pitchFamily="34" charset="0"/>
              <a:buChar char="•"/>
            </a:pPr>
            <a:r>
              <a:rPr lang="en-US" dirty="0"/>
              <a:t>0% of 1s called 0</a:t>
            </a:r>
          </a:p>
          <a:p>
            <a:pPr marL="285750" indent="-285750">
              <a:buFont typeface="Arial" panose="020B0604020202020204" pitchFamily="34" charset="0"/>
              <a:buChar char="•"/>
            </a:pPr>
            <a:r>
              <a:rPr lang="en-US" dirty="0"/>
              <a:t>0% of 0s called 1</a:t>
            </a:r>
          </a:p>
        </p:txBody>
      </p:sp>
      <p:cxnSp>
        <p:nvCxnSpPr>
          <p:cNvPr id="35" name="Straight Connector 34">
            <a:extLst>
              <a:ext uri="{FF2B5EF4-FFF2-40B4-BE49-F238E27FC236}">
                <a16:creationId xmlns:a16="http://schemas.microsoft.com/office/drawing/2014/main" id="{E14891D9-4F1E-419B-AA9E-3CB4F65DABA0}"/>
              </a:ext>
            </a:extLst>
          </p:cNvPr>
          <p:cNvCxnSpPr>
            <a:cxnSpLocks/>
            <a:stCxn id="34" idx="3"/>
          </p:cNvCxnSpPr>
          <p:nvPr/>
        </p:nvCxnSpPr>
        <p:spPr>
          <a:xfrm>
            <a:off x="2563305" y="1336286"/>
            <a:ext cx="1120534" cy="50627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D861266-2059-4DA8-A74C-2F3D0D889758}"/>
              </a:ext>
            </a:extLst>
          </p:cNvPr>
          <p:cNvCxnSpPr>
            <a:cxnSpLocks/>
          </p:cNvCxnSpPr>
          <p:nvPr/>
        </p:nvCxnSpPr>
        <p:spPr>
          <a:xfrm flipH="1" flipV="1">
            <a:off x="3875314" y="1963695"/>
            <a:ext cx="321542" cy="318853"/>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83F4E57-23DB-47F2-95BE-EC6DB3D11102}"/>
              </a:ext>
            </a:extLst>
          </p:cNvPr>
          <p:cNvCxnSpPr>
            <a:cxnSpLocks/>
          </p:cNvCxnSpPr>
          <p:nvPr/>
        </p:nvCxnSpPr>
        <p:spPr>
          <a:xfrm flipV="1">
            <a:off x="2328660" y="2203940"/>
            <a:ext cx="1660958" cy="86414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71024C6B-12DA-4F78-8684-C45A1D6528DA}"/>
              </a:ext>
            </a:extLst>
          </p:cNvPr>
          <p:cNvSpPr txBox="1"/>
          <p:nvPr/>
        </p:nvSpPr>
        <p:spPr>
          <a:xfrm>
            <a:off x="175393" y="2985881"/>
            <a:ext cx="2231445" cy="646331"/>
          </a:xfrm>
          <a:prstGeom prst="rect">
            <a:avLst/>
          </a:prstGeom>
          <a:noFill/>
        </p:spPr>
        <p:txBody>
          <a:bodyPr wrap="none" rtlCol="0">
            <a:spAutoFit/>
          </a:bodyPr>
          <a:lstStyle/>
          <a:p>
            <a:r>
              <a:rPr lang="en-US" dirty="0"/>
              <a:t>This model’s distance </a:t>
            </a:r>
          </a:p>
          <a:p>
            <a:r>
              <a:rPr lang="en-US" dirty="0"/>
              <a:t>from perfect</a:t>
            </a:r>
          </a:p>
        </p:txBody>
      </p:sp>
    </p:spTree>
    <p:extLst>
      <p:ext uri="{BB962C8B-B14F-4D97-AF65-F5344CB8AC3E}">
        <p14:creationId xmlns:p14="http://schemas.microsoft.com/office/powerpoint/2010/main" val="1434983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 calcmode="lin" valueType="num">
                                      <p:cBhvr additive="base">
                                        <p:cTn id="7"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7">
                                            <p:txEl>
                                              <p:pRg st="0" end="0"/>
                                            </p:txEl>
                                          </p:spTgt>
                                        </p:tgtEl>
                                        <p:attrNameLst>
                                          <p:attrName>style.visibility</p:attrName>
                                        </p:attrNameLst>
                                      </p:cBhvr>
                                      <p:to>
                                        <p:strVal val="visible"/>
                                      </p:to>
                                    </p:set>
                                    <p:anim calcmode="lin" valueType="num">
                                      <p:cBhvr additive="base">
                                        <p:cTn id="17"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anim calcmode="lin" valueType="num">
                                      <p:cBhvr additive="base">
                                        <p:cTn id="21" dur="500" fill="hold"/>
                                        <p:tgtEl>
                                          <p:spTgt spid="28"/>
                                        </p:tgtEl>
                                        <p:attrNameLst>
                                          <p:attrName>ppt_x</p:attrName>
                                        </p:attrNameLst>
                                      </p:cBhvr>
                                      <p:tavLst>
                                        <p:tav tm="0">
                                          <p:val>
                                            <p:strVal val="#ppt_x"/>
                                          </p:val>
                                        </p:tav>
                                        <p:tav tm="100000">
                                          <p:val>
                                            <p:strVal val="#ppt_x"/>
                                          </p:val>
                                        </p:tav>
                                      </p:tavLst>
                                    </p:anim>
                                    <p:anim calcmode="lin" valueType="num">
                                      <p:cBhvr additive="base">
                                        <p:cTn id="2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 calcmode="lin" valueType="num">
                                      <p:cBhvr additive="base">
                                        <p:cTn id="2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childTnLst>
                          </p:cTn>
                        </p:par>
                        <p:par>
                          <p:cTn id="39" fill="hold">
                            <p:stCondLst>
                              <p:cond delay="1000"/>
                            </p:stCondLst>
                            <p:childTnLst>
                              <p:par>
                                <p:cTn id="40" presetID="10" presetClass="exit" presetSubtype="0" fill="hold" nodeType="afterEffect">
                                  <p:stCondLst>
                                    <p:cond delay="4000"/>
                                  </p:stCondLst>
                                  <p:childTnLst>
                                    <p:animEffect transition="out" filter="fade">
                                      <p:cBhvr>
                                        <p:cTn id="41" dur="2000"/>
                                        <p:tgtEl>
                                          <p:spTgt spid="13"/>
                                        </p:tgtEl>
                                      </p:cBhvr>
                                    </p:animEffect>
                                    <p:set>
                                      <p:cBhvr>
                                        <p:cTn id="42" dur="1" fill="hold">
                                          <p:stCondLst>
                                            <p:cond delay="1999"/>
                                          </p:stCondLst>
                                        </p:cTn>
                                        <p:tgtEl>
                                          <p:spTgt spid="13"/>
                                        </p:tgtEl>
                                        <p:attrNameLst>
                                          <p:attrName>style.visibility</p:attrName>
                                        </p:attrNameLst>
                                      </p:cBhvr>
                                      <p:to>
                                        <p:strVal val="hidden"/>
                                      </p:to>
                                    </p:set>
                                  </p:childTnLst>
                                </p:cTn>
                              </p:par>
                              <p:par>
                                <p:cTn id="43" presetID="10" presetClass="exit" presetSubtype="0" fill="hold" nodeType="withEffect">
                                  <p:stCondLst>
                                    <p:cond delay="4000"/>
                                  </p:stCondLst>
                                  <p:childTnLst>
                                    <p:animEffect transition="out" filter="fade">
                                      <p:cBhvr>
                                        <p:cTn id="44" dur="2000"/>
                                        <p:tgtEl>
                                          <p:spTgt spid="11"/>
                                        </p:tgtEl>
                                      </p:cBhvr>
                                    </p:animEffect>
                                    <p:set>
                                      <p:cBhvr>
                                        <p:cTn id="45" dur="1" fill="hold">
                                          <p:stCondLst>
                                            <p:cond delay="1999"/>
                                          </p:stCondLst>
                                        </p:cTn>
                                        <p:tgtEl>
                                          <p:spTgt spid="11"/>
                                        </p:tgtEl>
                                        <p:attrNameLst>
                                          <p:attrName>style.visibility</p:attrName>
                                        </p:attrNameLst>
                                      </p:cBhvr>
                                      <p:to>
                                        <p:strVal val="hidden"/>
                                      </p:to>
                                    </p:set>
                                  </p:childTnLst>
                                </p:cTn>
                              </p:par>
                              <p:par>
                                <p:cTn id="46" presetID="10" presetClass="exit" presetSubtype="0" fill="hold" nodeType="withEffect">
                                  <p:stCondLst>
                                    <p:cond delay="4000"/>
                                  </p:stCondLst>
                                  <p:childTnLst>
                                    <p:animEffect transition="out" filter="fade">
                                      <p:cBhvr>
                                        <p:cTn id="47" dur="2000"/>
                                        <p:tgtEl>
                                          <p:spTgt spid="8"/>
                                        </p:tgtEl>
                                      </p:cBhvr>
                                    </p:animEffect>
                                    <p:set>
                                      <p:cBhvr>
                                        <p:cTn id="48" dur="1" fill="hold">
                                          <p:stCondLst>
                                            <p:cond delay="1999"/>
                                          </p:stCondLst>
                                        </p:cTn>
                                        <p:tgtEl>
                                          <p:spTgt spid="8"/>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7">
                                            <p:txEl>
                                              <p:pRg st="1" end="1"/>
                                            </p:txEl>
                                          </p:spTgt>
                                        </p:tgtEl>
                                        <p:attrNameLst>
                                          <p:attrName>style.visibility</p:attrName>
                                        </p:attrNameLst>
                                      </p:cBhvr>
                                      <p:to>
                                        <p:strVal val="visible"/>
                                      </p:to>
                                    </p:set>
                                    <p:anim calcmode="lin" valueType="num">
                                      <p:cBhvr additive="base">
                                        <p:cTn id="5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7">
                                            <p:txEl>
                                              <p:pRg st="1" end="1"/>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 calcmode="lin" valueType="num">
                                      <p:cBhvr additive="base">
                                        <p:cTn id="57" dur="500" fill="hold"/>
                                        <p:tgtEl>
                                          <p:spTgt spid="20"/>
                                        </p:tgtEl>
                                        <p:attrNameLst>
                                          <p:attrName>ppt_x</p:attrName>
                                        </p:attrNameLst>
                                      </p:cBhvr>
                                      <p:tavLst>
                                        <p:tav tm="0">
                                          <p:val>
                                            <p:strVal val="#ppt_x"/>
                                          </p:val>
                                        </p:tav>
                                        <p:tav tm="100000">
                                          <p:val>
                                            <p:strVal val="#ppt_x"/>
                                          </p:val>
                                        </p:tav>
                                      </p:tavLst>
                                    </p:anim>
                                    <p:anim calcmode="lin" valueType="num">
                                      <p:cBhvr additive="base">
                                        <p:cTn id="5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7">
                                            <p:txEl>
                                              <p:pRg st="2" end="2"/>
                                            </p:txEl>
                                          </p:spTgt>
                                        </p:tgtEl>
                                        <p:attrNameLst>
                                          <p:attrName>style.visibility</p:attrName>
                                        </p:attrNameLst>
                                      </p:cBhvr>
                                      <p:to>
                                        <p:strVal val="visible"/>
                                      </p:to>
                                    </p:set>
                                    <p:anim calcmode="lin" valueType="num">
                                      <p:cBhvr additive="base">
                                        <p:cTn id="6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7">
                                            <p:txEl>
                                              <p:pRg st="2" end="2"/>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500" fill="hold"/>
                                        <p:tgtEl>
                                          <p:spTgt spid="17"/>
                                        </p:tgtEl>
                                        <p:attrNameLst>
                                          <p:attrName>ppt_x</p:attrName>
                                        </p:attrNameLst>
                                      </p:cBhvr>
                                      <p:tavLst>
                                        <p:tav tm="0">
                                          <p:val>
                                            <p:strVal val="#ppt_x"/>
                                          </p:val>
                                        </p:tav>
                                        <p:tav tm="100000">
                                          <p:val>
                                            <p:strVal val="#ppt_x"/>
                                          </p:val>
                                        </p:tav>
                                      </p:tavLst>
                                    </p:anim>
                                    <p:anim calcmode="lin" valueType="num">
                                      <p:cBhvr additive="base">
                                        <p:cTn id="6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4">
                                            <p:txEl>
                                              <p:pRg st="0" end="0"/>
                                            </p:txEl>
                                          </p:spTgt>
                                        </p:tgtEl>
                                        <p:attrNameLst>
                                          <p:attrName>style.visibility</p:attrName>
                                        </p:attrNameLst>
                                      </p:cBhvr>
                                      <p:to>
                                        <p:strVal val="visible"/>
                                      </p:to>
                                    </p:set>
                                    <p:anim calcmode="lin" valueType="num">
                                      <p:cBhvr additive="base">
                                        <p:cTn id="73"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4">
                                            <p:txEl>
                                              <p:pRg st="0" end="0"/>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34">
                                            <p:txEl>
                                              <p:pRg st="1" end="1"/>
                                            </p:txEl>
                                          </p:spTgt>
                                        </p:tgtEl>
                                        <p:attrNameLst>
                                          <p:attrName>style.visibility</p:attrName>
                                        </p:attrNameLst>
                                      </p:cBhvr>
                                      <p:to>
                                        <p:strVal val="visible"/>
                                      </p:to>
                                    </p:set>
                                    <p:anim calcmode="lin" valueType="num">
                                      <p:cBhvr additive="base">
                                        <p:cTn id="77" dur="500" fill="hold"/>
                                        <p:tgtEl>
                                          <p:spTgt spid="34">
                                            <p:txEl>
                                              <p:pRg st="1" end="1"/>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34">
                                            <p:txEl>
                                              <p:pRg st="1" end="1"/>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34">
                                            <p:txEl>
                                              <p:pRg st="2" end="2"/>
                                            </p:txEl>
                                          </p:spTgt>
                                        </p:tgtEl>
                                        <p:attrNameLst>
                                          <p:attrName>style.visibility</p:attrName>
                                        </p:attrNameLst>
                                      </p:cBhvr>
                                      <p:to>
                                        <p:strVal val="visible"/>
                                      </p:to>
                                    </p:set>
                                    <p:anim calcmode="lin" valueType="num">
                                      <p:cBhvr additive="base">
                                        <p:cTn id="81" dur="500" fill="hold"/>
                                        <p:tgtEl>
                                          <p:spTgt spid="34">
                                            <p:txEl>
                                              <p:pRg st="2" end="2"/>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34">
                                            <p:txEl>
                                              <p:pRg st="2" end="2"/>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35"/>
                                        </p:tgtEl>
                                        <p:attrNameLst>
                                          <p:attrName>style.visibility</p:attrName>
                                        </p:attrNameLst>
                                      </p:cBhvr>
                                      <p:to>
                                        <p:strVal val="visible"/>
                                      </p:to>
                                    </p:set>
                                    <p:anim calcmode="lin" valueType="num">
                                      <p:cBhvr additive="base">
                                        <p:cTn id="85" dur="500" fill="hold"/>
                                        <p:tgtEl>
                                          <p:spTgt spid="35"/>
                                        </p:tgtEl>
                                        <p:attrNameLst>
                                          <p:attrName>ppt_x</p:attrName>
                                        </p:attrNameLst>
                                      </p:cBhvr>
                                      <p:tavLst>
                                        <p:tav tm="0">
                                          <p:val>
                                            <p:strVal val="#ppt_x"/>
                                          </p:val>
                                        </p:tav>
                                        <p:tav tm="100000">
                                          <p:val>
                                            <p:strVal val="#ppt_x"/>
                                          </p:val>
                                        </p:tav>
                                      </p:tavLst>
                                    </p:anim>
                                    <p:anim calcmode="lin" valueType="num">
                                      <p:cBhvr additive="base">
                                        <p:cTn id="86" dur="500" fill="hold"/>
                                        <p:tgtEl>
                                          <p:spTgt spid="35"/>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33"/>
                                        </p:tgtEl>
                                        <p:attrNameLst>
                                          <p:attrName>style.visibility</p:attrName>
                                        </p:attrNameLst>
                                      </p:cBhvr>
                                      <p:to>
                                        <p:strVal val="visible"/>
                                      </p:to>
                                    </p:set>
                                    <p:anim calcmode="lin" valueType="num">
                                      <p:cBhvr additive="base">
                                        <p:cTn id="89" dur="500" fill="hold"/>
                                        <p:tgtEl>
                                          <p:spTgt spid="33"/>
                                        </p:tgtEl>
                                        <p:attrNameLst>
                                          <p:attrName>ppt_x</p:attrName>
                                        </p:attrNameLst>
                                      </p:cBhvr>
                                      <p:tavLst>
                                        <p:tav tm="0">
                                          <p:val>
                                            <p:strVal val="#ppt_x"/>
                                          </p:val>
                                        </p:tav>
                                        <p:tav tm="100000">
                                          <p:val>
                                            <p:strVal val="#ppt_x"/>
                                          </p:val>
                                        </p:tav>
                                      </p:tavLst>
                                    </p:anim>
                                    <p:anim calcmode="lin" valueType="num">
                                      <p:cBhvr additive="base">
                                        <p:cTn id="90"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56">
                                            <p:txEl>
                                              <p:pRg st="0" end="0"/>
                                            </p:txEl>
                                          </p:spTgt>
                                        </p:tgtEl>
                                        <p:attrNameLst>
                                          <p:attrName>style.visibility</p:attrName>
                                        </p:attrNameLst>
                                      </p:cBhvr>
                                      <p:to>
                                        <p:strVal val="visible"/>
                                      </p:to>
                                    </p:set>
                                    <p:anim calcmode="lin" valueType="num">
                                      <p:cBhvr additive="base">
                                        <p:cTn id="95" dur="500" fill="hold"/>
                                        <p:tgtEl>
                                          <p:spTgt spid="56">
                                            <p:txEl>
                                              <p:pRg st="0" end="0"/>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56">
                                            <p:txEl>
                                              <p:pRg st="0" end="0"/>
                                            </p:txEl>
                                          </p:spTgt>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56">
                                            <p:txEl>
                                              <p:pRg st="1" end="1"/>
                                            </p:txEl>
                                          </p:spTgt>
                                        </p:tgtEl>
                                        <p:attrNameLst>
                                          <p:attrName>style.visibility</p:attrName>
                                        </p:attrNameLst>
                                      </p:cBhvr>
                                      <p:to>
                                        <p:strVal val="visible"/>
                                      </p:to>
                                    </p:set>
                                    <p:anim calcmode="lin" valueType="num">
                                      <p:cBhvr additive="base">
                                        <p:cTn id="99" dur="500" fill="hold"/>
                                        <p:tgtEl>
                                          <p:spTgt spid="56">
                                            <p:txEl>
                                              <p:pRg st="1" end="1"/>
                                            </p:txEl>
                                          </p:spTgt>
                                        </p:tgtEl>
                                        <p:attrNameLst>
                                          <p:attrName>ppt_x</p:attrName>
                                        </p:attrNameLst>
                                      </p:cBhvr>
                                      <p:tavLst>
                                        <p:tav tm="0">
                                          <p:val>
                                            <p:strVal val="#ppt_x"/>
                                          </p:val>
                                        </p:tav>
                                        <p:tav tm="100000">
                                          <p:val>
                                            <p:strVal val="#ppt_x"/>
                                          </p:val>
                                        </p:tav>
                                      </p:tavLst>
                                    </p:anim>
                                    <p:anim calcmode="lin" valueType="num">
                                      <p:cBhvr additive="base">
                                        <p:cTn id="100" dur="500" fill="hold"/>
                                        <p:tgtEl>
                                          <p:spTgt spid="56">
                                            <p:txEl>
                                              <p:pRg st="1" end="1"/>
                                            </p:txEl>
                                          </p:spTgt>
                                        </p:tgtEl>
                                        <p:attrNameLst>
                                          <p:attrName>ppt_y</p:attrName>
                                        </p:attrNameLst>
                                      </p:cBhvr>
                                      <p:tavLst>
                                        <p:tav tm="0">
                                          <p:val>
                                            <p:strVal val="1+#ppt_h/2"/>
                                          </p:val>
                                        </p:tav>
                                        <p:tav tm="100000">
                                          <p:val>
                                            <p:strVal val="#ppt_y"/>
                                          </p:val>
                                        </p:tav>
                                      </p:tavLst>
                                    </p:anim>
                                  </p:childTnLst>
                                </p:cTn>
                              </p:par>
                              <p:par>
                                <p:cTn id="101" presetID="2" presetClass="entr" presetSubtype="4" fill="hold" nodeType="withEffect">
                                  <p:stCondLst>
                                    <p:cond delay="0"/>
                                  </p:stCondLst>
                                  <p:childTnLst>
                                    <p:set>
                                      <p:cBhvr>
                                        <p:cTn id="102" dur="1" fill="hold">
                                          <p:stCondLst>
                                            <p:cond delay="0"/>
                                          </p:stCondLst>
                                        </p:cTn>
                                        <p:tgtEl>
                                          <p:spTgt spid="50"/>
                                        </p:tgtEl>
                                        <p:attrNameLst>
                                          <p:attrName>style.visibility</p:attrName>
                                        </p:attrNameLst>
                                      </p:cBhvr>
                                      <p:to>
                                        <p:strVal val="visible"/>
                                      </p:to>
                                    </p:set>
                                    <p:anim calcmode="lin" valueType="num">
                                      <p:cBhvr additive="base">
                                        <p:cTn id="103" dur="500" fill="hold"/>
                                        <p:tgtEl>
                                          <p:spTgt spid="50"/>
                                        </p:tgtEl>
                                        <p:attrNameLst>
                                          <p:attrName>ppt_x</p:attrName>
                                        </p:attrNameLst>
                                      </p:cBhvr>
                                      <p:tavLst>
                                        <p:tav tm="0">
                                          <p:val>
                                            <p:strVal val="#ppt_x"/>
                                          </p:val>
                                        </p:tav>
                                        <p:tav tm="100000">
                                          <p:val>
                                            <p:strVal val="#ppt_x"/>
                                          </p:val>
                                        </p:tav>
                                      </p:tavLst>
                                    </p:anim>
                                    <p:anim calcmode="lin" valueType="num">
                                      <p:cBhvr additive="base">
                                        <p:cTn id="104" dur="500" fill="hold"/>
                                        <p:tgtEl>
                                          <p:spTgt spid="50"/>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53"/>
                                        </p:tgtEl>
                                        <p:attrNameLst>
                                          <p:attrName>style.visibility</p:attrName>
                                        </p:attrNameLst>
                                      </p:cBhvr>
                                      <p:to>
                                        <p:strVal val="visible"/>
                                      </p:to>
                                    </p:set>
                                    <p:anim calcmode="lin" valueType="num">
                                      <p:cBhvr additive="base">
                                        <p:cTn id="107" dur="500" fill="hold"/>
                                        <p:tgtEl>
                                          <p:spTgt spid="53"/>
                                        </p:tgtEl>
                                        <p:attrNameLst>
                                          <p:attrName>ppt_x</p:attrName>
                                        </p:attrNameLst>
                                      </p:cBhvr>
                                      <p:tavLst>
                                        <p:tav tm="0">
                                          <p:val>
                                            <p:strVal val="#ppt_x"/>
                                          </p:val>
                                        </p:tav>
                                        <p:tav tm="100000">
                                          <p:val>
                                            <p:strVal val="#ppt_x"/>
                                          </p:val>
                                        </p:tav>
                                      </p:tavLst>
                                    </p:anim>
                                    <p:anim calcmode="lin" valueType="num">
                                      <p:cBhvr additive="base">
                                        <p:cTn id="10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C4EAE-5A9E-4E5C-9CA5-85188F1A2459}"/>
              </a:ext>
            </a:extLst>
          </p:cNvPr>
          <p:cNvSpPr>
            <a:spLocks noGrp="1"/>
          </p:cNvSpPr>
          <p:nvPr>
            <p:ph type="title"/>
          </p:nvPr>
        </p:nvSpPr>
        <p:spPr>
          <a:xfrm>
            <a:off x="830385" y="63022"/>
            <a:ext cx="10515600" cy="570025"/>
          </a:xfrm>
        </p:spPr>
        <p:txBody>
          <a:bodyPr>
            <a:normAutofit fontScale="90000"/>
          </a:bodyPr>
          <a:lstStyle/>
          <a:p>
            <a:r>
              <a:rPr lang="en-US" dirty="0"/>
              <a:t>Operating Points</a:t>
            </a:r>
          </a:p>
        </p:txBody>
      </p:sp>
      <p:graphicFrame>
        <p:nvGraphicFramePr>
          <p:cNvPr id="5" name="Chart 4">
            <a:extLst>
              <a:ext uri="{FF2B5EF4-FFF2-40B4-BE49-F238E27FC236}">
                <a16:creationId xmlns:a16="http://schemas.microsoft.com/office/drawing/2014/main" id="{F9ADCB85-A85E-46FB-8EB3-8FE6E61E75CA}"/>
              </a:ext>
            </a:extLst>
          </p:cNvPr>
          <p:cNvGraphicFramePr>
            <a:graphicFrameLocks noGrp="1"/>
          </p:cNvGraphicFramePr>
          <p:nvPr/>
        </p:nvGraphicFramePr>
        <p:xfrm>
          <a:off x="3151818" y="1383325"/>
          <a:ext cx="4782312" cy="4389120"/>
        </p:xfrm>
        <a:graphic>
          <a:graphicData uri="http://schemas.openxmlformats.org/drawingml/2006/chart">
            <c:chart xmlns:c="http://schemas.openxmlformats.org/drawingml/2006/chart" xmlns:r="http://schemas.openxmlformats.org/officeDocument/2006/relationships" r:id="rId2"/>
          </a:graphicData>
        </a:graphic>
      </p:graphicFrame>
      <p:cxnSp>
        <p:nvCxnSpPr>
          <p:cNvPr id="53" name="Straight Connector 52">
            <a:extLst>
              <a:ext uri="{FF2B5EF4-FFF2-40B4-BE49-F238E27FC236}">
                <a16:creationId xmlns:a16="http://schemas.microsoft.com/office/drawing/2014/main" id="{B83F4E57-23DB-47F2-95BE-EC6DB3D11102}"/>
              </a:ext>
            </a:extLst>
          </p:cNvPr>
          <p:cNvCxnSpPr>
            <a:cxnSpLocks/>
          </p:cNvCxnSpPr>
          <p:nvPr/>
        </p:nvCxnSpPr>
        <p:spPr>
          <a:xfrm>
            <a:off x="3743569" y="1085555"/>
            <a:ext cx="945662" cy="97770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71024C6B-12DA-4F78-8684-C45A1D6528DA}"/>
              </a:ext>
            </a:extLst>
          </p:cNvPr>
          <p:cNvSpPr txBox="1"/>
          <p:nvPr/>
        </p:nvSpPr>
        <p:spPr>
          <a:xfrm>
            <a:off x="2901481" y="832786"/>
            <a:ext cx="1037015" cy="276999"/>
          </a:xfrm>
          <a:prstGeom prst="rect">
            <a:avLst/>
          </a:prstGeom>
          <a:noFill/>
        </p:spPr>
        <p:txBody>
          <a:bodyPr wrap="none" rtlCol="0">
            <a:spAutoFit/>
          </a:bodyPr>
          <a:lstStyle/>
          <a:p>
            <a:r>
              <a:rPr lang="en-US" sz="1200" dirty="0"/>
              <a:t>Threshold .05</a:t>
            </a:r>
          </a:p>
        </p:txBody>
      </p:sp>
      <p:cxnSp>
        <p:nvCxnSpPr>
          <p:cNvPr id="26" name="Straight Connector 25">
            <a:extLst>
              <a:ext uri="{FF2B5EF4-FFF2-40B4-BE49-F238E27FC236}">
                <a16:creationId xmlns:a16="http://schemas.microsoft.com/office/drawing/2014/main" id="{B3E96BAB-1736-40D2-AE65-6BB71C62E2FA}"/>
              </a:ext>
            </a:extLst>
          </p:cNvPr>
          <p:cNvCxnSpPr>
            <a:cxnSpLocks/>
          </p:cNvCxnSpPr>
          <p:nvPr/>
        </p:nvCxnSpPr>
        <p:spPr>
          <a:xfrm flipH="1">
            <a:off x="5439508" y="745587"/>
            <a:ext cx="399341" cy="12629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B24BFC9-1BE1-4B99-B5F0-1AF0993E58A6}"/>
              </a:ext>
            </a:extLst>
          </p:cNvPr>
          <p:cNvSpPr txBox="1"/>
          <p:nvPr/>
        </p:nvSpPr>
        <p:spPr>
          <a:xfrm>
            <a:off x="5734558" y="527372"/>
            <a:ext cx="1037015" cy="276999"/>
          </a:xfrm>
          <a:prstGeom prst="rect">
            <a:avLst/>
          </a:prstGeom>
          <a:noFill/>
        </p:spPr>
        <p:txBody>
          <a:bodyPr wrap="none" rtlCol="0">
            <a:spAutoFit/>
          </a:bodyPr>
          <a:lstStyle/>
          <a:p>
            <a:r>
              <a:rPr lang="en-US" sz="1200" dirty="0"/>
              <a:t>Threshold .04</a:t>
            </a:r>
          </a:p>
        </p:txBody>
      </p:sp>
      <p:cxnSp>
        <p:nvCxnSpPr>
          <p:cNvPr id="30" name="Straight Connector 29">
            <a:extLst>
              <a:ext uri="{FF2B5EF4-FFF2-40B4-BE49-F238E27FC236}">
                <a16:creationId xmlns:a16="http://schemas.microsoft.com/office/drawing/2014/main" id="{E198B7AE-1C2D-42DF-8BD2-BC32093E5957}"/>
              </a:ext>
            </a:extLst>
          </p:cNvPr>
          <p:cNvCxnSpPr>
            <a:cxnSpLocks/>
          </p:cNvCxnSpPr>
          <p:nvPr/>
        </p:nvCxnSpPr>
        <p:spPr>
          <a:xfrm flipH="1">
            <a:off x="6185551" y="1281281"/>
            <a:ext cx="690314" cy="69652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3C81E64-766E-46F0-834E-5A3651A3B730}"/>
              </a:ext>
            </a:extLst>
          </p:cNvPr>
          <p:cNvSpPr txBox="1"/>
          <p:nvPr/>
        </p:nvSpPr>
        <p:spPr>
          <a:xfrm>
            <a:off x="6771573" y="1063066"/>
            <a:ext cx="1037015" cy="276999"/>
          </a:xfrm>
          <a:prstGeom prst="rect">
            <a:avLst/>
          </a:prstGeom>
          <a:noFill/>
        </p:spPr>
        <p:txBody>
          <a:bodyPr wrap="none" rtlCol="0">
            <a:spAutoFit/>
          </a:bodyPr>
          <a:lstStyle/>
          <a:p>
            <a:r>
              <a:rPr lang="en-US" sz="1200" dirty="0"/>
              <a:t>Threshold .03</a:t>
            </a:r>
          </a:p>
        </p:txBody>
      </p:sp>
      <p:cxnSp>
        <p:nvCxnSpPr>
          <p:cNvPr id="36" name="Straight Connector 35">
            <a:extLst>
              <a:ext uri="{FF2B5EF4-FFF2-40B4-BE49-F238E27FC236}">
                <a16:creationId xmlns:a16="http://schemas.microsoft.com/office/drawing/2014/main" id="{2E056F69-F139-4D39-9791-568EBFEC9BE9}"/>
              </a:ext>
            </a:extLst>
          </p:cNvPr>
          <p:cNvCxnSpPr>
            <a:cxnSpLocks/>
          </p:cNvCxnSpPr>
          <p:nvPr/>
        </p:nvCxnSpPr>
        <p:spPr>
          <a:xfrm flipH="1">
            <a:off x="4998695" y="1866096"/>
            <a:ext cx="1" cy="394960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92A1D3D-3741-447F-83F5-A60F074CEA85}"/>
              </a:ext>
            </a:extLst>
          </p:cNvPr>
          <p:cNvCxnSpPr>
            <a:cxnSpLocks/>
            <a:stCxn id="38" idx="1"/>
          </p:cNvCxnSpPr>
          <p:nvPr/>
        </p:nvCxnSpPr>
        <p:spPr>
          <a:xfrm flipH="1" flipV="1">
            <a:off x="5103447" y="5772447"/>
            <a:ext cx="1149618" cy="2977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EF13D737-5613-4F5C-A687-2BBB5CC5C136}"/>
              </a:ext>
            </a:extLst>
          </p:cNvPr>
          <p:cNvSpPr txBox="1"/>
          <p:nvPr/>
        </p:nvSpPr>
        <p:spPr>
          <a:xfrm>
            <a:off x="6253065" y="5931715"/>
            <a:ext cx="1253911" cy="276999"/>
          </a:xfrm>
          <a:prstGeom prst="rect">
            <a:avLst/>
          </a:prstGeom>
          <a:noFill/>
        </p:spPr>
        <p:txBody>
          <a:bodyPr wrap="square" rtlCol="0">
            <a:spAutoFit/>
          </a:bodyPr>
          <a:lstStyle/>
          <a:p>
            <a:r>
              <a:rPr lang="en-US" sz="1200" dirty="0"/>
              <a:t>1) Target FP Rate</a:t>
            </a:r>
          </a:p>
        </p:txBody>
      </p:sp>
      <p:sp>
        <p:nvSpPr>
          <p:cNvPr id="40" name="TextBox 39">
            <a:extLst>
              <a:ext uri="{FF2B5EF4-FFF2-40B4-BE49-F238E27FC236}">
                <a16:creationId xmlns:a16="http://schemas.microsoft.com/office/drawing/2014/main" id="{279BD2BB-BEDC-4BEF-84EF-4F795E56F75A}"/>
              </a:ext>
            </a:extLst>
          </p:cNvPr>
          <p:cNvSpPr txBox="1"/>
          <p:nvPr/>
        </p:nvSpPr>
        <p:spPr>
          <a:xfrm>
            <a:off x="8192063" y="5122822"/>
            <a:ext cx="3493477" cy="461665"/>
          </a:xfrm>
          <a:prstGeom prst="rect">
            <a:avLst/>
          </a:prstGeom>
          <a:noFill/>
        </p:spPr>
        <p:txBody>
          <a:bodyPr wrap="square" rtlCol="0">
            <a:spAutoFit/>
          </a:bodyPr>
          <a:lstStyle/>
          <a:p>
            <a:r>
              <a:rPr lang="en-US" sz="1200" dirty="0"/>
              <a:t>Interpolate between nearest measurements:</a:t>
            </a:r>
          </a:p>
          <a:p>
            <a:r>
              <a:rPr lang="en-US" sz="1200" dirty="0"/>
              <a:t>- To achieve 30% FPR, use threshold of ~0.045</a:t>
            </a:r>
          </a:p>
        </p:txBody>
      </p:sp>
      <p:cxnSp>
        <p:nvCxnSpPr>
          <p:cNvPr id="41" name="Straight Connector 40">
            <a:extLst>
              <a:ext uri="{FF2B5EF4-FFF2-40B4-BE49-F238E27FC236}">
                <a16:creationId xmlns:a16="http://schemas.microsoft.com/office/drawing/2014/main" id="{61931D3A-835B-4FD4-8DEA-C87FAE7378B4}"/>
              </a:ext>
            </a:extLst>
          </p:cNvPr>
          <p:cNvCxnSpPr>
            <a:cxnSpLocks/>
          </p:cNvCxnSpPr>
          <p:nvPr/>
        </p:nvCxnSpPr>
        <p:spPr>
          <a:xfrm flipH="1" flipV="1">
            <a:off x="5439508" y="2090343"/>
            <a:ext cx="2804086" cy="310642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0649756-D33B-4CFA-A626-6CEB1F0C9FE2}"/>
              </a:ext>
            </a:extLst>
          </p:cNvPr>
          <p:cNvCxnSpPr>
            <a:cxnSpLocks/>
          </p:cNvCxnSpPr>
          <p:nvPr/>
        </p:nvCxnSpPr>
        <p:spPr>
          <a:xfrm flipH="1" flipV="1">
            <a:off x="4783015" y="2167823"/>
            <a:ext cx="3409048" cy="307220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E387B77-F6CD-4716-94D1-742C88F7D9F6}"/>
              </a:ext>
            </a:extLst>
          </p:cNvPr>
          <p:cNvCxnSpPr>
            <a:cxnSpLocks/>
          </p:cNvCxnSpPr>
          <p:nvPr/>
        </p:nvCxnSpPr>
        <p:spPr>
          <a:xfrm flipH="1">
            <a:off x="3837354" y="3063631"/>
            <a:ext cx="3811216" cy="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0DCF8EE-C566-4F74-AA5F-F5FC90EB4B44}"/>
              </a:ext>
            </a:extLst>
          </p:cNvPr>
          <p:cNvCxnSpPr>
            <a:cxnSpLocks/>
          </p:cNvCxnSpPr>
          <p:nvPr/>
        </p:nvCxnSpPr>
        <p:spPr>
          <a:xfrm flipH="1" flipV="1">
            <a:off x="2398627" y="2274277"/>
            <a:ext cx="1416464" cy="78935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19470F66-5508-4EE6-AC34-AC562C7248AC}"/>
              </a:ext>
            </a:extLst>
          </p:cNvPr>
          <p:cNvSpPr txBox="1"/>
          <p:nvPr/>
        </p:nvSpPr>
        <p:spPr>
          <a:xfrm>
            <a:off x="1341801" y="2063262"/>
            <a:ext cx="1253911" cy="276999"/>
          </a:xfrm>
          <a:prstGeom prst="rect">
            <a:avLst/>
          </a:prstGeom>
          <a:noFill/>
        </p:spPr>
        <p:txBody>
          <a:bodyPr wrap="square" rtlCol="0">
            <a:spAutoFit/>
          </a:bodyPr>
          <a:lstStyle/>
          <a:p>
            <a:r>
              <a:rPr lang="en-US" sz="1200" dirty="0"/>
              <a:t>2) Target FN Rate</a:t>
            </a:r>
          </a:p>
        </p:txBody>
      </p:sp>
      <p:sp>
        <p:nvSpPr>
          <p:cNvPr id="57" name="TextBox 56">
            <a:extLst>
              <a:ext uri="{FF2B5EF4-FFF2-40B4-BE49-F238E27FC236}">
                <a16:creationId xmlns:a16="http://schemas.microsoft.com/office/drawing/2014/main" id="{3DB665D1-EBFB-4FCD-B64F-6F17B9E3D5BD}"/>
              </a:ext>
            </a:extLst>
          </p:cNvPr>
          <p:cNvSpPr txBox="1"/>
          <p:nvPr/>
        </p:nvSpPr>
        <p:spPr>
          <a:xfrm>
            <a:off x="455353" y="2958461"/>
            <a:ext cx="1253911" cy="646331"/>
          </a:xfrm>
          <a:prstGeom prst="rect">
            <a:avLst/>
          </a:prstGeom>
          <a:noFill/>
        </p:spPr>
        <p:txBody>
          <a:bodyPr wrap="square" rtlCol="0">
            <a:spAutoFit/>
          </a:bodyPr>
          <a:lstStyle/>
          <a:p>
            <a:r>
              <a:rPr lang="en-US" sz="1200" dirty="0"/>
              <a:t>3) Explicit cost: </a:t>
            </a:r>
          </a:p>
          <a:p>
            <a:pPr marL="171450" indent="-171450">
              <a:buFont typeface="Arial" panose="020B0604020202020204" pitchFamily="34" charset="0"/>
              <a:buChar char="•"/>
            </a:pPr>
            <a:r>
              <a:rPr lang="en-US" sz="1200" dirty="0"/>
              <a:t>FP costs 10</a:t>
            </a:r>
          </a:p>
          <a:p>
            <a:pPr marL="171450" indent="-171450">
              <a:buFont typeface="Arial" panose="020B0604020202020204" pitchFamily="34" charset="0"/>
              <a:buChar char="•"/>
            </a:pPr>
            <a:r>
              <a:rPr lang="en-US" sz="1200" dirty="0"/>
              <a:t>FN costs 1</a:t>
            </a:r>
          </a:p>
        </p:txBody>
      </p:sp>
      <p:sp>
        <p:nvSpPr>
          <p:cNvPr id="58" name="TextBox 57">
            <a:extLst>
              <a:ext uri="{FF2B5EF4-FFF2-40B4-BE49-F238E27FC236}">
                <a16:creationId xmlns:a16="http://schemas.microsoft.com/office/drawing/2014/main" id="{886F1A6E-4329-4FF1-9297-80DEF4ECF6C6}"/>
              </a:ext>
            </a:extLst>
          </p:cNvPr>
          <p:cNvSpPr txBox="1"/>
          <p:nvPr/>
        </p:nvSpPr>
        <p:spPr>
          <a:xfrm>
            <a:off x="608812" y="4084492"/>
            <a:ext cx="1895873" cy="461665"/>
          </a:xfrm>
          <a:prstGeom prst="rect">
            <a:avLst/>
          </a:prstGeom>
          <a:noFill/>
        </p:spPr>
        <p:txBody>
          <a:bodyPr wrap="square" rtlCol="0">
            <a:spAutoFit/>
          </a:bodyPr>
          <a:lstStyle/>
          <a:p>
            <a:r>
              <a:rPr lang="en-US" sz="1200" dirty="0"/>
              <a:t>Threshold: 0.8</a:t>
            </a:r>
          </a:p>
          <a:p>
            <a:r>
              <a:rPr lang="en-US" sz="1200" dirty="0"/>
              <a:t> - 5FPs + 60FNs </a:t>
            </a:r>
            <a:r>
              <a:rPr lang="en-US" sz="1200" dirty="0">
                <a:sym typeface="Wingdings" panose="05000000000000000000" pitchFamily="2" charset="2"/>
              </a:rPr>
              <a:t> 110 cost</a:t>
            </a:r>
            <a:endParaRPr lang="en-US" sz="1200" dirty="0"/>
          </a:p>
        </p:txBody>
      </p:sp>
      <p:cxnSp>
        <p:nvCxnSpPr>
          <p:cNvPr id="59" name="Straight Connector 58">
            <a:extLst>
              <a:ext uri="{FF2B5EF4-FFF2-40B4-BE49-F238E27FC236}">
                <a16:creationId xmlns:a16="http://schemas.microsoft.com/office/drawing/2014/main" id="{930C6880-D945-40C7-B151-0B8E52FDCAE9}"/>
              </a:ext>
            </a:extLst>
          </p:cNvPr>
          <p:cNvCxnSpPr>
            <a:cxnSpLocks/>
          </p:cNvCxnSpPr>
          <p:nvPr/>
        </p:nvCxnSpPr>
        <p:spPr>
          <a:xfrm flipH="1">
            <a:off x="2347097" y="4157785"/>
            <a:ext cx="1464805" cy="6520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5049F407-5F57-415C-A6B6-4164761781E8}"/>
              </a:ext>
            </a:extLst>
          </p:cNvPr>
          <p:cNvSpPr txBox="1"/>
          <p:nvPr/>
        </p:nvSpPr>
        <p:spPr>
          <a:xfrm>
            <a:off x="447229" y="4800064"/>
            <a:ext cx="1895873" cy="461665"/>
          </a:xfrm>
          <a:prstGeom prst="rect">
            <a:avLst/>
          </a:prstGeom>
          <a:noFill/>
        </p:spPr>
        <p:txBody>
          <a:bodyPr wrap="square" rtlCol="0">
            <a:spAutoFit/>
          </a:bodyPr>
          <a:lstStyle/>
          <a:p>
            <a:r>
              <a:rPr lang="en-US" sz="1200" dirty="0"/>
              <a:t>Threshold: 0.83</a:t>
            </a:r>
          </a:p>
          <a:p>
            <a:r>
              <a:rPr lang="en-US" sz="1200" dirty="0"/>
              <a:t> - 4FPs + 65FNs </a:t>
            </a:r>
            <a:r>
              <a:rPr lang="en-US" sz="1200" dirty="0">
                <a:sym typeface="Wingdings" panose="05000000000000000000" pitchFamily="2" charset="2"/>
              </a:rPr>
              <a:t> 105 cost</a:t>
            </a:r>
            <a:endParaRPr lang="en-US" sz="1200" dirty="0"/>
          </a:p>
        </p:txBody>
      </p:sp>
      <p:cxnSp>
        <p:nvCxnSpPr>
          <p:cNvPr id="64" name="Straight Connector 63">
            <a:extLst>
              <a:ext uri="{FF2B5EF4-FFF2-40B4-BE49-F238E27FC236}">
                <a16:creationId xmlns:a16="http://schemas.microsoft.com/office/drawing/2014/main" id="{9802F84C-F2EC-4FD8-BFD5-E53BB9FCED3A}"/>
              </a:ext>
            </a:extLst>
          </p:cNvPr>
          <p:cNvCxnSpPr>
            <a:cxnSpLocks/>
          </p:cNvCxnSpPr>
          <p:nvPr/>
        </p:nvCxnSpPr>
        <p:spPr>
          <a:xfrm flipH="1">
            <a:off x="2185515" y="4548174"/>
            <a:ext cx="1651839" cy="39038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9E932222-BB8A-4391-B180-C130F39E3510}"/>
              </a:ext>
            </a:extLst>
          </p:cNvPr>
          <p:cNvSpPr txBox="1"/>
          <p:nvPr/>
        </p:nvSpPr>
        <p:spPr>
          <a:xfrm>
            <a:off x="502754" y="5694794"/>
            <a:ext cx="1895873" cy="461665"/>
          </a:xfrm>
          <a:prstGeom prst="rect">
            <a:avLst/>
          </a:prstGeom>
          <a:noFill/>
        </p:spPr>
        <p:txBody>
          <a:bodyPr wrap="square" rtlCol="0">
            <a:spAutoFit/>
          </a:bodyPr>
          <a:lstStyle/>
          <a:p>
            <a:r>
              <a:rPr lang="en-US" sz="1200" dirty="0"/>
              <a:t>Threshold: 0.87</a:t>
            </a:r>
          </a:p>
          <a:p>
            <a:r>
              <a:rPr lang="en-US" sz="1200" dirty="0"/>
              <a:t> - 3FPs + 90FNs </a:t>
            </a:r>
            <a:r>
              <a:rPr lang="en-US" sz="1200" dirty="0">
                <a:sym typeface="Wingdings" panose="05000000000000000000" pitchFamily="2" charset="2"/>
              </a:rPr>
              <a:t> 120 cost</a:t>
            </a:r>
            <a:endParaRPr lang="en-US" sz="1200" dirty="0"/>
          </a:p>
        </p:txBody>
      </p:sp>
      <p:cxnSp>
        <p:nvCxnSpPr>
          <p:cNvPr id="67" name="Straight Connector 66">
            <a:extLst>
              <a:ext uri="{FF2B5EF4-FFF2-40B4-BE49-F238E27FC236}">
                <a16:creationId xmlns:a16="http://schemas.microsoft.com/office/drawing/2014/main" id="{BC1F818A-959F-4843-B64C-01F1FE78AB20}"/>
              </a:ext>
            </a:extLst>
          </p:cNvPr>
          <p:cNvCxnSpPr>
            <a:cxnSpLocks/>
          </p:cNvCxnSpPr>
          <p:nvPr/>
        </p:nvCxnSpPr>
        <p:spPr>
          <a:xfrm flipH="1">
            <a:off x="2241041" y="4798047"/>
            <a:ext cx="1608495" cy="103524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0640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6">
                                            <p:txEl>
                                              <p:pRg st="0" end="0"/>
                                            </p:txEl>
                                          </p:spTgt>
                                        </p:tgtEl>
                                        <p:attrNameLst>
                                          <p:attrName>style.visibility</p:attrName>
                                        </p:attrNameLst>
                                      </p:cBhvr>
                                      <p:to>
                                        <p:strVal val="visible"/>
                                      </p:to>
                                    </p:set>
                                    <p:anim calcmode="lin" valueType="num">
                                      <p:cBhvr additive="base">
                                        <p:cTn id="7" dur="500" fill="hold"/>
                                        <p:tgtEl>
                                          <p:spTgt spid="5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3"/>
                                        </p:tgtEl>
                                        <p:attrNameLst>
                                          <p:attrName>style.visibility</p:attrName>
                                        </p:attrNameLst>
                                      </p:cBhvr>
                                      <p:to>
                                        <p:strVal val="visible"/>
                                      </p:to>
                                    </p:set>
                                    <p:anim calcmode="lin" valueType="num">
                                      <p:cBhvr additive="base">
                                        <p:cTn id="11" dur="500" fill="hold"/>
                                        <p:tgtEl>
                                          <p:spTgt spid="53"/>
                                        </p:tgtEl>
                                        <p:attrNameLst>
                                          <p:attrName>ppt_x</p:attrName>
                                        </p:attrNameLst>
                                      </p:cBhvr>
                                      <p:tavLst>
                                        <p:tav tm="0">
                                          <p:val>
                                            <p:strVal val="#ppt_x"/>
                                          </p:val>
                                        </p:tav>
                                        <p:tav tm="100000">
                                          <p:val>
                                            <p:strVal val="#ppt_x"/>
                                          </p:val>
                                        </p:tav>
                                      </p:tavLst>
                                    </p:anim>
                                    <p:anim calcmode="lin" valueType="num">
                                      <p:cBhvr additive="base">
                                        <p:cTn id="12"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9">
                                            <p:txEl>
                                              <p:pRg st="0" end="0"/>
                                            </p:txEl>
                                          </p:spTgt>
                                        </p:tgtEl>
                                        <p:attrNameLst>
                                          <p:attrName>style.visibility</p:attrName>
                                        </p:attrNameLst>
                                      </p:cBhvr>
                                      <p:to>
                                        <p:strVal val="visible"/>
                                      </p:to>
                                    </p:set>
                                    <p:anim calcmode="lin" valueType="num">
                                      <p:cBhvr additive="base">
                                        <p:cTn id="17"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9">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500" fill="hold"/>
                                        <p:tgtEl>
                                          <p:spTgt spid="26"/>
                                        </p:tgtEl>
                                        <p:attrNameLst>
                                          <p:attrName>ppt_x</p:attrName>
                                        </p:attrNameLst>
                                      </p:cBhvr>
                                      <p:tavLst>
                                        <p:tav tm="0">
                                          <p:val>
                                            <p:strVal val="#ppt_x"/>
                                          </p:val>
                                        </p:tav>
                                        <p:tav tm="100000">
                                          <p:val>
                                            <p:strVal val="#ppt_x"/>
                                          </p:val>
                                        </p:tav>
                                      </p:tavLst>
                                    </p:anim>
                                    <p:anim calcmode="lin" valueType="num">
                                      <p:cBhvr additive="base">
                                        <p:cTn id="2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1">
                                            <p:txEl>
                                              <p:pRg st="0" end="0"/>
                                            </p:txEl>
                                          </p:spTgt>
                                        </p:tgtEl>
                                        <p:attrNameLst>
                                          <p:attrName>style.visibility</p:attrName>
                                        </p:attrNameLst>
                                      </p:cBhvr>
                                      <p:to>
                                        <p:strVal val="visible"/>
                                      </p:to>
                                    </p:set>
                                    <p:anim calcmode="lin" valueType="num">
                                      <p:cBhvr additive="base">
                                        <p:cTn id="27" dur="5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1">
                                            <p:txEl>
                                              <p:pRg st="0" end="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500" fill="hold"/>
                                        <p:tgtEl>
                                          <p:spTgt spid="30"/>
                                        </p:tgtEl>
                                        <p:attrNameLst>
                                          <p:attrName>ppt_x</p:attrName>
                                        </p:attrNameLst>
                                      </p:cBhvr>
                                      <p:tavLst>
                                        <p:tav tm="0">
                                          <p:val>
                                            <p:strVal val="#ppt_x"/>
                                          </p:val>
                                        </p:tav>
                                        <p:tav tm="100000">
                                          <p:val>
                                            <p:strVal val="#ppt_x"/>
                                          </p:val>
                                        </p:tav>
                                      </p:tavLst>
                                    </p:anim>
                                    <p:anim calcmode="lin" valueType="num">
                                      <p:cBhvr additive="base">
                                        <p:cTn id="3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 calcmode="lin" valueType="num">
                                      <p:cBhvr additive="base">
                                        <p:cTn id="37" dur="500" fill="hold"/>
                                        <p:tgtEl>
                                          <p:spTgt spid="36"/>
                                        </p:tgtEl>
                                        <p:attrNameLst>
                                          <p:attrName>ppt_x</p:attrName>
                                        </p:attrNameLst>
                                      </p:cBhvr>
                                      <p:tavLst>
                                        <p:tav tm="0">
                                          <p:val>
                                            <p:strVal val="#ppt_x"/>
                                          </p:val>
                                        </p:tav>
                                        <p:tav tm="100000">
                                          <p:val>
                                            <p:strVal val="#ppt_x"/>
                                          </p:val>
                                        </p:tav>
                                      </p:tavLst>
                                    </p:anim>
                                    <p:anim calcmode="lin" valueType="num">
                                      <p:cBhvr additive="base">
                                        <p:cTn id="38" dur="500" fill="hold"/>
                                        <p:tgtEl>
                                          <p:spTgt spid="36"/>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8">
                                            <p:txEl>
                                              <p:pRg st="0" end="0"/>
                                            </p:txEl>
                                          </p:spTgt>
                                        </p:tgtEl>
                                        <p:attrNameLst>
                                          <p:attrName>style.visibility</p:attrName>
                                        </p:attrNameLst>
                                      </p:cBhvr>
                                      <p:to>
                                        <p:strVal val="visible"/>
                                      </p:to>
                                    </p:set>
                                    <p:anim calcmode="lin" valueType="num">
                                      <p:cBhvr additive="base">
                                        <p:cTn id="41" dur="500" fill="hold"/>
                                        <p:tgtEl>
                                          <p:spTgt spid="38">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8">
                                            <p:txEl>
                                              <p:pRg st="0" end="0"/>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7"/>
                                        </p:tgtEl>
                                        <p:attrNameLst>
                                          <p:attrName>style.visibility</p:attrName>
                                        </p:attrNameLst>
                                      </p:cBhvr>
                                      <p:to>
                                        <p:strVal val="visible"/>
                                      </p:to>
                                    </p:set>
                                    <p:anim calcmode="lin" valueType="num">
                                      <p:cBhvr additive="base">
                                        <p:cTn id="45" dur="500" fill="hold"/>
                                        <p:tgtEl>
                                          <p:spTgt spid="37"/>
                                        </p:tgtEl>
                                        <p:attrNameLst>
                                          <p:attrName>ppt_x</p:attrName>
                                        </p:attrNameLst>
                                      </p:cBhvr>
                                      <p:tavLst>
                                        <p:tav tm="0">
                                          <p:val>
                                            <p:strVal val="#ppt_x"/>
                                          </p:val>
                                        </p:tav>
                                        <p:tav tm="100000">
                                          <p:val>
                                            <p:strVal val="#ppt_x"/>
                                          </p:val>
                                        </p:tav>
                                      </p:tavLst>
                                    </p:anim>
                                    <p:anim calcmode="lin" valueType="num">
                                      <p:cBhvr additive="base">
                                        <p:cTn id="4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40">
                                            <p:txEl>
                                              <p:pRg st="0" end="0"/>
                                            </p:txEl>
                                          </p:spTgt>
                                        </p:tgtEl>
                                        <p:attrNameLst>
                                          <p:attrName>style.visibility</p:attrName>
                                        </p:attrNameLst>
                                      </p:cBhvr>
                                      <p:to>
                                        <p:strVal val="visible"/>
                                      </p:to>
                                    </p:set>
                                    <p:anim calcmode="lin" valueType="num">
                                      <p:cBhvr additive="base">
                                        <p:cTn id="51" dur="500" fill="hold"/>
                                        <p:tgtEl>
                                          <p:spTgt spid="40">
                                            <p:txEl>
                                              <p:pRg st="0" end="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0">
                                            <p:txEl>
                                              <p:pRg st="0" end="0"/>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41"/>
                                        </p:tgtEl>
                                        <p:attrNameLst>
                                          <p:attrName>style.visibility</p:attrName>
                                        </p:attrNameLst>
                                      </p:cBhvr>
                                      <p:to>
                                        <p:strVal val="visible"/>
                                      </p:to>
                                    </p:set>
                                    <p:anim calcmode="lin" valueType="num">
                                      <p:cBhvr additive="base">
                                        <p:cTn id="55" dur="500" fill="hold"/>
                                        <p:tgtEl>
                                          <p:spTgt spid="41"/>
                                        </p:tgtEl>
                                        <p:attrNameLst>
                                          <p:attrName>ppt_x</p:attrName>
                                        </p:attrNameLst>
                                      </p:cBhvr>
                                      <p:tavLst>
                                        <p:tav tm="0">
                                          <p:val>
                                            <p:strVal val="#ppt_x"/>
                                          </p:val>
                                        </p:tav>
                                        <p:tav tm="100000">
                                          <p:val>
                                            <p:strVal val="#ppt_x"/>
                                          </p:val>
                                        </p:tav>
                                      </p:tavLst>
                                    </p:anim>
                                    <p:anim calcmode="lin" valueType="num">
                                      <p:cBhvr additive="base">
                                        <p:cTn id="56" dur="500" fill="hold"/>
                                        <p:tgtEl>
                                          <p:spTgt spid="41"/>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43"/>
                                        </p:tgtEl>
                                        <p:attrNameLst>
                                          <p:attrName>style.visibility</p:attrName>
                                        </p:attrNameLst>
                                      </p:cBhvr>
                                      <p:to>
                                        <p:strVal val="visible"/>
                                      </p:to>
                                    </p:set>
                                    <p:anim calcmode="lin" valueType="num">
                                      <p:cBhvr additive="base">
                                        <p:cTn id="59" dur="500" fill="hold"/>
                                        <p:tgtEl>
                                          <p:spTgt spid="43"/>
                                        </p:tgtEl>
                                        <p:attrNameLst>
                                          <p:attrName>ppt_x</p:attrName>
                                        </p:attrNameLst>
                                      </p:cBhvr>
                                      <p:tavLst>
                                        <p:tav tm="0">
                                          <p:val>
                                            <p:strVal val="#ppt_x"/>
                                          </p:val>
                                        </p:tav>
                                        <p:tav tm="100000">
                                          <p:val>
                                            <p:strVal val="#ppt_x"/>
                                          </p:val>
                                        </p:tav>
                                      </p:tavLst>
                                    </p:anim>
                                    <p:anim calcmode="lin" valueType="num">
                                      <p:cBhvr additive="base">
                                        <p:cTn id="60"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40">
                                            <p:txEl>
                                              <p:pRg st="1" end="1"/>
                                            </p:txEl>
                                          </p:spTgt>
                                        </p:tgtEl>
                                        <p:attrNameLst>
                                          <p:attrName>style.visibility</p:attrName>
                                        </p:attrNameLst>
                                      </p:cBhvr>
                                      <p:to>
                                        <p:strVal val="visible"/>
                                      </p:to>
                                    </p:set>
                                    <p:anim calcmode="lin" valueType="num">
                                      <p:cBhvr additive="base">
                                        <p:cTn id="65" dur="500" fill="hold"/>
                                        <p:tgtEl>
                                          <p:spTgt spid="40">
                                            <p:txEl>
                                              <p:pRg st="1" end="1"/>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40">
                                            <p:txEl>
                                              <p:pRg st="1" end="1"/>
                                            </p:txEl>
                                          </p:spTgt>
                                        </p:tgtEl>
                                        <p:attrNameLst>
                                          <p:attrName>ppt_y</p:attrName>
                                        </p:attrNameLst>
                                      </p:cBhvr>
                                      <p:tavLst>
                                        <p:tav tm="0">
                                          <p:val>
                                            <p:strVal val="1+#ppt_h/2"/>
                                          </p:val>
                                        </p:tav>
                                        <p:tav tm="100000">
                                          <p:val>
                                            <p:strVal val="#ppt_y"/>
                                          </p:val>
                                        </p:tav>
                                      </p:tavLst>
                                    </p:anim>
                                  </p:childTnLst>
                                </p:cTn>
                              </p:par>
                              <p:par>
                                <p:cTn id="67" presetID="10" presetClass="exit" presetSubtype="0" fill="hold" nodeType="withEffect">
                                  <p:stCondLst>
                                    <p:cond delay="0"/>
                                  </p:stCondLst>
                                  <p:childTnLst>
                                    <p:animEffect transition="out" filter="fade">
                                      <p:cBhvr>
                                        <p:cTn id="68" dur="500"/>
                                        <p:tgtEl>
                                          <p:spTgt spid="41"/>
                                        </p:tgtEl>
                                      </p:cBhvr>
                                    </p:animEffect>
                                    <p:set>
                                      <p:cBhvr>
                                        <p:cTn id="69" dur="1" fill="hold">
                                          <p:stCondLst>
                                            <p:cond delay="499"/>
                                          </p:stCondLst>
                                        </p:cTn>
                                        <p:tgtEl>
                                          <p:spTgt spid="41"/>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500"/>
                                        <p:tgtEl>
                                          <p:spTgt spid="43"/>
                                        </p:tgtEl>
                                      </p:cBhvr>
                                    </p:animEffect>
                                    <p:set>
                                      <p:cBhvr>
                                        <p:cTn id="72" dur="1" fill="hold">
                                          <p:stCondLst>
                                            <p:cond delay="499"/>
                                          </p:stCondLst>
                                        </p:cTn>
                                        <p:tgtEl>
                                          <p:spTgt spid="43"/>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48"/>
                                        </p:tgtEl>
                                        <p:attrNameLst>
                                          <p:attrName>style.visibility</p:attrName>
                                        </p:attrNameLst>
                                      </p:cBhvr>
                                      <p:to>
                                        <p:strVal val="visible"/>
                                      </p:to>
                                    </p:set>
                                    <p:anim calcmode="lin" valueType="num">
                                      <p:cBhvr additive="base">
                                        <p:cTn id="77" dur="500" fill="hold"/>
                                        <p:tgtEl>
                                          <p:spTgt spid="48"/>
                                        </p:tgtEl>
                                        <p:attrNameLst>
                                          <p:attrName>ppt_x</p:attrName>
                                        </p:attrNameLst>
                                      </p:cBhvr>
                                      <p:tavLst>
                                        <p:tav tm="0">
                                          <p:val>
                                            <p:strVal val="#ppt_x"/>
                                          </p:val>
                                        </p:tav>
                                        <p:tav tm="100000">
                                          <p:val>
                                            <p:strVal val="#ppt_x"/>
                                          </p:val>
                                        </p:tav>
                                      </p:tavLst>
                                    </p:anim>
                                    <p:anim calcmode="lin" valueType="num">
                                      <p:cBhvr additive="base">
                                        <p:cTn id="78" dur="500" fill="hold"/>
                                        <p:tgtEl>
                                          <p:spTgt spid="48"/>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51">
                                            <p:txEl>
                                              <p:pRg st="0" end="0"/>
                                            </p:txEl>
                                          </p:spTgt>
                                        </p:tgtEl>
                                        <p:attrNameLst>
                                          <p:attrName>style.visibility</p:attrName>
                                        </p:attrNameLst>
                                      </p:cBhvr>
                                      <p:to>
                                        <p:strVal val="visible"/>
                                      </p:to>
                                    </p:set>
                                    <p:anim calcmode="lin" valueType="num">
                                      <p:cBhvr additive="base">
                                        <p:cTn id="81" dur="500" fill="hold"/>
                                        <p:tgtEl>
                                          <p:spTgt spid="51">
                                            <p:txEl>
                                              <p:pRg st="0" end="0"/>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51">
                                            <p:txEl>
                                              <p:pRg st="0" end="0"/>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49"/>
                                        </p:tgtEl>
                                        <p:attrNameLst>
                                          <p:attrName>style.visibility</p:attrName>
                                        </p:attrNameLst>
                                      </p:cBhvr>
                                      <p:to>
                                        <p:strVal val="visible"/>
                                      </p:to>
                                    </p:set>
                                    <p:anim calcmode="lin" valueType="num">
                                      <p:cBhvr additive="base">
                                        <p:cTn id="85" dur="500" fill="hold"/>
                                        <p:tgtEl>
                                          <p:spTgt spid="49"/>
                                        </p:tgtEl>
                                        <p:attrNameLst>
                                          <p:attrName>ppt_x</p:attrName>
                                        </p:attrNameLst>
                                      </p:cBhvr>
                                      <p:tavLst>
                                        <p:tav tm="0">
                                          <p:val>
                                            <p:strVal val="#ppt_x"/>
                                          </p:val>
                                        </p:tav>
                                        <p:tav tm="100000">
                                          <p:val>
                                            <p:strVal val="#ppt_x"/>
                                          </p:val>
                                        </p:tav>
                                      </p:tavLst>
                                    </p:anim>
                                    <p:anim calcmode="lin" valueType="num">
                                      <p:cBhvr additive="base">
                                        <p:cTn id="8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57">
                                            <p:txEl>
                                              <p:pRg st="0" end="0"/>
                                            </p:txEl>
                                          </p:spTgt>
                                        </p:tgtEl>
                                        <p:attrNameLst>
                                          <p:attrName>style.visibility</p:attrName>
                                        </p:attrNameLst>
                                      </p:cBhvr>
                                      <p:to>
                                        <p:strVal val="visible"/>
                                      </p:to>
                                    </p:set>
                                    <p:anim calcmode="lin" valueType="num">
                                      <p:cBhvr additive="base">
                                        <p:cTn id="91" dur="500" fill="hold"/>
                                        <p:tgtEl>
                                          <p:spTgt spid="57">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57">
                                            <p:txEl>
                                              <p:pRg st="0" end="0"/>
                                            </p:txEl>
                                          </p:spTgt>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57">
                                            <p:txEl>
                                              <p:pRg st="1" end="1"/>
                                            </p:txEl>
                                          </p:spTgt>
                                        </p:tgtEl>
                                        <p:attrNameLst>
                                          <p:attrName>style.visibility</p:attrName>
                                        </p:attrNameLst>
                                      </p:cBhvr>
                                      <p:to>
                                        <p:strVal val="visible"/>
                                      </p:to>
                                    </p:set>
                                    <p:anim calcmode="lin" valueType="num">
                                      <p:cBhvr additive="base">
                                        <p:cTn id="95" dur="500" fill="hold"/>
                                        <p:tgtEl>
                                          <p:spTgt spid="57">
                                            <p:txEl>
                                              <p:pRg st="1" end="1"/>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57">
                                            <p:txEl>
                                              <p:pRg st="1" end="1"/>
                                            </p:txEl>
                                          </p:spTgt>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57">
                                            <p:txEl>
                                              <p:pRg st="2" end="2"/>
                                            </p:txEl>
                                          </p:spTgt>
                                        </p:tgtEl>
                                        <p:attrNameLst>
                                          <p:attrName>style.visibility</p:attrName>
                                        </p:attrNameLst>
                                      </p:cBhvr>
                                      <p:to>
                                        <p:strVal val="visible"/>
                                      </p:to>
                                    </p:set>
                                    <p:anim calcmode="lin" valueType="num">
                                      <p:cBhvr additive="base">
                                        <p:cTn id="99" dur="500" fill="hold"/>
                                        <p:tgtEl>
                                          <p:spTgt spid="57">
                                            <p:txEl>
                                              <p:pRg st="2" end="2"/>
                                            </p:txEl>
                                          </p:spTgt>
                                        </p:tgtEl>
                                        <p:attrNameLst>
                                          <p:attrName>ppt_x</p:attrName>
                                        </p:attrNameLst>
                                      </p:cBhvr>
                                      <p:tavLst>
                                        <p:tav tm="0">
                                          <p:val>
                                            <p:strVal val="#ppt_x"/>
                                          </p:val>
                                        </p:tav>
                                        <p:tav tm="100000">
                                          <p:val>
                                            <p:strVal val="#ppt_x"/>
                                          </p:val>
                                        </p:tav>
                                      </p:tavLst>
                                    </p:anim>
                                    <p:anim calcmode="lin" valueType="num">
                                      <p:cBhvr additive="base">
                                        <p:cTn id="100" dur="500" fill="hold"/>
                                        <p:tgtEl>
                                          <p:spTgt spid="5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 presetClass="entr" presetSubtype="4" fill="hold" nodeType="clickEffect">
                                  <p:stCondLst>
                                    <p:cond delay="0"/>
                                  </p:stCondLst>
                                  <p:childTnLst>
                                    <p:set>
                                      <p:cBhvr>
                                        <p:cTn id="104" dur="1" fill="hold">
                                          <p:stCondLst>
                                            <p:cond delay="0"/>
                                          </p:stCondLst>
                                        </p:cTn>
                                        <p:tgtEl>
                                          <p:spTgt spid="58">
                                            <p:txEl>
                                              <p:pRg st="1" end="1"/>
                                            </p:txEl>
                                          </p:spTgt>
                                        </p:tgtEl>
                                        <p:attrNameLst>
                                          <p:attrName>style.visibility</p:attrName>
                                        </p:attrNameLst>
                                      </p:cBhvr>
                                      <p:to>
                                        <p:strVal val="visible"/>
                                      </p:to>
                                    </p:set>
                                    <p:anim calcmode="lin" valueType="num">
                                      <p:cBhvr additive="base">
                                        <p:cTn id="105" dur="500" fill="hold"/>
                                        <p:tgtEl>
                                          <p:spTgt spid="58">
                                            <p:txEl>
                                              <p:pRg st="1" end="1"/>
                                            </p:txEl>
                                          </p:spTgt>
                                        </p:tgtEl>
                                        <p:attrNameLst>
                                          <p:attrName>ppt_x</p:attrName>
                                        </p:attrNameLst>
                                      </p:cBhvr>
                                      <p:tavLst>
                                        <p:tav tm="0">
                                          <p:val>
                                            <p:strVal val="#ppt_x"/>
                                          </p:val>
                                        </p:tav>
                                        <p:tav tm="100000">
                                          <p:val>
                                            <p:strVal val="#ppt_x"/>
                                          </p:val>
                                        </p:tav>
                                      </p:tavLst>
                                    </p:anim>
                                    <p:anim calcmode="lin" valueType="num">
                                      <p:cBhvr additive="base">
                                        <p:cTn id="106" dur="500" fill="hold"/>
                                        <p:tgtEl>
                                          <p:spTgt spid="58">
                                            <p:txEl>
                                              <p:pRg st="1" end="1"/>
                                            </p:txEl>
                                          </p:spTgt>
                                        </p:tgtEl>
                                        <p:attrNameLst>
                                          <p:attrName>ppt_y</p:attrName>
                                        </p:attrNameLst>
                                      </p:cBhvr>
                                      <p:tavLst>
                                        <p:tav tm="0">
                                          <p:val>
                                            <p:strVal val="1+#ppt_h/2"/>
                                          </p:val>
                                        </p:tav>
                                        <p:tav tm="100000">
                                          <p:val>
                                            <p:strVal val="#ppt_y"/>
                                          </p:val>
                                        </p:tav>
                                      </p:tavLst>
                                    </p:anim>
                                  </p:childTnLst>
                                </p:cTn>
                              </p:par>
                              <p:par>
                                <p:cTn id="107" presetID="2" presetClass="entr" presetSubtype="4" fill="hold" nodeType="withEffect">
                                  <p:stCondLst>
                                    <p:cond delay="0"/>
                                  </p:stCondLst>
                                  <p:childTnLst>
                                    <p:set>
                                      <p:cBhvr>
                                        <p:cTn id="108" dur="1" fill="hold">
                                          <p:stCondLst>
                                            <p:cond delay="0"/>
                                          </p:stCondLst>
                                        </p:cTn>
                                        <p:tgtEl>
                                          <p:spTgt spid="58">
                                            <p:txEl>
                                              <p:pRg st="0" end="0"/>
                                            </p:txEl>
                                          </p:spTgt>
                                        </p:tgtEl>
                                        <p:attrNameLst>
                                          <p:attrName>style.visibility</p:attrName>
                                        </p:attrNameLst>
                                      </p:cBhvr>
                                      <p:to>
                                        <p:strVal val="visible"/>
                                      </p:to>
                                    </p:set>
                                    <p:anim calcmode="lin" valueType="num">
                                      <p:cBhvr additive="base">
                                        <p:cTn id="109" dur="500" fill="hold"/>
                                        <p:tgtEl>
                                          <p:spTgt spid="58">
                                            <p:txEl>
                                              <p:pRg st="0" end="0"/>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58">
                                            <p:txEl>
                                              <p:pRg st="0" end="0"/>
                                            </p:txEl>
                                          </p:spTgt>
                                        </p:tgtEl>
                                        <p:attrNameLst>
                                          <p:attrName>ppt_y</p:attrName>
                                        </p:attrNameLst>
                                      </p:cBhvr>
                                      <p:tavLst>
                                        <p:tav tm="0">
                                          <p:val>
                                            <p:strVal val="1+#ppt_h/2"/>
                                          </p:val>
                                        </p:tav>
                                        <p:tav tm="100000">
                                          <p:val>
                                            <p:strVal val="#ppt_y"/>
                                          </p:val>
                                        </p:tav>
                                      </p:tavLst>
                                    </p:anim>
                                  </p:childTnLst>
                                </p:cTn>
                              </p:par>
                              <p:par>
                                <p:cTn id="111" presetID="2" presetClass="entr" presetSubtype="4" fill="hold" nodeType="withEffect">
                                  <p:stCondLst>
                                    <p:cond delay="0"/>
                                  </p:stCondLst>
                                  <p:childTnLst>
                                    <p:set>
                                      <p:cBhvr>
                                        <p:cTn id="112" dur="1" fill="hold">
                                          <p:stCondLst>
                                            <p:cond delay="0"/>
                                          </p:stCondLst>
                                        </p:cTn>
                                        <p:tgtEl>
                                          <p:spTgt spid="59"/>
                                        </p:tgtEl>
                                        <p:attrNameLst>
                                          <p:attrName>style.visibility</p:attrName>
                                        </p:attrNameLst>
                                      </p:cBhvr>
                                      <p:to>
                                        <p:strVal val="visible"/>
                                      </p:to>
                                    </p:set>
                                    <p:anim calcmode="lin" valueType="num">
                                      <p:cBhvr additive="base">
                                        <p:cTn id="113" dur="500" fill="hold"/>
                                        <p:tgtEl>
                                          <p:spTgt spid="59"/>
                                        </p:tgtEl>
                                        <p:attrNameLst>
                                          <p:attrName>ppt_x</p:attrName>
                                        </p:attrNameLst>
                                      </p:cBhvr>
                                      <p:tavLst>
                                        <p:tav tm="0">
                                          <p:val>
                                            <p:strVal val="#ppt_x"/>
                                          </p:val>
                                        </p:tav>
                                        <p:tav tm="100000">
                                          <p:val>
                                            <p:strVal val="#ppt_x"/>
                                          </p:val>
                                        </p:tav>
                                      </p:tavLst>
                                    </p:anim>
                                    <p:anim calcmode="lin" valueType="num">
                                      <p:cBhvr additive="base">
                                        <p:cTn id="114"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2" presetClass="entr" presetSubtype="4" fill="hold" nodeType="clickEffect">
                                  <p:stCondLst>
                                    <p:cond delay="0"/>
                                  </p:stCondLst>
                                  <p:childTnLst>
                                    <p:set>
                                      <p:cBhvr>
                                        <p:cTn id="118" dur="1" fill="hold">
                                          <p:stCondLst>
                                            <p:cond delay="0"/>
                                          </p:stCondLst>
                                        </p:cTn>
                                        <p:tgtEl>
                                          <p:spTgt spid="63">
                                            <p:txEl>
                                              <p:pRg st="1" end="1"/>
                                            </p:txEl>
                                          </p:spTgt>
                                        </p:tgtEl>
                                        <p:attrNameLst>
                                          <p:attrName>style.visibility</p:attrName>
                                        </p:attrNameLst>
                                      </p:cBhvr>
                                      <p:to>
                                        <p:strVal val="visible"/>
                                      </p:to>
                                    </p:set>
                                    <p:anim calcmode="lin" valueType="num">
                                      <p:cBhvr additive="base">
                                        <p:cTn id="119" dur="500" fill="hold"/>
                                        <p:tgtEl>
                                          <p:spTgt spid="63">
                                            <p:txEl>
                                              <p:pRg st="1" end="1"/>
                                            </p:txEl>
                                          </p:spTgt>
                                        </p:tgtEl>
                                        <p:attrNameLst>
                                          <p:attrName>ppt_x</p:attrName>
                                        </p:attrNameLst>
                                      </p:cBhvr>
                                      <p:tavLst>
                                        <p:tav tm="0">
                                          <p:val>
                                            <p:strVal val="#ppt_x"/>
                                          </p:val>
                                        </p:tav>
                                        <p:tav tm="100000">
                                          <p:val>
                                            <p:strVal val="#ppt_x"/>
                                          </p:val>
                                        </p:tav>
                                      </p:tavLst>
                                    </p:anim>
                                    <p:anim calcmode="lin" valueType="num">
                                      <p:cBhvr additive="base">
                                        <p:cTn id="120" dur="500" fill="hold"/>
                                        <p:tgtEl>
                                          <p:spTgt spid="63">
                                            <p:txEl>
                                              <p:pRg st="1" end="1"/>
                                            </p:txEl>
                                          </p:spTgt>
                                        </p:tgtEl>
                                        <p:attrNameLst>
                                          <p:attrName>ppt_y</p:attrName>
                                        </p:attrNameLst>
                                      </p:cBhvr>
                                      <p:tavLst>
                                        <p:tav tm="0">
                                          <p:val>
                                            <p:strVal val="1+#ppt_h/2"/>
                                          </p:val>
                                        </p:tav>
                                        <p:tav tm="100000">
                                          <p:val>
                                            <p:strVal val="#ppt_y"/>
                                          </p:val>
                                        </p:tav>
                                      </p:tavLst>
                                    </p:anim>
                                  </p:childTnLst>
                                </p:cTn>
                              </p:par>
                              <p:par>
                                <p:cTn id="121" presetID="2" presetClass="entr" presetSubtype="4" fill="hold" nodeType="withEffect">
                                  <p:stCondLst>
                                    <p:cond delay="0"/>
                                  </p:stCondLst>
                                  <p:childTnLst>
                                    <p:set>
                                      <p:cBhvr>
                                        <p:cTn id="122" dur="1" fill="hold">
                                          <p:stCondLst>
                                            <p:cond delay="0"/>
                                          </p:stCondLst>
                                        </p:cTn>
                                        <p:tgtEl>
                                          <p:spTgt spid="63">
                                            <p:txEl>
                                              <p:pRg st="0" end="0"/>
                                            </p:txEl>
                                          </p:spTgt>
                                        </p:tgtEl>
                                        <p:attrNameLst>
                                          <p:attrName>style.visibility</p:attrName>
                                        </p:attrNameLst>
                                      </p:cBhvr>
                                      <p:to>
                                        <p:strVal val="visible"/>
                                      </p:to>
                                    </p:set>
                                    <p:anim calcmode="lin" valueType="num">
                                      <p:cBhvr additive="base">
                                        <p:cTn id="123" dur="500" fill="hold"/>
                                        <p:tgtEl>
                                          <p:spTgt spid="63">
                                            <p:txEl>
                                              <p:pRg st="0" end="0"/>
                                            </p:txEl>
                                          </p:spTgt>
                                        </p:tgtEl>
                                        <p:attrNameLst>
                                          <p:attrName>ppt_x</p:attrName>
                                        </p:attrNameLst>
                                      </p:cBhvr>
                                      <p:tavLst>
                                        <p:tav tm="0">
                                          <p:val>
                                            <p:strVal val="#ppt_x"/>
                                          </p:val>
                                        </p:tav>
                                        <p:tav tm="100000">
                                          <p:val>
                                            <p:strVal val="#ppt_x"/>
                                          </p:val>
                                        </p:tav>
                                      </p:tavLst>
                                    </p:anim>
                                    <p:anim calcmode="lin" valueType="num">
                                      <p:cBhvr additive="base">
                                        <p:cTn id="124" dur="500" fill="hold"/>
                                        <p:tgtEl>
                                          <p:spTgt spid="63">
                                            <p:txEl>
                                              <p:pRg st="0" end="0"/>
                                            </p:txEl>
                                          </p:spTgt>
                                        </p:tgtEl>
                                        <p:attrNameLst>
                                          <p:attrName>ppt_y</p:attrName>
                                        </p:attrNameLst>
                                      </p:cBhvr>
                                      <p:tavLst>
                                        <p:tav tm="0">
                                          <p:val>
                                            <p:strVal val="1+#ppt_h/2"/>
                                          </p:val>
                                        </p:tav>
                                        <p:tav tm="100000">
                                          <p:val>
                                            <p:strVal val="#ppt_y"/>
                                          </p:val>
                                        </p:tav>
                                      </p:tavLst>
                                    </p:anim>
                                  </p:childTnLst>
                                </p:cTn>
                              </p:par>
                              <p:par>
                                <p:cTn id="125" presetID="2" presetClass="entr" presetSubtype="4" fill="hold" nodeType="withEffect">
                                  <p:stCondLst>
                                    <p:cond delay="0"/>
                                  </p:stCondLst>
                                  <p:childTnLst>
                                    <p:set>
                                      <p:cBhvr>
                                        <p:cTn id="126" dur="1" fill="hold">
                                          <p:stCondLst>
                                            <p:cond delay="0"/>
                                          </p:stCondLst>
                                        </p:cTn>
                                        <p:tgtEl>
                                          <p:spTgt spid="64"/>
                                        </p:tgtEl>
                                        <p:attrNameLst>
                                          <p:attrName>style.visibility</p:attrName>
                                        </p:attrNameLst>
                                      </p:cBhvr>
                                      <p:to>
                                        <p:strVal val="visible"/>
                                      </p:to>
                                    </p:set>
                                    <p:anim calcmode="lin" valueType="num">
                                      <p:cBhvr additive="base">
                                        <p:cTn id="127" dur="500" fill="hold"/>
                                        <p:tgtEl>
                                          <p:spTgt spid="64"/>
                                        </p:tgtEl>
                                        <p:attrNameLst>
                                          <p:attrName>ppt_x</p:attrName>
                                        </p:attrNameLst>
                                      </p:cBhvr>
                                      <p:tavLst>
                                        <p:tav tm="0">
                                          <p:val>
                                            <p:strVal val="#ppt_x"/>
                                          </p:val>
                                        </p:tav>
                                        <p:tav tm="100000">
                                          <p:val>
                                            <p:strVal val="#ppt_x"/>
                                          </p:val>
                                        </p:tav>
                                      </p:tavLst>
                                    </p:anim>
                                    <p:anim calcmode="lin" valueType="num">
                                      <p:cBhvr additive="base">
                                        <p:cTn id="128"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66">
                                            <p:txEl>
                                              <p:pRg st="1" end="1"/>
                                            </p:txEl>
                                          </p:spTgt>
                                        </p:tgtEl>
                                        <p:attrNameLst>
                                          <p:attrName>style.visibility</p:attrName>
                                        </p:attrNameLst>
                                      </p:cBhvr>
                                      <p:to>
                                        <p:strVal val="visible"/>
                                      </p:to>
                                    </p:set>
                                    <p:anim calcmode="lin" valueType="num">
                                      <p:cBhvr additive="base">
                                        <p:cTn id="133" dur="500" fill="hold"/>
                                        <p:tgtEl>
                                          <p:spTgt spid="66">
                                            <p:txEl>
                                              <p:pRg st="1" end="1"/>
                                            </p:txEl>
                                          </p:spTgt>
                                        </p:tgtEl>
                                        <p:attrNameLst>
                                          <p:attrName>ppt_x</p:attrName>
                                        </p:attrNameLst>
                                      </p:cBhvr>
                                      <p:tavLst>
                                        <p:tav tm="0">
                                          <p:val>
                                            <p:strVal val="#ppt_x"/>
                                          </p:val>
                                        </p:tav>
                                        <p:tav tm="100000">
                                          <p:val>
                                            <p:strVal val="#ppt_x"/>
                                          </p:val>
                                        </p:tav>
                                      </p:tavLst>
                                    </p:anim>
                                    <p:anim calcmode="lin" valueType="num">
                                      <p:cBhvr additive="base">
                                        <p:cTn id="134" dur="500" fill="hold"/>
                                        <p:tgtEl>
                                          <p:spTgt spid="66">
                                            <p:txEl>
                                              <p:pRg st="1" end="1"/>
                                            </p:txEl>
                                          </p:spTgt>
                                        </p:tgtEl>
                                        <p:attrNameLst>
                                          <p:attrName>ppt_y</p:attrName>
                                        </p:attrNameLst>
                                      </p:cBhvr>
                                      <p:tavLst>
                                        <p:tav tm="0">
                                          <p:val>
                                            <p:strVal val="1+#ppt_h/2"/>
                                          </p:val>
                                        </p:tav>
                                        <p:tav tm="100000">
                                          <p:val>
                                            <p:strVal val="#ppt_y"/>
                                          </p:val>
                                        </p:tav>
                                      </p:tavLst>
                                    </p:anim>
                                  </p:childTnLst>
                                </p:cTn>
                              </p:par>
                              <p:par>
                                <p:cTn id="135" presetID="2" presetClass="entr" presetSubtype="4" fill="hold" nodeType="withEffect">
                                  <p:stCondLst>
                                    <p:cond delay="0"/>
                                  </p:stCondLst>
                                  <p:childTnLst>
                                    <p:set>
                                      <p:cBhvr>
                                        <p:cTn id="136" dur="1" fill="hold">
                                          <p:stCondLst>
                                            <p:cond delay="0"/>
                                          </p:stCondLst>
                                        </p:cTn>
                                        <p:tgtEl>
                                          <p:spTgt spid="66">
                                            <p:txEl>
                                              <p:pRg st="0" end="0"/>
                                            </p:txEl>
                                          </p:spTgt>
                                        </p:tgtEl>
                                        <p:attrNameLst>
                                          <p:attrName>style.visibility</p:attrName>
                                        </p:attrNameLst>
                                      </p:cBhvr>
                                      <p:to>
                                        <p:strVal val="visible"/>
                                      </p:to>
                                    </p:set>
                                    <p:anim calcmode="lin" valueType="num">
                                      <p:cBhvr additive="base">
                                        <p:cTn id="137" dur="500" fill="hold"/>
                                        <p:tgtEl>
                                          <p:spTgt spid="66">
                                            <p:txEl>
                                              <p:pRg st="0" end="0"/>
                                            </p:txEl>
                                          </p:spTgt>
                                        </p:tgtEl>
                                        <p:attrNameLst>
                                          <p:attrName>ppt_x</p:attrName>
                                        </p:attrNameLst>
                                      </p:cBhvr>
                                      <p:tavLst>
                                        <p:tav tm="0">
                                          <p:val>
                                            <p:strVal val="#ppt_x"/>
                                          </p:val>
                                        </p:tav>
                                        <p:tav tm="100000">
                                          <p:val>
                                            <p:strVal val="#ppt_x"/>
                                          </p:val>
                                        </p:tav>
                                      </p:tavLst>
                                    </p:anim>
                                    <p:anim calcmode="lin" valueType="num">
                                      <p:cBhvr additive="base">
                                        <p:cTn id="138" dur="500" fill="hold"/>
                                        <p:tgtEl>
                                          <p:spTgt spid="66">
                                            <p:txEl>
                                              <p:pRg st="0" end="0"/>
                                            </p:txEl>
                                          </p:spTgt>
                                        </p:tgtEl>
                                        <p:attrNameLst>
                                          <p:attrName>ppt_y</p:attrName>
                                        </p:attrNameLst>
                                      </p:cBhvr>
                                      <p:tavLst>
                                        <p:tav tm="0">
                                          <p:val>
                                            <p:strVal val="1+#ppt_h/2"/>
                                          </p:val>
                                        </p:tav>
                                        <p:tav tm="100000">
                                          <p:val>
                                            <p:strVal val="#ppt_y"/>
                                          </p:val>
                                        </p:tav>
                                      </p:tavLst>
                                    </p:anim>
                                  </p:childTnLst>
                                </p:cTn>
                              </p:par>
                              <p:par>
                                <p:cTn id="139" presetID="2" presetClass="entr" presetSubtype="4" fill="hold" nodeType="withEffect">
                                  <p:stCondLst>
                                    <p:cond delay="0"/>
                                  </p:stCondLst>
                                  <p:childTnLst>
                                    <p:set>
                                      <p:cBhvr>
                                        <p:cTn id="140" dur="1" fill="hold">
                                          <p:stCondLst>
                                            <p:cond delay="0"/>
                                          </p:stCondLst>
                                        </p:cTn>
                                        <p:tgtEl>
                                          <p:spTgt spid="67"/>
                                        </p:tgtEl>
                                        <p:attrNameLst>
                                          <p:attrName>style.visibility</p:attrName>
                                        </p:attrNameLst>
                                      </p:cBhvr>
                                      <p:to>
                                        <p:strVal val="visible"/>
                                      </p:to>
                                    </p:set>
                                    <p:anim calcmode="lin" valueType="num">
                                      <p:cBhvr additive="base">
                                        <p:cTn id="141" dur="500" fill="hold"/>
                                        <p:tgtEl>
                                          <p:spTgt spid="67"/>
                                        </p:tgtEl>
                                        <p:attrNameLst>
                                          <p:attrName>ppt_x</p:attrName>
                                        </p:attrNameLst>
                                      </p:cBhvr>
                                      <p:tavLst>
                                        <p:tav tm="0">
                                          <p:val>
                                            <p:strVal val="#ppt_x"/>
                                          </p:val>
                                        </p:tav>
                                        <p:tav tm="100000">
                                          <p:val>
                                            <p:strVal val="#ppt_x"/>
                                          </p:val>
                                        </p:tav>
                                      </p:tavLst>
                                    </p:anim>
                                    <p:anim calcmode="lin" valueType="num">
                                      <p:cBhvr additive="base">
                                        <p:cTn id="142"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76D90-5785-4706-9F7E-F9396538ACB1}"/>
              </a:ext>
            </a:extLst>
          </p:cNvPr>
          <p:cNvSpPr>
            <a:spLocks noGrp="1"/>
          </p:cNvSpPr>
          <p:nvPr>
            <p:ph type="title"/>
          </p:nvPr>
        </p:nvSpPr>
        <p:spPr>
          <a:xfrm>
            <a:off x="838200" y="0"/>
            <a:ext cx="10515600" cy="1325563"/>
          </a:xfrm>
        </p:spPr>
        <p:txBody>
          <a:bodyPr/>
          <a:lstStyle/>
          <a:p>
            <a:r>
              <a:rPr lang="en-US" dirty="0"/>
              <a:t>Comparing Models with ROC Curves</a:t>
            </a:r>
          </a:p>
        </p:txBody>
      </p:sp>
      <p:graphicFrame>
        <p:nvGraphicFramePr>
          <p:cNvPr id="4" name="Chart 3">
            <a:extLst>
              <a:ext uri="{FF2B5EF4-FFF2-40B4-BE49-F238E27FC236}">
                <a16:creationId xmlns:a16="http://schemas.microsoft.com/office/drawing/2014/main" id="{7C839F44-2D00-43CE-96EE-C31D9F61E1F2}"/>
              </a:ext>
            </a:extLst>
          </p:cNvPr>
          <p:cNvGraphicFramePr>
            <a:graphicFrameLocks noGrp="1"/>
          </p:cNvGraphicFramePr>
          <p:nvPr/>
        </p:nvGraphicFramePr>
        <p:xfrm>
          <a:off x="1954906" y="1584543"/>
          <a:ext cx="4782312"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E046C5B5-9A96-4A46-934D-BB672895CDE2}"/>
              </a:ext>
            </a:extLst>
          </p:cNvPr>
          <p:cNvSpPr txBox="1"/>
          <p:nvPr/>
        </p:nvSpPr>
        <p:spPr>
          <a:xfrm>
            <a:off x="167517" y="4785254"/>
            <a:ext cx="1881862" cy="369332"/>
          </a:xfrm>
          <a:prstGeom prst="rect">
            <a:avLst/>
          </a:prstGeom>
          <a:noFill/>
        </p:spPr>
        <p:txBody>
          <a:bodyPr wrap="none" rtlCol="0">
            <a:spAutoFit/>
          </a:bodyPr>
          <a:lstStyle/>
          <a:p>
            <a:r>
              <a:rPr lang="en-US" dirty="0"/>
              <a:t>Model 1: AUC ~97</a:t>
            </a:r>
          </a:p>
        </p:txBody>
      </p:sp>
      <p:sp>
        <p:nvSpPr>
          <p:cNvPr id="7" name="Content Placeholder 2">
            <a:extLst>
              <a:ext uri="{FF2B5EF4-FFF2-40B4-BE49-F238E27FC236}">
                <a16:creationId xmlns:a16="http://schemas.microsoft.com/office/drawing/2014/main" id="{D894302A-29FC-402A-9A28-E18531FECC45}"/>
              </a:ext>
            </a:extLst>
          </p:cNvPr>
          <p:cNvSpPr>
            <a:spLocks noGrp="1"/>
          </p:cNvSpPr>
          <p:nvPr>
            <p:ph idx="1"/>
          </p:nvPr>
        </p:nvSpPr>
        <p:spPr>
          <a:xfrm>
            <a:off x="7700108" y="1622325"/>
            <a:ext cx="4206766" cy="4351338"/>
          </a:xfrm>
        </p:spPr>
        <p:txBody>
          <a:bodyPr>
            <a:normAutofit fontScale="77500" lnSpcReduction="20000"/>
          </a:bodyPr>
          <a:lstStyle/>
          <a:p>
            <a:pPr marL="0" indent="0">
              <a:buNone/>
            </a:pPr>
            <a:r>
              <a:rPr lang="en-US" dirty="0"/>
              <a:t>Area Under Curve (AUC)</a:t>
            </a:r>
          </a:p>
          <a:p>
            <a:r>
              <a:rPr lang="en-US" dirty="0"/>
              <a:t>Integrate Area under the curve</a:t>
            </a:r>
          </a:p>
          <a:p>
            <a:endParaRPr lang="en-US" dirty="0"/>
          </a:p>
          <a:p>
            <a:r>
              <a:rPr lang="en-US" dirty="0"/>
              <a:t>Perfect score is 1</a:t>
            </a:r>
          </a:p>
          <a:p>
            <a:endParaRPr lang="en-US" dirty="0"/>
          </a:p>
          <a:p>
            <a:r>
              <a:rPr lang="en-US" dirty="0"/>
              <a:t>Higher scores allow for generally better tradeoffs</a:t>
            </a:r>
          </a:p>
          <a:p>
            <a:endParaRPr lang="en-US" dirty="0"/>
          </a:p>
          <a:p>
            <a:r>
              <a:rPr lang="en-US" dirty="0"/>
              <a:t>AUC of 0.5 indicates model is essentially randomly guessing</a:t>
            </a:r>
          </a:p>
          <a:p>
            <a:endParaRPr lang="en-US" dirty="0"/>
          </a:p>
          <a:p>
            <a:r>
              <a:rPr lang="en-US" dirty="0"/>
              <a:t>AUC of &lt; 0.5 indicates you’re doing something wrong…</a:t>
            </a:r>
          </a:p>
        </p:txBody>
      </p:sp>
      <p:cxnSp>
        <p:nvCxnSpPr>
          <p:cNvPr id="8" name="Straight Connector 7">
            <a:extLst>
              <a:ext uri="{FF2B5EF4-FFF2-40B4-BE49-F238E27FC236}">
                <a16:creationId xmlns:a16="http://schemas.microsoft.com/office/drawing/2014/main" id="{A37E4E1E-A995-4D3A-84A0-44D8E26EFAF6}"/>
              </a:ext>
            </a:extLst>
          </p:cNvPr>
          <p:cNvCxnSpPr>
            <a:cxnSpLocks/>
          </p:cNvCxnSpPr>
          <p:nvPr/>
        </p:nvCxnSpPr>
        <p:spPr>
          <a:xfrm flipH="1">
            <a:off x="3787310" y="2061481"/>
            <a:ext cx="1" cy="394960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6A8F09A-91D0-4162-9900-CCC1188D00DB}"/>
              </a:ext>
            </a:extLst>
          </p:cNvPr>
          <p:cNvSpPr txBox="1"/>
          <p:nvPr/>
        </p:nvSpPr>
        <p:spPr>
          <a:xfrm>
            <a:off x="3931895" y="6299039"/>
            <a:ext cx="2906566" cy="276999"/>
          </a:xfrm>
          <a:prstGeom prst="rect">
            <a:avLst/>
          </a:prstGeom>
          <a:noFill/>
        </p:spPr>
        <p:txBody>
          <a:bodyPr wrap="square" rtlCol="0">
            <a:spAutoFit/>
          </a:bodyPr>
          <a:lstStyle/>
          <a:p>
            <a:r>
              <a:rPr lang="en-US" sz="1200" dirty="0"/>
              <a:t>Model 1 better than Model 2 at this FPR</a:t>
            </a:r>
          </a:p>
        </p:txBody>
      </p:sp>
      <p:cxnSp>
        <p:nvCxnSpPr>
          <p:cNvPr id="10" name="Straight Connector 9">
            <a:extLst>
              <a:ext uri="{FF2B5EF4-FFF2-40B4-BE49-F238E27FC236}">
                <a16:creationId xmlns:a16="http://schemas.microsoft.com/office/drawing/2014/main" id="{DE1C1D20-38C0-44C6-ACF6-D704175E4DA7}"/>
              </a:ext>
            </a:extLst>
          </p:cNvPr>
          <p:cNvCxnSpPr>
            <a:cxnSpLocks/>
          </p:cNvCxnSpPr>
          <p:nvPr/>
        </p:nvCxnSpPr>
        <p:spPr>
          <a:xfrm flipH="1">
            <a:off x="2625969" y="3259016"/>
            <a:ext cx="3811216" cy="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FDEADF7-4683-44D1-A153-BA8EA9A1F143}"/>
              </a:ext>
            </a:extLst>
          </p:cNvPr>
          <p:cNvCxnSpPr>
            <a:cxnSpLocks/>
          </p:cNvCxnSpPr>
          <p:nvPr/>
        </p:nvCxnSpPr>
        <p:spPr>
          <a:xfrm flipH="1" flipV="1">
            <a:off x="1508369" y="2665046"/>
            <a:ext cx="1095338" cy="59397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2E80856-D21D-4BA4-BA53-2E4CB719D5B5}"/>
              </a:ext>
            </a:extLst>
          </p:cNvPr>
          <p:cNvSpPr txBox="1"/>
          <p:nvPr/>
        </p:nvSpPr>
        <p:spPr>
          <a:xfrm>
            <a:off x="130416" y="2258647"/>
            <a:ext cx="1691752" cy="461665"/>
          </a:xfrm>
          <a:prstGeom prst="rect">
            <a:avLst/>
          </a:prstGeom>
          <a:noFill/>
        </p:spPr>
        <p:txBody>
          <a:bodyPr wrap="square" rtlCol="0">
            <a:spAutoFit/>
          </a:bodyPr>
          <a:lstStyle/>
          <a:p>
            <a:r>
              <a:rPr lang="en-US" sz="1200" dirty="0"/>
              <a:t>Model 1 better than</a:t>
            </a:r>
            <a:br>
              <a:rPr lang="en-US" sz="1200" dirty="0"/>
            </a:br>
            <a:r>
              <a:rPr lang="en-US" sz="1200" dirty="0"/>
              <a:t>   Model 2 at this FNR</a:t>
            </a:r>
          </a:p>
        </p:txBody>
      </p:sp>
      <p:cxnSp>
        <p:nvCxnSpPr>
          <p:cNvPr id="13" name="Straight Connector 12">
            <a:extLst>
              <a:ext uri="{FF2B5EF4-FFF2-40B4-BE49-F238E27FC236}">
                <a16:creationId xmlns:a16="http://schemas.microsoft.com/office/drawing/2014/main" id="{39CBF97B-24AB-4985-BA14-5741F891CBCD}"/>
              </a:ext>
            </a:extLst>
          </p:cNvPr>
          <p:cNvCxnSpPr>
            <a:cxnSpLocks/>
          </p:cNvCxnSpPr>
          <p:nvPr/>
        </p:nvCxnSpPr>
        <p:spPr>
          <a:xfrm flipH="1" flipV="1">
            <a:off x="3868615" y="6070215"/>
            <a:ext cx="242277" cy="22882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E6593E1-1295-4F98-86BB-2CC09F56EB98}"/>
              </a:ext>
            </a:extLst>
          </p:cNvPr>
          <p:cNvSpPr txBox="1"/>
          <p:nvPr/>
        </p:nvSpPr>
        <p:spPr>
          <a:xfrm>
            <a:off x="1653711" y="1194909"/>
            <a:ext cx="3903028" cy="276999"/>
          </a:xfrm>
          <a:prstGeom prst="rect">
            <a:avLst/>
          </a:prstGeom>
          <a:noFill/>
        </p:spPr>
        <p:txBody>
          <a:bodyPr wrap="square" rtlCol="0">
            <a:spAutoFit/>
          </a:bodyPr>
          <a:lstStyle/>
          <a:p>
            <a:r>
              <a:rPr lang="en-US" sz="1200" dirty="0"/>
              <a:t>Model 1 better than Model 2 at every FPR or FNR target</a:t>
            </a:r>
          </a:p>
        </p:txBody>
      </p:sp>
      <p:sp>
        <p:nvSpPr>
          <p:cNvPr id="18" name="Rectangle 17">
            <a:extLst>
              <a:ext uri="{FF2B5EF4-FFF2-40B4-BE49-F238E27FC236}">
                <a16:creationId xmlns:a16="http://schemas.microsoft.com/office/drawing/2014/main" id="{D145192D-C1C2-4225-AFAD-0F7E2CF2CFC1}"/>
              </a:ext>
            </a:extLst>
          </p:cNvPr>
          <p:cNvSpPr/>
          <p:nvPr/>
        </p:nvSpPr>
        <p:spPr>
          <a:xfrm>
            <a:off x="167516" y="5064463"/>
            <a:ext cx="2056589" cy="369332"/>
          </a:xfrm>
          <a:prstGeom prst="rect">
            <a:avLst/>
          </a:prstGeom>
        </p:spPr>
        <p:txBody>
          <a:bodyPr wrap="none">
            <a:spAutoFit/>
          </a:bodyPr>
          <a:lstStyle/>
          <a:p>
            <a:r>
              <a:rPr lang="en-US" dirty="0"/>
              <a:t>Model 2: AUC ~89.5</a:t>
            </a:r>
          </a:p>
        </p:txBody>
      </p:sp>
      <p:cxnSp>
        <p:nvCxnSpPr>
          <p:cNvPr id="21" name="Straight Connector 20">
            <a:extLst>
              <a:ext uri="{FF2B5EF4-FFF2-40B4-BE49-F238E27FC236}">
                <a16:creationId xmlns:a16="http://schemas.microsoft.com/office/drawing/2014/main" id="{2CE13FA4-C63B-42FB-8832-44B3578D32CD}"/>
              </a:ext>
            </a:extLst>
          </p:cNvPr>
          <p:cNvCxnSpPr>
            <a:cxnSpLocks/>
          </p:cNvCxnSpPr>
          <p:nvPr/>
        </p:nvCxnSpPr>
        <p:spPr>
          <a:xfrm flipH="1">
            <a:off x="2672862" y="2141415"/>
            <a:ext cx="3782647" cy="3407508"/>
          </a:xfrm>
          <a:prstGeom prst="line">
            <a:avLst/>
          </a:prstGeom>
          <a:ln w="28575">
            <a:solidFill>
              <a:schemeClr val="bg1">
                <a:lumMod val="50000"/>
              </a:schemeClr>
            </a:solidFill>
            <a:prstDash val="lgDashDotDot"/>
          </a:ln>
        </p:spPr>
        <p:style>
          <a:lnRef idx="1">
            <a:schemeClr val="accent1"/>
          </a:lnRef>
          <a:fillRef idx="0">
            <a:schemeClr val="accent1"/>
          </a:fillRef>
          <a:effectRef idx="0">
            <a:schemeClr val="accent1"/>
          </a:effectRef>
          <a:fontRef idx="minor">
            <a:schemeClr val="tx1"/>
          </a:fontRef>
        </p:style>
      </p:cxnSp>
      <p:sp>
        <p:nvSpPr>
          <p:cNvPr id="25" name="Arc 24">
            <a:extLst>
              <a:ext uri="{FF2B5EF4-FFF2-40B4-BE49-F238E27FC236}">
                <a16:creationId xmlns:a16="http://schemas.microsoft.com/office/drawing/2014/main" id="{3C4B0EBF-0CC0-4539-9BA5-655459674353}"/>
              </a:ext>
            </a:extLst>
          </p:cNvPr>
          <p:cNvSpPr/>
          <p:nvPr/>
        </p:nvSpPr>
        <p:spPr>
          <a:xfrm rot="19559995">
            <a:off x="-907863" y="3518431"/>
            <a:ext cx="7996009" cy="1613023"/>
          </a:xfrm>
          <a:prstGeom prst="arc">
            <a:avLst>
              <a:gd name="adj1" fmla="val 61967"/>
              <a:gd name="adj2" fmla="val 8520470"/>
            </a:avLst>
          </a:prstGeom>
          <a:ln w="28575">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0AFBB268-60AF-42E7-949C-7034C7174ABD}"/>
              </a:ext>
            </a:extLst>
          </p:cNvPr>
          <p:cNvCxnSpPr>
            <a:cxnSpLocks/>
          </p:cNvCxnSpPr>
          <p:nvPr/>
        </p:nvCxnSpPr>
        <p:spPr>
          <a:xfrm flipH="1">
            <a:off x="1828385" y="2834276"/>
            <a:ext cx="1067452" cy="195097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FB18782-FE50-419F-AF5E-1B3F67C756C4}"/>
              </a:ext>
            </a:extLst>
          </p:cNvPr>
          <p:cNvCxnSpPr>
            <a:cxnSpLocks/>
          </p:cNvCxnSpPr>
          <p:nvPr/>
        </p:nvCxnSpPr>
        <p:spPr>
          <a:xfrm flipH="1">
            <a:off x="2175900" y="2442334"/>
            <a:ext cx="2057950" cy="269768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1435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 calcmode="lin" valueType="num">
                                      <p:cBhvr additive="base">
                                        <p:cTn id="11"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anim calcmode="lin" valueType="num">
                                      <p:cBhvr additive="base">
                                        <p:cTn id="25"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7">
                                            <p:txEl>
                                              <p:pRg st="0" end="0"/>
                                            </p:txEl>
                                          </p:spTgt>
                                        </p:tgtEl>
                                        <p:attrNameLst>
                                          <p:attrName>style.visibility</p:attrName>
                                        </p:attrNameLst>
                                      </p:cBhvr>
                                      <p:to>
                                        <p:strVal val="visible"/>
                                      </p:to>
                                    </p:set>
                                    <p:anim calcmode="lin" valueType="num">
                                      <p:cBhvr additive="base">
                                        <p:cTn id="35"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nodeType="clickEffect">
                                  <p:stCondLst>
                                    <p:cond delay="0"/>
                                  </p:stCondLst>
                                  <p:childTnLst>
                                    <p:animEffect transition="out" filter="fade">
                                      <p:cBhvr>
                                        <p:cTn id="40" dur="500"/>
                                        <p:tgtEl>
                                          <p:spTgt spid="8"/>
                                        </p:tgtEl>
                                      </p:cBhvr>
                                    </p:animEffect>
                                    <p:set>
                                      <p:cBhvr>
                                        <p:cTn id="41" dur="1" fill="hold">
                                          <p:stCondLst>
                                            <p:cond delay="499"/>
                                          </p:stCondLst>
                                        </p:cTn>
                                        <p:tgtEl>
                                          <p:spTgt spid="8"/>
                                        </p:tgtEl>
                                        <p:attrNameLst>
                                          <p:attrName>style.visibility</p:attrName>
                                        </p:attrNameLst>
                                      </p:cBhvr>
                                      <p:to>
                                        <p:strVal val="hidden"/>
                                      </p:to>
                                    </p:set>
                                  </p:childTnLst>
                                </p:cTn>
                              </p:par>
                              <p:par>
                                <p:cTn id="42" presetID="10" presetClass="exit" presetSubtype="0" fill="hold" grpId="0" nodeType="withEffect">
                                  <p:stCondLst>
                                    <p:cond delay="0"/>
                                  </p:stCondLst>
                                  <p:childTnLst>
                                    <p:animEffect transition="out" filter="fade">
                                      <p:cBhvr>
                                        <p:cTn id="43" dur="500"/>
                                        <p:tgtEl>
                                          <p:spTgt spid="9">
                                            <p:txEl>
                                              <p:pRg st="0" end="0"/>
                                            </p:txEl>
                                          </p:spTgt>
                                        </p:tgtEl>
                                      </p:cBhvr>
                                    </p:animEffect>
                                    <p:set>
                                      <p:cBhvr>
                                        <p:cTn id="44" dur="1" fill="hold">
                                          <p:stCondLst>
                                            <p:cond delay="499"/>
                                          </p:stCondLst>
                                        </p:cTn>
                                        <p:tgtEl>
                                          <p:spTgt spid="9">
                                            <p:txEl>
                                              <p:pRg st="0" end="0"/>
                                            </p:txEl>
                                          </p:spTgt>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500"/>
                                        <p:tgtEl>
                                          <p:spTgt spid="13"/>
                                        </p:tgtEl>
                                      </p:cBhvr>
                                    </p:animEffect>
                                    <p:set>
                                      <p:cBhvr>
                                        <p:cTn id="47" dur="1" fill="hold">
                                          <p:stCondLst>
                                            <p:cond delay="499"/>
                                          </p:stCondLst>
                                        </p:cTn>
                                        <p:tgtEl>
                                          <p:spTgt spid="13"/>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500"/>
                                        <p:tgtEl>
                                          <p:spTgt spid="10"/>
                                        </p:tgtEl>
                                      </p:cBhvr>
                                    </p:animEffect>
                                    <p:set>
                                      <p:cBhvr>
                                        <p:cTn id="50" dur="1" fill="hold">
                                          <p:stCondLst>
                                            <p:cond delay="499"/>
                                          </p:stCondLst>
                                        </p:cTn>
                                        <p:tgtEl>
                                          <p:spTgt spid="10"/>
                                        </p:tgtEl>
                                        <p:attrNameLst>
                                          <p:attrName>style.visibility</p:attrName>
                                        </p:attrNameLst>
                                      </p:cBhvr>
                                      <p:to>
                                        <p:strVal val="hidden"/>
                                      </p:to>
                                    </p:set>
                                  </p:childTnLst>
                                </p:cTn>
                              </p:par>
                              <p:par>
                                <p:cTn id="51" presetID="10" presetClass="exit" presetSubtype="0" fill="hold" grpId="0" nodeType="withEffect">
                                  <p:stCondLst>
                                    <p:cond delay="0"/>
                                  </p:stCondLst>
                                  <p:childTnLst>
                                    <p:animEffect transition="out" filter="fade">
                                      <p:cBhvr>
                                        <p:cTn id="52" dur="500"/>
                                        <p:tgtEl>
                                          <p:spTgt spid="12">
                                            <p:txEl>
                                              <p:pRg st="0" end="0"/>
                                            </p:txEl>
                                          </p:spTgt>
                                        </p:tgtEl>
                                      </p:cBhvr>
                                    </p:animEffect>
                                    <p:set>
                                      <p:cBhvr>
                                        <p:cTn id="53" dur="1" fill="hold">
                                          <p:stCondLst>
                                            <p:cond delay="499"/>
                                          </p:stCondLst>
                                        </p:cTn>
                                        <p:tgtEl>
                                          <p:spTgt spid="12">
                                            <p:txEl>
                                              <p:pRg st="0" end="0"/>
                                            </p:txEl>
                                          </p:spTgt>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500"/>
                                        <p:tgtEl>
                                          <p:spTgt spid="11"/>
                                        </p:tgtEl>
                                      </p:cBhvr>
                                    </p:animEffect>
                                    <p:set>
                                      <p:cBhvr>
                                        <p:cTn id="56" dur="1" fill="hold">
                                          <p:stCondLst>
                                            <p:cond delay="499"/>
                                          </p:stCondLst>
                                        </p:cTn>
                                        <p:tgtEl>
                                          <p:spTgt spid="11"/>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7">
                                            <p:txEl>
                                              <p:pRg st="0" end="0"/>
                                            </p:txEl>
                                          </p:spTgt>
                                        </p:tgtEl>
                                        <p:attrNameLst>
                                          <p:attrName>style.visibility</p:attrName>
                                        </p:attrNameLst>
                                      </p:cBhvr>
                                      <p:to>
                                        <p:strVal val="visible"/>
                                      </p:to>
                                    </p:set>
                                    <p:anim calcmode="lin" valueType="num">
                                      <p:cBhvr additive="base">
                                        <p:cTn id="61"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7">
                                            <p:txEl>
                                              <p:pRg st="0" end="0"/>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7">
                                            <p:txEl>
                                              <p:pRg st="1" end="1"/>
                                            </p:txEl>
                                          </p:spTgt>
                                        </p:tgtEl>
                                        <p:attrNameLst>
                                          <p:attrName>style.visibility</p:attrName>
                                        </p:attrNameLst>
                                      </p:cBhvr>
                                      <p:to>
                                        <p:strVal val="visible"/>
                                      </p:to>
                                    </p:set>
                                    <p:anim calcmode="lin" valueType="num">
                                      <p:cBhvr additive="base">
                                        <p:cTn id="65"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7">
                                            <p:txEl>
                                              <p:pRg st="1" end="1"/>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7">
                                            <p:txEl>
                                              <p:pRg st="3" end="3"/>
                                            </p:txEl>
                                          </p:spTgt>
                                        </p:tgtEl>
                                        <p:attrNameLst>
                                          <p:attrName>style.visibility</p:attrName>
                                        </p:attrNameLst>
                                      </p:cBhvr>
                                      <p:to>
                                        <p:strVal val="visible"/>
                                      </p:to>
                                    </p:set>
                                    <p:anim calcmode="lin" valueType="num">
                                      <p:cBhvr additive="base">
                                        <p:cTn id="6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7">
                                            <p:txEl>
                                              <p:pRg st="3" end="3"/>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7">
                                            <p:txEl>
                                              <p:pRg st="5" end="5"/>
                                            </p:txEl>
                                          </p:spTgt>
                                        </p:tgtEl>
                                        <p:attrNameLst>
                                          <p:attrName>style.visibility</p:attrName>
                                        </p:attrNameLst>
                                      </p:cBhvr>
                                      <p:to>
                                        <p:strVal val="visible"/>
                                      </p:to>
                                    </p:set>
                                    <p:anim calcmode="lin" valueType="num">
                                      <p:cBhvr additive="base">
                                        <p:cTn id="73"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0" end="0"/>
                                            </p:txEl>
                                          </p:spTgt>
                                        </p:tgtEl>
                                        <p:attrNameLst>
                                          <p:attrName>style.visibility</p:attrName>
                                        </p:attrNameLst>
                                      </p:cBhvr>
                                      <p:to>
                                        <p:strVal val="visible"/>
                                      </p:to>
                                    </p:set>
                                    <p:anim calcmode="lin" valueType="num">
                                      <p:cBhvr additive="base">
                                        <p:cTn id="7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0" end="0"/>
                                            </p:txEl>
                                          </p:spTgt>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18"/>
                                        </p:tgtEl>
                                        <p:attrNameLst>
                                          <p:attrName>style.visibility</p:attrName>
                                        </p:attrNameLst>
                                      </p:cBhvr>
                                      <p:to>
                                        <p:strVal val="visible"/>
                                      </p:to>
                                    </p:set>
                                    <p:anim calcmode="lin" valueType="num">
                                      <p:cBhvr additive="base">
                                        <p:cTn id="89" dur="500" fill="hold"/>
                                        <p:tgtEl>
                                          <p:spTgt spid="18"/>
                                        </p:tgtEl>
                                        <p:attrNameLst>
                                          <p:attrName>ppt_x</p:attrName>
                                        </p:attrNameLst>
                                      </p:cBhvr>
                                      <p:tavLst>
                                        <p:tav tm="0">
                                          <p:val>
                                            <p:strVal val="#ppt_x"/>
                                          </p:val>
                                        </p:tav>
                                        <p:tav tm="100000">
                                          <p:val>
                                            <p:strVal val="#ppt_x"/>
                                          </p:val>
                                        </p:tav>
                                      </p:tavLst>
                                    </p:anim>
                                    <p:anim calcmode="lin" valueType="num">
                                      <p:cBhvr additive="base">
                                        <p:cTn id="90" dur="500" fill="hold"/>
                                        <p:tgtEl>
                                          <p:spTgt spid="18"/>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29"/>
                                        </p:tgtEl>
                                        <p:attrNameLst>
                                          <p:attrName>style.visibility</p:attrName>
                                        </p:attrNameLst>
                                      </p:cBhvr>
                                      <p:to>
                                        <p:strVal val="visible"/>
                                      </p:to>
                                    </p:set>
                                    <p:anim calcmode="lin" valueType="num">
                                      <p:cBhvr additive="base">
                                        <p:cTn id="93" dur="500" fill="hold"/>
                                        <p:tgtEl>
                                          <p:spTgt spid="29"/>
                                        </p:tgtEl>
                                        <p:attrNameLst>
                                          <p:attrName>ppt_x</p:attrName>
                                        </p:attrNameLst>
                                      </p:cBhvr>
                                      <p:tavLst>
                                        <p:tav tm="0">
                                          <p:val>
                                            <p:strVal val="#ppt_x"/>
                                          </p:val>
                                        </p:tav>
                                        <p:tav tm="100000">
                                          <p:val>
                                            <p:strVal val="#ppt_x"/>
                                          </p:val>
                                        </p:tav>
                                      </p:tavLst>
                                    </p:anim>
                                    <p:anim calcmode="lin" valueType="num">
                                      <p:cBhvr additive="base">
                                        <p:cTn id="9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nodeType="clickEffect">
                                  <p:stCondLst>
                                    <p:cond delay="0"/>
                                  </p:stCondLst>
                                  <p:childTnLst>
                                    <p:set>
                                      <p:cBhvr>
                                        <p:cTn id="98" dur="1" fill="hold">
                                          <p:stCondLst>
                                            <p:cond delay="0"/>
                                          </p:stCondLst>
                                        </p:cTn>
                                        <p:tgtEl>
                                          <p:spTgt spid="7">
                                            <p:txEl>
                                              <p:pRg st="7" end="7"/>
                                            </p:txEl>
                                          </p:spTgt>
                                        </p:tgtEl>
                                        <p:attrNameLst>
                                          <p:attrName>style.visibility</p:attrName>
                                        </p:attrNameLst>
                                      </p:cBhvr>
                                      <p:to>
                                        <p:strVal val="visible"/>
                                      </p:to>
                                    </p:set>
                                    <p:anim calcmode="lin" valueType="num">
                                      <p:cBhvr additive="base">
                                        <p:cTn id="99"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100" dur="500" fill="hold"/>
                                        <p:tgtEl>
                                          <p:spTgt spid="7">
                                            <p:txEl>
                                              <p:pRg st="7" end="7"/>
                                            </p:txEl>
                                          </p:spTgt>
                                        </p:tgtEl>
                                        <p:attrNameLst>
                                          <p:attrName>ppt_y</p:attrName>
                                        </p:attrNameLst>
                                      </p:cBhvr>
                                      <p:tavLst>
                                        <p:tav tm="0">
                                          <p:val>
                                            <p:strVal val="1+#ppt_h/2"/>
                                          </p:val>
                                        </p:tav>
                                        <p:tav tm="100000">
                                          <p:val>
                                            <p:strVal val="#ppt_y"/>
                                          </p:val>
                                        </p:tav>
                                      </p:tavLst>
                                    </p:anim>
                                  </p:childTnLst>
                                </p:cTn>
                              </p:par>
                              <p:par>
                                <p:cTn id="101" presetID="2" presetClass="entr" presetSubtype="4" fill="hold" nodeType="withEffect">
                                  <p:stCondLst>
                                    <p:cond delay="0"/>
                                  </p:stCondLst>
                                  <p:childTnLst>
                                    <p:set>
                                      <p:cBhvr>
                                        <p:cTn id="102" dur="1" fill="hold">
                                          <p:stCondLst>
                                            <p:cond delay="0"/>
                                          </p:stCondLst>
                                        </p:cTn>
                                        <p:tgtEl>
                                          <p:spTgt spid="21"/>
                                        </p:tgtEl>
                                        <p:attrNameLst>
                                          <p:attrName>style.visibility</p:attrName>
                                        </p:attrNameLst>
                                      </p:cBhvr>
                                      <p:to>
                                        <p:strVal val="visible"/>
                                      </p:to>
                                    </p:set>
                                    <p:anim calcmode="lin" valueType="num">
                                      <p:cBhvr additive="base">
                                        <p:cTn id="103" dur="500" fill="hold"/>
                                        <p:tgtEl>
                                          <p:spTgt spid="21"/>
                                        </p:tgtEl>
                                        <p:attrNameLst>
                                          <p:attrName>ppt_x</p:attrName>
                                        </p:attrNameLst>
                                      </p:cBhvr>
                                      <p:tavLst>
                                        <p:tav tm="0">
                                          <p:val>
                                            <p:strVal val="#ppt_x"/>
                                          </p:val>
                                        </p:tav>
                                        <p:tav tm="100000">
                                          <p:val>
                                            <p:strVal val="#ppt_x"/>
                                          </p:val>
                                        </p:tav>
                                      </p:tavLst>
                                    </p:anim>
                                    <p:anim calcmode="lin" valueType="num">
                                      <p:cBhvr additive="base">
                                        <p:cTn id="104" dur="500" fill="hold"/>
                                        <p:tgtEl>
                                          <p:spTgt spid="21"/>
                                        </p:tgtEl>
                                        <p:attrNameLst>
                                          <p:attrName>ppt_y</p:attrName>
                                        </p:attrNameLst>
                                      </p:cBhvr>
                                      <p:tavLst>
                                        <p:tav tm="0">
                                          <p:val>
                                            <p:strVal val="1+#ppt_h/2"/>
                                          </p:val>
                                        </p:tav>
                                        <p:tav tm="100000">
                                          <p:val>
                                            <p:strVal val="#ppt_y"/>
                                          </p:val>
                                        </p:tav>
                                      </p:tavLst>
                                    </p:anim>
                                  </p:childTnLst>
                                </p:cTn>
                              </p:par>
                              <p:par>
                                <p:cTn id="105" presetID="10" presetClass="exit" presetSubtype="0" fill="hold" nodeType="withEffect">
                                  <p:stCondLst>
                                    <p:cond delay="0"/>
                                  </p:stCondLst>
                                  <p:childTnLst>
                                    <p:animEffect transition="out" filter="fade">
                                      <p:cBhvr>
                                        <p:cTn id="106" dur="500"/>
                                        <p:tgtEl>
                                          <p:spTgt spid="26"/>
                                        </p:tgtEl>
                                      </p:cBhvr>
                                    </p:animEffect>
                                    <p:set>
                                      <p:cBhvr>
                                        <p:cTn id="107" dur="1" fill="hold">
                                          <p:stCondLst>
                                            <p:cond delay="499"/>
                                          </p:stCondLst>
                                        </p:cTn>
                                        <p:tgtEl>
                                          <p:spTgt spid="26"/>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500"/>
                                        <p:tgtEl>
                                          <p:spTgt spid="29"/>
                                        </p:tgtEl>
                                      </p:cBhvr>
                                    </p:animEffect>
                                    <p:set>
                                      <p:cBhvr>
                                        <p:cTn id="110" dur="1" fill="hold">
                                          <p:stCondLst>
                                            <p:cond delay="499"/>
                                          </p:stCondLst>
                                        </p:cTn>
                                        <p:tgtEl>
                                          <p:spTgt spid="29"/>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7">
                                            <p:txEl>
                                              <p:pRg st="9" end="9"/>
                                            </p:txEl>
                                          </p:spTgt>
                                        </p:tgtEl>
                                        <p:attrNameLst>
                                          <p:attrName>style.visibility</p:attrName>
                                        </p:attrNameLst>
                                      </p:cBhvr>
                                      <p:to>
                                        <p:strVal val="visible"/>
                                      </p:to>
                                    </p:set>
                                    <p:anim calcmode="lin" valueType="num">
                                      <p:cBhvr additive="base">
                                        <p:cTn id="11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7">
                                            <p:txEl>
                                              <p:pRg st="9" end="9"/>
                                            </p:txEl>
                                          </p:spTgt>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25"/>
                                        </p:tgtEl>
                                        <p:attrNameLst>
                                          <p:attrName>style.visibility</p:attrName>
                                        </p:attrNameLst>
                                      </p:cBhvr>
                                      <p:to>
                                        <p:strVal val="visible"/>
                                      </p:to>
                                    </p:set>
                                    <p:anim calcmode="lin" valueType="num">
                                      <p:cBhvr additive="base">
                                        <p:cTn id="119" dur="500" fill="hold"/>
                                        <p:tgtEl>
                                          <p:spTgt spid="25"/>
                                        </p:tgtEl>
                                        <p:attrNameLst>
                                          <p:attrName>ppt_x</p:attrName>
                                        </p:attrNameLst>
                                      </p:cBhvr>
                                      <p:tavLst>
                                        <p:tav tm="0">
                                          <p:val>
                                            <p:strVal val="#ppt_x"/>
                                          </p:val>
                                        </p:tav>
                                        <p:tav tm="100000">
                                          <p:val>
                                            <p:strVal val="#ppt_x"/>
                                          </p:val>
                                        </p:tav>
                                      </p:tavLst>
                                    </p:anim>
                                    <p:anim calcmode="lin" valueType="num">
                                      <p:cBhvr additive="base">
                                        <p:cTn id="12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P spid="12" grpId="0" build="allAtOnce"/>
      <p:bldP spid="18" grpId="0"/>
      <p:bldP spid="2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C9B6F-BE2D-4C93-AA01-3A3AF00348EA}"/>
              </a:ext>
            </a:extLst>
          </p:cNvPr>
          <p:cNvSpPr>
            <a:spLocks noGrp="1"/>
          </p:cNvSpPr>
          <p:nvPr>
            <p:ph type="title"/>
          </p:nvPr>
        </p:nvSpPr>
        <p:spPr>
          <a:xfrm>
            <a:off x="775676" y="105282"/>
            <a:ext cx="10908323" cy="620818"/>
          </a:xfrm>
        </p:spPr>
        <p:txBody>
          <a:bodyPr>
            <a:normAutofit fontScale="90000"/>
          </a:bodyPr>
          <a:lstStyle/>
          <a:p>
            <a:r>
              <a:rPr lang="en-US" dirty="0"/>
              <a:t>More ROC Comparisons</a:t>
            </a:r>
          </a:p>
        </p:txBody>
      </p:sp>
      <p:graphicFrame>
        <p:nvGraphicFramePr>
          <p:cNvPr id="4" name="Chart 3">
            <a:extLst>
              <a:ext uri="{FF2B5EF4-FFF2-40B4-BE49-F238E27FC236}">
                <a16:creationId xmlns:a16="http://schemas.microsoft.com/office/drawing/2014/main" id="{6628D432-165A-4B93-9F6C-21151016967C}"/>
              </a:ext>
            </a:extLst>
          </p:cNvPr>
          <p:cNvGraphicFramePr>
            <a:graphicFrameLocks noGrp="1"/>
          </p:cNvGraphicFramePr>
          <p:nvPr/>
        </p:nvGraphicFramePr>
        <p:xfrm>
          <a:off x="3149958" y="1595606"/>
          <a:ext cx="4782312" cy="4389120"/>
        </p:xfrm>
        <a:graphic>
          <a:graphicData uri="http://schemas.openxmlformats.org/drawingml/2006/chart">
            <c:chart xmlns:c="http://schemas.openxmlformats.org/drawingml/2006/chart" xmlns:r="http://schemas.openxmlformats.org/officeDocument/2006/relationships" r:id="rId2"/>
          </a:graphicData>
        </a:graphic>
      </p:graphicFrame>
      <p:sp>
        <p:nvSpPr>
          <p:cNvPr id="6" name="Oval 5">
            <a:extLst>
              <a:ext uri="{FF2B5EF4-FFF2-40B4-BE49-F238E27FC236}">
                <a16:creationId xmlns:a16="http://schemas.microsoft.com/office/drawing/2014/main" id="{133A25F2-B141-4D94-BBF9-2649E3DD3FC1}"/>
              </a:ext>
            </a:extLst>
          </p:cNvPr>
          <p:cNvSpPr/>
          <p:nvPr/>
        </p:nvSpPr>
        <p:spPr>
          <a:xfrm>
            <a:off x="4003430" y="2676571"/>
            <a:ext cx="205023" cy="199924"/>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5C519857-2BC0-4295-94DE-29AE8C4FA406}"/>
              </a:ext>
            </a:extLst>
          </p:cNvPr>
          <p:cNvCxnSpPr>
            <a:cxnSpLocks/>
          </p:cNvCxnSpPr>
          <p:nvPr/>
        </p:nvCxnSpPr>
        <p:spPr>
          <a:xfrm flipH="1" flipV="1">
            <a:off x="2459059" y="1447216"/>
            <a:ext cx="1518977" cy="126472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8C92ADC-22CA-47AA-B124-B04BAF0C17B6}"/>
              </a:ext>
            </a:extLst>
          </p:cNvPr>
          <p:cNvSpPr txBox="1"/>
          <p:nvPr/>
        </p:nvSpPr>
        <p:spPr>
          <a:xfrm>
            <a:off x="1265464" y="1113365"/>
            <a:ext cx="1691752" cy="276999"/>
          </a:xfrm>
          <a:prstGeom prst="rect">
            <a:avLst/>
          </a:prstGeom>
          <a:noFill/>
        </p:spPr>
        <p:txBody>
          <a:bodyPr wrap="square" rtlCol="0">
            <a:spAutoFit/>
          </a:bodyPr>
          <a:lstStyle/>
          <a:p>
            <a:r>
              <a:rPr lang="en-US" sz="1200" dirty="0"/>
              <a:t>ROC Curves Cross</a:t>
            </a:r>
          </a:p>
        </p:txBody>
      </p:sp>
      <p:cxnSp>
        <p:nvCxnSpPr>
          <p:cNvPr id="10" name="Straight Connector 9">
            <a:extLst>
              <a:ext uri="{FF2B5EF4-FFF2-40B4-BE49-F238E27FC236}">
                <a16:creationId xmlns:a16="http://schemas.microsoft.com/office/drawing/2014/main" id="{BE95CB15-4C80-4DC5-9693-9186C3C5D06B}"/>
              </a:ext>
            </a:extLst>
          </p:cNvPr>
          <p:cNvCxnSpPr>
            <a:cxnSpLocks/>
            <a:endCxn id="11" idx="2"/>
          </p:cNvCxnSpPr>
          <p:nvPr/>
        </p:nvCxnSpPr>
        <p:spPr>
          <a:xfrm flipV="1">
            <a:off x="5609865" y="1297363"/>
            <a:ext cx="1683390" cy="93783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C9BA890-2290-4CA2-8101-26E708E55B68}"/>
              </a:ext>
            </a:extLst>
          </p:cNvPr>
          <p:cNvSpPr txBox="1"/>
          <p:nvPr/>
        </p:nvSpPr>
        <p:spPr>
          <a:xfrm>
            <a:off x="6372543" y="1020364"/>
            <a:ext cx="1841424" cy="276999"/>
          </a:xfrm>
          <a:prstGeom prst="rect">
            <a:avLst/>
          </a:prstGeom>
          <a:noFill/>
        </p:spPr>
        <p:txBody>
          <a:bodyPr wrap="square" rtlCol="0">
            <a:spAutoFit/>
          </a:bodyPr>
          <a:lstStyle/>
          <a:p>
            <a:r>
              <a:rPr lang="en-US" sz="1200" dirty="0"/>
              <a:t>Model 1 better at low FNR</a:t>
            </a:r>
          </a:p>
        </p:txBody>
      </p:sp>
      <p:cxnSp>
        <p:nvCxnSpPr>
          <p:cNvPr id="16" name="Straight Connector 15">
            <a:extLst>
              <a:ext uri="{FF2B5EF4-FFF2-40B4-BE49-F238E27FC236}">
                <a16:creationId xmlns:a16="http://schemas.microsoft.com/office/drawing/2014/main" id="{7EF2557E-4637-40E5-BEC1-19233C907350}"/>
              </a:ext>
            </a:extLst>
          </p:cNvPr>
          <p:cNvCxnSpPr>
            <a:cxnSpLocks/>
            <a:endCxn id="17" idx="3"/>
          </p:cNvCxnSpPr>
          <p:nvPr/>
        </p:nvCxnSpPr>
        <p:spPr>
          <a:xfrm flipH="1" flipV="1">
            <a:off x="2320017" y="2081789"/>
            <a:ext cx="1564229" cy="98837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428D041-A960-4EFB-A01D-C6BDA321A807}"/>
              </a:ext>
            </a:extLst>
          </p:cNvPr>
          <p:cNvSpPr txBox="1"/>
          <p:nvPr/>
        </p:nvSpPr>
        <p:spPr>
          <a:xfrm>
            <a:off x="478593" y="1943289"/>
            <a:ext cx="1841424" cy="276999"/>
          </a:xfrm>
          <a:prstGeom prst="rect">
            <a:avLst/>
          </a:prstGeom>
          <a:noFill/>
        </p:spPr>
        <p:txBody>
          <a:bodyPr wrap="square" rtlCol="0">
            <a:spAutoFit/>
          </a:bodyPr>
          <a:lstStyle/>
          <a:p>
            <a:r>
              <a:rPr lang="en-US" sz="1200" dirty="0"/>
              <a:t>Model 2 better at low FPR</a:t>
            </a:r>
          </a:p>
        </p:txBody>
      </p:sp>
      <p:sp>
        <p:nvSpPr>
          <p:cNvPr id="20" name="TextBox 19">
            <a:extLst>
              <a:ext uri="{FF2B5EF4-FFF2-40B4-BE49-F238E27FC236}">
                <a16:creationId xmlns:a16="http://schemas.microsoft.com/office/drawing/2014/main" id="{0F940E7E-2147-483A-9E0A-C2381674E587}"/>
              </a:ext>
            </a:extLst>
          </p:cNvPr>
          <p:cNvSpPr txBox="1"/>
          <p:nvPr/>
        </p:nvSpPr>
        <p:spPr>
          <a:xfrm>
            <a:off x="577197" y="4585335"/>
            <a:ext cx="1881862" cy="369332"/>
          </a:xfrm>
          <a:prstGeom prst="rect">
            <a:avLst/>
          </a:prstGeom>
          <a:noFill/>
        </p:spPr>
        <p:txBody>
          <a:bodyPr wrap="none" rtlCol="0">
            <a:spAutoFit/>
          </a:bodyPr>
          <a:lstStyle/>
          <a:p>
            <a:r>
              <a:rPr lang="en-US" dirty="0"/>
              <a:t>Model 1: AUC ~97</a:t>
            </a:r>
          </a:p>
        </p:txBody>
      </p:sp>
      <p:sp>
        <p:nvSpPr>
          <p:cNvPr id="21" name="Rectangle 20">
            <a:extLst>
              <a:ext uri="{FF2B5EF4-FFF2-40B4-BE49-F238E27FC236}">
                <a16:creationId xmlns:a16="http://schemas.microsoft.com/office/drawing/2014/main" id="{574AEBE2-9F2C-43F1-8DAA-7C7FCC7D3968}"/>
              </a:ext>
            </a:extLst>
          </p:cNvPr>
          <p:cNvSpPr/>
          <p:nvPr/>
        </p:nvSpPr>
        <p:spPr>
          <a:xfrm>
            <a:off x="577196" y="4864544"/>
            <a:ext cx="2056589" cy="369332"/>
          </a:xfrm>
          <a:prstGeom prst="rect">
            <a:avLst/>
          </a:prstGeom>
        </p:spPr>
        <p:txBody>
          <a:bodyPr wrap="none">
            <a:spAutoFit/>
          </a:bodyPr>
          <a:lstStyle/>
          <a:p>
            <a:r>
              <a:rPr lang="en-US" dirty="0"/>
              <a:t>Model 2: AUC ~93.5</a:t>
            </a:r>
          </a:p>
        </p:txBody>
      </p:sp>
      <p:sp>
        <p:nvSpPr>
          <p:cNvPr id="22" name="Oval 21">
            <a:extLst>
              <a:ext uri="{FF2B5EF4-FFF2-40B4-BE49-F238E27FC236}">
                <a16:creationId xmlns:a16="http://schemas.microsoft.com/office/drawing/2014/main" id="{A1FDCA8D-DAA5-4FC6-85BE-45DF45E7EFB2}"/>
              </a:ext>
            </a:extLst>
          </p:cNvPr>
          <p:cNvSpPr/>
          <p:nvPr/>
        </p:nvSpPr>
        <p:spPr>
          <a:xfrm>
            <a:off x="3796457" y="2711939"/>
            <a:ext cx="435441" cy="893386"/>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69488EF1-9428-428D-86F3-2E910E06631D}"/>
              </a:ext>
            </a:extLst>
          </p:cNvPr>
          <p:cNvCxnSpPr>
            <a:cxnSpLocks/>
            <a:endCxn id="20" idx="0"/>
          </p:cNvCxnSpPr>
          <p:nvPr/>
        </p:nvCxnSpPr>
        <p:spPr>
          <a:xfrm>
            <a:off x="1164497" y="4007428"/>
            <a:ext cx="353631" cy="57790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89D6085-F6E5-4B07-B71D-926F2F4183A3}"/>
              </a:ext>
            </a:extLst>
          </p:cNvPr>
          <p:cNvSpPr txBox="1"/>
          <p:nvPr/>
        </p:nvSpPr>
        <p:spPr>
          <a:xfrm>
            <a:off x="495379" y="3459406"/>
            <a:ext cx="1963679" cy="830997"/>
          </a:xfrm>
          <a:prstGeom prst="rect">
            <a:avLst/>
          </a:prstGeom>
          <a:noFill/>
        </p:spPr>
        <p:txBody>
          <a:bodyPr wrap="square" rtlCol="0">
            <a:spAutoFit/>
          </a:bodyPr>
          <a:lstStyle/>
          <a:p>
            <a:r>
              <a:rPr lang="en-US" sz="1200" dirty="0"/>
              <a:t>Model 2:</a:t>
            </a:r>
          </a:p>
          <a:p>
            <a:pPr marL="171450" indent="-171450">
              <a:buFont typeface="Arial" panose="020B0604020202020204" pitchFamily="34" charset="0"/>
              <a:buChar char="•"/>
            </a:pPr>
            <a:r>
              <a:rPr lang="en-US" sz="1200" dirty="0"/>
              <a:t>Worse AUC</a:t>
            </a:r>
          </a:p>
          <a:p>
            <a:pPr marL="171450" indent="-171450">
              <a:buFont typeface="Arial" panose="020B0604020202020204" pitchFamily="34" charset="0"/>
              <a:buChar char="•"/>
            </a:pPr>
            <a:r>
              <a:rPr lang="en-US" sz="1200" dirty="0"/>
              <a:t>May be better at what you need…</a:t>
            </a:r>
          </a:p>
        </p:txBody>
      </p:sp>
      <p:cxnSp>
        <p:nvCxnSpPr>
          <p:cNvPr id="32" name="Straight Connector 31">
            <a:extLst>
              <a:ext uri="{FF2B5EF4-FFF2-40B4-BE49-F238E27FC236}">
                <a16:creationId xmlns:a16="http://schemas.microsoft.com/office/drawing/2014/main" id="{7C589BCE-681E-4480-A966-823E31494BB3}"/>
              </a:ext>
            </a:extLst>
          </p:cNvPr>
          <p:cNvCxnSpPr>
            <a:cxnSpLocks/>
          </p:cNvCxnSpPr>
          <p:nvPr/>
        </p:nvCxnSpPr>
        <p:spPr>
          <a:xfrm flipH="1">
            <a:off x="2117974" y="3246738"/>
            <a:ext cx="1678484" cy="46552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37" name="Chart 36">
            <a:extLst>
              <a:ext uri="{FF2B5EF4-FFF2-40B4-BE49-F238E27FC236}">
                <a16:creationId xmlns:a16="http://schemas.microsoft.com/office/drawing/2014/main" id="{5D378034-0E16-4AA5-89CD-6EE39798FF2E}"/>
              </a:ext>
            </a:extLst>
          </p:cNvPr>
          <p:cNvGraphicFramePr>
            <a:graphicFrameLocks noGrp="1"/>
          </p:cNvGraphicFramePr>
          <p:nvPr/>
        </p:nvGraphicFramePr>
        <p:xfrm>
          <a:off x="8140070" y="2711939"/>
          <a:ext cx="3867912" cy="3870442"/>
        </p:xfrm>
        <a:graphic>
          <a:graphicData uri="http://schemas.openxmlformats.org/drawingml/2006/chart">
            <c:chart xmlns:c="http://schemas.openxmlformats.org/drawingml/2006/chart" xmlns:r="http://schemas.openxmlformats.org/officeDocument/2006/relationships" r:id="rId3"/>
          </a:graphicData>
        </a:graphic>
      </p:graphicFrame>
      <p:sp>
        <p:nvSpPr>
          <p:cNvPr id="38" name="Rectangle 37">
            <a:extLst>
              <a:ext uri="{FF2B5EF4-FFF2-40B4-BE49-F238E27FC236}">
                <a16:creationId xmlns:a16="http://schemas.microsoft.com/office/drawing/2014/main" id="{EC4E89E8-366D-43F2-8A66-7631F5BDC717}"/>
              </a:ext>
            </a:extLst>
          </p:cNvPr>
          <p:cNvSpPr/>
          <p:nvPr/>
        </p:nvSpPr>
        <p:spPr>
          <a:xfrm>
            <a:off x="3852985" y="2172677"/>
            <a:ext cx="378913" cy="1680308"/>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8D452F6A-67E2-430E-9455-E17BD3FC3C41}"/>
              </a:ext>
            </a:extLst>
          </p:cNvPr>
          <p:cNvCxnSpPr>
            <a:cxnSpLocks/>
          </p:cNvCxnSpPr>
          <p:nvPr/>
        </p:nvCxnSpPr>
        <p:spPr>
          <a:xfrm flipH="1" flipV="1">
            <a:off x="4231898" y="2172678"/>
            <a:ext cx="7481509" cy="79470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4D798A0-7F04-4AA3-9996-F9F5DE2B621D}"/>
              </a:ext>
            </a:extLst>
          </p:cNvPr>
          <p:cNvCxnSpPr>
            <a:cxnSpLocks/>
          </p:cNvCxnSpPr>
          <p:nvPr/>
        </p:nvCxnSpPr>
        <p:spPr>
          <a:xfrm flipH="1" flipV="1">
            <a:off x="3852985" y="2172676"/>
            <a:ext cx="4770184" cy="104315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34CC755-ACC8-4397-9945-FF113BBD817D}"/>
              </a:ext>
            </a:extLst>
          </p:cNvPr>
          <p:cNvCxnSpPr>
            <a:cxnSpLocks/>
          </p:cNvCxnSpPr>
          <p:nvPr/>
        </p:nvCxnSpPr>
        <p:spPr>
          <a:xfrm flipH="1" flipV="1">
            <a:off x="3852985" y="3884534"/>
            <a:ext cx="4595458" cy="224858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E293C7B5-E642-4941-9963-28CE2FD2D60B}"/>
              </a:ext>
            </a:extLst>
          </p:cNvPr>
          <p:cNvSpPr txBox="1"/>
          <p:nvPr/>
        </p:nvSpPr>
        <p:spPr>
          <a:xfrm>
            <a:off x="9078662" y="2414439"/>
            <a:ext cx="2179251" cy="276999"/>
          </a:xfrm>
          <a:prstGeom prst="rect">
            <a:avLst/>
          </a:prstGeom>
          <a:noFill/>
        </p:spPr>
        <p:txBody>
          <a:bodyPr wrap="square" rtlCol="0">
            <a:spAutoFit/>
          </a:bodyPr>
          <a:lstStyle/>
          <a:p>
            <a:r>
              <a:rPr lang="en-US" sz="1200" dirty="0"/>
              <a:t>Zoom in on region of interest</a:t>
            </a:r>
          </a:p>
        </p:txBody>
      </p:sp>
    </p:spTree>
    <p:extLst>
      <p:ext uri="{BB962C8B-B14F-4D97-AF65-F5344CB8AC3E}">
        <p14:creationId xmlns:p14="http://schemas.microsoft.com/office/powerpoint/2010/main" val="2002845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 calcmode="lin" valueType="num">
                                      <p:cBhvr additive="base">
                                        <p:cTn id="1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1">
                                            <p:txEl>
                                              <p:pRg st="0" end="0"/>
                                            </p:txEl>
                                          </p:spTgt>
                                        </p:tgtEl>
                                        <p:attrNameLst>
                                          <p:attrName>style.visibility</p:attrName>
                                        </p:attrNameLst>
                                      </p:cBhvr>
                                      <p:to>
                                        <p:strVal val="visible"/>
                                      </p:to>
                                    </p:set>
                                    <p:anim calcmode="lin" valueType="num">
                                      <p:cBhvr additive="base">
                                        <p:cTn id="21"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
                                            <p:txEl>
                                              <p:pRg st="0" end="0"/>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anim calcmode="lin" valueType="num">
                                      <p:cBhvr additive="base">
                                        <p:cTn id="31"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
                                            <p:txEl>
                                              <p:pRg st="0" end="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ppt_x"/>
                                          </p:val>
                                        </p:tav>
                                        <p:tav tm="100000">
                                          <p:val>
                                            <p:strVal val="#ppt_x"/>
                                          </p:val>
                                        </p:tav>
                                      </p:tavLst>
                                    </p:anim>
                                    <p:anim calcmode="lin" valueType="num">
                                      <p:cBhvr additive="base">
                                        <p:cTn id="3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grpId="1" nodeType="clickEffect">
                                  <p:stCondLst>
                                    <p:cond delay="0"/>
                                  </p:stCondLst>
                                  <p:childTnLst>
                                    <p:animEffect transition="out" filter="fade">
                                      <p:cBhvr>
                                        <p:cTn id="40" dur="500"/>
                                        <p:tgtEl>
                                          <p:spTgt spid="6"/>
                                        </p:tgtEl>
                                      </p:cBhvr>
                                    </p:animEffect>
                                    <p:set>
                                      <p:cBhvr>
                                        <p:cTn id="41" dur="1" fill="hold">
                                          <p:stCondLst>
                                            <p:cond delay="499"/>
                                          </p:stCondLst>
                                        </p:cTn>
                                        <p:tgtEl>
                                          <p:spTgt spid="6"/>
                                        </p:tgtEl>
                                        <p:attrNameLst>
                                          <p:attrName>style.visibility</p:attrName>
                                        </p:attrNameLst>
                                      </p:cBhvr>
                                      <p:to>
                                        <p:strVal val="hidden"/>
                                      </p:to>
                                    </p:set>
                                  </p:childTnLst>
                                </p:cTn>
                              </p:par>
                              <p:par>
                                <p:cTn id="42" presetID="10" presetClass="exit" presetSubtype="0" fill="hold" grpId="0" nodeType="withEffect">
                                  <p:stCondLst>
                                    <p:cond delay="0"/>
                                  </p:stCondLst>
                                  <p:childTnLst>
                                    <p:animEffect transition="out" filter="fade">
                                      <p:cBhvr>
                                        <p:cTn id="43" dur="500"/>
                                        <p:tgtEl>
                                          <p:spTgt spid="8">
                                            <p:txEl>
                                              <p:pRg st="0" end="0"/>
                                            </p:txEl>
                                          </p:spTgt>
                                        </p:tgtEl>
                                      </p:cBhvr>
                                    </p:animEffect>
                                    <p:set>
                                      <p:cBhvr>
                                        <p:cTn id="44" dur="1" fill="hold">
                                          <p:stCondLst>
                                            <p:cond delay="499"/>
                                          </p:stCondLst>
                                        </p:cTn>
                                        <p:tgtEl>
                                          <p:spTgt spid="8">
                                            <p:txEl>
                                              <p:pRg st="0" end="0"/>
                                            </p:txEl>
                                          </p:spTgt>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500"/>
                                        <p:tgtEl>
                                          <p:spTgt spid="7"/>
                                        </p:tgtEl>
                                      </p:cBhvr>
                                    </p:animEffect>
                                    <p:set>
                                      <p:cBhvr>
                                        <p:cTn id="47" dur="1" fill="hold">
                                          <p:stCondLst>
                                            <p:cond delay="499"/>
                                          </p:stCondLst>
                                        </p:cTn>
                                        <p:tgtEl>
                                          <p:spTgt spid="7"/>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500"/>
                                        <p:tgtEl>
                                          <p:spTgt spid="11">
                                            <p:txEl>
                                              <p:pRg st="0" end="0"/>
                                            </p:txEl>
                                          </p:spTgt>
                                        </p:tgtEl>
                                      </p:cBhvr>
                                    </p:animEffect>
                                    <p:set>
                                      <p:cBhvr>
                                        <p:cTn id="50" dur="1" fill="hold">
                                          <p:stCondLst>
                                            <p:cond delay="499"/>
                                          </p:stCondLst>
                                        </p:cTn>
                                        <p:tgtEl>
                                          <p:spTgt spid="11">
                                            <p:txEl>
                                              <p:pRg st="0" end="0"/>
                                            </p:txEl>
                                          </p:spTgt>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500"/>
                                        <p:tgtEl>
                                          <p:spTgt spid="10"/>
                                        </p:tgtEl>
                                      </p:cBhvr>
                                    </p:animEffect>
                                    <p:set>
                                      <p:cBhvr>
                                        <p:cTn id="53" dur="1" fill="hold">
                                          <p:stCondLst>
                                            <p:cond delay="499"/>
                                          </p:stCondLst>
                                        </p:cTn>
                                        <p:tgtEl>
                                          <p:spTgt spid="10"/>
                                        </p:tgtEl>
                                        <p:attrNameLst>
                                          <p:attrName>style.visibility</p:attrName>
                                        </p:attrNameLst>
                                      </p:cBhvr>
                                      <p:to>
                                        <p:strVal val="hidden"/>
                                      </p:to>
                                    </p:set>
                                  </p:childTnLst>
                                </p:cTn>
                              </p:par>
                              <p:par>
                                <p:cTn id="54" presetID="10" presetClass="exit" presetSubtype="0" fill="hold" grpId="0" nodeType="withEffect">
                                  <p:stCondLst>
                                    <p:cond delay="0"/>
                                  </p:stCondLst>
                                  <p:childTnLst>
                                    <p:animEffect transition="out" filter="fade">
                                      <p:cBhvr>
                                        <p:cTn id="55" dur="500"/>
                                        <p:tgtEl>
                                          <p:spTgt spid="17">
                                            <p:txEl>
                                              <p:pRg st="0" end="0"/>
                                            </p:txEl>
                                          </p:spTgt>
                                        </p:tgtEl>
                                      </p:cBhvr>
                                    </p:animEffect>
                                    <p:set>
                                      <p:cBhvr>
                                        <p:cTn id="56" dur="1" fill="hold">
                                          <p:stCondLst>
                                            <p:cond delay="499"/>
                                          </p:stCondLst>
                                        </p:cTn>
                                        <p:tgtEl>
                                          <p:spTgt spid="17">
                                            <p:txEl>
                                              <p:pRg st="0" end="0"/>
                                            </p:txEl>
                                          </p:spTgt>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500"/>
                                        <p:tgtEl>
                                          <p:spTgt spid="16"/>
                                        </p:tgtEl>
                                      </p:cBhvr>
                                    </p:animEffect>
                                    <p:set>
                                      <p:cBhvr>
                                        <p:cTn id="59" dur="1" fill="hold">
                                          <p:stCondLst>
                                            <p:cond delay="499"/>
                                          </p:stCondLst>
                                        </p:cTn>
                                        <p:tgtEl>
                                          <p:spTgt spid="16"/>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nodeType="clickEffect">
                                  <p:stCondLst>
                                    <p:cond delay="0"/>
                                  </p:stCondLst>
                                  <p:childTnLst>
                                    <p:set>
                                      <p:cBhvr>
                                        <p:cTn id="63" dur="1" fill="hold">
                                          <p:stCondLst>
                                            <p:cond delay="0"/>
                                          </p:stCondLst>
                                        </p:cTn>
                                        <p:tgtEl>
                                          <p:spTgt spid="20">
                                            <p:txEl>
                                              <p:pRg st="0" end="0"/>
                                            </p:txEl>
                                          </p:spTgt>
                                        </p:tgtEl>
                                        <p:attrNameLst>
                                          <p:attrName>style.visibility</p:attrName>
                                        </p:attrNameLst>
                                      </p:cBhvr>
                                      <p:to>
                                        <p:strVal val="visible"/>
                                      </p:to>
                                    </p:set>
                                    <p:anim calcmode="lin" valueType="num">
                                      <p:cBhvr additive="base">
                                        <p:cTn id="64"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20">
                                            <p:txEl>
                                              <p:pRg st="0" end="0"/>
                                            </p:txEl>
                                          </p:spTgt>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21"/>
                                        </p:tgtEl>
                                        <p:attrNameLst>
                                          <p:attrName>style.visibility</p:attrName>
                                        </p:attrNameLst>
                                      </p:cBhvr>
                                      <p:to>
                                        <p:strVal val="visible"/>
                                      </p:to>
                                    </p:set>
                                    <p:anim calcmode="lin" valueType="num">
                                      <p:cBhvr additive="base">
                                        <p:cTn id="68" dur="500" fill="hold"/>
                                        <p:tgtEl>
                                          <p:spTgt spid="21"/>
                                        </p:tgtEl>
                                        <p:attrNameLst>
                                          <p:attrName>ppt_x</p:attrName>
                                        </p:attrNameLst>
                                      </p:cBhvr>
                                      <p:tavLst>
                                        <p:tav tm="0">
                                          <p:val>
                                            <p:strVal val="#ppt_x"/>
                                          </p:val>
                                        </p:tav>
                                        <p:tav tm="100000">
                                          <p:val>
                                            <p:strVal val="#ppt_x"/>
                                          </p:val>
                                        </p:tav>
                                      </p:tavLst>
                                    </p:anim>
                                    <p:anim calcmode="lin" valueType="num">
                                      <p:cBhvr additive="base">
                                        <p:cTn id="69"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nodeType="clickEffect">
                                  <p:stCondLst>
                                    <p:cond delay="0"/>
                                  </p:stCondLst>
                                  <p:childTnLst>
                                    <p:set>
                                      <p:cBhvr>
                                        <p:cTn id="73" dur="1" fill="hold">
                                          <p:stCondLst>
                                            <p:cond delay="0"/>
                                          </p:stCondLst>
                                        </p:cTn>
                                        <p:tgtEl>
                                          <p:spTgt spid="26">
                                            <p:txEl>
                                              <p:pRg st="0" end="0"/>
                                            </p:txEl>
                                          </p:spTgt>
                                        </p:tgtEl>
                                        <p:attrNameLst>
                                          <p:attrName>style.visibility</p:attrName>
                                        </p:attrNameLst>
                                      </p:cBhvr>
                                      <p:to>
                                        <p:strVal val="visible"/>
                                      </p:to>
                                    </p:set>
                                    <p:anim calcmode="lin" valueType="num">
                                      <p:cBhvr additive="base">
                                        <p:cTn id="74"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26">
                                            <p:txEl>
                                              <p:pRg st="0" end="0"/>
                                            </p:txEl>
                                          </p:spTgt>
                                        </p:tgtEl>
                                        <p:attrNameLst>
                                          <p:attrName>ppt_y</p:attrName>
                                        </p:attrNameLst>
                                      </p:cBhvr>
                                      <p:tavLst>
                                        <p:tav tm="0">
                                          <p:val>
                                            <p:strVal val="1+#ppt_h/2"/>
                                          </p:val>
                                        </p:tav>
                                        <p:tav tm="100000">
                                          <p:val>
                                            <p:strVal val="#ppt_y"/>
                                          </p:val>
                                        </p:tav>
                                      </p:tavLst>
                                    </p:anim>
                                  </p:childTnLst>
                                </p:cTn>
                              </p:par>
                              <p:par>
                                <p:cTn id="76" presetID="2" presetClass="entr" presetSubtype="4" fill="hold" nodeType="withEffect">
                                  <p:stCondLst>
                                    <p:cond delay="0"/>
                                  </p:stCondLst>
                                  <p:childTnLst>
                                    <p:set>
                                      <p:cBhvr>
                                        <p:cTn id="77" dur="1" fill="hold">
                                          <p:stCondLst>
                                            <p:cond delay="0"/>
                                          </p:stCondLst>
                                        </p:cTn>
                                        <p:tgtEl>
                                          <p:spTgt spid="26">
                                            <p:txEl>
                                              <p:pRg st="1" end="1"/>
                                            </p:txEl>
                                          </p:spTgt>
                                        </p:tgtEl>
                                        <p:attrNameLst>
                                          <p:attrName>style.visibility</p:attrName>
                                        </p:attrNameLst>
                                      </p:cBhvr>
                                      <p:to>
                                        <p:strVal val="visible"/>
                                      </p:to>
                                    </p:set>
                                    <p:anim calcmode="lin" valueType="num">
                                      <p:cBhvr additive="base">
                                        <p:cTn id="78" dur="500" fill="hold"/>
                                        <p:tgtEl>
                                          <p:spTgt spid="26">
                                            <p:txEl>
                                              <p:pRg st="1" end="1"/>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26">
                                            <p:txEl>
                                              <p:pRg st="1" end="1"/>
                                            </p:txEl>
                                          </p:spTgt>
                                        </p:tgtEl>
                                        <p:attrNameLst>
                                          <p:attrName>ppt_y</p:attrName>
                                        </p:attrNameLst>
                                      </p:cBhvr>
                                      <p:tavLst>
                                        <p:tav tm="0">
                                          <p:val>
                                            <p:strVal val="1+#ppt_h/2"/>
                                          </p:val>
                                        </p:tav>
                                        <p:tav tm="100000">
                                          <p:val>
                                            <p:strVal val="#ppt_y"/>
                                          </p:val>
                                        </p:tav>
                                      </p:tavLst>
                                    </p:anim>
                                  </p:childTnLst>
                                </p:cTn>
                              </p:par>
                              <p:par>
                                <p:cTn id="80" presetID="2" presetClass="entr" presetSubtype="4" fill="hold" nodeType="withEffect">
                                  <p:stCondLst>
                                    <p:cond delay="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nodeType="clickEffect">
                                  <p:stCondLst>
                                    <p:cond delay="0"/>
                                  </p:stCondLst>
                                  <p:childTnLst>
                                    <p:set>
                                      <p:cBhvr>
                                        <p:cTn id="87" dur="1" fill="hold">
                                          <p:stCondLst>
                                            <p:cond delay="0"/>
                                          </p:stCondLst>
                                        </p:cTn>
                                        <p:tgtEl>
                                          <p:spTgt spid="26">
                                            <p:txEl>
                                              <p:pRg st="2" end="2"/>
                                            </p:txEl>
                                          </p:spTgt>
                                        </p:tgtEl>
                                        <p:attrNameLst>
                                          <p:attrName>style.visibility</p:attrName>
                                        </p:attrNameLst>
                                      </p:cBhvr>
                                      <p:to>
                                        <p:strVal val="visible"/>
                                      </p:to>
                                    </p:set>
                                    <p:anim calcmode="lin" valueType="num">
                                      <p:cBhvr additive="base">
                                        <p:cTn id="88" dur="500" fill="hold"/>
                                        <p:tgtEl>
                                          <p:spTgt spid="26">
                                            <p:txEl>
                                              <p:pRg st="2" end="2"/>
                                            </p:txEl>
                                          </p:spTgt>
                                        </p:tgtEl>
                                        <p:attrNameLst>
                                          <p:attrName>ppt_x</p:attrName>
                                        </p:attrNameLst>
                                      </p:cBhvr>
                                      <p:tavLst>
                                        <p:tav tm="0">
                                          <p:val>
                                            <p:strVal val="#ppt_x"/>
                                          </p:val>
                                        </p:tav>
                                        <p:tav tm="100000">
                                          <p:val>
                                            <p:strVal val="#ppt_x"/>
                                          </p:val>
                                        </p:tav>
                                      </p:tavLst>
                                    </p:anim>
                                    <p:anim calcmode="lin" valueType="num">
                                      <p:cBhvr additive="base">
                                        <p:cTn id="89" dur="500" fill="hold"/>
                                        <p:tgtEl>
                                          <p:spTgt spid="26">
                                            <p:txEl>
                                              <p:pRg st="2" end="2"/>
                                            </p:txEl>
                                          </p:spTgt>
                                        </p:tgtEl>
                                        <p:attrNameLst>
                                          <p:attrName>ppt_y</p:attrName>
                                        </p:attrNameLst>
                                      </p:cBhvr>
                                      <p:tavLst>
                                        <p:tav tm="0">
                                          <p:val>
                                            <p:strVal val="1+#ppt_h/2"/>
                                          </p:val>
                                        </p:tav>
                                        <p:tav tm="100000">
                                          <p:val>
                                            <p:strVal val="#ppt_y"/>
                                          </p:val>
                                        </p:tav>
                                      </p:tavLst>
                                    </p:anim>
                                  </p:childTnLst>
                                </p:cTn>
                              </p:par>
                              <p:par>
                                <p:cTn id="90" presetID="2" presetClass="entr" presetSubtype="4" fill="hold" nodeType="withEffect">
                                  <p:stCondLst>
                                    <p:cond delay="0"/>
                                  </p:stCondLst>
                                  <p:childTnLst>
                                    <p:set>
                                      <p:cBhvr>
                                        <p:cTn id="91" dur="1" fill="hold">
                                          <p:stCondLst>
                                            <p:cond delay="0"/>
                                          </p:stCondLst>
                                        </p:cTn>
                                        <p:tgtEl>
                                          <p:spTgt spid="32"/>
                                        </p:tgtEl>
                                        <p:attrNameLst>
                                          <p:attrName>style.visibility</p:attrName>
                                        </p:attrNameLst>
                                      </p:cBhvr>
                                      <p:to>
                                        <p:strVal val="visible"/>
                                      </p:to>
                                    </p:set>
                                    <p:anim calcmode="lin" valueType="num">
                                      <p:cBhvr additive="base">
                                        <p:cTn id="92" dur="500" fill="hold"/>
                                        <p:tgtEl>
                                          <p:spTgt spid="32"/>
                                        </p:tgtEl>
                                        <p:attrNameLst>
                                          <p:attrName>ppt_x</p:attrName>
                                        </p:attrNameLst>
                                      </p:cBhvr>
                                      <p:tavLst>
                                        <p:tav tm="0">
                                          <p:val>
                                            <p:strVal val="#ppt_x"/>
                                          </p:val>
                                        </p:tav>
                                        <p:tav tm="100000">
                                          <p:val>
                                            <p:strVal val="#ppt_x"/>
                                          </p:val>
                                        </p:tav>
                                      </p:tavLst>
                                    </p:anim>
                                    <p:anim calcmode="lin" valueType="num">
                                      <p:cBhvr additive="base">
                                        <p:cTn id="93" dur="500" fill="hold"/>
                                        <p:tgtEl>
                                          <p:spTgt spid="32"/>
                                        </p:tgtEl>
                                        <p:attrNameLst>
                                          <p:attrName>ppt_y</p:attrName>
                                        </p:attrNameLst>
                                      </p:cBhvr>
                                      <p:tavLst>
                                        <p:tav tm="0">
                                          <p:val>
                                            <p:strVal val="1+#ppt_h/2"/>
                                          </p:val>
                                        </p:tav>
                                        <p:tav tm="100000">
                                          <p:val>
                                            <p:strVal val="#ppt_y"/>
                                          </p:val>
                                        </p:tav>
                                      </p:tavLst>
                                    </p:anim>
                                  </p:childTnLst>
                                </p:cTn>
                              </p:par>
                              <p:par>
                                <p:cTn id="94" presetID="2" presetClass="entr" presetSubtype="4" fill="hold" grpId="0" nodeType="withEffect">
                                  <p:stCondLst>
                                    <p:cond delay="0"/>
                                  </p:stCondLst>
                                  <p:childTnLst>
                                    <p:set>
                                      <p:cBhvr>
                                        <p:cTn id="95" dur="1" fill="hold">
                                          <p:stCondLst>
                                            <p:cond delay="0"/>
                                          </p:stCondLst>
                                        </p:cTn>
                                        <p:tgtEl>
                                          <p:spTgt spid="22"/>
                                        </p:tgtEl>
                                        <p:attrNameLst>
                                          <p:attrName>style.visibility</p:attrName>
                                        </p:attrNameLst>
                                      </p:cBhvr>
                                      <p:to>
                                        <p:strVal val="visible"/>
                                      </p:to>
                                    </p:set>
                                    <p:anim calcmode="lin" valueType="num">
                                      <p:cBhvr additive="base">
                                        <p:cTn id="96" dur="500" fill="hold"/>
                                        <p:tgtEl>
                                          <p:spTgt spid="22"/>
                                        </p:tgtEl>
                                        <p:attrNameLst>
                                          <p:attrName>ppt_x</p:attrName>
                                        </p:attrNameLst>
                                      </p:cBhvr>
                                      <p:tavLst>
                                        <p:tav tm="0">
                                          <p:val>
                                            <p:strVal val="#ppt_x"/>
                                          </p:val>
                                        </p:tav>
                                        <p:tav tm="100000">
                                          <p:val>
                                            <p:strVal val="#ppt_x"/>
                                          </p:val>
                                        </p:tav>
                                      </p:tavLst>
                                    </p:anim>
                                    <p:anim calcmode="lin" valueType="num">
                                      <p:cBhvr additive="base">
                                        <p:cTn id="97"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10" presetClass="exit" presetSubtype="0" fill="hold" grpId="0" nodeType="clickEffect">
                                  <p:stCondLst>
                                    <p:cond delay="0"/>
                                  </p:stCondLst>
                                  <p:childTnLst>
                                    <p:animEffect transition="out" filter="fade">
                                      <p:cBhvr>
                                        <p:cTn id="101" dur="500"/>
                                        <p:tgtEl>
                                          <p:spTgt spid="26">
                                            <p:txEl>
                                              <p:pRg st="0" end="0"/>
                                            </p:txEl>
                                          </p:spTgt>
                                        </p:tgtEl>
                                      </p:cBhvr>
                                    </p:animEffect>
                                    <p:set>
                                      <p:cBhvr>
                                        <p:cTn id="102" dur="1" fill="hold">
                                          <p:stCondLst>
                                            <p:cond delay="499"/>
                                          </p:stCondLst>
                                        </p:cTn>
                                        <p:tgtEl>
                                          <p:spTgt spid="26">
                                            <p:txEl>
                                              <p:pRg st="0" end="0"/>
                                            </p:txEl>
                                          </p:spTgt>
                                        </p:tgtEl>
                                        <p:attrNameLst>
                                          <p:attrName>style.visibility</p:attrName>
                                        </p:attrNameLst>
                                      </p:cBhvr>
                                      <p:to>
                                        <p:strVal val="hidden"/>
                                      </p:to>
                                    </p:set>
                                  </p:childTnLst>
                                </p:cTn>
                              </p:par>
                              <p:par>
                                <p:cTn id="103" presetID="10" presetClass="exit" presetSubtype="0" fill="hold" grpId="0" nodeType="withEffect">
                                  <p:stCondLst>
                                    <p:cond delay="0"/>
                                  </p:stCondLst>
                                  <p:childTnLst>
                                    <p:animEffect transition="out" filter="fade">
                                      <p:cBhvr>
                                        <p:cTn id="104" dur="500"/>
                                        <p:tgtEl>
                                          <p:spTgt spid="26">
                                            <p:txEl>
                                              <p:pRg st="1" end="1"/>
                                            </p:txEl>
                                          </p:spTgt>
                                        </p:tgtEl>
                                      </p:cBhvr>
                                    </p:animEffect>
                                    <p:set>
                                      <p:cBhvr>
                                        <p:cTn id="105" dur="1" fill="hold">
                                          <p:stCondLst>
                                            <p:cond delay="499"/>
                                          </p:stCondLst>
                                        </p:cTn>
                                        <p:tgtEl>
                                          <p:spTgt spid="26">
                                            <p:txEl>
                                              <p:pRg st="1" end="1"/>
                                            </p:txEl>
                                          </p:spTgt>
                                        </p:tgtEl>
                                        <p:attrNameLst>
                                          <p:attrName>style.visibility</p:attrName>
                                        </p:attrNameLst>
                                      </p:cBhvr>
                                      <p:to>
                                        <p:strVal val="hidden"/>
                                      </p:to>
                                    </p:set>
                                  </p:childTnLst>
                                </p:cTn>
                              </p:par>
                              <p:par>
                                <p:cTn id="106" presetID="10" presetClass="exit" presetSubtype="0" fill="hold" grpId="0" nodeType="withEffect">
                                  <p:stCondLst>
                                    <p:cond delay="0"/>
                                  </p:stCondLst>
                                  <p:childTnLst>
                                    <p:animEffect transition="out" filter="fade">
                                      <p:cBhvr>
                                        <p:cTn id="107" dur="500"/>
                                        <p:tgtEl>
                                          <p:spTgt spid="26">
                                            <p:txEl>
                                              <p:pRg st="2" end="2"/>
                                            </p:txEl>
                                          </p:spTgt>
                                        </p:tgtEl>
                                      </p:cBhvr>
                                    </p:animEffect>
                                    <p:set>
                                      <p:cBhvr>
                                        <p:cTn id="108" dur="1" fill="hold">
                                          <p:stCondLst>
                                            <p:cond delay="499"/>
                                          </p:stCondLst>
                                        </p:cTn>
                                        <p:tgtEl>
                                          <p:spTgt spid="26">
                                            <p:txEl>
                                              <p:pRg st="2" end="2"/>
                                            </p:txEl>
                                          </p:spTgt>
                                        </p:tgtEl>
                                        <p:attrNameLst>
                                          <p:attrName>style.visibility</p:attrName>
                                        </p:attrNameLst>
                                      </p:cBhvr>
                                      <p:to>
                                        <p:strVal val="hidden"/>
                                      </p:to>
                                    </p:set>
                                  </p:childTnLst>
                                </p:cTn>
                              </p:par>
                              <p:par>
                                <p:cTn id="109" presetID="10" presetClass="exit" presetSubtype="0" fill="hold" nodeType="withEffect">
                                  <p:stCondLst>
                                    <p:cond delay="0"/>
                                  </p:stCondLst>
                                  <p:childTnLst>
                                    <p:animEffect transition="out" filter="fade">
                                      <p:cBhvr>
                                        <p:cTn id="110" dur="500"/>
                                        <p:tgtEl>
                                          <p:spTgt spid="23"/>
                                        </p:tgtEl>
                                      </p:cBhvr>
                                    </p:animEffect>
                                    <p:set>
                                      <p:cBhvr>
                                        <p:cTn id="111" dur="1" fill="hold">
                                          <p:stCondLst>
                                            <p:cond delay="499"/>
                                          </p:stCondLst>
                                        </p:cTn>
                                        <p:tgtEl>
                                          <p:spTgt spid="23"/>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500"/>
                                        <p:tgtEl>
                                          <p:spTgt spid="32"/>
                                        </p:tgtEl>
                                      </p:cBhvr>
                                    </p:animEffect>
                                    <p:set>
                                      <p:cBhvr>
                                        <p:cTn id="114" dur="1" fill="hold">
                                          <p:stCondLst>
                                            <p:cond delay="499"/>
                                          </p:stCondLst>
                                        </p:cTn>
                                        <p:tgtEl>
                                          <p:spTgt spid="32"/>
                                        </p:tgtEl>
                                        <p:attrNameLst>
                                          <p:attrName>style.visibility</p:attrName>
                                        </p:attrNameLst>
                                      </p:cBhvr>
                                      <p:to>
                                        <p:strVal val="hidden"/>
                                      </p:to>
                                    </p:set>
                                  </p:childTnLst>
                                </p:cTn>
                              </p:par>
                              <p:par>
                                <p:cTn id="115" presetID="10" presetClass="exit" presetSubtype="0" fill="hold" grpId="1" nodeType="withEffect">
                                  <p:stCondLst>
                                    <p:cond delay="0"/>
                                  </p:stCondLst>
                                  <p:childTnLst>
                                    <p:animEffect transition="out" filter="fade">
                                      <p:cBhvr>
                                        <p:cTn id="116" dur="500"/>
                                        <p:tgtEl>
                                          <p:spTgt spid="22"/>
                                        </p:tgtEl>
                                      </p:cBhvr>
                                    </p:animEffect>
                                    <p:set>
                                      <p:cBhvr>
                                        <p:cTn id="117" dur="1" fill="hold">
                                          <p:stCondLst>
                                            <p:cond delay="499"/>
                                          </p:stCondLst>
                                        </p:cTn>
                                        <p:tgtEl>
                                          <p:spTgt spid="22"/>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38"/>
                                        </p:tgtEl>
                                        <p:attrNameLst>
                                          <p:attrName>style.visibility</p:attrName>
                                        </p:attrNameLst>
                                      </p:cBhvr>
                                      <p:to>
                                        <p:strVal val="visible"/>
                                      </p:to>
                                    </p:set>
                                    <p:animEffect transition="in" filter="fade">
                                      <p:cBhvr>
                                        <p:cTn id="122" dur="500"/>
                                        <p:tgtEl>
                                          <p:spTgt spid="38"/>
                                        </p:tgtEl>
                                      </p:cBhvr>
                                    </p:animEffect>
                                  </p:childTnLst>
                                </p:cTn>
                              </p:par>
                              <p:par>
                                <p:cTn id="123" presetID="14" presetClass="entr" presetSubtype="10" fill="hold" nodeType="with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randombar(horizontal)">
                                      <p:cBhvr>
                                        <p:cTn id="125" dur="1000"/>
                                        <p:tgtEl>
                                          <p:spTgt spid="42"/>
                                        </p:tgtEl>
                                      </p:cBhvr>
                                    </p:animEffect>
                                  </p:childTnLst>
                                </p:cTn>
                              </p:par>
                              <p:par>
                                <p:cTn id="126" presetID="14" presetClass="entr" presetSubtype="10" fill="hold" nodeType="withEffect">
                                  <p:stCondLst>
                                    <p:cond delay="0"/>
                                  </p:stCondLst>
                                  <p:childTnLst>
                                    <p:set>
                                      <p:cBhvr>
                                        <p:cTn id="127" dur="1" fill="hold">
                                          <p:stCondLst>
                                            <p:cond delay="0"/>
                                          </p:stCondLst>
                                        </p:cTn>
                                        <p:tgtEl>
                                          <p:spTgt spid="39"/>
                                        </p:tgtEl>
                                        <p:attrNameLst>
                                          <p:attrName>style.visibility</p:attrName>
                                        </p:attrNameLst>
                                      </p:cBhvr>
                                      <p:to>
                                        <p:strVal val="visible"/>
                                      </p:to>
                                    </p:set>
                                    <p:animEffect transition="in" filter="randombar(horizontal)">
                                      <p:cBhvr>
                                        <p:cTn id="128" dur="1000"/>
                                        <p:tgtEl>
                                          <p:spTgt spid="39"/>
                                        </p:tgtEl>
                                      </p:cBhvr>
                                    </p:animEffect>
                                  </p:childTnLst>
                                </p:cTn>
                              </p:par>
                              <p:par>
                                <p:cTn id="129" presetID="14" presetClass="entr" presetSubtype="10" fill="hold" nodeType="withEffect">
                                  <p:stCondLst>
                                    <p:cond delay="0"/>
                                  </p:stCondLst>
                                  <p:childTnLst>
                                    <p:set>
                                      <p:cBhvr>
                                        <p:cTn id="130" dur="1" fill="hold">
                                          <p:stCondLst>
                                            <p:cond delay="0"/>
                                          </p:stCondLst>
                                        </p:cTn>
                                        <p:tgtEl>
                                          <p:spTgt spid="45"/>
                                        </p:tgtEl>
                                        <p:attrNameLst>
                                          <p:attrName>style.visibility</p:attrName>
                                        </p:attrNameLst>
                                      </p:cBhvr>
                                      <p:to>
                                        <p:strVal val="visible"/>
                                      </p:to>
                                    </p:set>
                                    <p:animEffect transition="in" filter="randombar(horizontal)">
                                      <p:cBhvr>
                                        <p:cTn id="131" dur="1000"/>
                                        <p:tgtEl>
                                          <p:spTgt spid="45"/>
                                        </p:tgtEl>
                                      </p:cBhvr>
                                    </p:animEffect>
                                  </p:childTnLst>
                                </p:cTn>
                              </p:par>
                            </p:childTnLst>
                          </p:cTn>
                        </p:par>
                        <p:par>
                          <p:cTn id="132" fill="hold">
                            <p:stCondLst>
                              <p:cond delay="1000"/>
                            </p:stCondLst>
                            <p:childTnLst>
                              <p:par>
                                <p:cTn id="133" presetID="14" presetClass="entr" presetSubtype="10" fill="hold" grpId="0" nodeType="after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randombar(horizontal)">
                                      <p:cBhvr>
                                        <p:cTn id="135" dur="500"/>
                                        <p:tgtEl>
                                          <p:spTgt spid="48"/>
                                        </p:tgtEl>
                                      </p:cBhvr>
                                    </p:animEffect>
                                  </p:childTnLst>
                                </p:cTn>
                              </p:par>
                              <p:par>
                                <p:cTn id="136" presetID="14" presetClass="entr" presetSubtype="10" fill="hold" grpId="0" nodeType="withEffect">
                                  <p:stCondLst>
                                    <p:cond delay="0"/>
                                  </p:stCondLst>
                                  <p:childTnLst>
                                    <p:set>
                                      <p:cBhvr>
                                        <p:cTn id="137" dur="1" fill="hold">
                                          <p:stCondLst>
                                            <p:cond delay="0"/>
                                          </p:stCondLst>
                                        </p:cTn>
                                        <p:tgtEl>
                                          <p:spTgt spid="37"/>
                                        </p:tgtEl>
                                        <p:attrNameLst>
                                          <p:attrName>style.visibility</p:attrName>
                                        </p:attrNameLst>
                                      </p:cBhvr>
                                      <p:to>
                                        <p:strVal val="visible"/>
                                      </p:to>
                                    </p:set>
                                    <p:animEffect transition="in" filter="randombar(horizontal)">
                                      <p:cBhvr>
                                        <p:cTn id="138" dur="500"/>
                                        <p:tgtEl>
                                          <p:spTgt spid="37"/>
                                        </p:tgtEl>
                                      </p:cBhvr>
                                    </p:animEffect>
                                  </p:childTnLst>
                                </p:cTn>
                              </p:par>
                            </p:childTnLst>
                          </p:cTn>
                        </p:par>
                        <p:par>
                          <p:cTn id="139" fill="hold">
                            <p:stCondLst>
                              <p:cond delay="1500"/>
                            </p:stCondLst>
                            <p:childTnLst>
                              <p:par>
                                <p:cTn id="140" presetID="10" presetClass="exit" presetSubtype="0" fill="hold" nodeType="afterEffect">
                                  <p:stCondLst>
                                    <p:cond delay="0"/>
                                  </p:stCondLst>
                                  <p:childTnLst>
                                    <p:animEffect transition="out" filter="fade">
                                      <p:cBhvr>
                                        <p:cTn id="141" dur="500"/>
                                        <p:tgtEl>
                                          <p:spTgt spid="42"/>
                                        </p:tgtEl>
                                      </p:cBhvr>
                                    </p:animEffect>
                                    <p:set>
                                      <p:cBhvr>
                                        <p:cTn id="142" dur="1" fill="hold">
                                          <p:stCondLst>
                                            <p:cond delay="499"/>
                                          </p:stCondLst>
                                        </p:cTn>
                                        <p:tgtEl>
                                          <p:spTgt spid="42"/>
                                        </p:tgtEl>
                                        <p:attrNameLst>
                                          <p:attrName>style.visibility</p:attrName>
                                        </p:attrNameLst>
                                      </p:cBhvr>
                                      <p:to>
                                        <p:strVal val="hidden"/>
                                      </p:to>
                                    </p:set>
                                  </p:childTnLst>
                                </p:cTn>
                              </p:par>
                              <p:par>
                                <p:cTn id="143" presetID="10" presetClass="exit" presetSubtype="0" fill="hold" nodeType="withEffect">
                                  <p:stCondLst>
                                    <p:cond delay="0"/>
                                  </p:stCondLst>
                                  <p:childTnLst>
                                    <p:animEffect transition="out" filter="fade">
                                      <p:cBhvr>
                                        <p:cTn id="144" dur="500"/>
                                        <p:tgtEl>
                                          <p:spTgt spid="39"/>
                                        </p:tgtEl>
                                      </p:cBhvr>
                                    </p:animEffect>
                                    <p:set>
                                      <p:cBhvr>
                                        <p:cTn id="145" dur="1" fill="hold">
                                          <p:stCondLst>
                                            <p:cond delay="499"/>
                                          </p:stCondLst>
                                        </p:cTn>
                                        <p:tgtEl>
                                          <p:spTgt spid="39"/>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500"/>
                                        <p:tgtEl>
                                          <p:spTgt spid="45"/>
                                        </p:tgtEl>
                                      </p:cBhvr>
                                    </p:animEffect>
                                    <p:set>
                                      <p:cBhvr>
                                        <p:cTn id="148" dur="1" fill="hold">
                                          <p:stCondLst>
                                            <p:cond delay="499"/>
                                          </p:stCondLst>
                                        </p:cTn>
                                        <p:tgtEl>
                                          <p:spTgt spid="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8" grpId="0" build="allAtOnce"/>
      <p:bldP spid="11" grpId="0" build="allAtOnce"/>
      <p:bldP spid="17" grpId="0" build="allAtOnce"/>
      <p:bldP spid="21" grpId="0"/>
      <p:bldP spid="22" grpId="0" animBg="1"/>
      <p:bldP spid="22" grpId="1" animBg="1"/>
      <p:bldP spid="26" grpId="0" build="allAtOnce"/>
      <p:bldGraphic spid="37" grpId="0">
        <p:bldAsOne/>
      </p:bldGraphic>
      <p:bldP spid="38" grpId="0" animBg="1"/>
      <p:bldP spid="4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fontScale="90000"/>
          </a:bodyPr>
          <a:lstStyle/>
          <a:p>
            <a:r>
              <a:rPr lang="en-IN" dirty="0">
                <a:solidFill>
                  <a:srgbClr val="FF0000"/>
                </a:solidFill>
              </a:rPr>
              <a:t>Area Under the Curve (AUC)</a:t>
            </a:r>
          </a:p>
        </p:txBody>
      </p:sp>
      <p:sp>
        <p:nvSpPr>
          <p:cNvPr id="3" name="Content Placeholder 2"/>
          <p:cNvSpPr>
            <a:spLocks noGrp="1"/>
          </p:cNvSpPr>
          <p:nvPr>
            <p:ph idx="1"/>
          </p:nvPr>
        </p:nvSpPr>
        <p:spPr>
          <a:xfrm>
            <a:off x="729018" y="1255593"/>
            <a:ext cx="10515600" cy="3032978"/>
          </a:xfrm>
        </p:spPr>
        <p:txBody>
          <a:bodyPr/>
          <a:lstStyle/>
          <a:p>
            <a:pPr algn="just"/>
            <a:r>
              <a:rPr lang="en-US" dirty="0"/>
              <a:t>It is another important evaluation metric generally used for binary classification problems. AUC represents the degree of </a:t>
            </a:r>
            <a:r>
              <a:rPr lang="en-US" dirty="0" err="1"/>
              <a:t>separability</a:t>
            </a:r>
            <a:r>
              <a:rPr lang="en-US" dirty="0"/>
              <a:t>. The higher the AUC, the better the classifier can distinguish between the positive and negative classes.</a:t>
            </a:r>
          </a:p>
          <a:p>
            <a:pPr algn="just"/>
            <a:r>
              <a:rPr lang="en-US" dirty="0"/>
              <a:t>The graph below demonstrates the area under the curve. AUC is used to summarize the ROC Curve as it measures the entire 2D area present underneath the ROC curve.</a:t>
            </a:r>
          </a:p>
          <a:p>
            <a:endParaRPr lang="en-IN" dirty="0"/>
          </a:p>
        </p:txBody>
      </p:sp>
      <p:pic>
        <p:nvPicPr>
          <p:cNvPr id="5" name="Picture 4"/>
          <p:cNvPicPr>
            <a:picLocks noChangeAspect="1"/>
          </p:cNvPicPr>
          <p:nvPr/>
        </p:nvPicPr>
        <p:blipFill>
          <a:blip r:embed="rId2"/>
          <a:stretch>
            <a:fillRect/>
          </a:stretch>
        </p:blipFill>
        <p:spPr>
          <a:xfrm>
            <a:off x="6859848" y="3893070"/>
            <a:ext cx="3473513" cy="2964930"/>
          </a:xfrm>
          <a:prstGeom prst="rect">
            <a:avLst/>
          </a:prstGeom>
        </p:spPr>
      </p:pic>
    </p:spTree>
    <p:extLst>
      <p:ext uri="{BB962C8B-B14F-4D97-AF65-F5344CB8AC3E}">
        <p14:creationId xmlns:p14="http://schemas.microsoft.com/office/powerpoint/2010/main" val="32291615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91060" y="300535"/>
            <a:ext cx="6115050" cy="5219700"/>
          </a:xfrm>
          <a:prstGeom prst="rect">
            <a:avLst/>
          </a:prstGeom>
        </p:spPr>
      </p:pic>
      <p:sp>
        <p:nvSpPr>
          <p:cNvPr id="5" name="Rectangle 4"/>
          <p:cNvSpPr/>
          <p:nvPr/>
        </p:nvSpPr>
        <p:spPr>
          <a:xfrm>
            <a:off x="6806110" y="726574"/>
            <a:ext cx="5249839" cy="5262979"/>
          </a:xfrm>
          <a:prstGeom prst="rect">
            <a:avLst/>
          </a:prstGeom>
        </p:spPr>
        <p:txBody>
          <a:bodyPr wrap="square">
            <a:spAutoFit/>
          </a:bodyPr>
          <a:lstStyle/>
          <a:p>
            <a:pPr algn="just"/>
            <a:r>
              <a:rPr lang="en-US" sz="2400" dirty="0"/>
              <a:t>The value of AUC ranges from 0 to 1. If AUC=1, the model can distinguish between the Positive and the Negative class points correctly.</a:t>
            </a:r>
          </a:p>
          <a:p>
            <a:pPr algn="just"/>
            <a:endParaRPr lang="en-US" sz="2400" dirty="0"/>
          </a:p>
          <a:p>
            <a:pPr algn="just"/>
            <a:r>
              <a:rPr lang="en-US" sz="2400" dirty="0"/>
              <a:t>Similarly, a model with 100% false predictions, i.e., predicting all Negatives as Positives, and all Positives as Negatives, would have AUC=0.</a:t>
            </a:r>
          </a:p>
          <a:p>
            <a:pPr algn="just"/>
            <a:endParaRPr lang="en-US" sz="2400" dirty="0"/>
          </a:p>
          <a:p>
            <a:pPr algn="just"/>
            <a:r>
              <a:rPr lang="en-US" sz="2400" dirty="0"/>
              <a:t>When an AUC=0.5, it means the model possesses no class separation capacity and cannot distinguish between the Positive and Negative class points.</a:t>
            </a:r>
            <a:endParaRPr lang="en-IN" sz="2400" dirty="0"/>
          </a:p>
        </p:txBody>
      </p:sp>
    </p:spTree>
    <p:extLst>
      <p:ext uri="{BB962C8B-B14F-4D97-AF65-F5344CB8AC3E}">
        <p14:creationId xmlns:p14="http://schemas.microsoft.com/office/powerpoint/2010/main" val="23481129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Difference Between ROC and AUC</a:t>
            </a:r>
            <a:endParaRPr lang="en-IN" b="1" dirty="0">
              <a:solidFill>
                <a:srgbClr val="FF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2445437714"/>
              </p:ext>
            </p:extLst>
          </p:nvPr>
        </p:nvGraphicFramePr>
        <p:xfrm>
          <a:off x="450375" y="1690690"/>
          <a:ext cx="11150222" cy="4560309"/>
        </p:xfrm>
        <a:graphic>
          <a:graphicData uri="http://schemas.openxmlformats.org/drawingml/2006/table">
            <a:tbl>
              <a:tblPr/>
              <a:tblGrid>
                <a:gridCol w="2022062">
                  <a:extLst>
                    <a:ext uri="{9D8B030D-6E8A-4147-A177-3AD203B41FA5}">
                      <a16:colId xmlns:a16="http://schemas.microsoft.com/office/drawing/2014/main" val="20000"/>
                    </a:ext>
                  </a:extLst>
                </a:gridCol>
                <a:gridCol w="4925162">
                  <a:extLst>
                    <a:ext uri="{9D8B030D-6E8A-4147-A177-3AD203B41FA5}">
                      <a16:colId xmlns:a16="http://schemas.microsoft.com/office/drawing/2014/main" val="20001"/>
                    </a:ext>
                  </a:extLst>
                </a:gridCol>
                <a:gridCol w="4202998">
                  <a:extLst>
                    <a:ext uri="{9D8B030D-6E8A-4147-A177-3AD203B41FA5}">
                      <a16:colId xmlns:a16="http://schemas.microsoft.com/office/drawing/2014/main" val="20002"/>
                    </a:ext>
                  </a:extLst>
                </a:gridCol>
              </a:tblGrid>
              <a:tr h="550946">
                <a:tc>
                  <a:txBody>
                    <a:bodyPr/>
                    <a:lstStyle/>
                    <a:p>
                      <a:r>
                        <a:rPr lang="en-IN" sz="1800" b="1" dirty="0"/>
                        <a:t>Feature</a:t>
                      </a:r>
                    </a:p>
                  </a:txBody>
                  <a:tcPr marL="76339" marR="76339" marT="38170" marB="38170" anchor="ctr">
                    <a:lnL>
                      <a:noFill/>
                    </a:lnL>
                    <a:lnR>
                      <a:noFill/>
                    </a:lnR>
                    <a:lnT>
                      <a:noFill/>
                    </a:lnT>
                    <a:lnB>
                      <a:noFill/>
                    </a:lnB>
                  </a:tcPr>
                </a:tc>
                <a:tc>
                  <a:txBody>
                    <a:bodyPr/>
                    <a:lstStyle/>
                    <a:p>
                      <a:r>
                        <a:rPr lang="en-US" sz="1800" b="1" dirty="0"/>
                        <a:t>ROC (Receiver Operating Characteristic) Curve</a:t>
                      </a:r>
                    </a:p>
                  </a:txBody>
                  <a:tcPr marL="76339" marR="76339" marT="38170" marB="38170" anchor="ctr">
                    <a:lnL>
                      <a:noFill/>
                    </a:lnL>
                    <a:lnR>
                      <a:noFill/>
                    </a:lnR>
                    <a:lnT>
                      <a:noFill/>
                    </a:lnT>
                    <a:lnB>
                      <a:noFill/>
                    </a:lnB>
                  </a:tcPr>
                </a:tc>
                <a:tc>
                  <a:txBody>
                    <a:bodyPr/>
                    <a:lstStyle/>
                    <a:p>
                      <a:r>
                        <a:rPr lang="en-US" sz="1800" b="1" dirty="0"/>
                        <a:t>AUC (Area Under the Curve)</a:t>
                      </a:r>
                    </a:p>
                  </a:txBody>
                  <a:tcPr marL="76339" marR="76339" marT="38170" marB="38170" anchor="ctr">
                    <a:lnL>
                      <a:noFill/>
                    </a:lnL>
                    <a:lnR>
                      <a:noFill/>
                    </a:lnR>
                    <a:lnT>
                      <a:noFill/>
                    </a:lnT>
                    <a:lnB>
                      <a:noFill/>
                    </a:lnB>
                  </a:tcPr>
                </a:tc>
                <a:extLst>
                  <a:ext uri="{0D108BD9-81ED-4DB2-BD59-A6C34878D82A}">
                    <a16:rowId xmlns:a16="http://schemas.microsoft.com/office/drawing/2014/main" val="10000"/>
                  </a:ext>
                </a:extLst>
              </a:tr>
              <a:tr h="1023185">
                <a:tc>
                  <a:txBody>
                    <a:bodyPr/>
                    <a:lstStyle/>
                    <a:p>
                      <a:r>
                        <a:rPr lang="en-IN" sz="1800" b="1" dirty="0"/>
                        <a:t>Definition</a:t>
                      </a:r>
                      <a:endParaRPr lang="en-IN" sz="1800" dirty="0"/>
                    </a:p>
                  </a:txBody>
                  <a:tcPr marL="76339" marR="76339" marT="38170" marB="38170" anchor="ctr">
                    <a:lnL>
                      <a:noFill/>
                    </a:lnL>
                    <a:lnR>
                      <a:noFill/>
                    </a:lnR>
                    <a:lnT>
                      <a:noFill/>
                    </a:lnT>
                    <a:lnB>
                      <a:noFill/>
                    </a:lnB>
                  </a:tcPr>
                </a:tc>
                <a:tc>
                  <a:txBody>
                    <a:bodyPr/>
                    <a:lstStyle/>
                    <a:p>
                      <a:r>
                        <a:rPr lang="en-US" sz="1800" dirty="0"/>
                        <a:t>A graphical plot showing the trade-off between True Positive Rate (Recall) and False Positive Rate at different thresholds.</a:t>
                      </a:r>
                    </a:p>
                  </a:txBody>
                  <a:tcPr marL="76339" marR="76339" marT="38170" marB="38170" anchor="ctr">
                    <a:lnL>
                      <a:noFill/>
                    </a:lnL>
                    <a:lnR>
                      <a:noFill/>
                    </a:lnR>
                    <a:lnT>
                      <a:noFill/>
                    </a:lnT>
                    <a:lnB>
                      <a:noFill/>
                    </a:lnB>
                  </a:tcPr>
                </a:tc>
                <a:tc>
                  <a:txBody>
                    <a:bodyPr/>
                    <a:lstStyle/>
                    <a:p>
                      <a:r>
                        <a:rPr lang="en-US" sz="1800"/>
                        <a:t>A numerical value representing the total area under the ROC curve, summarizing the classifier’s performance.</a:t>
                      </a:r>
                    </a:p>
                  </a:txBody>
                  <a:tcPr marL="76339" marR="76339" marT="38170" marB="38170" anchor="ctr">
                    <a:lnL>
                      <a:noFill/>
                    </a:lnL>
                    <a:lnR>
                      <a:noFill/>
                    </a:lnR>
                    <a:lnT>
                      <a:noFill/>
                    </a:lnT>
                    <a:lnB>
                      <a:noFill/>
                    </a:lnB>
                  </a:tcPr>
                </a:tc>
                <a:extLst>
                  <a:ext uri="{0D108BD9-81ED-4DB2-BD59-A6C34878D82A}">
                    <a16:rowId xmlns:a16="http://schemas.microsoft.com/office/drawing/2014/main" val="10001"/>
                  </a:ext>
                </a:extLst>
              </a:tr>
              <a:tr h="787066">
                <a:tc>
                  <a:txBody>
                    <a:bodyPr/>
                    <a:lstStyle/>
                    <a:p>
                      <a:r>
                        <a:rPr lang="en-IN" sz="1800" b="1"/>
                        <a:t>Purpose</a:t>
                      </a:r>
                      <a:endParaRPr lang="en-IN" sz="1800"/>
                    </a:p>
                  </a:txBody>
                  <a:tcPr marL="76339" marR="76339" marT="38170" marB="38170" anchor="ctr">
                    <a:lnL>
                      <a:noFill/>
                    </a:lnL>
                    <a:lnR>
                      <a:noFill/>
                    </a:lnR>
                    <a:lnT>
                      <a:noFill/>
                    </a:lnT>
                    <a:lnB>
                      <a:noFill/>
                    </a:lnB>
                  </a:tcPr>
                </a:tc>
                <a:tc>
                  <a:txBody>
                    <a:bodyPr/>
                    <a:lstStyle/>
                    <a:p>
                      <a:r>
                        <a:rPr lang="en-US" sz="1800" dirty="0"/>
                        <a:t>Visualizes the performance of a classification model across various thresholds.</a:t>
                      </a:r>
                    </a:p>
                  </a:txBody>
                  <a:tcPr marL="76339" marR="76339" marT="38170" marB="38170" anchor="ctr">
                    <a:lnL>
                      <a:noFill/>
                    </a:lnL>
                    <a:lnR>
                      <a:noFill/>
                    </a:lnR>
                    <a:lnT>
                      <a:noFill/>
                    </a:lnT>
                    <a:lnB>
                      <a:noFill/>
                    </a:lnB>
                  </a:tcPr>
                </a:tc>
                <a:tc>
                  <a:txBody>
                    <a:bodyPr/>
                    <a:lstStyle/>
                    <a:p>
                      <a:r>
                        <a:rPr lang="en-US" sz="1800" dirty="0"/>
                        <a:t>Quantifies the model’s ability to distinguish between positive and negative classes.</a:t>
                      </a:r>
                    </a:p>
                  </a:txBody>
                  <a:tcPr marL="76339" marR="76339" marT="38170" marB="38170" anchor="ctr">
                    <a:lnL>
                      <a:noFill/>
                    </a:lnL>
                    <a:lnR>
                      <a:noFill/>
                    </a:lnR>
                    <a:lnT>
                      <a:noFill/>
                    </a:lnT>
                    <a:lnB>
                      <a:noFill/>
                    </a:lnB>
                  </a:tcPr>
                </a:tc>
                <a:extLst>
                  <a:ext uri="{0D108BD9-81ED-4DB2-BD59-A6C34878D82A}">
                    <a16:rowId xmlns:a16="http://schemas.microsoft.com/office/drawing/2014/main" val="10002"/>
                  </a:ext>
                </a:extLst>
              </a:tr>
              <a:tr h="550946">
                <a:tc>
                  <a:txBody>
                    <a:bodyPr/>
                    <a:lstStyle/>
                    <a:p>
                      <a:r>
                        <a:rPr lang="en-IN" sz="1800" b="1"/>
                        <a:t>Interpretation</a:t>
                      </a:r>
                      <a:endParaRPr lang="en-IN" sz="1800"/>
                    </a:p>
                  </a:txBody>
                  <a:tcPr marL="76339" marR="76339" marT="38170" marB="38170" anchor="ctr">
                    <a:lnL>
                      <a:noFill/>
                    </a:lnL>
                    <a:lnR>
                      <a:noFill/>
                    </a:lnR>
                    <a:lnT>
                      <a:noFill/>
                    </a:lnT>
                    <a:lnB>
                      <a:noFill/>
                    </a:lnB>
                  </a:tcPr>
                </a:tc>
                <a:tc>
                  <a:txBody>
                    <a:bodyPr/>
                    <a:lstStyle/>
                    <a:p>
                      <a:r>
                        <a:rPr lang="en-US" sz="1800"/>
                        <a:t>Helps understand the trade-off between sensitivity and specificity.</a:t>
                      </a:r>
                    </a:p>
                  </a:txBody>
                  <a:tcPr marL="76339" marR="76339" marT="38170" marB="38170" anchor="ctr">
                    <a:lnL>
                      <a:noFill/>
                    </a:lnL>
                    <a:lnR>
                      <a:noFill/>
                    </a:lnR>
                    <a:lnT>
                      <a:noFill/>
                    </a:lnT>
                    <a:lnB>
                      <a:noFill/>
                    </a:lnB>
                  </a:tcPr>
                </a:tc>
                <a:tc>
                  <a:txBody>
                    <a:bodyPr/>
                    <a:lstStyle/>
                    <a:p>
                      <a:r>
                        <a:rPr lang="en-US" sz="1800" dirty="0"/>
                        <a:t>A higher AUC means a better-performing model.</a:t>
                      </a:r>
                    </a:p>
                  </a:txBody>
                  <a:tcPr marL="76339" marR="76339" marT="38170" marB="38170" anchor="ctr">
                    <a:lnL>
                      <a:noFill/>
                    </a:lnL>
                    <a:lnR>
                      <a:noFill/>
                    </a:lnR>
                    <a:lnT>
                      <a:noFill/>
                    </a:lnT>
                    <a:lnB>
                      <a:noFill/>
                    </a:lnB>
                  </a:tcPr>
                </a:tc>
                <a:extLst>
                  <a:ext uri="{0D108BD9-81ED-4DB2-BD59-A6C34878D82A}">
                    <a16:rowId xmlns:a16="http://schemas.microsoft.com/office/drawing/2014/main" val="10003"/>
                  </a:ext>
                </a:extLst>
              </a:tr>
              <a:tr h="787066">
                <a:tc>
                  <a:txBody>
                    <a:bodyPr/>
                    <a:lstStyle/>
                    <a:p>
                      <a:r>
                        <a:rPr lang="en-IN" sz="1800" b="1"/>
                        <a:t>Range</a:t>
                      </a:r>
                      <a:endParaRPr lang="en-IN" sz="1800"/>
                    </a:p>
                  </a:txBody>
                  <a:tcPr marL="76339" marR="76339" marT="38170" marB="38170" anchor="ctr">
                    <a:lnL>
                      <a:noFill/>
                    </a:lnL>
                    <a:lnR>
                      <a:noFill/>
                    </a:lnR>
                    <a:lnT>
                      <a:noFill/>
                    </a:lnT>
                    <a:lnB>
                      <a:noFill/>
                    </a:lnB>
                  </a:tcPr>
                </a:tc>
                <a:tc>
                  <a:txBody>
                    <a:bodyPr/>
                    <a:lstStyle/>
                    <a:p>
                      <a:r>
                        <a:rPr lang="en-US" sz="1800"/>
                        <a:t>The ROC curve extends from (0,0) to (1,1) on a graph.</a:t>
                      </a:r>
                    </a:p>
                  </a:txBody>
                  <a:tcPr marL="76339" marR="76339" marT="38170" marB="38170" anchor="ctr">
                    <a:lnL>
                      <a:noFill/>
                    </a:lnL>
                    <a:lnR>
                      <a:noFill/>
                    </a:lnR>
                    <a:lnT>
                      <a:noFill/>
                    </a:lnT>
                    <a:lnB>
                      <a:noFill/>
                    </a:lnB>
                  </a:tcPr>
                </a:tc>
                <a:tc>
                  <a:txBody>
                    <a:bodyPr/>
                    <a:lstStyle/>
                    <a:p>
                      <a:r>
                        <a:rPr lang="en-US" sz="1800" dirty="0"/>
                        <a:t>AUC value ranges from </a:t>
                      </a:r>
                      <a:r>
                        <a:rPr lang="en-US" sz="1800" b="1" dirty="0"/>
                        <a:t>0 to 1</a:t>
                      </a:r>
                      <a:r>
                        <a:rPr lang="en-US" sz="1800" dirty="0"/>
                        <a:t> (with 1 being perfect and 0.5 being random guessing).</a:t>
                      </a:r>
                    </a:p>
                  </a:txBody>
                  <a:tcPr marL="76339" marR="76339" marT="38170" marB="38170" anchor="ctr">
                    <a:lnL>
                      <a:noFill/>
                    </a:lnL>
                    <a:lnR>
                      <a:noFill/>
                    </a:lnR>
                    <a:lnT>
                      <a:noFill/>
                    </a:lnT>
                    <a:lnB>
                      <a:noFill/>
                    </a:lnB>
                  </a:tcPr>
                </a:tc>
                <a:extLst>
                  <a:ext uri="{0D108BD9-81ED-4DB2-BD59-A6C34878D82A}">
                    <a16:rowId xmlns:a16="http://schemas.microsoft.com/office/drawing/2014/main" val="10004"/>
                  </a:ext>
                </a:extLst>
              </a:tr>
              <a:tr h="787066">
                <a:tc>
                  <a:txBody>
                    <a:bodyPr/>
                    <a:lstStyle/>
                    <a:p>
                      <a:r>
                        <a:rPr lang="en-IN" sz="1800" b="1"/>
                        <a:t>Use Case</a:t>
                      </a:r>
                      <a:endParaRPr lang="en-IN" sz="1800"/>
                    </a:p>
                  </a:txBody>
                  <a:tcPr marL="76339" marR="76339" marT="38170" marB="38170" anchor="ctr">
                    <a:lnL>
                      <a:noFill/>
                    </a:lnL>
                    <a:lnR>
                      <a:noFill/>
                    </a:lnR>
                    <a:lnT>
                      <a:noFill/>
                    </a:lnT>
                    <a:lnB>
                      <a:noFill/>
                    </a:lnB>
                  </a:tcPr>
                </a:tc>
                <a:tc>
                  <a:txBody>
                    <a:bodyPr/>
                    <a:lstStyle/>
                    <a:p>
                      <a:r>
                        <a:rPr lang="en-US" sz="1800"/>
                        <a:t>Used to analyze and compare different classification models.</a:t>
                      </a:r>
                    </a:p>
                  </a:txBody>
                  <a:tcPr marL="76339" marR="76339" marT="38170" marB="38170" anchor="ctr">
                    <a:lnL>
                      <a:noFill/>
                    </a:lnL>
                    <a:lnR>
                      <a:noFill/>
                    </a:lnR>
                    <a:lnT>
                      <a:noFill/>
                    </a:lnT>
                    <a:lnB>
                      <a:noFill/>
                    </a:lnB>
                  </a:tcPr>
                </a:tc>
                <a:tc>
                  <a:txBody>
                    <a:bodyPr/>
                    <a:lstStyle/>
                    <a:p>
                      <a:r>
                        <a:rPr lang="en-US" sz="1800" dirty="0"/>
                        <a:t>Used to summarize the performance of a classifier in a single metric.</a:t>
                      </a:r>
                    </a:p>
                  </a:txBody>
                  <a:tcPr marL="76339" marR="76339" marT="38170" marB="38170" anchor="ctr">
                    <a:lnL>
                      <a:noFill/>
                    </a:lnL>
                    <a:lnR>
                      <a:noFill/>
                    </a:lnR>
                    <a:lnT>
                      <a:noFill/>
                    </a:lnT>
                    <a:lnB>
                      <a:noFill/>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827670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Comparing Two Classification Models Using a Paired t-Test</a:t>
            </a:r>
            <a:endParaRPr lang="en-IN" dirty="0">
              <a:solidFill>
                <a:srgbClr val="FF0000"/>
              </a:solidFill>
            </a:endParaRPr>
          </a:p>
        </p:txBody>
      </p:sp>
      <p:sp>
        <p:nvSpPr>
          <p:cNvPr id="3" name="Content Placeholder 2"/>
          <p:cNvSpPr>
            <a:spLocks noGrp="1"/>
          </p:cNvSpPr>
          <p:nvPr>
            <p:ph idx="1"/>
          </p:nvPr>
        </p:nvSpPr>
        <p:spPr>
          <a:xfrm>
            <a:off x="838200" y="2095705"/>
            <a:ext cx="10515600" cy="3904800"/>
          </a:xfrm>
        </p:spPr>
        <p:txBody>
          <a:bodyPr>
            <a:normAutofit/>
          </a:bodyPr>
          <a:lstStyle/>
          <a:p>
            <a:pPr marL="0" indent="0" algn="just">
              <a:lnSpc>
                <a:spcPct val="110000"/>
              </a:lnSpc>
              <a:buNone/>
            </a:pPr>
            <a:r>
              <a:rPr lang="en-US" sz="3600" dirty="0"/>
              <a:t>A paired t-test is used to determine whether the performance difference between two classification models evaluated on the same dataset is statistically significant.</a:t>
            </a:r>
          </a:p>
          <a:p>
            <a:pPr marL="0" indent="0" algn="just">
              <a:lnSpc>
                <a:spcPct val="160000"/>
              </a:lnSpc>
              <a:buNone/>
            </a:pPr>
            <a:endParaRPr lang="en-IN" sz="4400" dirty="0"/>
          </a:p>
        </p:txBody>
      </p:sp>
    </p:spTree>
    <p:extLst>
      <p:ext uri="{BB962C8B-B14F-4D97-AF65-F5344CB8AC3E}">
        <p14:creationId xmlns:p14="http://schemas.microsoft.com/office/powerpoint/2010/main" val="26222685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5756C-3DDE-4504-8615-7889D09ECEF1}"/>
              </a:ext>
            </a:extLst>
          </p:cNvPr>
          <p:cNvSpPr>
            <a:spLocks noGrp="1"/>
          </p:cNvSpPr>
          <p:nvPr>
            <p:ph type="title"/>
          </p:nvPr>
        </p:nvSpPr>
        <p:spPr>
          <a:xfrm>
            <a:off x="838200" y="365125"/>
            <a:ext cx="10515600" cy="647749"/>
          </a:xfrm>
        </p:spPr>
        <p:txBody>
          <a:bodyPr>
            <a:normAutofit fontScale="90000"/>
          </a:bodyPr>
          <a:lstStyle/>
          <a:p>
            <a:r>
              <a:rPr lang="en-US" dirty="0">
                <a:solidFill>
                  <a:srgbClr val="FF0000"/>
                </a:solidFill>
              </a:rPr>
              <a:t>Why We Use a Paired t-Test</a:t>
            </a:r>
            <a:endParaRPr lang="en-IN" dirty="0">
              <a:solidFill>
                <a:srgbClr val="FF0000"/>
              </a:solidFill>
            </a:endParaRPr>
          </a:p>
        </p:txBody>
      </p:sp>
      <p:sp>
        <p:nvSpPr>
          <p:cNvPr id="3" name="Content Placeholder 2">
            <a:extLst>
              <a:ext uri="{FF2B5EF4-FFF2-40B4-BE49-F238E27FC236}">
                <a16:creationId xmlns:a16="http://schemas.microsoft.com/office/drawing/2014/main" id="{FA27879D-97DA-4517-9B0D-AB6596755C59}"/>
              </a:ext>
            </a:extLst>
          </p:cNvPr>
          <p:cNvSpPr>
            <a:spLocks noGrp="1"/>
          </p:cNvSpPr>
          <p:nvPr>
            <p:ph idx="1"/>
          </p:nvPr>
        </p:nvSpPr>
        <p:spPr>
          <a:xfrm>
            <a:off x="838200" y="1209822"/>
            <a:ext cx="10515600" cy="1941341"/>
          </a:xfrm>
        </p:spPr>
        <p:txBody>
          <a:bodyPr/>
          <a:lstStyle/>
          <a:p>
            <a:r>
              <a:rPr lang="en-US" dirty="0"/>
              <a:t>When comparing models like:</a:t>
            </a:r>
          </a:p>
          <a:p>
            <a:pPr lvl="1"/>
            <a:r>
              <a:rPr lang="en-US" dirty="0"/>
              <a:t>Logistic Regression</a:t>
            </a:r>
          </a:p>
          <a:p>
            <a:pPr lvl="1"/>
            <a:r>
              <a:rPr lang="en-US" dirty="0"/>
              <a:t>Random Forest</a:t>
            </a:r>
          </a:p>
          <a:p>
            <a:r>
              <a:rPr lang="en-US" dirty="0"/>
              <a:t>their accuracies may differ slightly.</a:t>
            </a:r>
          </a:p>
          <a:p>
            <a:endParaRPr lang="en-IN" dirty="0"/>
          </a:p>
        </p:txBody>
      </p:sp>
      <p:graphicFrame>
        <p:nvGraphicFramePr>
          <p:cNvPr id="4" name="Table 3">
            <a:extLst>
              <a:ext uri="{FF2B5EF4-FFF2-40B4-BE49-F238E27FC236}">
                <a16:creationId xmlns:a16="http://schemas.microsoft.com/office/drawing/2014/main" id="{2F758216-FDA1-455B-80FC-FCADB981D241}"/>
              </a:ext>
            </a:extLst>
          </p:cNvPr>
          <p:cNvGraphicFramePr>
            <a:graphicFrameLocks noGrp="1"/>
          </p:cNvGraphicFramePr>
          <p:nvPr>
            <p:extLst>
              <p:ext uri="{D42A27DB-BD31-4B8C-83A1-F6EECF244321}">
                <p14:modId xmlns:p14="http://schemas.microsoft.com/office/powerpoint/2010/main" val="3671969761"/>
              </p:ext>
            </p:extLst>
          </p:nvPr>
        </p:nvGraphicFramePr>
        <p:xfrm>
          <a:off x="838201" y="3348111"/>
          <a:ext cx="6491066" cy="2377440"/>
        </p:xfrm>
        <a:graphic>
          <a:graphicData uri="http://schemas.openxmlformats.org/drawingml/2006/table">
            <a:tbl>
              <a:tblPr/>
              <a:tblGrid>
                <a:gridCol w="1081993">
                  <a:extLst>
                    <a:ext uri="{9D8B030D-6E8A-4147-A177-3AD203B41FA5}">
                      <a16:colId xmlns:a16="http://schemas.microsoft.com/office/drawing/2014/main" val="3177955278"/>
                    </a:ext>
                  </a:extLst>
                </a:gridCol>
                <a:gridCol w="2440791">
                  <a:extLst>
                    <a:ext uri="{9D8B030D-6E8A-4147-A177-3AD203B41FA5}">
                      <a16:colId xmlns:a16="http://schemas.microsoft.com/office/drawing/2014/main" val="882718784"/>
                    </a:ext>
                  </a:extLst>
                </a:gridCol>
                <a:gridCol w="2968282">
                  <a:extLst>
                    <a:ext uri="{9D8B030D-6E8A-4147-A177-3AD203B41FA5}">
                      <a16:colId xmlns:a16="http://schemas.microsoft.com/office/drawing/2014/main" val="841410288"/>
                    </a:ext>
                  </a:extLst>
                </a:gridCol>
              </a:tblGrid>
              <a:tr h="0">
                <a:tc>
                  <a:txBody>
                    <a:bodyPr/>
                    <a:lstStyle/>
                    <a:p>
                      <a:r>
                        <a:rPr lang="en-IN" sz="2000" b="1" dirty="0"/>
                        <a:t>Split</a:t>
                      </a:r>
                    </a:p>
                  </a:txBody>
                  <a:tcPr anchor="ctr">
                    <a:lnL>
                      <a:noFill/>
                    </a:lnL>
                    <a:lnR>
                      <a:noFill/>
                    </a:lnR>
                    <a:lnT>
                      <a:noFill/>
                    </a:lnT>
                    <a:lnB>
                      <a:noFill/>
                    </a:lnB>
                  </a:tcPr>
                </a:tc>
                <a:tc>
                  <a:txBody>
                    <a:bodyPr/>
                    <a:lstStyle/>
                    <a:p>
                      <a:r>
                        <a:rPr lang="en-IN" sz="2000" b="1" dirty="0"/>
                        <a:t>Model A Accuracy</a:t>
                      </a:r>
                    </a:p>
                  </a:txBody>
                  <a:tcPr anchor="ctr">
                    <a:lnL>
                      <a:noFill/>
                    </a:lnL>
                    <a:lnR>
                      <a:noFill/>
                    </a:lnR>
                    <a:lnT>
                      <a:noFill/>
                    </a:lnT>
                    <a:lnB>
                      <a:noFill/>
                    </a:lnB>
                  </a:tcPr>
                </a:tc>
                <a:tc>
                  <a:txBody>
                    <a:bodyPr/>
                    <a:lstStyle/>
                    <a:p>
                      <a:r>
                        <a:rPr lang="en-IN" sz="2000" b="1" dirty="0"/>
                        <a:t>Model B Accuracy</a:t>
                      </a:r>
                    </a:p>
                  </a:txBody>
                  <a:tcPr anchor="ctr">
                    <a:lnL>
                      <a:noFill/>
                    </a:lnL>
                    <a:lnR>
                      <a:noFill/>
                    </a:lnR>
                    <a:lnT>
                      <a:noFill/>
                    </a:lnT>
                    <a:lnB>
                      <a:noFill/>
                    </a:lnB>
                  </a:tcPr>
                </a:tc>
                <a:extLst>
                  <a:ext uri="{0D108BD9-81ED-4DB2-BD59-A6C34878D82A}">
                    <a16:rowId xmlns:a16="http://schemas.microsoft.com/office/drawing/2014/main" val="746314615"/>
                  </a:ext>
                </a:extLst>
              </a:tr>
              <a:tr h="0">
                <a:tc>
                  <a:txBody>
                    <a:bodyPr/>
                    <a:lstStyle/>
                    <a:p>
                      <a:r>
                        <a:rPr lang="en-IN" sz="2000" dirty="0"/>
                        <a:t>1</a:t>
                      </a:r>
                    </a:p>
                  </a:txBody>
                  <a:tcPr anchor="ctr">
                    <a:lnL>
                      <a:noFill/>
                    </a:lnL>
                    <a:lnR>
                      <a:noFill/>
                    </a:lnR>
                    <a:lnT>
                      <a:noFill/>
                    </a:lnT>
                    <a:lnB>
                      <a:noFill/>
                    </a:lnB>
                  </a:tcPr>
                </a:tc>
                <a:tc>
                  <a:txBody>
                    <a:bodyPr/>
                    <a:lstStyle/>
                    <a:p>
                      <a:r>
                        <a:rPr lang="en-IN" sz="2000" dirty="0"/>
                        <a:t>0.84</a:t>
                      </a:r>
                    </a:p>
                  </a:txBody>
                  <a:tcPr anchor="ctr">
                    <a:lnL>
                      <a:noFill/>
                    </a:lnL>
                    <a:lnR>
                      <a:noFill/>
                    </a:lnR>
                    <a:lnT>
                      <a:noFill/>
                    </a:lnT>
                    <a:lnB>
                      <a:noFill/>
                    </a:lnB>
                  </a:tcPr>
                </a:tc>
                <a:tc>
                  <a:txBody>
                    <a:bodyPr/>
                    <a:lstStyle/>
                    <a:p>
                      <a:r>
                        <a:rPr lang="en-IN" sz="2000" dirty="0"/>
                        <a:t>0.86</a:t>
                      </a:r>
                    </a:p>
                  </a:txBody>
                  <a:tcPr anchor="ctr">
                    <a:lnL>
                      <a:noFill/>
                    </a:lnL>
                    <a:lnR>
                      <a:noFill/>
                    </a:lnR>
                    <a:lnT>
                      <a:noFill/>
                    </a:lnT>
                    <a:lnB>
                      <a:noFill/>
                    </a:lnB>
                  </a:tcPr>
                </a:tc>
                <a:extLst>
                  <a:ext uri="{0D108BD9-81ED-4DB2-BD59-A6C34878D82A}">
                    <a16:rowId xmlns:a16="http://schemas.microsoft.com/office/drawing/2014/main" val="64484911"/>
                  </a:ext>
                </a:extLst>
              </a:tr>
              <a:tr h="0">
                <a:tc>
                  <a:txBody>
                    <a:bodyPr/>
                    <a:lstStyle/>
                    <a:p>
                      <a:r>
                        <a:rPr lang="en-IN" sz="2000" dirty="0"/>
                        <a:t>2</a:t>
                      </a:r>
                    </a:p>
                  </a:txBody>
                  <a:tcPr anchor="ctr">
                    <a:lnL>
                      <a:noFill/>
                    </a:lnL>
                    <a:lnR>
                      <a:noFill/>
                    </a:lnR>
                    <a:lnT>
                      <a:noFill/>
                    </a:lnT>
                    <a:lnB>
                      <a:noFill/>
                    </a:lnB>
                  </a:tcPr>
                </a:tc>
                <a:tc>
                  <a:txBody>
                    <a:bodyPr/>
                    <a:lstStyle/>
                    <a:p>
                      <a:r>
                        <a:rPr lang="en-IN" sz="2000" dirty="0"/>
                        <a:t>0.82</a:t>
                      </a:r>
                    </a:p>
                  </a:txBody>
                  <a:tcPr anchor="ctr">
                    <a:lnL>
                      <a:noFill/>
                    </a:lnL>
                    <a:lnR>
                      <a:noFill/>
                    </a:lnR>
                    <a:lnT>
                      <a:noFill/>
                    </a:lnT>
                    <a:lnB>
                      <a:noFill/>
                    </a:lnB>
                  </a:tcPr>
                </a:tc>
                <a:tc>
                  <a:txBody>
                    <a:bodyPr/>
                    <a:lstStyle/>
                    <a:p>
                      <a:r>
                        <a:rPr lang="en-IN" sz="2000" dirty="0"/>
                        <a:t>0.85</a:t>
                      </a:r>
                    </a:p>
                  </a:txBody>
                  <a:tcPr anchor="ctr">
                    <a:lnL>
                      <a:noFill/>
                    </a:lnL>
                    <a:lnR>
                      <a:noFill/>
                    </a:lnR>
                    <a:lnT>
                      <a:noFill/>
                    </a:lnT>
                    <a:lnB>
                      <a:noFill/>
                    </a:lnB>
                  </a:tcPr>
                </a:tc>
                <a:extLst>
                  <a:ext uri="{0D108BD9-81ED-4DB2-BD59-A6C34878D82A}">
                    <a16:rowId xmlns:a16="http://schemas.microsoft.com/office/drawing/2014/main" val="2429469577"/>
                  </a:ext>
                </a:extLst>
              </a:tr>
              <a:tr h="0">
                <a:tc>
                  <a:txBody>
                    <a:bodyPr/>
                    <a:lstStyle/>
                    <a:p>
                      <a:r>
                        <a:rPr lang="en-IN" sz="2000"/>
                        <a:t>3</a:t>
                      </a:r>
                    </a:p>
                  </a:txBody>
                  <a:tcPr anchor="ctr">
                    <a:lnL>
                      <a:noFill/>
                    </a:lnL>
                    <a:lnR>
                      <a:noFill/>
                    </a:lnR>
                    <a:lnT>
                      <a:noFill/>
                    </a:lnT>
                    <a:lnB>
                      <a:noFill/>
                    </a:lnB>
                  </a:tcPr>
                </a:tc>
                <a:tc>
                  <a:txBody>
                    <a:bodyPr/>
                    <a:lstStyle/>
                    <a:p>
                      <a:r>
                        <a:rPr lang="en-IN" sz="2000" dirty="0"/>
                        <a:t>0.83</a:t>
                      </a:r>
                    </a:p>
                  </a:txBody>
                  <a:tcPr anchor="ctr">
                    <a:lnL>
                      <a:noFill/>
                    </a:lnL>
                    <a:lnR>
                      <a:noFill/>
                    </a:lnR>
                    <a:lnT>
                      <a:noFill/>
                    </a:lnT>
                    <a:lnB>
                      <a:noFill/>
                    </a:lnB>
                  </a:tcPr>
                </a:tc>
                <a:tc>
                  <a:txBody>
                    <a:bodyPr/>
                    <a:lstStyle/>
                    <a:p>
                      <a:r>
                        <a:rPr lang="en-IN" sz="2000" dirty="0"/>
                        <a:t>0.84</a:t>
                      </a:r>
                    </a:p>
                  </a:txBody>
                  <a:tcPr anchor="ctr">
                    <a:lnL>
                      <a:noFill/>
                    </a:lnL>
                    <a:lnR>
                      <a:noFill/>
                    </a:lnR>
                    <a:lnT>
                      <a:noFill/>
                    </a:lnT>
                    <a:lnB>
                      <a:noFill/>
                    </a:lnB>
                  </a:tcPr>
                </a:tc>
                <a:extLst>
                  <a:ext uri="{0D108BD9-81ED-4DB2-BD59-A6C34878D82A}">
                    <a16:rowId xmlns:a16="http://schemas.microsoft.com/office/drawing/2014/main" val="2838014201"/>
                  </a:ext>
                </a:extLst>
              </a:tr>
              <a:tr h="0">
                <a:tc>
                  <a:txBody>
                    <a:bodyPr/>
                    <a:lstStyle/>
                    <a:p>
                      <a:r>
                        <a:rPr lang="en-IN" sz="2000"/>
                        <a:t>4</a:t>
                      </a:r>
                    </a:p>
                  </a:txBody>
                  <a:tcPr anchor="ctr">
                    <a:lnL>
                      <a:noFill/>
                    </a:lnL>
                    <a:lnR>
                      <a:noFill/>
                    </a:lnR>
                    <a:lnT>
                      <a:noFill/>
                    </a:lnT>
                    <a:lnB>
                      <a:noFill/>
                    </a:lnB>
                  </a:tcPr>
                </a:tc>
                <a:tc>
                  <a:txBody>
                    <a:bodyPr/>
                    <a:lstStyle/>
                    <a:p>
                      <a:r>
                        <a:rPr lang="en-IN" sz="2000" dirty="0"/>
                        <a:t>0.85</a:t>
                      </a:r>
                    </a:p>
                  </a:txBody>
                  <a:tcPr anchor="ctr">
                    <a:lnL>
                      <a:noFill/>
                    </a:lnL>
                    <a:lnR>
                      <a:noFill/>
                    </a:lnR>
                    <a:lnT>
                      <a:noFill/>
                    </a:lnT>
                    <a:lnB>
                      <a:noFill/>
                    </a:lnB>
                  </a:tcPr>
                </a:tc>
                <a:tc>
                  <a:txBody>
                    <a:bodyPr/>
                    <a:lstStyle/>
                    <a:p>
                      <a:r>
                        <a:rPr lang="en-IN" sz="2000" dirty="0"/>
                        <a:t>0.87</a:t>
                      </a:r>
                    </a:p>
                  </a:txBody>
                  <a:tcPr anchor="ctr">
                    <a:lnL>
                      <a:noFill/>
                    </a:lnL>
                    <a:lnR>
                      <a:noFill/>
                    </a:lnR>
                    <a:lnT>
                      <a:noFill/>
                    </a:lnT>
                    <a:lnB>
                      <a:noFill/>
                    </a:lnB>
                  </a:tcPr>
                </a:tc>
                <a:extLst>
                  <a:ext uri="{0D108BD9-81ED-4DB2-BD59-A6C34878D82A}">
                    <a16:rowId xmlns:a16="http://schemas.microsoft.com/office/drawing/2014/main" val="3840530960"/>
                  </a:ext>
                </a:extLst>
              </a:tr>
              <a:tr h="0">
                <a:tc>
                  <a:txBody>
                    <a:bodyPr/>
                    <a:lstStyle/>
                    <a:p>
                      <a:r>
                        <a:rPr lang="en-IN" sz="2000"/>
                        <a:t>5</a:t>
                      </a:r>
                    </a:p>
                  </a:txBody>
                  <a:tcPr anchor="ctr">
                    <a:lnL>
                      <a:noFill/>
                    </a:lnL>
                    <a:lnR>
                      <a:noFill/>
                    </a:lnR>
                    <a:lnT>
                      <a:noFill/>
                    </a:lnT>
                    <a:lnB>
                      <a:noFill/>
                    </a:lnB>
                  </a:tcPr>
                </a:tc>
                <a:tc>
                  <a:txBody>
                    <a:bodyPr/>
                    <a:lstStyle/>
                    <a:p>
                      <a:r>
                        <a:rPr lang="en-IN" sz="2000"/>
                        <a:t>0.81</a:t>
                      </a:r>
                    </a:p>
                  </a:txBody>
                  <a:tcPr anchor="ctr">
                    <a:lnL>
                      <a:noFill/>
                    </a:lnL>
                    <a:lnR>
                      <a:noFill/>
                    </a:lnR>
                    <a:lnT>
                      <a:noFill/>
                    </a:lnT>
                    <a:lnB>
                      <a:noFill/>
                    </a:lnB>
                  </a:tcPr>
                </a:tc>
                <a:tc>
                  <a:txBody>
                    <a:bodyPr/>
                    <a:lstStyle/>
                    <a:p>
                      <a:r>
                        <a:rPr lang="en-IN" sz="2000" dirty="0"/>
                        <a:t>0.84</a:t>
                      </a:r>
                    </a:p>
                  </a:txBody>
                  <a:tcPr anchor="ctr">
                    <a:lnL>
                      <a:noFill/>
                    </a:lnL>
                    <a:lnR>
                      <a:noFill/>
                    </a:lnR>
                    <a:lnT>
                      <a:noFill/>
                    </a:lnT>
                    <a:lnB>
                      <a:noFill/>
                    </a:lnB>
                  </a:tcPr>
                </a:tc>
                <a:extLst>
                  <a:ext uri="{0D108BD9-81ED-4DB2-BD59-A6C34878D82A}">
                    <a16:rowId xmlns:a16="http://schemas.microsoft.com/office/drawing/2014/main" val="1377788527"/>
                  </a:ext>
                </a:extLst>
              </a:tr>
            </a:tbl>
          </a:graphicData>
        </a:graphic>
      </p:graphicFrame>
      <p:sp>
        <p:nvSpPr>
          <p:cNvPr id="6" name="TextBox 5">
            <a:extLst>
              <a:ext uri="{FF2B5EF4-FFF2-40B4-BE49-F238E27FC236}">
                <a16:creationId xmlns:a16="http://schemas.microsoft.com/office/drawing/2014/main" id="{31CB02CA-A843-4C39-A42A-7038D02589B9}"/>
              </a:ext>
            </a:extLst>
          </p:cNvPr>
          <p:cNvSpPr txBox="1"/>
          <p:nvPr/>
        </p:nvSpPr>
        <p:spPr>
          <a:xfrm>
            <a:off x="6096000" y="5322334"/>
            <a:ext cx="6098344" cy="1569660"/>
          </a:xfrm>
          <a:prstGeom prst="rect">
            <a:avLst/>
          </a:prstGeom>
          <a:solidFill>
            <a:schemeClr val="accent1">
              <a:lumMod val="40000"/>
              <a:lumOff val="60000"/>
            </a:schemeClr>
          </a:solidFill>
        </p:spPr>
        <p:txBody>
          <a:bodyPr wrap="square">
            <a:spAutoFit/>
          </a:bodyPr>
          <a:lstStyle/>
          <a:p>
            <a:r>
              <a:rPr lang="en-US" sz="2400" b="1" dirty="0"/>
              <a:t>Is Model B really better, or is the difference due to random sampling?</a:t>
            </a:r>
          </a:p>
          <a:p>
            <a:endParaRPr lang="en-US" sz="2400" dirty="0"/>
          </a:p>
          <a:p>
            <a:r>
              <a:rPr lang="en-US" sz="2400" dirty="0"/>
              <a:t>The </a:t>
            </a:r>
            <a:r>
              <a:rPr lang="en-US" sz="2400" b="1" dirty="0"/>
              <a:t>paired t-test</a:t>
            </a:r>
            <a:r>
              <a:rPr lang="en-US" sz="2400" dirty="0"/>
              <a:t> answers this.</a:t>
            </a:r>
          </a:p>
        </p:txBody>
      </p:sp>
    </p:spTree>
    <p:extLst>
      <p:ext uri="{BB962C8B-B14F-4D97-AF65-F5344CB8AC3E}">
        <p14:creationId xmlns:p14="http://schemas.microsoft.com/office/powerpoint/2010/main" val="38150165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Paired t-Test</a:t>
            </a:r>
          </a:p>
        </p:txBody>
      </p:sp>
      <p:pic>
        <p:nvPicPr>
          <p:cNvPr id="4" name="Picture 3"/>
          <p:cNvPicPr>
            <a:picLocks noChangeAspect="1"/>
          </p:cNvPicPr>
          <p:nvPr/>
        </p:nvPicPr>
        <p:blipFill>
          <a:blip r:embed="rId2"/>
          <a:stretch>
            <a:fillRect/>
          </a:stretch>
        </p:blipFill>
        <p:spPr>
          <a:xfrm>
            <a:off x="1308504" y="1690688"/>
            <a:ext cx="8499094" cy="4955994"/>
          </a:xfrm>
          <a:prstGeom prst="rect">
            <a:avLst/>
          </a:prstGeom>
        </p:spPr>
      </p:pic>
    </p:spTree>
    <p:extLst>
      <p:ext uri="{BB962C8B-B14F-4D97-AF65-F5344CB8AC3E}">
        <p14:creationId xmlns:p14="http://schemas.microsoft.com/office/powerpoint/2010/main" val="26658071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058CC-A6CB-4FF2-A3AF-75C7F26F5248}"/>
              </a:ext>
            </a:extLst>
          </p:cNvPr>
          <p:cNvSpPr>
            <a:spLocks noGrp="1"/>
          </p:cNvSpPr>
          <p:nvPr>
            <p:ph type="title"/>
          </p:nvPr>
        </p:nvSpPr>
        <p:spPr>
          <a:xfrm>
            <a:off x="838200" y="365126"/>
            <a:ext cx="10515600" cy="886900"/>
          </a:xfrm>
        </p:spPr>
        <p:txBody>
          <a:bodyPr/>
          <a:lstStyle/>
          <a:p>
            <a:r>
              <a:rPr lang="en-IN" dirty="0">
                <a:solidFill>
                  <a:srgbClr val="FF0000"/>
                </a:solidFill>
              </a:rPr>
              <a:t>t-value</a:t>
            </a:r>
          </a:p>
        </p:txBody>
      </p:sp>
      <p:sp>
        <p:nvSpPr>
          <p:cNvPr id="3" name="Content Placeholder 2">
            <a:extLst>
              <a:ext uri="{FF2B5EF4-FFF2-40B4-BE49-F238E27FC236}">
                <a16:creationId xmlns:a16="http://schemas.microsoft.com/office/drawing/2014/main" id="{A13C16C5-84BA-4362-B847-5E7C51AC6F0B}"/>
              </a:ext>
            </a:extLst>
          </p:cNvPr>
          <p:cNvSpPr>
            <a:spLocks noGrp="1"/>
          </p:cNvSpPr>
          <p:nvPr>
            <p:ph idx="1"/>
          </p:nvPr>
        </p:nvSpPr>
        <p:spPr>
          <a:xfrm>
            <a:off x="838200" y="1252027"/>
            <a:ext cx="10515600" cy="1139482"/>
          </a:xfrm>
        </p:spPr>
        <p:txBody>
          <a:bodyPr/>
          <a:lstStyle/>
          <a:p>
            <a:r>
              <a:rPr lang="en-US" dirty="0"/>
              <a:t>The </a:t>
            </a:r>
            <a:r>
              <a:rPr lang="en-US" b="1" dirty="0"/>
              <a:t>t-value</a:t>
            </a:r>
            <a:r>
              <a:rPr lang="en-US" dirty="0"/>
              <a:t> measures </a:t>
            </a:r>
            <a:r>
              <a:rPr lang="en-US" b="1" dirty="0"/>
              <a:t>how far the observed result is from the null hypothesis</a:t>
            </a:r>
            <a:r>
              <a:rPr lang="en-US" dirty="0"/>
              <a:t>.</a:t>
            </a:r>
            <a:endParaRPr lang="en-IN" dirty="0"/>
          </a:p>
        </p:txBody>
      </p:sp>
      <p:pic>
        <p:nvPicPr>
          <p:cNvPr id="5" name="Picture 4">
            <a:extLst>
              <a:ext uri="{FF2B5EF4-FFF2-40B4-BE49-F238E27FC236}">
                <a16:creationId xmlns:a16="http://schemas.microsoft.com/office/drawing/2014/main" id="{45817682-CDEA-4EF9-B666-D4F1559C9DA1}"/>
              </a:ext>
            </a:extLst>
          </p:cNvPr>
          <p:cNvPicPr>
            <a:picLocks noChangeAspect="1"/>
          </p:cNvPicPr>
          <p:nvPr/>
        </p:nvPicPr>
        <p:blipFill>
          <a:blip r:embed="rId2"/>
          <a:stretch>
            <a:fillRect/>
          </a:stretch>
        </p:blipFill>
        <p:spPr>
          <a:xfrm>
            <a:off x="998806" y="2352953"/>
            <a:ext cx="7244862" cy="4139921"/>
          </a:xfrm>
          <a:prstGeom prst="rect">
            <a:avLst/>
          </a:prstGeom>
        </p:spPr>
      </p:pic>
    </p:spTree>
    <p:extLst>
      <p:ext uri="{BB962C8B-B14F-4D97-AF65-F5344CB8AC3E}">
        <p14:creationId xmlns:p14="http://schemas.microsoft.com/office/powerpoint/2010/main" val="30468579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BF075-5BA7-4DF5-8AC7-5FA077D7A562}"/>
              </a:ext>
            </a:extLst>
          </p:cNvPr>
          <p:cNvSpPr>
            <a:spLocks noGrp="1"/>
          </p:cNvSpPr>
          <p:nvPr>
            <p:ph type="title"/>
          </p:nvPr>
        </p:nvSpPr>
        <p:spPr/>
        <p:txBody>
          <a:bodyPr/>
          <a:lstStyle/>
          <a:p>
            <a:r>
              <a:rPr lang="en-US" dirty="0">
                <a:solidFill>
                  <a:srgbClr val="FF0000"/>
                </a:solidFill>
              </a:rPr>
              <a:t>Null Hypothesis</a:t>
            </a:r>
            <a:endParaRPr lang="en-IN" dirty="0">
              <a:solidFill>
                <a:srgbClr val="FF0000"/>
              </a:solidFill>
            </a:endParaRPr>
          </a:p>
        </p:txBody>
      </p:sp>
      <p:pic>
        <p:nvPicPr>
          <p:cNvPr id="5" name="Picture 4">
            <a:extLst>
              <a:ext uri="{FF2B5EF4-FFF2-40B4-BE49-F238E27FC236}">
                <a16:creationId xmlns:a16="http://schemas.microsoft.com/office/drawing/2014/main" id="{710588E7-463F-4865-B1E1-8BDB65E9E61B}"/>
              </a:ext>
            </a:extLst>
          </p:cNvPr>
          <p:cNvPicPr>
            <a:picLocks noChangeAspect="1"/>
          </p:cNvPicPr>
          <p:nvPr/>
        </p:nvPicPr>
        <p:blipFill>
          <a:blip r:embed="rId2"/>
          <a:stretch>
            <a:fillRect/>
          </a:stretch>
        </p:blipFill>
        <p:spPr>
          <a:xfrm>
            <a:off x="606072" y="1690689"/>
            <a:ext cx="10113510" cy="4506310"/>
          </a:xfrm>
          <a:prstGeom prst="rect">
            <a:avLst/>
          </a:prstGeom>
        </p:spPr>
      </p:pic>
    </p:spTree>
    <p:extLst>
      <p:ext uri="{BB962C8B-B14F-4D97-AF65-F5344CB8AC3E}">
        <p14:creationId xmlns:p14="http://schemas.microsoft.com/office/powerpoint/2010/main" val="4831092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Steps for Comparing Two Models Using a Paired t-Test</a:t>
            </a:r>
            <a:endParaRPr lang="en-IN" dirty="0">
              <a:solidFill>
                <a:srgbClr val="FF0000"/>
              </a:solidFill>
            </a:endParaRPr>
          </a:p>
        </p:txBody>
      </p:sp>
      <p:sp>
        <p:nvSpPr>
          <p:cNvPr id="3" name="Content Placeholder 2"/>
          <p:cNvSpPr>
            <a:spLocks noGrp="1"/>
          </p:cNvSpPr>
          <p:nvPr>
            <p:ph idx="1"/>
          </p:nvPr>
        </p:nvSpPr>
        <p:spPr>
          <a:xfrm>
            <a:off x="838200" y="2261723"/>
            <a:ext cx="10515600" cy="4351338"/>
          </a:xfrm>
        </p:spPr>
        <p:txBody>
          <a:bodyPr/>
          <a:lstStyle/>
          <a:p>
            <a:pPr marL="0" indent="0">
              <a:buNone/>
            </a:pPr>
            <a:r>
              <a:rPr lang="en-IN" sz="3200" b="1" dirty="0">
                <a:highlight>
                  <a:srgbClr val="FFFF00"/>
                </a:highlight>
              </a:rPr>
              <a:t>Step 1: Train and Evaluate Both Models</a:t>
            </a:r>
          </a:p>
          <a:p>
            <a:pPr marL="0" indent="0">
              <a:buNone/>
            </a:pPr>
            <a:endParaRPr lang="en-IN" b="1" dirty="0"/>
          </a:p>
          <a:p>
            <a:pPr lvl="1"/>
            <a:r>
              <a:rPr lang="en-IN" sz="3200" dirty="0"/>
              <a:t>Choose two classification models (e.g., </a:t>
            </a:r>
            <a:r>
              <a:rPr lang="en-IN" sz="3200" b="1" dirty="0"/>
              <a:t>Random Forest vs. SVM</a:t>
            </a:r>
            <a:r>
              <a:rPr lang="en-IN" sz="3200" dirty="0"/>
              <a:t>).</a:t>
            </a:r>
          </a:p>
          <a:p>
            <a:pPr lvl="1"/>
            <a:r>
              <a:rPr lang="en-IN" sz="3200" dirty="0"/>
              <a:t>Train and test them on </a:t>
            </a:r>
            <a:r>
              <a:rPr lang="en-IN" sz="3200" b="1" dirty="0"/>
              <a:t>the same dataset</a:t>
            </a:r>
            <a:r>
              <a:rPr lang="en-IN" sz="3200" dirty="0"/>
              <a:t> multiple times (e.g., </a:t>
            </a:r>
            <a:r>
              <a:rPr lang="en-IN" sz="3200" b="1" dirty="0"/>
              <a:t>5 different train-test splits</a:t>
            </a:r>
            <a:r>
              <a:rPr lang="en-IN" sz="3200" dirty="0"/>
              <a:t>).</a:t>
            </a:r>
          </a:p>
          <a:p>
            <a:pPr lvl="1"/>
            <a:r>
              <a:rPr lang="en-IN" sz="3200" dirty="0"/>
              <a:t>Record their performance scores (e.g., accuracy).</a:t>
            </a:r>
          </a:p>
          <a:p>
            <a:endParaRPr lang="en-IN" dirty="0"/>
          </a:p>
        </p:txBody>
      </p:sp>
    </p:spTree>
    <p:extLst>
      <p:ext uri="{BB962C8B-B14F-4D97-AF65-F5344CB8AC3E}">
        <p14:creationId xmlns:p14="http://schemas.microsoft.com/office/powerpoint/2010/main" val="2521975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83390" y="295422"/>
            <a:ext cx="6932921" cy="6220515"/>
          </a:xfrm>
          <a:prstGeom prst="rect">
            <a:avLst/>
          </a:prstGeom>
        </p:spPr>
      </p:pic>
    </p:spTree>
    <p:extLst>
      <p:ext uri="{BB962C8B-B14F-4D97-AF65-F5344CB8AC3E}">
        <p14:creationId xmlns:p14="http://schemas.microsoft.com/office/powerpoint/2010/main" val="28328229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9103"/>
          </a:xfrm>
        </p:spPr>
        <p:txBody>
          <a:bodyPr/>
          <a:lstStyle/>
          <a:p>
            <a:r>
              <a:rPr lang="en-IN" dirty="0">
                <a:solidFill>
                  <a:srgbClr val="FF0000"/>
                </a:solidFill>
              </a:rPr>
              <a:t>Numerical Example</a:t>
            </a:r>
          </a:p>
        </p:txBody>
      </p:sp>
      <p:sp>
        <p:nvSpPr>
          <p:cNvPr id="3" name="Content Placeholder 2"/>
          <p:cNvSpPr>
            <a:spLocks noGrp="1"/>
          </p:cNvSpPr>
          <p:nvPr>
            <p:ph idx="1"/>
          </p:nvPr>
        </p:nvSpPr>
        <p:spPr>
          <a:xfrm>
            <a:off x="838200" y="1474791"/>
            <a:ext cx="10515600" cy="1067700"/>
          </a:xfrm>
        </p:spPr>
        <p:txBody>
          <a:bodyPr/>
          <a:lstStyle/>
          <a:p>
            <a:r>
              <a:rPr lang="en-US" dirty="0"/>
              <a:t>Let's compare </a:t>
            </a:r>
            <a:r>
              <a:rPr lang="en-US" b="1" dirty="0"/>
              <a:t>Random Forest (Model A)</a:t>
            </a:r>
            <a:r>
              <a:rPr lang="en-US" dirty="0"/>
              <a:t> and </a:t>
            </a:r>
            <a:r>
              <a:rPr lang="en-US" b="1" dirty="0"/>
              <a:t>SVM (Model B)</a:t>
            </a:r>
            <a:r>
              <a:rPr lang="en-US" dirty="0"/>
              <a:t> on </a:t>
            </a:r>
            <a:r>
              <a:rPr lang="en-US" b="1" dirty="0"/>
              <a:t>5 different train-test splits</a:t>
            </a:r>
            <a:r>
              <a:rPr lang="en-US" dirty="0"/>
              <a:t>.</a:t>
            </a:r>
            <a:endParaRPr lang="en-IN" dirty="0"/>
          </a:p>
        </p:txBody>
      </p:sp>
      <p:pic>
        <p:nvPicPr>
          <p:cNvPr id="4" name="Picture 3"/>
          <p:cNvPicPr>
            <a:picLocks noChangeAspect="1"/>
          </p:cNvPicPr>
          <p:nvPr/>
        </p:nvPicPr>
        <p:blipFill>
          <a:blip r:embed="rId2"/>
          <a:stretch>
            <a:fillRect/>
          </a:stretch>
        </p:blipFill>
        <p:spPr>
          <a:xfrm>
            <a:off x="1307798" y="2363371"/>
            <a:ext cx="9860241" cy="4129503"/>
          </a:xfrm>
          <a:prstGeom prst="rect">
            <a:avLst/>
          </a:prstGeom>
        </p:spPr>
      </p:pic>
    </p:spTree>
    <p:extLst>
      <p:ext uri="{BB962C8B-B14F-4D97-AF65-F5344CB8AC3E}">
        <p14:creationId xmlns:p14="http://schemas.microsoft.com/office/powerpoint/2010/main" val="20196657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339667" y="218363"/>
            <a:ext cx="5824582" cy="6277119"/>
          </a:xfrm>
          <a:prstGeom prst="rect">
            <a:avLst/>
          </a:prstGeom>
        </p:spPr>
      </p:pic>
      <p:pic>
        <p:nvPicPr>
          <p:cNvPr id="3" name="Picture 2">
            <a:extLst>
              <a:ext uri="{FF2B5EF4-FFF2-40B4-BE49-F238E27FC236}">
                <a16:creationId xmlns:a16="http://schemas.microsoft.com/office/drawing/2014/main" id="{BA634C1B-074D-4CC5-87C2-D3638971389E}"/>
              </a:ext>
            </a:extLst>
          </p:cNvPr>
          <p:cNvPicPr>
            <a:picLocks noChangeAspect="1"/>
          </p:cNvPicPr>
          <p:nvPr/>
        </p:nvPicPr>
        <p:blipFill>
          <a:blip r:embed="rId3"/>
          <a:stretch>
            <a:fillRect/>
          </a:stretch>
        </p:blipFill>
        <p:spPr>
          <a:xfrm>
            <a:off x="8164249" y="1520190"/>
            <a:ext cx="3848100" cy="1257300"/>
          </a:xfrm>
          <a:prstGeom prst="rect">
            <a:avLst/>
          </a:prstGeom>
          <a:solidFill>
            <a:schemeClr val="accent1">
              <a:lumMod val="40000"/>
              <a:lumOff val="60000"/>
            </a:schemeClr>
          </a:solidFill>
          <a:ln>
            <a:solidFill>
              <a:schemeClr val="accent1"/>
            </a:solidFill>
          </a:ln>
        </p:spPr>
      </p:pic>
    </p:spTree>
    <p:extLst>
      <p:ext uri="{BB962C8B-B14F-4D97-AF65-F5344CB8AC3E}">
        <p14:creationId xmlns:p14="http://schemas.microsoft.com/office/powerpoint/2010/main" val="27110646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0883" y="623570"/>
            <a:ext cx="10515600" cy="5594349"/>
          </a:xfrm>
        </p:spPr>
        <p:txBody>
          <a:bodyPr/>
          <a:lstStyle/>
          <a:p>
            <a:pPr marL="0" indent="0">
              <a:buNone/>
            </a:pPr>
            <a:r>
              <a:rPr lang="en-US" b="1" dirty="0">
                <a:highlight>
                  <a:srgbClr val="FFFF00"/>
                </a:highlight>
              </a:rPr>
              <a:t>Step 4: Determine the p-Value</a:t>
            </a:r>
          </a:p>
          <a:p>
            <a:pPr marL="0" indent="0">
              <a:buNone/>
            </a:pPr>
            <a:endParaRPr lang="en-US" b="1" dirty="0">
              <a:highlight>
                <a:srgbClr val="FFFF00"/>
              </a:highlight>
            </a:endParaRPr>
          </a:p>
          <a:p>
            <a:r>
              <a:rPr lang="en-US" dirty="0"/>
              <a:t>For </a:t>
            </a:r>
            <a:r>
              <a:rPr lang="en-US" b="1" dirty="0"/>
              <a:t>df = 5 - 1 = 4</a:t>
            </a:r>
            <a:r>
              <a:rPr lang="en-US" dirty="0"/>
              <a:t> at a </a:t>
            </a:r>
            <a:r>
              <a:rPr lang="en-US" b="1" dirty="0"/>
              <a:t>95% confidence level</a:t>
            </a:r>
            <a:r>
              <a:rPr lang="en-US" dirty="0"/>
              <a:t>, the critical t-value for a two-tailed test is </a:t>
            </a:r>
            <a:r>
              <a:rPr lang="en-US" b="1" dirty="0"/>
              <a:t>2.776</a:t>
            </a:r>
            <a:r>
              <a:rPr lang="en-US" dirty="0"/>
              <a:t>.</a:t>
            </a:r>
          </a:p>
          <a:p>
            <a:r>
              <a:rPr lang="en-US" b="1" dirty="0"/>
              <a:t>If |t| ≥ 2.776</a:t>
            </a:r>
            <a:r>
              <a:rPr lang="en-US" dirty="0"/>
              <a:t>, reject H</a:t>
            </a:r>
            <a:r>
              <a:rPr lang="en-US" baseline="-25000" dirty="0"/>
              <a:t>0</a:t>
            </a:r>
            <a:r>
              <a:rPr lang="en-US" dirty="0"/>
              <a:t>​ (significant difference).</a:t>
            </a:r>
          </a:p>
          <a:p>
            <a:r>
              <a:rPr lang="en-US" b="1" dirty="0"/>
              <a:t>If |t| &lt; 2.776</a:t>
            </a:r>
            <a:r>
              <a:rPr lang="en-US" dirty="0"/>
              <a:t>, fail to reject H</a:t>
            </a:r>
            <a:r>
              <a:rPr lang="en-US" baseline="-25000" dirty="0"/>
              <a:t>0</a:t>
            </a:r>
            <a:r>
              <a:rPr lang="en-US" dirty="0"/>
              <a:t>​ (no significant difference).</a:t>
            </a:r>
          </a:p>
          <a:p>
            <a:r>
              <a:rPr lang="en-US" dirty="0"/>
              <a:t>Since </a:t>
            </a:r>
            <a:r>
              <a:rPr lang="en-US" b="1" dirty="0"/>
              <a:t>2.33 &lt; 2.776</a:t>
            </a:r>
            <a:r>
              <a:rPr lang="en-US" dirty="0"/>
              <a:t>, we </a:t>
            </a:r>
            <a:r>
              <a:rPr lang="en-US" b="1" dirty="0"/>
              <a:t>fail to reject the null hypothesis</a:t>
            </a:r>
            <a:r>
              <a:rPr lang="en-US" dirty="0"/>
              <a:t>, meaning </a:t>
            </a:r>
            <a:r>
              <a:rPr lang="en-US" b="1" dirty="0"/>
              <a:t>no significant difference</a:t>
            </a:r>
            <a:r>
              <a:rPr lang="en-US" dirty="0"/>
              <a:t> between the models at a 95% confidence level.</a:t>
            </a:r>
          </a:p>
          <a:p>
            <a:endParaRPr lang="en-IN" dirty="0"/>
          </a:p>
        </p:txBody>
      </p:sp>
    </p:spTree>
    <p:extLst>
      <p:ext uri="{BB962C8B-B14F-4D97-AF65-F5344CB8AC3E}">
        <p14:creationId xmlns:p14="http://schemas.microsoft.com/office/powerpoint/2010/main" val="183422827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When to Use This Method</a:t>
            </a:r>
            <a:endParaRPr lang="en-IN" dirty="0">
              <a:solidFill>
                <a:srgbClr val="FF0000"/>
              </a:solidFill>
            </a:endParaRPr>
          </a:p>
        </p:txBody>
      </p:sp>
      <p:sp>
        <p:nvSpPr>
          <p:cNvPr id="3" name="Content Placeholder 2"/>
          <p:cNvSpPr>
            <a:spLocks noGrp="1"/>
          </p:cNvSpPr>
          <p:nvPr>
            <p:ph idx="1"/>
          </p:nvPr>
        </p:nvSpPr>
        <p:spPr/>
        <p:txBody>
          <a:bodyPr>
            <a:normAutofit/>
          </a:bodyPr>
          <a:lstStyle/>
          <a:p>
            <a:pPr marL="0" indent="0">
              <a:buNone/>
            </a:pPr>
            <a:r>
              <a:rPr lang="en-US" dirty="0"/>
              <a:t> </a:t>
            </a:r>
            <a:r>
              <a:rPr lang="en-US" b="1" dirty="0"/>
              <a:t>Use a paired t-test when:</a:t>
            </a:r>
            <a:endParaRPr lang="en-US" dirty="0"/>
          </a:p>
          <a:p>
            <a:pPr lvl="1"/>
            <a:r>
              <a:rPr lang="en-US" dirty="0"/>
              <a:t>You compare </a:t>
            </a:r>
            <a:r>
              <a:rPr lang="en-US" b="1" dirty="0"/>
              <a:t>two models using multiple independent train-test splits</a:t>
            </a:r>
            <a:r>
              <a:rPr lang="en-US" dirty="0"/>
              <a:t>.</a:t>
            </a:r>
          </a:p>
          <a:p>
            <a:pPr lvl="1"/>
            <a:r>
              <a:rPr lang="en-US" dirty="0"/>
              <a:t>You want to determine if one model significantly outperforms the other.</a:t>
            </a:r>
          </a:p>
          <a:p>
            <a:pPr lvl="1"/>
            <a:r>
              <a:rPr lang="en-US" dirty="0"/>
              <a:t>You are using </a:t>
            </a:r>
            <a:r>
              <a:rPr lang="en-US" b="1" dirty="0"/>
              <a:t>hold-out validation</a:t>
            </a:r>
            <a:r>
              <a:rPr lang="en-US" dirty="0"/>
              <a:t> instead of </a:t>
            </a:r>
            <a:r>
              <a:rPr lang="en-US" b="1" dirty="0"/>
              <a:t>cross-validation</a:t>
            </a:r>
            <a:r>
              <a:rPr lang="en-US" dirty="0"/>
              <a:t>.</a:t>
            </a:r>
          </a:p>
          <a:p>
            <a:pPr marL="0" indent="0">
              <a:buNone/>
            </a:pPr>
            <a:r>
              <a:rPr lang="en-US" b="1" dirty="0"/>
              <a:t>Don't use it when:</a:t>
            </a:r>
            <a:endParaRPr lang="en-US" dirty="0"/>
          </a:p>
          <a:p>
            <a:pPr lvl="1"/>
            <a:r>
              <a:rPr lang="en-US" dirty="0"/>
              <a:t>You're using </a:t>
            </a:r>
            <a:r>
              <a:rPr lang="en-US" b="1" dirty="0"/>
              <a:t>K-fold cross-validation</a:t>
            </a:r>
            <a:r>
              <a:rPr lang="en-US" dirty="0"/>
              <a:t> → Use a </a:t>
            </a:r>
            <a:r>
              <a:rPr lang="en-US" b="1" dirty="0"/>
              <a:t>K-fold CV paired t-test</a:t>
            </a:r>
            <a:r>
              <a:rPr lang="en-US" dirty="0"/>
              <a:t> instead.</a:t>
            </a:r>
          </a:p>
          <a:p>
            <a:pPr lvl="1"/>
            <a:r>
              <a:rPr lang="en-US" dirty="0"/>
              <a:t>You have </a:t>
            </a:r>
            <a:r>
              <a:rPr lang="en-US" b="1" dirty="0"/>
              <a:t>only one train-test split</a:t>
            </a:r>
            <a:r>
              <a:rPr lang="en-US" dirty="0"/>
              <a:t> → Not enough data for statistical testing.</a:t>
            </a:r>
          </a:p>
          <a:p>
            <a:endParaRPr lang="en-IN" dirty="0"/>
          </a:p>
        </p:txBody>
      </p:sp>
    </p:spTree>
    <p:extLst>
      <p:ext uri="{BB962C8B-B14F-4D97-AF65-F5344CB8AC3E}">
        <p14:creationId xmlns:p14="http://schemas.microsoft.com/office/powerpoint/2010/main" val="32532192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BAD52F-52F6-4492-8EA2-FFB928C785A2}"/>
              </a:ext>
            </a:extLst>
          </p:cNvPr>
          <p:cNvSpPr>
            <a:spLocks noGrp="1"/>
          </p:cNvSpPr>
          <p:nvPr>
            <p:ph idx="1"/>
          </p:nvPr>
        </p:nvSpPr>
        <p:spPr>
          <a:xfrm>
            <a:off x="838200" y="422031"/>
            <a:ext cx="10515600" cy="2208627"/>
          </a:xfrm>
        </p:spPr>
        <p:txBody>
          <a:bodyPr>
            <a:normAutofit fontScale="92500" lnSpcReduction="10000"/>
          </a:bodyPr>
          <a:lstStyle/>
          <a:p>
            <a:pPr marL="0" indent="0">
              <a:buNone/>
            </a:pPr>
            <a:r>
              <a:rPr lang="en-US" sz="3000" dirty="0">
                <a:solidFill>
                  <a:srgbClr val="FF0000"/>
                </a:solidFill>
              </a:rPr>
              <a:t>Exercise problem</a:t>
            </a:r>
          </a:p>
          <a:p>
            <a:r>
              <a:rPr lang="en-US" sz="2600" dirty="0"/>
              <a:t>Two machine learning classifiers are evaluated on the </a:t>
            </a:r>
            <a:r>
              <a:rPr lang="en-US" sz="2600" b="1" dirty="0"/>
              <a:t>same 6 datasets</a:t>
            </a:r>
            <a:r>
              <a:rPr lang="en-US" sz="2600" dirty="0"/>
              <a:t>.</a:t>
            </a:r>
          </a:p>
          <a:p>
            <a:pPr>
              <a:buFont typeface="Arial" panose="020B0604020202020204" pitchFamily="34" charset="0"/>
              <a:buChar char="•"/>
            </a:pPr>
            <a:r>
              <a:rPr lang="en-US" sz="2600" dirty="0"/>
              <a:t>Classifier A → Random Forest</a:t>
            </a:r>
          </a:p>
          <a:p>
            <a:pPr>
              <a:buFont typeface="Arial" panose="020B0604020202020204" pitchFamily="34" charset="0"/>
              <a:buChar char="•"/>
            </a:pPr>
            <a:r>
              <a:rPr lang="en-US" sz="2600" dirty="0"/>
              <a:t>Classifier B → Support Vector Machine (SVM)</a:t>
            </a:r>
          </a:p>
          <a:p>
            <a:r>
              <a:rPr lang="en-US" sz="2600" dirty="0"/>
              <a:t>The accuracy obtained on each dataset is given below.</a:t>
            </a:r>
          </a:p>
          <a:p>
            <a:pPr marL="0" indent="0">
              <a:buNone/>
            </a:pPr>
            <a:endParaRPr lang="en-IN" dirty="0"/>
          </a:p>
        </p:txBody>
      </p:sp>
      <p:graphicFrame>
        <p:nvGraphicFramePr>
          <p:cNvPr id="4" name="Table 3">
            <a:extLst>
              <a:ext uri="{FF2B5EF4-FFF2-40B4-BE49-F238E27FC236}">
                <a16:creationId xmlns:a16="http://schemas.microsoft.com/office/drawing/2014/main" id="{E032F892-E0AC-4993-A414-411E6294BBF1}"/>
              </a:ext>
            </a:extLst>
          </p:cNvPr>
          <p:cNvGraphicFramePr>
            <a:graphicFrameLocks noGrp="1"/>
          </p:cNvGraphicFramePr>
          <p:nvPr>
            <p:extLst>
              <p:ext uri="{D42A27DB-BD31-4B8C-83A1-F6EECF244321}">
                <p14:modId xmlns:p14="http://schemas.microsoft.com/office/powerpoint/2010/main" val="3580846635"/>
              </p:ext>
            </p:extLst>
          </p:nvPr>
        </p:nvGraphicFramePr>
        <p:xfrm>
          <a:off x="838201" y="2947183"/>
          <a:ext cx="6561405" cy="2560320"/>
        </p:xfrm>
        <a:graphic>
          <a:graphicData uri="http://schemas.openxmlformats.org/drawingml/2006/table">
            <a:tbl>
              <a:tblPr/>
              <a:tblGrid>
                <a:gridCol w="1864481">
                  <a:extLst>
                    <a:ext uri="{9D8B030D-6E8A-4147-A177-3AD203B41FA5}">
                      <a16:colId xmlns:a16="http://schemas.microsoft.com/office/drawing/2014/main" val="2371742696"/>
                    </a:ext>
                  </a:extLst>
                </a:gridCol>
                <a:gridCol w="2283807">
                  <a:extLst>
                    <a:ext uri="{9D8B030D-6E8A-4147-A177-3AD203B41FA5}">
                      <a16:colId xmlns:a16="http://schemas.microsoft.com/office/drawing/2014/main" val="3283264939"/>
                    </a:ext>
                  </a:extLst>
                </a:gridCol>
                <a:gridCol w="2413117">
                  <a:extLst>
                    <a:ext uri="{9D8B030D-6E8A-4147-A177-3AD203B41FA5}">
                      <a16:colId xmlns:a16="http://schemas.microsoft.com/office/drawing/2014/main" val="874931544"/>
                    </a:ext>
                  </a:extLst>
                </a:gridCol>
              </a:tblGrid>
              <a:tr h="0">
                <a:tc>
                  <a:txBody>
                    <a:bodyPr/>
                    <a:lstStyle/>
                    <a:p>
                      <a:r>
                        <a:rPr lang="en-IN" dirty="0"/>
                        <a:t>Dataset</a:t>
                      </a:r>
                    </a:p>
                  </a:txBody>
                  <a:tcPr anchor="ctr">
                    <a:lnL>
                      <a:noFill/>
                    </a:lnL>
                    <a:lnR>
                      <a:noFill/>
                    </a:lnR>
                    <a:lnT>
                      <a:noFill/>
                    </a:lnT>
                    <a:lnB>
                      <a:noFill/>
                    </a:lnB>
                  </a:tcPr>
                </a:tc>
                <a:tc>
                  <a:txBody>
                    <a:bodyPr/>
                    <a:lstStyle/>
                    <a:p>
                      <a:r>
                        <a:rPr lang="en-IN"/>
                        <a:t>Classifier A</a:t>
                      </a:r>
                    </a:p>
                  </a:txBody>
                  <a:tcPr anchor="ctr">
                    <a:lnL>
                      <a:noFill/>
                    </a:lnL>
                    <a:lnR>
                      <a:noFill/>
                    </a:lnR>
                    <a:lnT>
                      <a:noFill/>
                    </a:lnT>
                    <a:lnB>
                      <a:noFill/>
                    </a:lnB>
                  </a:tcPr>
                </a:tc>
                <a:tc>
                  <a:txBody>
                    <a:bodyPr/>
                    <a:lstStyle/>
                    <a:p>
                      <a:r>
                        <a:rPr lang="en-IN"/>
                        <a:t>Classifier B</a:t>
                      </a:r>
                    </a:p>
                  </a:txBody>
                  <a:tcPr anchor="ctr">
                    <a:lnL>
                      <a:noFill/>
                    </a:lnL>
                    <a:lnR>
                      <a:noFill/>
                    </a:lnR>
                    <a:lnT>
                      <a:noFill/>
                    </a:lnT>
                    <a:lnB>
                      <a:noFill/>
                    </a:lnB>
                  </a:tcPr>
                </a:tc>
                <a:extLst>
                  <a:ext uri="{0D108BD9-81ED-4DB2-BD59-A6C34878D82A}">
                    <a16:rowId xmlns:a16="http://schemas.microsoft.com/office/drawing/2014/main" val="1215730941"/>
                  </a:ext>
                </a:extLst>
              </a:tr>
              <a:tr h="0">
                <a:tc>
                  <a:txBody>
                    <a:bodyPr/>
                    <a:lstStyle/>
                    <a:p>
                      <a:r>
                        <a:rPr lang="en-IN" dirty="0"/>
                        <a:t>D1</a:t>
                      </a:r>
                    </a:p>
                  </a:txBody>
                  <a:tcPr anchor="ctr">
                    <a:lnL>
                      <a:noFill/>
                    </a:lnL>
                    <a:lnR>
                      <a:noFill/>
                    </a:lnR>
                    <a:lnT>
                      <a:noFill/>
                    </a:lnT>
                    <a:lnB>
                      <a:noFill/>
                    </a:lnB>
                  </a:tcPr>
                </a:tc>
                <a:tc>
                  <a:txBody>
                    <a:bodyPr/>
                    <a:lstStyle/>
                    <a:p>
                      <a:r>
                        <a:rPr lang="en-IN"/>
                        <a:t>0.88</a:t>
                      </a:r>
                    </a:p>
                  </a:txBody>
                  <a:tcPr anchor="ctr">
                    <a:lnL>
                      <a:noFill/>
                    </a:lnL>
                    <a:lnR>
                      <a:noFill/>
                    </a:lnR>
                    <a:lnT>
                      <a:noFill/>
                    </a:lnT>
                    <a:lnB>
                      <a:noFill/>
                    </a:lnB>
                  </a:tcPr>
                </a:tc>
                <a:tc>
                  <a:txBody>
                    <a:bodyPr/>
                    <a:lstStyle/>
                    <a:p>
                      <a:r>
                        <a:rPr lang="en-IN"/>
                        <a:t>0.84</a:t>
                      </a:r>
                    </a:p>
                  </a:txBody>
                  <a:tcPr anchor="ctr">
                    <a:lnL>
                      <a:noFill/>
                    </a:lnL>
                    <a:lnR>
                      <a:noFill/>
                    </a:lnR>
                    <a:lnT>
                      <a:noFill/>
                    </a:lnT>
                    <a:lnB>
                      <a:noFill/>
                    </a:lnB>
                  </a:tcPr>
                </a:tc>
                <a:extLst>
                  <a:ext uri="{0D108BD9-81ED-4DB2-BD59-A6C34878D82A}">
                    <a16:rowId xmlns:a16="http://schemas.microsoft.com/office/drawing/2014/main" val="1877901815"/>
                  </a:ext>
                </a:extLst>
              </a:tr>
              <a:tr h="0">
                <a:tc>
                  <a:txBody>
                    <a:bodyPr/>
                    <a:lstStyle/>
                    <a:p>
                      <a:r>
                        <a:rPr lang="en-IN" dirty="0"/>
                        <a:t>D2</a:t>
                      </a:r>
                    </a:p>
                  </a:txBody>
                  <a:tcPr anchor="ctr">
                    <a:lnL>
                      <a:noFill/>
                    </a:lnL>
                    <a:lnR>
                      <a:noFill/>
                    </a:lnR>
                    <a:lnT>
                      <a:noFill/>
                    </a:lnT>
                    <a:lnB>
                      <a:noFill/>
                    </a:lnB>
                  </a:tcPr>
                </a:tc>
                <a:tc>
                  <a:txBody>
                    <a:bodyPr/>
                    <a:lstStyle/>
                    <a:p>
                      <a:r>
                        <a:rPr lang="en-IN" dirty="0"/>
                        <a:t>0.90</a:t>
                      </a:r>
                    </a:p>
                  </a:txBody>
                  <a:tcPr anchor="ctr">
                    <a:lnL>
                      <a:noFill/>
                    </a:lnL>
                    <a:lnR>
                      <a:noFill/>
                    </a:lnR>
                    <a:lnT>
                      <a:noFill/>
                    </a:lnT>
                    <a:lnB>
                      <a:noFill/>
                    </a:lnB>
                  </a:tcPr>
                </a:tc>
                <a:tc>
                  <a:txBody>
                    <a:bodyPr/>
                    <a:lstStyle/>
                    <a:p>
                      <a:r>
                        <a:rPr lang="en-IN"/>
                        <a:t>0.86</a:t>
                      </a:r>
                    </a:p>
                  </a:txBody>
                  <a:tcPr anchor="ctr">
                    <a:lnL>
                      <a:noFill/>
                    </a:lnL>
                    <a:lnR>
                      <a:noFill/>
                    </a:lnR>
                    <a:lnT>
                      <a:noFill/>
                    </a:lnT>
                    <a:lnB>
                      <a:noFill/>
                    </a:lnB>
                  </a:tcPr>
                </a:tc>
                <a:extLst>
                  <a:ext uri="{0D108BD9-81ED-4DB2-BD59-A6C34878D82A}">
                    <a16:rowId xmlns:a16="http://schemas.microsoft.com/office/drawing/2014/main" val="904367855"/>
                  </a:ext>
                </a:extLst>
              </a:tr>
              <a:tr h="0">
                <a:tc>
                  <a:txBody>
                    <a:bodyPr/>
                    <a:lstStyle/>
                    <a:p>
                      <a:r>
                        <a:rPr lang="en-IN"/>
                        <a:t>D3</a:t>
                      </a:r>
                    </a:p>
                  </a:txBody>
                  <a:tcPr anchor="ctr">
                    <a:lnL>
                      <a:noFill/>
                    </a:lnL>
                    <a:lnR>
                      <a:noFill/>
                    </a:lnR>
                    <a:lnT>
                      <a:noFill/>
                    </a:lnT>
                    <a:lnB>
                      <a:noFill/>
                    </a:lnB>
                  </a:tcPr>
                </a:tc>
                <a:tc>
                  <a:txBody>
                    <a:bodyPr/>
                    <a:lstStyle/>
                    <a:p>
                      <a:r>
                        <a:rPr lang="en-IN"/>
                        <a:t>0.87</a:t>
                      </a:r>
                    </a:p>
                  </a:txBody>
                  <a:tcPr anchor="ctr">
                    <a:lnL>
                      <a:noFill/>
                    </a:lnL>
                    <a:lnR>
                      <a:noFill/>
                    </a:lnR>
                    <a:lnT>
                      <a:noFill/>
                    </a:lnT>
                    <a:lnB>
                      <a:noFill/>
                    </a:lnB>
                  </a:tcPr>
                </a:tc>
                <a:tc>
                  <a:txBody>
                    <a:bodyPr/>
                    <a:lstStyle/>
                    <a:p>
                      <a:r>
                        <a:rPr lang="en-IN" dirty="0"/>
                        <a:t>0.85</a:t>
                      </a:r>
                    </a:p>
                  </a:txBody>
                  <a:tcPr anchor="ctr">
                    <a:lnL>
                      <a:noFill/>
                    </a:lnL>
                    <a:lnR>
                      <a:noFill/>
                    </a:lnR>
                    <a:lnT>
                      <a:noFill/>
                    </a:lnT>
                    <a:lnB>
                      <a:noFill/>
                    </a:lnB>
                  </a:tcPr>
                </a:tc>
                <a:extLst>
                  <a:ext uri="{0D108BD9-81ED-4DB2-BD59-A6C34878D82A}">
                    <a16:rowId xmlns:a16="http://schemas.microsoft.com/office/drawing/2014/main" val="1302064676"/>
                  </a:ext>
                </a:extLst>
              </a:tr>
              <a:tr h="0">
                <a:tc>
                  <a:txBody>
                    <a:bodyPr/>
                    <a:lstStyle/>
                    <a:p>
                      <a:r>
                        <a:rPr lang="en-IN"/>
                        <a:t>D4</a:t>
                      </a:r>
                    </a:p>
                  </a:txBody>
                  <a:tcPr anchor="ctr">
                    <a:lnL>
                      <a:noFill/>
                    </a:lnL>
                    <a:lnR>
                      <a:noFill/>
                    </a:lnR>
                    <a:lnT>
                      <a:noFill/>
                    </a:lnT>
                    <a:lnB>
                      <a:noFill/>
                    </a:lnB>
                  </a:tcPr>
                </a:tc>
                <a:tc>
                  <a:txBody>
                    <a:bodyPr/>
                    <a:lstStyle/>
                    <a:p>
                      <a:r>
                        <a:rPr lang="en-IN"/>
                        <a:t>0.91</a:t>
                      </a:r>
                    </a:p>
                  </a:txBody>
                  <a:tcPr anchor="ctr">
                    <a:lnL>
                      <a:noFill/>
                    </a:lnL>
                    <a:lnR>
                      <a:noFill/>
                    </a:lnR>
                    <a:lnT>
                      <a:noFill/>
                    </a:lnT>
                    <a:lnB>
                      <a:noFill/>
                    </a:lnB>
                  </a:tcPr>
                </a:tc>
                <a:tc>
                  <a:txBody>
                    <a:bodyPr/>
                    <a:lstStyle/>
                    <a:p>
                      <a:r>
                        <a:rPr lang="en-IN" dirty="0"/>
                        <a:t>0.88</a:t>
                      </a:r>
                    </a:p>
                  </a:txBody>
                  <a:tcPr anchor="ctr">
                    <a:lnL>
                      <a:noFill/>
                    </a:lnL>
                    <a:lnR>
                      <a:noFill/>
                    </a:lnR>
                    <a:lnT>
                      <a:noFill/>
                    </a:lnT>
                    <a:lnB>
                      <a:noFill/>
                    </a:lnB>
                  </a:tcPr>
                </a:tc>
                <a:extLst>
                  <a:ext uri="{0D108BD9-81ED-4DB2-BD59-A6C34878D82A}">
                    <a16:rowId xmlns:a16="http://schemas.microsoft.com/office/drawing/2014/main" val="2447083132"/>
                  </a:ext>
                </a:extLst>
              </a:tr>
              <a:tr h="0">
                <a:tc>
                  <a:txBody>
                    <a:bodyPr/>
                    <a:lstStyle/>
                    <a:p>
                      <a:r>
                        <a:rPr lang="en-IN"/>
                        <a:t>D5</a:t>
                      </a:r>
                    </a:p>
                  </a:txBody>
                  <a:tcPr anchor="ctr">
                    <a:lnL>
                      <a:noFill/>
                    </a:lnL>
                    <a:lnR>
                      <a:noFill/>
                    </a:lnR>
                    <a:lnT>
                      <a:noFill/>
                    </a:lnT>
                    <a:lnB>
                      <a:noFill/>
                    </a:lnB>
                  </a:tcPr>
                </a:tc>
                <a:tc>
                  <a:txBody>
                    <a:bodyPr/>
                    <a:lstStyle/>
                    <a:p>
                      <a:r>
                        <a:rPr lang="en-IN"/>
                        <a:t>0.89</a:t>
                      </a:r>
                    </a:p>
                  </a:txBody>
                  <a:tcPr anchor="ctr">
                    <a:lnL>
                      <a:noFill/>
                    </a:lnL>
                    <a:lnR>
                      <a:noFill/>
                    </a:lnR>
                    <a:lnT>
                      <a:noFill/>
                    </a:lnT>
                    <a:lnB>
                      <a:noFill/>
                    </a:lnB>
                  </a:tcPr>
                </a:tc>
                <a:tc>
                  <a:txBody>
                    <a:bodyPr/>
                    <a:lstStyle/>
                    <a:p>
                      <a:r>
                        <a:rPr lang="en-IN" dirty="0"/>
                        <a:t>0.87</a:t>
                      </a:r>
                    </a:p>
                  </a:txBody>
                  <a:tcPr anchor="ctr">
                    <a:lnL>
                      <a:noFill/>
                    </a:lnL>
                    <a:lnR>
                      <a:noFill/>
                    </a:lnR>
                    <a:lnT>
                      <a:noFill/>
                    </a:lnT>
                    <a:lnB>
                      <a:noFill/>
                    </a:lnB>
                  </a:tcPr>
                </a:tc>
                <a:extLst>
                  <a:ext uri="{0D108BD9-81ED-4DB2-BD59-A6C34878D82A}">
                    <a16:rowId xmlns:a16="http://schemas.microsoft.com/office/drawing/2014/main" val="3597036211"/>
                  </a:ext>
                </a:extLst>
              </a:tr>
              <a:tr h="0">
                <a:tc>
                  <a:txBody>
                    <a:bodyPr/>
                    <a:lstStyle/>
                    <a:p>
                      <a:r>
                        <a:rPr lang="en-IN"/>
                        <a:t>D6</a:t>
                      </a:r>
                    </a:p>
                  </a:txBody>
                  <a:tcPr anchor="ctr">
                    <a:lnL>
                      <a:noFill/>
                    </a:lnL>
                    <a:lnR>
                      <a:noFill/>
                    </a:lnR>
                    <a:lnT>
                      <a:noFill/>
                    </a:lnT>
                    <a:lnB>
                      <a:noFill/>
                    </a:lnB>
                  </a:tcPr>
                </a:tc>
                <a:tc>
                  <a:txBody>
                    <a:bodyPr/>
                    <a:lstStyle/>
                    <a:p>
                      <a:r>
                        <a:rPr lang="en-IN"/>
                        <a:t>0.92</a:t>
                      </a:r>
                    </a:p>
                  </a:txBody>
                  <a:tcPr anchor="ctr">
                    <a:lnL>
                      <a:noFill/>
                    </a:lnL>
                    <a:lnR>
                      <a:noFill/>
                    </a:lnR>
                    <a:lnT>
                      <a:noFill/>
                    </a:lnT>
                    <a:lnB>
                      <a:noFill/>
                    </a:lnB>
                  </a:tcPr>
                </a:tc>
                <a:tc>
                  <a:txBody>
                    <a:bodyPr/>
                    <a:lstStyle/>
                    <a:p>
                      <a:r>
                        <a:rPr lang="en-IN" dirty="0"/>
                        <a:t>0.90</a:t>
                      </a:r>
                    </a:p>
                  </a:txBody>
                  <a:tcPr anchor="ctr">
                    <a:lnL>
                      <a:noFill/>
                    </a:lnL>
                    <a:lnR>
                      <a:noFill/>
                    </a:lnR>
                    <a:lnT>
                      <a:noFill/>
                    </a:lnT>
                    <a:lnB>
                      <a:noFill/>
                    </a:lnB>
                  </a:tcPr>
                </a:tc>
                <a:extLst>
                  <a:ext uri="{0D108BD9-81ED-4DB2-BD59-A6C34878D82A}">
                    <a16:rowId xmlns:a16="http://schemas.microsoft.com/office/drawing/2014/main" val="2744333852"/>
                  </a:ext>
                </a:extLst>
              </a:tr>
            </a:tbl>
          </a:graphicData>
        </a:graphic>
      </p:graphicFrame>
    </p:spTree>
    <p:extLst>
      <p:ext uri="{BB962C8B-B14F-4D97-AF65-F5344CB8AC3E}">
        <p14:creationId xmlns:p14="http://schemas.microsoft.com/office/powerpoint/2010/main" val="39648029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A7790-D918-4774-82FB-047991E5C80D}"/>
              </a:ext>
            </a:extLst>
          </p:cNvPr>
          <p:cNvSpPr>
            <a:spLocks noGrp="1"/>
          </p:cNvSpPr>
          <p:nvPr>
            <p:ph type="title"/>
          </p:nvPr>
        </p:nvSpPr>
        <p:spPr/>
        <p:txBody>
          <a:bodyPr/>
          <a:lstStyle/>
          <a:p>
            <a:r>
              <a:rPr lang="en-US" dirty="0">
                <a:solidFill>
                  <a:srgbClr val="FF0000"/>
                </a:solidFill>
              </a:rPr>
              <a:t>Answer</a:t>
            </a:r>
            <a:endParaRPr lang="en-IN" dirty="0">
              <a:solidFill>
                <a:srgbClr val="FF0000"/>
              </a:solidFill>
            </a:endParaRPr>
          </a:p>
        </p:txBody>
      </p:sp>
      <p:sp>
        <p:nvSpPr>
          <p:cNvPr id="3" name="Content Placeholder 2">
            <a:extLst>
              <a:ext uri="{FF2B5EF4-FFF2-40B4-BE49-F238E27FC236}">
                <a16:creationId xmlns:a16="http://schemas.microsoft.com/office/drawing/2014/main" id="{28A8C8DE-9E73-4093-8D8A-C68A48F8C8EB}"/>
              </a:ext>
            </a:extLst>
          </p:cNvPr>
          <p:cNvSpPr>
            <a:spLocks noGrp="1"/>
          </p:cNvSpPr>
          <p:nvPr>
            <p:ph idx="1"/>
          </p:nvPr>
        </p:nvSpPr>
        <p:spPr/>
        <p:txBody>
          <a:bodyPr/>
          <a:lstStyle/>
          <a:p>
            <a:r>
              <a:rPr lang="en-IN" dirty="0"/>
              <a:t>t=7.08&gt;2.571</a:t>
            </a:r>
          </a:p>
          <a:p>
            <a:r>
              <a:rPr lang="en-IN" dirty="0"/>
              <a:t>Reject the null hypothesis</a:t>
            </a:r>
          </a:p>
          <a:p>
            <a:r>
              <a:rPr lang="en-US" dirty="0"/>
              <a:t>There is </a:t>
            </a:r>
            <a:r>
              <a:rPr lang="en-US" b="1" dirty="0"/>
              <a:t>significant evidence that Classifier A performs better than Classifier B</a:t>
            </a:r>
            <a:r>
              <a:rPr lang="en-US" dirty="0"/>
              <a:t>.</a:t>
            </a:r>
            <a:endParaRPr lang="en-IN" dirty="0"/>
          </a:p>
        </p:txBody>
      </p:sp>
    </p:spTree>
    <p:extLst>
      <p:ext uri="{BB962C8B-B14F-4D97-AF65-F5344CB8AC3E}">
        <p14:creationId xmlns:p14="http://schemas.microsoft.com/office/powerpoint/2010/main" val="24476220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Comparing Two Classification Algorithms Using K-Fold Cross-Validation (K-Fold CV) Paired t-Test</a:t>
            </a:r>
            <a:endParaRPr lang="en-IN" dirty="0">
              <a:solidFill>
                <a:srgbClr val="FF0000"/>
              </a:solidFill>
            </a:endParaRPr>
          </a:p>
        </p:txBody>
      </p:sp>
      <p:sp>
        <p:nvSpPr>
          <p:cNvPr id="3" name="Content Placeholder 2"/>
          <p:cNvSpPr>
            <a:spLocks noGrp="1"/>
          </p:cNvSpPr>
          <p:nvPr>
            <p:ph idx="1"/>
          </p:nvPr>
        </p:nvSpPr>
        <p:spPr>
          <a:xfrm>
            <a:off x="838200" y="2129051"/>
            <a:ext cx="10515600" cy="4047912"/>
          </a:xfrm>
        </p:spPr>
        <p:txBody>
          <a:bodyPr/>
          <a:lstStyle/>
          <a:p>
            <a:r>
              <a:rPr lang="en-US" dirty="0"/>
              <a:t>When comparing two classification models, </a:t>
            </a:r>
            <a:r>
              <a:rPr lang="en-US" b="1" dirty="0"/>
              <a:t>K-Fold Cross-Validation (CV) paired t-test</a:t>
            </a:r>
            <a:r>
              <a:rPr lang="en-US" dirty="0"/>
              <a:t> is a robust statistical method.</a:t>
            </a:r>
          </a:p>
          <a:p>
            <a:r>
              <a:rPr lang="en-US" dirty="0"/>
              <a:t> It reduces variance by evaluating both models on the </a:t>
            </a:r>
            <a:r>
              <a:rPr lang="en-US" b="1" dirty="0"/>
              <a:t>same K-fold splits</a:t>
            </a:r>
            <a:r>
              <a:rPr lang="en-US" dirty="0"/>
              <a:t>, making the comparison more reliable than a single train-test split.</a:t>
            </a:r>
            <a:endParaRPr lang="en-IN" dirty="0"/>
          </a:p>
        </p:txBody>
      </p:sp>
    </p:spTree>
    <p:extLst>
      <p:ext uri="{BB962C8B-B14F-4D97-AF65-F5344CB8AC3E}">
        <p14:creationId xmlns:p14="http://schemas.microsoft.com/office/powerpoint/2010/main" val="30529445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K-Fold CV Paired t-Test</a:t>
            </a:r>
          </a:p>
        </p:txBody>
      </p:sp>
      <p:sp>
        <p:nvSpPr>
          <p:cNvPr id="3" name="Content Placeholder 2"/>
          <p:cNvSpPr>
            <a:spLocks noGrp="1"/>
          </p:cNvSpPr>
          <p:nvPr>
            <p:ph idx="1"/>
          </p:nvPr>
        </p:nvSpPr>
        <p:spPr>
          <a:xfrm>
            <a:off x="838200" y="1825625"/>
            <a:ext cx="10515600" cy="1709145"/>
          </a:xfrm>
        </p:spPr>
        <p:txBody>
          <a:bodyPr>
            <a:normAutofit lnSpcReduction="10000"/>
          </a:bodyPr>
          <a:lstStyle/>
          <a:p>
            <a:r>
              <a:rPr lang="en-US" dirty="0"/>
              <a:t>A </a:t>
            </a:r>
            <a:r>
              <a:rPr lang="en-US" b="1" dirty="0"/>
              <a:t>paired t-test</a:t>
            </a:r>
            <a:r>
              <a:rPr lang="en-US" dirty="0"/>
              <a:t> checks whether the difference in performance between two models is statistically significant. </a:t>
            </a:r>
          </a:p>
          <a:p>
            <a:r>
              <a:rPr lang="en-US" dirty="0"/>
              <a:t>In </a:t>
            </a:r>
            <a:r>
              <a:rPr lang="en-US" b="1" dirty="0"/>
              <a:t>K-Fold CV paired t-test</a:t>
            </a:r>
            <a:r>
              <a:rPr lang="en-US" dirty="0"/>
              <a:t>, both models are evaluated on </a:t>
            </a:r>
            <a:r>
              <a:rPr lang="en-US" b="1" dirty="0"/>
              <a:t>K different folds</a:t>
            </a:r>
            <a:r>
              <a:rPr lang="en-US" dirty="0"/>
              <a:t>, and a paired t-test is applied to the K-fold results.</a:t>
            </a:r>
            <a:endParaRPr lang="en-IN" dirty="0"/>
          </a:p>
        </p:txBody>
      </p:sp>
      <p:pic>
        <p:nvPicPr>
          <p:cNvPr id="4" name="Picture 3"/>
          <p:cNvPicPr>
            <a:picLocks noChangeAspect="1"/>
          </p:cNvPicPr>
          <p:nvPr/>
        </p:nvPicPr>
        <p:blipFill>
          <a:blip r:embed="rId2"/>
          <a:stretch>
            <a:fillRect/>
          </a:stretch>
        </p:blipFill>
        <p:spPr>
          <a:xfrm>
            <a:off x="3102306" y="3669707"/>
            <a:ext cx="5984141" cy="2922162"/>
          </a:xfrm>
          <a:prstGeom prst="rect">
            <a:avLst/>
          </a:prstGeom>
        </p:spPr>
      </p:pic>
    </p:spTree>
    <p:extLst>
      <p:ext uri="{BB962C8B-B14F-4D97-AF65-F5344CB8AC3E}">
        <p14:creationId xmlns:p14="http://schemas.microsoft.com/office/powerpoint/2010/main" val="270823802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787857" y="303871"/>
            <a:ext cx="8011236" cy="5811354"/>
          </a:xfrm>
          <a:prstGeom prst="rect">
            <a:avLst/>
          </a:prstGeom>
        </p:spPr>
      </p:pic>
    </p:spTree>
    <p:extLst>
      <p:ext uri="{BB962C8B-B14F-4D97-AF65-F5344CB8AC3E}">
        <p14:creationId xmlns:p14="http://schemas.microsoft.com/office/powerpoint/2010/main" val="418753409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77754" y="103328"/>
            <a:ext cx="9726305" cy="369332"/>
          </a:xfrm>
          <a:prstGeom prst="rect">
            <a:avLst/>
          </a:prstGeom>
        </p:spPr>
        <p:txBody>
          <a:bodyPr wrap="square">
            <a:spAutoFit/>
          </a:bodyPr>
          <a:lstStyle/>
          <a:p>
            <a:r>
              <a:rPr lang="en-US" dirty="0"/>
              <a:t>Let's compare </a:t>
            </a:r>
            <a:r>
              <a:rPr lang="en-US" b="1" dirty="0"/>
              <a:t>Random Forest (Model A)</a:t>
            </a:r>
            <a:r>
              <a:rPr lang="en-US" dirty="0"/>
              <a:t> and </a:t>
            </a:r>
            <a:r>
              <a:rPr lang="en-US" b="1" dirty="0"/>
              <a:t>SVM (Model B)</a:t>
            </a:r>
            <a:r>
              <a:rPr lang="en-US" dirty="0"/>
              <a:t> using </a:t>
            </a:r>
            <a:r>
              <a:rPr lang="en-US" b="1" dirty="0"/>
              <a:t>10-fold cross-validation</a:t>
            </a:r>
            <a:r>
              <a:rPr lang="en-US" dirty="0"/>
              <a:t>.</a:t>
            </a:r>
            <a:endParaRPr lang="en-IN" dirty="0"/>
          </a:p>
        </p:txBody>
      </p:sp>
      <p:pic>
        <p:nvPicPr>
          <p:cNvPr id="5" name="Picture 4"/>
          <p:cNvPicPr>
            <a:picLocks noChangeAspect="1"/>
          </p:cNvPicPr>
          <p:nvPr/>
        </p:nvPicPr>
        <p:blipFill>
          <a:blip r:embed="rId2"/>
          <a:stretch>
            <a:fillRect/>
          </a:stretch>
        </p:blipFill>
        <p:spPr>
          <a:xfrm>
            <a:off x="955344" y="827505"/>
            <a:ext cx="7983143" cy="5095623"/>
          </a:xfrm>
          <a:prstGeom prst="rect">
            <a:avLst/>
          </a:prstGeom>
        </p:spPr>
      </p:pic>
    </p:spTree>
    <p:extLst>
      <p:ext uri="{BB962C8B-B14F-4D97-AF65-F5344CB8AC3E}">
        <p14:creationId xmlns:p14="http://schemas.microsoft.com/office/powerpoint/2010/main" val="12482924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01254" y="515067"/>
            <a:ext cx="8807295" cy="5585481"/>
          </a:xfrm>
          <a:prstGeom prst="rect">
            <a:avLst/>
          </a:prstGeom>
        </p:spPr>
      </p:pic>
    </p:spTree>
    <p:extLst>
      <p:ext uri="{BB962C8B-B14F-4D97-AF65-F5344CB8AC3E}">
        <p14:creationId xmlns:p14="http://schemas.microsoft.com/office/powerpoint/2010/main" val="199942597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47383" y="338019"/>
            <a:ext cx="10515600" cy="3456059"/>
          </a:xfrm>
        </p:spPr>
        <p:txBody>
          <a:bodyPr/>
          <a:lstStyle/>
          <a:p>
            <a:pPr marL="0" indent="0">
              <a:buNone/>
            </a:pPr>
            <a:r>
              <a:rPr lang="en-US" b="1" dirty="0"/>
              <a:t>Step 4: Determine the p-Value</a:t>
            </a:r>
          </a:p>
          <a:p>
            <a:r>
              <a:rPr lang="en-US" dirty="0"/>
              <a:t>For </a:t>
            </a:r>
            <a:r>
              <a:rPr lang="en-US" b="1" dirty="0" err="1"/>
              <a:t>df</a:t>
            </a:r>
            <a:r>
              <a:rPr lang="en-US" b="1" dirty="0"/>
              <a:t> = 10 - 1 = 9</a:t>
            </a:r>
            <a:r>
              <a:rPr lang="en-US" dirty="0"/>
              <a:t> at a </a:t>
            </a:r>
            <a:r>
              <a:rPr lang="en-US" b="1" dirty="0"/>
              <a:t>95% confidence level</a:t>
            </a:r>
            <a:r>
              <a:rPr lang="en-US" dirty="0"/>
              <a:t>, the critical t-value for a </a:t>
            </a:r>
            <a:r>
              <a:rPr lang="en-US" b="1" dirty="0"/>
              <a:t>two-tailed test</a:t>
            </a:r>
            <a:r>
              <a:rPr lang="en-US" dirty="0"/>
              <a:t> is </a:t>
            </a:r>
            <a:r>
              <a:rPr lang="en-US" b="1" dirty="0"/>
              <a:t>2.262</a:t>
            </a:r>
            <a:r>
              <a:rPr lang="en-US" dirty="0"/>
              <a:t>.</a:t>
            </a:r>
          </a:p>
          <a:p>
            <a:r>
              <a:rPr lang="en-US" b="1" dirty="0"/>
              <a:t>If |t| ≥ 2.262</a:t>
            </a:r>
            <a:r>
              <a:rPr lang="en-US" dirty="0"/>
              <a:t>, reject H</a:t>
            </a:r>
            <a:r>
              <a:rPr lang="en-US" baseline="-25000" dirty="0"/>
              <a:t>0</a:t>
            </a:r>
            <a:r>
              <a:rPr lang="en-US" dirty="0"/>
              <a:t>​ (significant difference).</a:t>
            </a:r>
          </a:p>
          <a:p>
            <a:r>
              <a:rPr lang="en-US" b="1" dirty="0"/>
              <a:t>If |t| &lt; 2.262</a:t>
            </a:r>
            <a:r>
              <a:rPr lang="en-US" dirty="0"/>
              <a:t>, fail to reject H</a:t>
            </a:r>
            <a:r>
              <a:rPr lang="en-US" baseline="-25000" dirty="0"/>
              <a:t>0​ </a:t>
            </a:r>
            <a:r>
              <a:rPr lang="en-US" dirty="0"/>
              <a:t>(no significant difference).</a:t>
            </a:r>
          </a:p>
          <a:p>
            <a:r>
              <a:rPr lang="en-US" dirty="0"/>
              <a:t>Since </a:t>
            </a:r>
            <a:r>
              <a:rPr lang="en-US" b="1" dirty="0"/>
              <a:t>4.83 &gt; 2.262</a:t>
            </a:r>
            <a:r>
              <a:rPr lang="en-US" dirty="0"/>
              <a:t>, we </a:t>
            </a:r>
            <a:r>
              <a:rPr lang="en-US" b="1" dirty="0"/>
              <a:t>reject the null hypothesis</a:t>
            </a:r>
            <a:r>
              <a:rPr lang="en-US" dirty="0"/>
              <a:t>, meaning </a:t>
            </a:r>
            <a:r>
              <a:rPr lang="en-US" b="1" dirty="0"/>
              <a:t>Model A (Random Forest) significantly outperforms Model B (SVM)</a:t>
            </a:r>
            <a:r>
              <a:rPr lang="en-US" dirty="0"/>
              <a:t>.</a:t>
            </a:r>
          </a:p>
          <a:p>
            <a:endParaRPr lang="en-IN" dirty="0"/>
          </a:p>
        </p:txBody>
      </p:sp>
    </p:spTree>
    <p:extLst>
      <p:ext uri="{BB962C8B-B14F-4D97-AF65-F5344CB8AC3E}">
        <p14:creationId xmlns:p14="http://schemas.microsoft.com/office/powerpoint/2010/main" val="211314924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1848" y="993112"/>
            <a:ext cx="10515600" cy="4351338"/>
          </a:xfrm>
        </p:spPr>
        <p:txBody>
          <a:bodyPr/>
          <a:lstStyle/>
          <a:p>
            <a:pPr marL="0" indent="0">
              <a:buNone/>
            </a:pPr>
            <a:r>
              <a:rPr lang="en-US" b="1" dirty="0"/>
              <a:t>When to Use This Method</a:t>
            </a:r>
          </a:p>
          <a:p>
            <a:r>
              <a:rPr lang="en-US" b="1" dirty="0"/>
              <a:t>Use K-Fold CV paired t-test when:</a:t>
            </a:r>
            <a:endParaRPr lang="en-US" dirty="0"/>
          </a:p>
          <a:p>
            <a:pPr lvl="1"/>
            <a:r>
              <a:rPr lang="en-US" sz="2800" dirty="0"/>
              <a:t>You use </a:t>
            </a:r>
            <a:r>
              <a:rPr lang="en-US" sz="2800" b="1" dirty="0"/>
              <a:t>K-fold cross-validation</a:t>
            </a:r>
            <a:r>
              <a:rPr lang="en-US" sz="2800" dirty="0"/>
              <a:t>.</a:t>
            </a:r>
          </a:p>
          <a:p>
            <a:pPr lvl="1"/>
            <a:r>
              <a:rPr lang="en-US" sz="2800" dirty="0"/>
              <a:t>You want a </a:t>
            </a:r>
            <a:r>
              <a:rPr lang="en-US" sz="2800" b="1" dirty="0"/>
              <a:t>more stable comparison</a:t>
            </a:r>
            <a:r>
              <a:rPr lang="en-US" sz="2800" dirty="0"/>
              <a:t> (reduces variance).</a:t>
            </a:r>
          </a:p>
          <a:p>
            <a:pPr lvl="1"/>
            <a:r>
              <a:rPr lang="en-US" sz="2800" dirty="0"/>
              <a:t>You have a </a:t>
            </a:r>
            <a:r>
              <a:rPr lang="en-US" sz="2800" b="1" dirty="0"/>
              <a:t>small dataset</a:t>
            </a:r>
            <a:r>
              <a:rPr lang="en-US" sz="2800" dirty="0"/>
              <a:t>.</a:t>
            </a:r>
          </a:p>
          <a:p>
            <a:r>
              <a:rPr lang="en-US" sz="3200" b="1" dirty="0"/>
              <a:t>Don't use it when:</a:t>
            </a:r>
            <a:endParaRPr lang="en-US" sz="3200" dirty="0"/>
          </a:p>
          <a:p>
            <a:pPr lvl="1"/>
            <a:r>
              <a:rPr lang="en-US" sz="2800" dirty="0"/>
              <a:t>You only have </a:t>
            </a:r>
            <a:r>
              <a:rPr lang="en-US" sz="2800" b="1" dirty="0"/>
              <a:t>one train-test split</a:t>
            </a:r>
            <a:r>
              <a:rPr lang="en-US" sz="2800" dirty="0"/>
              <a:t> → Use a </a:t>
            </a:r>
            <a:r>
              <a:rPr lang="en-US" sz="2800" b="1" dirty="0"/>
              <a:t>paired t-test</a:t>
            </a:r>
            <a:r>
              <a:rPr lang="en-US" sz="2800" dirty="0"/>
              <a:t> instead.</a:t>
            </a:r>
          </a:p>
          <a:p>
            <a:endParaRPr lang="en-IN" dirty="0"/>
          </a:p>
        </p:txBody>
      </p:sp>
    </p:spTree>
    <p:extLst>
      <p:ext uri="{BB962C8B-B14F-4D97-AF65-F5344CB8AC3E}">
        <p14:creationId xmlns:p14="http://schemas.microsoft.com/office/powerpoint/2010/main" val="281631041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Key Takeaways</a:t>
            </a:r>
            <a:br>
              <a:rPr lang="en-US" b="1" dirty="0"/>
            </a:br>
            <a:endParaRPr lang="en-IN" dirty="0"/>
          </a:p>
        </p:txBody>
      </p:sp>
      <p:sp>
        <p:nvSpPr>
          <p:cNvPr id="3" name="Content Placeholder 2"/>
          <p:cNvSpPr>
            <a:spLocks noGrp="1"/>
          </p:cNvSpPr>
          <p:nvPr>
            <p:ph idx="1"/>
          </p:nvPr>
        </p:nvSpPr>
        <p:spPr/>
        <p:txBody>
          <a:bodyPr/>
          <a:lstStyle/>
          <a:p>
            <a:r>
              <a:rPr lang="en-US" b="1" dirty="0"/>
              <a:t>K-Fold CV paired t-test</a:t>
            </a:r>
            <a:r>
              <a:rPr lang="en-US" dirty="0"/>
              <a:t> provides a </a:t>
            </a:r>
            <a:r>
              <a:rPr lang="en-US" b="1" dirty="0"/>
              <a:t>more reliable</a:t>
            </a:r>
            <a:r>
              <a:rPr lang="en-US" dirty="0"/>
              <a:t> comparison than a standard paired t-test.</a:t>
            </a:r>
          </a:p>
          <a:p>
            <a:r>
              <a:rPr lang="en-US" b="1" dirty="0"/>
              <a:t>K-Fold CV reduces bias and variance</a:t>
            </a:r>
            <a:r>
              <a:rPr lang="en-US" dirty="0"/>
              <a:t>, making results more stable.</a:t>
            </a:r>
          </a:p>
          <a:p>
            <a:endParaRPr lang="en-IN" dirty="0"/>
          </a:p>
        </p:txBody>
      </p:sp>
    </p:spTree>
    <p:extLst>
      <p:ext uri="{BB962C8B-B14F-4D97-AF65-F5344CB8AC3E}">
        <p14:creationId xmlns:p14="http://schemas.microsoft.com/office/powerpoint/2010/main" val="415648899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McNemar’s</a:t>
            </a:r>
            <a:r>
              <a:rPr lang="en-US" dirty="0">
                <a:solidFill>
                  <a:srgbClr val="FF0000"/>
                </a:solidFill>
              </a:rPr>
              <a:t> Test for Comparing Two Classifiers</a:t>
            </a:r>
            <a:endParaRPr lang="en-IN" dirty="0">
              <a:solidFill>
                <a:srgbClr val="FF0000"/>
              </a:solidFill>
            </a:endParaRPr>
          </a:p>
        </p:txBody>
      </p:sp>
      <p:sp>
        <p:nvSpPr>
          <p:cNvPr id="3" name="Content Placeholder 2"/>
          <p:cNvSpPr>
            <a:spLocks noGrp="1"/>
          </p:cNvSpPr>
          <p:nvPr>
            <p:ph idx="1"/>
          </p:nvPr>
        </p:nvSpPr>
        <p:spPr/>
        <p:txBody>
          <a:bodyPr/>
          <a:lstStyle/>
          <a:p>
            <a:r>
              <a:rPr lang="en-US" sz="3200" dirty="0" err="1"/>
              <a:t>McNemar’s</a:t>
            </a:r>
            <a:r>
              <a:rPr lang="en-US" sz="3200" dirty="0"/>
              <a:t> test is a </a:t>
            </a:r>
            <a:r>
              <a:rPr lang="en-US" sz="3200" b="1" dirty="0"/>
              <a:t>statistical test</a:t>
            </a:r>
            <a:r>
              <a:rPr lang="en-US" sz="3200" dirty="0"/>
              <a:t> used to compare two classifiers based on their misclassification differences on the same dataset. </a:t>
            </a:r>
          </a:p>
          <a:p>
            <a:r>
              <a:rPr lang="en-US" sz="3200" dirty="0"/>
              <a:t>It helps determine whether one classifier makes significantly different types of errors compared to another</a:t>
            </a:r>
            <a:r>
              <a:rPr lang="en-US" dirty="0"/>
              <a:t>.</a:t>
            </a:r>
            <a:endParaRPr lang="en-IN" dirty="0"/>
          </a:p>
        </p:txBody>
      </p:sp>
    </p:spTree>
    <p:extLst>
      <p:ext uri="{BB962C8B-B14F-4D97-AF65-F5344CB8AC3E}">
        <p14:creationId xmlns:p14="http://schemas.microsoft.com/office/powerpoint/2010/main" val="371799608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When to Use </a:t>
            </a:r>
            <a:r>
              <a:rPr lang="en-US" dirty="0" err="1">
                <a:solidFill>
                  <a:srgbClr val="FF0000"/>
                </a:solidFill>
              </a:rPr>
              <a:t>McNemar’s</a:t>
            </a:r>
            <a:r>
              <a:rPr lang="en-US" dirty="0">
                <a:solidFill>
                  <a:srgbClr val="FF0000"/>
                </a:solidFill>
              </a:rPr>
              <a:t> Test?</a:t>
            </a:r>
            <a:endParaRPr lang="en-IN" dirty="0">
              <a:solidFill>
                <a:srgbClr val="FF0000"/>
              </a:solidFill>
            </a:endParaRPr>
          </a:p>
        </p:txBody>
      </p:sp>
      <p:sp>
        <p:nvSpPr>
          <p:cNvPr id="3" name="Content Placeholder 2"/>
          <p:cNvSpPr>
            <a:spLocks noGrp="1"/>
          </p:cNvSpPr>
          <p:nvPr>
            <p:ph idx="1"/>
          </p:nvPr>
        </p:nvSpPr>
        <p:spPr/>
        <p:txBody>
          <a:bodyPr/>
          <a:lstStyle/>
          <a:p>
            <a:r>
              <a:rPr lang="en-US" dirty="0"/>
              <a:t>When comparing two classifiers on paired data (i.e., both models are evaluated on the same test set).</a:t>
            </a:r>
          </a:p>
          <a:p>
            <a:endParaRPr lang="en-US" dirty="0"/>
          </a:p>
          <a:p>
            <a:r>
              <a:rPr lang="en-US" dirty="0"/>
              <a:t>Best for binary classification problems.</a:t>
            </a:r>
          </a:p>
          <a:p>
            <a:endParaRPr lang="en-US" dirty="0"/>
          </a:p>
          <a:p>
            <a:r>
              <a:rPr lang="en-US" dirty="0"/>
              <a:t>Suitable when sample size is small and data does not follow a normal distribution.</a:t>
            </a:r>
            <a:endParaRPr lang="en-IN" dirty="0"/>
          </a:p>
        </p:txBody>
      </p:sp>
    </p:spTree>
    <p:extLst>
      <p:ext uri="{BB962C8B-B14F-4D97-AF65-F5344CB8AC3E}">
        <p14:creationId xmlns:p14="http://schemas.microsoft.com/office/powerpoint/2010/main" val="38644255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solidFill>
                  <a:srgbClr val="FF0000"/>
                </a:solidFill>
              </a:rPr>
              <a:t>McNemar’s</a:t>
            </a:r>
            <a:r>
              <a:rPr lang="en-IN" dirty="0">
                <a:solidFill>
                  <a:srgbClr val="FF0000"/>
                </a:solidFill>
              </a:rPr>
              <a:t> Test</a:t>
            </a:r>
          </a:p>
        </p:txBody>
      </p:sp>
      <p:sp>
        <p:nvSpPr>
          <p:cNvPr id="3" name="Content Placeholder 2"/>
          <p:cNvSpPr>
            <a:spLocks noGrp="1"/>
          </p:cNvSpPr>
          <p:nvPr>
            <p:ph idx="1"/>
          </p:nvPr>
        </p:nvSpPr>
        <p:spPr>
          <a:xfrm>
            <a:off x="838200" y="1825625"/>
            <a:ext cx="10515600" cy="1204178"/>
          </a:xfrm>
        </p:spPr>
        <p:txBody>
          <a:bodyPr/>
          <a:lstStyle/>
          <a:p>
            <a:r>
              <a:rPr lang="en-US" dirty="0"/>
              <a:t>It analyzes the </a:t>
            </a:r>
            <a:r>
              <a:rPr lang="en-US" b="1" dirty="0"/>
              <a:t>disagreements</a:t>
            </a:r>
            <a:r>
              <a:rPr lang="en-US" dirty="0"/>
              <a:t> in classification outcomes using a </a:t>
            </a:r>
            <a:r>
              <a:rPr lang="en-US" b="1" dirty="0"/>
              <a:t>contingency table</a:t>
            </a:r>
            <a:r>
              <a:rPr lang="en-US" dirty="0"/>
              <a:t>:</a:t>
            </a:r>
            <a:endParaRPr lang="en-IN" dirty="0"/>
          </a:p>
        </p:txBody>
      </p:sp>
      <p:pic>
        <p:nvPicPr>
          <p:cNvPr id="4" name="Picture 3"/>
          <p:cNvPicPr>
            <a:picLocks noChangeAspect="1"/>
          </p:cNvPicPr>
          <p:nvPr/>
        </p:nvPicPr>
        <p:blipFill>
          <a:blip r:embed="rId2"/>
          <a:stretch>
            <a:fillRect/>
          </a:stretch>
        </p:blipFill>
        <p:spPr>
          <a:xfrm>
            <a:off x="838199" y="3164740"/>
            <a:ext cx="10638271" cy="1764311"/>
          </a:xfrm>
          <a:prstGeom prst="rect">
            <a:avLst/>
          </a:prstGeom>
        </p:spPr>
      </p:pic>
    </p:spTree>
    <p:extLst>
      <p:ext uri="{BB962C8B-B14F-4D97-AF65-F5344CB8AC3E}">
        <p14:creationId xmlns:p14="http://schemas.microsoft.com/office/powerpoint/2010/main" val="12070561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31803" y="462979"/>
            <a:ext cx="9213199" cy="5378263"/>
          </a:xfrm>
          <a:prstGeom prst="rect">
            <a:avLst/>
          </a:prstGeom>
        </p:spPr>
      </p:pic>
    </p:spTree>
    <p:extLst>
      <p:ext uri="{BB962C8B-B14F-4D97-AF65-F5344CB8AC3E}">
        <p14:creationId xmlns:p14="http://schemas.microsoft.com/office/powerpoint/2010/main" val="264026561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Example</a:t>
            </a:r>
            <a:endParaRPr lang="en-IN" dirty="0">
              <a:solidFill>
                <a:srgbClr val="FF0000"/>
              </a:solidFill>
            </a:endParaRPr>
          </a:p>
        </p:txBody>
      </p:sp>
      <p:sp>
        <p:nvSpPr>
          <p:cNvPr id="3" name="Content Placeholder 2"/>
          <p:cNvSpPr>
            <a:spLocks noGrp="1"/>
          </p:cNvSpPr>
          <p:nvPr>
            <p:ph idx="1"/>
          </p:nvPr>
        </p:nvSpPr>
        <p:spPr>
          <a:xfrm>
            <a:off x="771099" y="1429840"/>
            <a:ext cx="10515600" cy="1108644"/>
          </a:xfrm>
        </p:spPr>
        <p:txBody>
          <a:bodyPr/>
          <a:lstStyle/>
          <a:p>
            <a:r>
              <a:rPr lang="en-US" dirty="0"/>
              <a:t>Suppose we evaluate </a:t>
            </a:r>
            <a:r>
              <a:rPr lang="en-US" b="1" dirty="0"/>
              <a:t>two classifiers (A &amp; B) on 100 samples</a:t>
            </a:r>
            <a:r>
              <a:rPr lang="en-US" dirty="0"/>
              <a:t>, and their predictions result in the following contingency table:</a:t>
            </a:r>
            <a:endParaRPr lang="en-IN" dirty="0"/>
          </a:p>
        </p:txBody>
      </p:sp>
      <p:pic>
        <p:nvPicPr>
          <p:cNvPr id="6" name="Picture 5"/>
          <p:cNvPicPr>
            <a:picLocks noChangeAspect="1"/>
          </p:cNvPicPr>
          <p:nvPr/>
        </p:nvPicPr>
        <p:blipFill>
          <a:blip r:embed="rId2"/>
          <a:stretch>
            <a:fillRect/>
          </a:stretch>
        </p:blipFill>
        <p:spPr>
          <a:xfrm>
            <a:off x="1344942" y="2538484"/>
            <a:ext cx="9097630" cy="3725838"/>
          </a:xfrm>
          <a:prstGeom prst="rect">
            <a:avLst/>
          </a:prstGeom>
        </p:spPr>
      </p:pic>
      <p:sp>
        <p:nvSpPr>
          <p:cNvPr id="7" name="Rectangle 6"/>
          <p:cNvSpPr/>
          <p:nvPr/>
        </p:nvSpPr>
        <p:spPr>
          <a:xfrm>
            <a:off x="2890587" y="6079656"/>
            <a:ext cx="6553663" cy="369332"/>
          </a:xfrm>
          <a:prstGeom prst="rect">
            <a:avLst/>
          </a:prstGeom>
          <a:solidFill>
            <a:schemeClr val="accent2"/>
          </a:solidFill>
        </p:spPr>
        <p:txBody>
          <a:bodyPr wrap="square">
            <a:spAutoFit/>
          </a:bodyPr>
          <a:lstStyle/>
          <a:p>
            <a:r>
              <a:rPr lang="en-US" dirty="0" err="1"/>
              <a:t>McNemar’s</a:t>
            </a:r>
            <a:r>
              <a:rPr lang="en-US" dirty="0"/>
              <a:t> test focuses on the disagreements: </a:t>
            </a:r>
            <a:r>
              <a:rPr lang="en-IN" dirty="0"/>
              <a:t>n</a:t>
            </a:r>
            <a:r>
              <a:rPr lang="en-IN" baseline="-25000" dirty="0"/>
              <a:t>01</a:t>
            </a:r>
            <a:r>
              <a:rPr lang="en-IN" dirty="0"/>
              <a:t>​=10,n</a:t>
            </a:r>
            <a:r>
              <a:rPr lang="en-IN" baseline="-25000" dirty="0"/>
              <a:t>10</a:t>
            </a:r>
            <a:r>
              <a:rPr lang="en-IN" dirty="0"/>
              <a:t>​=5</a:t>
            </a:r>
          </a:p>
        </p:txBody>
      </p:sp>
    </p:spTree>
    <p:extLst>
      <p:ext uri="{BB962C8B-B14F-4D97-AF65-F5344CB8AC3E}">
        <p14:creationId xmlns:p14="http://schemas.microsoft.com/office/powerpoint/2010/main" val="116123181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solidFill>
                  <a:srgbClr val="FF0000"/>
                </a:solidFill>
              </a:rPr>
              <a:t>McNemar’s</a:t>
            </a:r>
            <a:r>
              <a:rPr lang="en-IN" dirty="0">
                <a:solidFill>
                  <a:srgbClr val="FF0000"/>
                </a:solidFill>
              </a:rPr>
              <a:t> Test Statistic Calculation</a:t>
            </a:r>
          </a:p>
        </p:txBody>
      </p:sp>
      <p:pic>
        <p:nvPicPr>
          <p:cNvPr id="4" name="Picture 3"/>
          <p:cNvPicPr>
            <a:picLocks noChangeAspect="1"/>
          </p:cNvPicPr>
          <p:nvPr/>
        </p:nvPicPr>
        <p:blipFill>
          <a:blip r:embed="rId2"/>
          <a:stretch>
            <a:fillRect/>
          </a:stretch>
        </p:blipFill>
        <p:spPr>
          <a:xfrm>
            <a:off x="838200" y="2065786"/>
            <a:ext cx="9983766" cy="3338727"/>
          </a:xfrm>
          <a:prstGeom prst="rect">
            <a:avLst/>
          </a:prstGeom>
        </p:spPr>
      </p:pic>
    </p:spTree>
    <p:extLst>
      <p:ext uri="{BB962C8B-B14F-4D97-AF65-F5344CB8AC3E}">
        <p14:creationId xmlns:p14="http://schemas.microsoft.com/office/powerpoint/2010/main" val="13523964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75359" y="232363"/>
            <a:ext cx="9930081" cy="6281649"/>
          </a:xfrm>
          <a:prstGeom prst="rect">
            <a:avLst/>
          </a:prstGeom>
        </p:spPr>
      </p:pic>
    </p:spTree>
    <p:extLst>
      <p:ext uri="{BB962C8B-B14F-4D97-AF65-F5344CB8AC3E}">
        <p14:creationId xmlns:p14="http://schemas.microsoft.com/office/powerpoint/2010/main" val="144570727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Interpretation of Results</a:t>
            </a:r>
          </a:p>
        </p:txBody>
      </p:sp>
      <p:pic>
        <p:nvPicPr>
          <p:cNvPr id="6" name="Picture 5"/>
          <p:cNvPicPr>
            <a:picLocks noChangeAspect="1"/>
          </p:cNvPicPr>
          <p:nvPr/>
        </p:nvPicPr>
        <p:blipFill>
          <a:blip r:embed="rId2"/>
          <a:stretch>
            <a:fillRect/>
          </a:stretch>
        </p:blipFill>
        <p:spPr>
          <a:xfrm>
            <a:off x="838200" y="1690688"/>
            <a:ext cx="8229600" cy="4615962"/>
          </a:xfrm>
          <a:prstGeom prst="rect">
            <a:avLst/>
          </a:prstGeom>
        </p:spPr>
      </p:pic>
    </p:spTree>
    <p:extLst>
      <p:ext uri="{BB962C8B-B14F-4D97-AF65-F5344CB8AC3E}">
        <p14:creationId xmlns:p14="http://schemas.microsoft.com/office/powerpoint/2010/main" val="212069169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Steps to Calculate the Binomial Test for </a:t>
            </a:r>
            <a:r>
              <a:rPr lang="en-US" dirty="0" err="1">
                <a:solidFill>
                  <a:srgbClr val="FF0000"/>
                </a:solidFill>
              </a:rPr>
              <a:t>McNemar’s</a:t>
            </a:r>
            <a:r>
              <a:rPr lang="en-US" dirty="0">
                <a:solidFill>
                  <a:srgbClr val="FF0000"/>
                </a:solidFill>
              </a:rPr>
              <a:t> Test</a:t>
            </a:r>
            <a:endParaRPr lang="en-IN" dirty="0">
              <a:solidFill>
                <a:srgbClr val="FF0000"/>
              </a:solidFill>
            </a:endParaRPr>
          </a:p>
        </p:txBody>
      </p:sp>
      <p:sp>
        <p:nvSpPr>
          <p:cNvPr id="3" name="Content Placeholder 2"/>
          <p:cNvSpPr>
            <a:spLocks noGrp="1"/>
          </p:cNvSpPr>
          <p:nvPr>
            <p:ph idx="1"/>
          </p:nvPr>
        </p:nvSpPr>
        <p:spPr>
          <a:xfrm>
            <a:off x="838200" y="1825625"/>
            <a:ext cx="10515600" cy="658268"/>
          </a:xfrm>
        </p:spPr>
        <p:txBody>
          <a:bodyPr/>
          <a:lstStyle/>
          <a:p>
            <a:r>
              <a:rPr lang="en-IN" dirty="0"/>
              <a:t>Define the Null Hypothesis</a:t>
            </a:r>
          </a:p>
        </p:txBody>
      </p:sp>
      <p:pic>
        <p:nvPicPr>
          <p:cNvPr id="4" name="Picture 3"/>
          <p:cNvPicPr>
            <a:picLocks noChangeAspect="1"/>
          </p:cNvPicPr>
          <p:nvPr/>
        </p:nvPicPr>
        <p:blipFill>
          <a:blip r:embed="rId2"/>
          <a:stretch>
            <a:fillRect/>
          </a:stretch>
        </p:blipFill>
        <p:spPr>
          <a:xfrm>
            <a:off x="1505376" y="2865105"/>
            <a:ext cx="9848424" cy="2116328"/>
          </a:xfrm>
          <a:prstGeom prst="rect">
            <a:avLst/>
          </a:prstGeom>
        </p:spPr>
      </p:pic>
    </p:spTree>
    <p:extLst>
      <p:ext uri="{BB962C8B-B14F-4D97-AF65-F5344CB8AC3E}">
        <p14:creationId xmlns:p14="http://schemas.microsoft.com/office/powerpoint/2010/main" val="10047883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8708"/>
          </a:xfrm>
        </p:spPr>
        <p:txBody>
          <a:bodyPr/>
          <a:lstStyle/>
          <a:p>
            <a:r>
              <a:rPr lang="en-IN" dirty="0">
                <a:solidFill>
                  <a:srgbClr val="FF0000"/>
                </a:solidFill>
              </a:rPr>
              <a:t>Compute the Probability Distribution</a:t>
            </a:r>
          </a:p>
        </p:txBody>
      </p:sp>
      <p:pic>
        <p:nvPicPr>
          <p:cNvPr id="4" name="Picture 3"/>
          <p:cNvPicPr>
            <a:picLocks noChangeAspect="1"/>
          </p:cNvPicPr>
          <p:nvPr/>
        </p:nvPicPr>
        <p:blipFill>
          <a:blip r:embed="rId2"/>
          <a:stretch>
            <a:fillRect/>
          </a:stretch>
        </p:blipFill>
        <p:spPr>
          <a:xfrm>
            <a:off x="1741083" y="1492012"/>
            <a:ext cx="8003418" cy="4923065"/>
          </a:xfrm>
          <a:prstGeom prst="rect">
            <a:avLst/>
          </a:prstGeom>
        </p:spPr>
      </p:pic>
    </p:spTree>
    <p:extLst>
      <p:ext uri="{BB962C8B-B14F-4D97-AF65-F5344CB8AC3E}">
        <p14:creationId xmlns:p14="http://schemas.microsoft.com/office/powerpoint/2010/main" val="15892140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Compute the Two-Tailed p-value</a:t>
            </a:r>
          </a:p>
        </p:txBody>
      </p:sp>
      <p:pic>
        <p:nvPicPr>
          <p:cNvPr id="4" name="Picture 3"/>
          <p:cNvPicPr>
            <a:picLocks noChangeAspect="1"/>
          </p:cNvPicPr>
          <p:nvPr/>
        </p:nvPicPr>
        <p:blipFill>
          <a:blip r:embed="rId2"/>
          <a:stretch>
            <a:fillRect/>
          </a:stretch>
        </p:blipFill>
        <p:spPr>
          <a:xfrm>
            <a:off x="1758427" y="2083132"/>
            <a:ext cx="6527328" cy="1233274"/>
          </a:xfrm>
          <a:prstGeom prst="rect">
            <a:avLst/>
          </a:prstGeom>
        </p:spPr>
      </p:pic>
    </p:spTree>
    <p:extLst>
      <p:ext uri="{BB962C8B-B14F-4D97-AF65-F5344CB8AC3E}">
        <p14:creationId xmlns:p14="http://schemas.microsoft.com/office/powerpoint/2010/main" val="287611156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45910" y="324085"/>
            <a:ext cx="7779223" cy="6003531"/>
          </a:xfrm>
          <a:prstGeom prst="rect">
            <a:avLst/>
          </a:prstGeom>
        </p:spPr>
      </p:pic>
      <p:sp>
        <p:nvSpPr>
          <p:cNvPr id="5" name="Rectangle 4"/>
          <p:cNvSpPr/>
          <p:nvPr/>
        </p:nvSpPr>
        <p:spPr>
          <a:xfrm>
            <a:off x="5750257" y="662886"/>
            <a:ext cx="6096000" cy="646331"/>
          </a:xfrm>
          <a:prstGeom prst="rect">
            <a:avLst/>
          </a:prstGeom>
        </p:spPr>
        <p:txBody>
          <a:bodyPr>
            <a:spAutoFit/>
          </a:bodyPr>
          <a:lstStyle/>
          <a:p>
            <a:r>
              <a:rPr lang="en-US" dirty="0"/>
              <a:t>Thus, the p-value = 0.33, which is greater than 0.05, so we fail to reject the null hypothesis.</a:t>
            </a:r>
            <a:endParaRPr lang="en-IN" dirty="0"/>
          </a:p>
        </p:txBody>
      </p:sp>
    </p:spTree>
    <p:extLst>
      <p:ext uri="{BB962C8B-B14F-4D97-AF65-F5344CB8AC3E}">
        <p14:creationId xmlns:p14="http://schemas.microsoft.com/office/powerpoint/2010/main" val="19987476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1142</TotalTime>
  <Words>5543</Words>
  <Application>Microsoft Office PowerPoint</Application>
  <PresentationFormat>Widescreen</PresentationFormat>
  <Paragraphs>608</Paragraphs>
  <Slides>95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95</vt:i4>
      </vt:variant>
    </vt:vector>
  </HeadingPairs>
  <TitlesOfParts>
    <vt:vector size="100" baseType="lpstr">
      <vt:lpstr>Arial</vt:lpstr>
      <vt:lpstr>Calibri</vt:lpstr>
      <vt:lpstr>Calibri Light</vt:lpstr>
      <vt:lpstr>Wingdings</vt:lpstr>
      <vt:lpstr>Office Theme</vt:lpstr>
      <vt:lpstr>UNIT 3</vt:lpstr>
      <vt:lpstr>Design and Analysis of Machine Learning Experiments</vt:lpstr>
      <vt:lpstr>Design and Analysis of Machine Learning Experiments</vt:lpstr>
      <vt:lpstr>Design and Analysis of Machine Learning Experiments</vt:lpstr>
      <vt:lpstr>Guidelines for Machine Learning Experiments</vt:lpstr>
      <vt:lpstr> Aim of the Study </vt:lpstr>
      <vt:lpstr>Selection of the Response Variable</vt:lpstr>
      <vt:lpstr>Choice of Factors and Levels </vt:lpstr>
      <vt:lpstr>Choice of Experimental Design </vt:lpstr>
      <vt:lpstr>Performing the Experiment </vt:lpstr>
      <vt:lpstr>Statistical Analysis of the Data </vt:lpstr>
      <vt:lpstr>PowerPoint Presentation</vt:lpstr>
      <vt:lpstr>Cross-Validation (CV)</vt:lpstr>
      <vt:lpstr>Types of Cross-Validation </vt:lpstr>
      <vt:lpstr>k-Fold Cross-Validation</vt:lpstr>
      <vt:lpstr>PowerPoint Presentation</vt:lpstr>
      <vt:lpstr>PowerPoint Presentation</vt:lpstr>
      <vt:lpstr>PowerPoint Presentation</vt:lpstr>
      <vt:lpstr>PowerPoint Presentation</vt:lpstr>
      <vt:lpstr>PowerPoint Presentation</vt:lpstr>
      <vt:lpstr>PowerPoint Presentation</vt:lpstr>
      <vt:lpstr>The Problem with Imbalanced Data </vt:lpstr>
      <vt:lpstr>Stratified k-Fold Cross-Validation</vt:lpstr>
      <vt:lpstr>PowerPoint Presentation</vt:lpstr>
      <vt:lpstr>PowerPoint Presentation</vt:lpstr>
      <vt:lpstr>PowerPoint Presentation</vt:lpstr>
      <vt:lpstr> Measuring classifier performance   </vt:lpstr>
      <vt:lpstr>Accuracy</vt:lpstr>
      <vt:lpstr>Accuracy :Example</vt:lpstr>
      <vt:lpstr>Limitations of Accuracy</vt:lpstr>
      <vt:lpstr>Precision (Positive Predictive Value)</vt:lpstr>
      <vt:lpstr>Precision: Example</vt:lpstr>
      <vt:lpstr>When is Precision Important?</vt:lpstr>
      <vt:lpstr>Recall (Sensitivity or True Positive Rate)</vt:lpstr>
      <vt:lpstr>Recall : Example</vt:lpstr>
      <vt:lpstr>When is Recall Important?</vt:lpstr>
      <vt:lpstr>F1 Score</vt:lpstr>
      <vt:lpstr>F1 Score</vt:lpstr>
      <vt:lpstr>PowerPoint Presentation</vt:lpstr>
      <vt:lpstr>When is F1-Score Important?</vt:lpstr>
      <vt:lpstr>Exercise Problem</vt:lpstr>
      <vt:lpstr>Answer</vt:lpstr>
      <vt:lpstr>What does Recall = 0.22 imply in real life?</vt:lpstr>
      <vt:lpstr>Would you approve this model for hospital deployment? </vt:lpstr>
      <vt:lpstr>Confusion Matrix</vt:lpstr>
      <vt:lpstr>PowerPoint Presentation</vt:lpstr>
      <vt:lpstr>PowerPoint Presentation</vt:lpstr>
      <vt:lpstr>PowerPoint Presentation</vt:lpstr>
      <vt:lpstr>PowerPoint Presentation</vt:lpstr>
      <vt:lpstr>PowerPoint Presentation</vt:lpstr>
      <vt:lpstr>ROC Curve</vt:lpstr>
      <vt:lpstr>PowerPoint Presentation</vt:lpstr>
      <vt:lpstr>Which Model should you use?</vt:lpstr>
      <vt:lpstr>Classifications and Probability Estimates</vt:lpstr>
      <vt:lpstr>Example of Changing Thresholds</vt:lpstr>
      <vt:lpstr>ROC Curve</vt:lpstr>
      <vt:lpstr>Operating Points</vt:lpstr>
      <vt:lpstr>Comparing Models with ROC Curves</vt:lpstr>
      <vt:lpstr>More ROC Comparisons</vt:lpstr>
      <vt:lpstr>Area Under the Curve (AUC)</vt:lpstr>
      <vt:lpstr>PowerPoint Presentation</vt:lpstr>
      <vt:lpstr>Difference Between ROC and AUC</vt:lpstr>
      <vt:lpstr>Comparing Two Classification Models Using a Paired t-Test</vt:lpstr>
      <vt:lpstr>Why We Use a Paired t-Test</vt:lpstr>
      <vt:lpstr>Paired t-Test</vt:lpstr>
      <vt:lpstr>t-value</vt:lpstr>
      <vt:lpstr>Null Hypothesis</vt:lpstr>
      <vt:lpstr>Steps for Comparing Two Models Using a Paired t-Test</vt:lpstr>
      <vt:lpstr>PowerPoint Presentation</vt:lpstr>
      <vt:lpstr>Numerical Example</vt:lpstr>
      <vt:lpstr>PowerPoint Presentation</vt:lpstr>
      <vt:lpstr>PowerPoint Presentation</vt:lpstr>
      <vt:lpstr>When to Use This Method</vt:lpstr>
      <vt:lpstr>PowerPoint Presentation</vt:lpstr>
      <vt:lpstr>Answer</vt:lpstr>
      <vt:lpstr>Comparing Two Classification Algorithms Using K-Fold Cross-Validation (K-Fold CV) Paired t-Test</vt:lpstr>
      <vt:lpstr>K-Fold CV Paired t-Test</vt:lpstr>
      <vt:lpstr>PowerPoint Presentation</vt:lpstr>
      <vt:lpstr>PowerPoint Presentation</vt:lpstr>
      <vt:lpstr>PowerPoint Presentation</vt:lpstr>
      <vt:lpstr>PowerPoint Presentation</vt:lpstr>
      <vt:lpstr>PowerPoint Presentation</vt:lpstr>
      <vt:lpstr>Key Takeaways </vt:lpstr>
      <vt:lpstr>McNemar’s Test for Comparing Two Classifiers</vt:lpstr>
      <vt:lpstr>When to Use McNemar’s Test?</vt:lpstr>
      <vt:lpstr>McNemar’s Test</vt:lpstr>
      <vt:lpstr>PowerPoint Presentation</vt:lpstr>
      <vt:lpstr>Example</vt:lpstr>
      <vt:lpstr>McNemar’s Test Statistic Calculation</vt:lpstr>
      <vt:lpstr>PowerPoint Presentation</vt:lpstr>
      <vt:lpstr>Interpretation of Results</vt:lpstr>
      <vt:lpstr>Steps to Calculate the Binomial Test for McNemar’s Test</vt:lpstr>
      <vt:lpstr>Compute the Probability Distribution</vt:lpstr>
      <vt:lpstr>Compute the Two-Tailed p-value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dc:title>
  <dc:creator>BMS</dc:creator>
  <cp:lastModifiedBy>Kayarvizhy N</cp:lastModifiedBy>
  <cp:revision>96</cp:revision>
  <dcterms:created xsi:type="dcterms:W3CDTF">2025-03-26T09:16:13Z</dcterms:created>
  <dcterms:modified xsi:type="dcterms:W3CDTF">2026-03-08T14:22:35Z</dcterms:modified>
</cp:coreProperties>
</file>